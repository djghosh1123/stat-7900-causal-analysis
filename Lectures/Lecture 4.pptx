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102"/>
  </p:notesMasterIdLst>
  <p:sldIdLst>
    <p:sldId id="296" r:id="rId2"/>
    <p:sldId id="371" r:id="rId3"/>
    <p:sldId id="372" r:id="rId4"/>
    <p:sldId id="373" r:id="rId5"/>
    <p:sldId id="374" r:id="rId6"/>
    <p:sldId id="375" r:id="rId7"/>
    <p:sldId id="376" r:id="rId8"/>
    <p:sldId id="377" r:id="rId9"/>
    <p:sldId id="378" r:id="rId10"/>
    <p:sldId id="379" r:id="rId11"/>
    <p:sldId id="380" r:id="rId12"/>
    <p:sldId id="381" r:id="rId13"/>
    <p:sldId id="382" r:id="rId14"/>
    <p:sldId id="383" r:id="rId15"/>
    <p:sldId id="386" r:id="rId16"/>
    <p:sldId id="385" r:id="rId17"/>
    <p:sldId id="384" r:id="rId18"/>
    <p:sldId id="370" r:id="rId19"/>
    <p:sldId id="437" r:id="rId20"/>
    <p:sldId id="438" r:id="rId21"/>
    <p:sldId id="402" r:id="rId22"/>
    <p:sldId id="403" r:id="rId23"/>
    <p:sldId id="404" r:id="rId24"/>
    <p:sldId id="405" r:id="rId25"/>
    <p:sldId id="407" r:id="rId26"/>
    <p:sldId id="408" r:id="rId27"/>
    <p:sldId id="409" r:id="rId28"/>
    <p:sldId id="439" r:id="rId29"/>
    <p:sldId id="440" r:id="rId30"/>
    <p:sldId id="441" r:id="rId31"/>
    <p:sldId id="442" r:id="rId32"/>
    <p:sldId id="443" r:id="rId33"/>
    <p:sldId id="444" r:id="rId34"/>
    <p:sldId id="446" r:id="rId35"/>
    <p:sldId id="447" r:id="rId36"/>
    <p:sldId id="445" r:id="rId37"/>
    <p:sldId id="448" r:id="rId38"/>
    <p:sldId id="449" r:id="rId39"/>
    <p:sldId id="450" r:id="rId40"/>
    <p:sldId id="451" r:id="rId41"/>
    <p:sldId id="452" r:id="rId42"/>
    <p:sldId id="453" r:id="rId43"/>
    <p:sldId id="454" r:id="rId44"/>
    <p:sldId id="455" r:id="rId45"/>
    <p:sldId id="456" r:id="rId46"/>
    <p:sldId id="457" r:id="rId47"/>
    <p:sldId id="411" r:id="rId48"/>
    <p:sldId id="412" r:id="rId49"/>
    <p:sldId id="413" r:id="rId50"/>
    <p:sldId id="414" r:id="rId51"/>
    <p:sldId id="415" r:id="rId52"/>
    <p:sldId id="417" r:id="rId53"/>
    <p:sldId id="416" r:id="rId54"/>
    <p:sldId id="418" r:id="rId55"/>
    <p:sldId id="419" r:id="rId56"/>
    <p:sldId id="420" r:id="rId57"/>
    <p:sldId id="421" r:id="rId58"/>
    <p:sldId id="422" r:id="rId59"/>
    <p:sldId id="423" r:id="rId60"/>
    <p:sldId id="424" r:id="rId61"/>
    <p:sldId id="425" r:id="rId62"/>
    <p:sldId id="426" r:id="rId63"/>
    <p:sldId id="427" r:id="rId64"/>
    <p:sldId id="428" r:id="rId65"/>
    <p:sldId id="458" r:id="rId66"/>
    <p:sldId id="429" r:id="rId67"/>
    <p:sldId id="430" r:id="rId68"/>
    <p:sldId id="431" r:id="rId69"/>
    <p:sldId id="432" r:id="rId70"/>
    <p:sldId id="433" r:id="rId71"/>
    <p:sldId id="434" r:id="rId72"/>
    <p:sldId id="435" r:id="rId73"/>
    <p:sldId id="436" r:id="rId74"/>
    <p:sldId id="461" r:id="rId75"/>
    <p:sldId id="460" r:id="rId76"/>
    <p:sldId id="462" r:id="rId77"/>
    <p:sldId id="463" r:id="rId78"/>
    <p:sldId id="464" r:id="rId79"/>
    <p:sldId id="465" r:id="rId80"/>
    <p:sldId id="466" r:id="rId81"/>
    <p:sldId id="467" r:id="rId82"/>
    <p:sldId id="468" r:id="rId83"/>
    <p:sldId id="469" r:id="rId84"/>
    <p:sldId id="470" r:id="rId85"/>
    <p:sldId id="471" r:id="rId86"/>
    <p:sldId id="472" r:id="rId87"/>
    <p:sldId id="473" r:id="rId88"/>
    <p:sldId id="474" r:id="rId89"/>
    <p:sldId id="475" r:id="rId90"/>
    <p:sldId id="476" r:id="rId91"/>
    <p:sldId id="477" r:id="rId92"/>
    <p:sldId id="478" r:id="rId93"/>
    <p:sldId id="479" r:id="rId94"/>
    <p:sldId id="480" r:id="rId95"/>
    <p:sldId id="481" r:id="rId96"/>
    <p:sldId id="482" r:id="rId97"/>
    <p:sldId id="483" r:id="rId98"/>
    <p:sldId id="484" r:id="rId99"/>
    <p:sldId id="485" r:id="rId100"/>
    <p:sldId id="486" r:id="rId101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03"/>
    </p:embeddedFont>
    <p:embeddedFont>
      <p:font typeface="Consolas" panose="020B0609020204030204" pitchFamily="49" charset="0"/>
      <p:regular r:id="rId104"/>
      <p:bold r:id="rId105"/>
      <p:italic r:id="rId106"/>
      <p:boldItalic r:id="rId107"/>
    </p:embeddedFont>
    <p:embeddedFont>
      <p:font typeface="Georgia" panose="02040502050405020303" pitchFamily="18" charset="0"/>
      <p:regular r:id="rId108"/>
      <p:bold r:id="rId109"/>
      <p:italic r:id="rId110"/>
      <p:boldItalic r:id="rId111"/>
    </p:embeddedFont>
    <p:embeddedFont>
      <p:font typeface="Roboto Condensed" panose="02000000000000000000" pitchFamily="2" charset="0"/>
      <p:regular r:id="rId112"/>
      <p:bold r:id="rId113"/>
      <p:italic r:id="rId114"/>
      <p:boldItalic r:id="rId115"/>
    </p:embeddedFont>
    <p:embeddedFont>
      <p:font typeface="Sniglet" panose="020B0604020202020204" charset="0"/>
      <p:regular r:id="rId116"/>
    </p:embeddedFont>
    <p:embeddedFont>
      <p:font typeface="Walbaum Text" panose="02070503080703020303" pitchFamily="18" charset="0"/>
      <p:regular r:id="rId117"/>
      <p:bold r:id="rId118"/>
      <p:italic r:id="rId119"/>
      <p:boldItalic r:id="rId120"/>
    </p:embeddedFont>
    <p:embeddedFont>
      <p:font typeface="Walter Turncoat" panose="020B0604020202020204" charset="0"/>
      <p:regular r:id="rId1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D0B942B-5FDC-419F-A31C-88048C057ADA}">
  <a:tblStyle styleId="{3D0B942B-5FDC-419F-A31C-88048C057A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F752B63-FEDA-48D4-B3B7-9A5BAED3138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382" autoAdjust="0"/>
    <p:restoredTop sz="95701" autoAdjust="0"/>
  </p:normalViewPr>
  <p:slideViewPr>
    <p:cSldViewPr snapToGrid="0">
      <p:cViewPr varScale="1">
        <p:scale>
          <a:sx n="126" d="100"/>
          <a:sy n="126" d="100"/>
        </p:scale>
        <p:origin x="350" y="8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font" Target="fonts/font15.fntdata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font" Target="fonts/font10.fntdata"/><Relationship Id="rId16" Type="http://schemas.openxmlformats.org/officeDocument/2006/relationships/slide" Target="slides/slide15.xml"/><Relationship Id="rId107" Type="http://schemas.openxmlformats.org/officeDocument/2006/relationships/font" Target="fonts/font5.fntdata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notesMaster" Target="notesMasters/notesMaster1.xml"/><Relationship Id="rId123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font" Target="fonts/font11.fntdata"/><Relationship Id="rId118" Type="http://schemas.openxmlformats.org/officeDocument/2006/relationships/font" Target="fonts/font16.fntdata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font" Target="fonts/font1.fntdata"/><Relationship Id="rId108" Type="http://schemas.openxmlformats.org/officeDocument/2006/relationships/font" Target="fonts/font6.fntdata"/><Relationship Id="rId124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font" Target="fonts/font12.fntdata"/><Relationship Id="rId119" Type="http://schemas.openxmlformats.org/officeDocument/2006/relationships/font" Target="fonts/font17.fntdata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font" Target="fonts/font7.fntdata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font" Target="fonts/font2.fntdata"/><Relationship Id="rId120" Type="http://schemas.openxmlformats.org/officeDocument/2006/relationships/font" Target="fonts/font18.fntdata"/><Relationship Id="rId125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font" Target="fonts/font8.fntdata"/><Relationship Id="rId115" Type="http://schemas.openxmlformats.org/officeDocument/2006/relationships/font" Target="fonts/font13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font" Target="fonts/font19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font" Target="fonts/font9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font" Target="fonts/font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903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64E7E-4F2A-7AB7-CFE8-EEB26D571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EEF672-4A1D-EDFC-A0A9-8518AEEBC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54A50B-D2D3-D210-1E66-E77EF0AF5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455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25F9E-7CC9-542A-825C-043F21256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8652E3-B89D-BB32-FDA7-716267511D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98A1C9-D94D-D948-7772-9FE8DF6670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893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B0828-0E80-AA99-A0CC-8C58F430F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D5C2F4-D3B3-8C00-D2F9-A684F65CE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01781-61CC-EF64-B1BB-E1E5E58046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764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C0621-B6CC-0818-E2EE-CCA7BF47D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AC70C3-9792-5D44-1C95-0DF07F757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0ECD85-EE83-1CF6-3274-B62C712B6B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4864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687B7-EFC3-1922-B5CE-F3BC3DE44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FE811B-7F42-9B87-F43F-BDB943820B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72E3A9-334A-66AC-7858-69AA2F775F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6253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ADE19-802B-A932-92FE-24DF3A16A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AC17EC-923F-F656-9E33-7AEEAF45E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30D26E-E209-5E7F-114A-7D11418389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3738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6292B-07F4-32CF-59C1-E08D6ADF7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F16B4A-B887-AF7A-34E0-30CFBCEF7E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24C1ED-47E9-87CD-2B75-8D8E1B34B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653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D57EC-7DD9-970D-0466-94727064A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925C75-0134-08B9-6335-1C0955106C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39074E-C35D-7D71-EAF7-9DCFED677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261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-6025" y="967975"/>
            <a:ext cx="91560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563400"/>
            <a:ext cx="8229600" cy="25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✘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○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■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●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○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■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●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○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■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lvl="1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lvl="2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lvl="3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lvl="4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lvl="5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lvl="6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lvl="7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lvl="8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A9790-8FD3-3CFF-298C-8576CD7777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134EF000-1360-AEF0-B6CC-E38FC7950DC5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369955" y="294994"/>
            <a:ext cx="8229600" cy="19050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Walter Turncoat" panose="020B0604020202020204" charset="0"/>
              </a:rPr>
              <a:t>STAT 7900: Special Topic: </a:t>
            </a:r>
          </a:p>
          <a:p>
            <a:r>
              <a:rPr lang="en-US" dirty="0">
                <a:solidFill>
                  <a:schemeClr val="bg1"/>
                </a:solidFill>
                <a:latin typeface="Walter Turncoat" panose="020B0604020202020204" charset="0"/>
              </a:rPr>
              <a:t>Causal Analysis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6FDCB5-F084-8EE3-64F9-3FEEE886EC0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738512" y="2356682"/>
            <a:ext cx="4013200" cy="182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None/>
              <a:defRPr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en-US" sz="1800" b="1" dirty="0">
                <a:solidFill>
                  <a:schemeClr val="bg1"/>
                </a:solidFill>
                <a:latin typeface="Walter Turncoat" panose="020B0604020202020204" charset="0"/>
              </a:rPr>
              <a:t>KENNESAW STATE UNIVERSITY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Walter Turncoat" panose="020B0604020202020204" charset="0"/>
              </a:rPr>
              <a:t>STAT 7900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58E625-98C4-4A42-C24D-4A91B5CF5611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-51800" y="2297602"/>
            <a:ext cx="4013200" cy="182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None/>
              <a:defRPr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en-US" sz="1800" b="1" dirty="0">
                <a:solidFill>
                  <a:schemeClr val="bg1"/>
                </a:solidFill>
                <a:latin typeface="Walter Turncoat" panose="020B0604020202020204" charset="0"/>
              </a:rPr>
              <a:t>Instructor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latin typeface="Walter Turncoat" panose="020B0604020202020204" charset="0"/>
              </a:rPr>
              <a:t> Dhrubajyoti Ghosh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93739B6-31BF-A8C0-52D4-A784612214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68895" y="2171700"/>
            <a:ext cx="847725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764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001F9-EE27-13A2-F67B-D9A246ABE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88867B-D980-6CA7-25B7-308F96AF0704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The four assumptions — big picture</a:t>
            </a:r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533AA7DE-B43F-79D0-6940-23510D4D077D}"/>
              </a:ext>
            </a:extLst>
          </p:cNvPr>
          <p:cNvSpPr/>
          <p:nvPr/>
        </p:nvSpPr>
        <p:spPr>
          <a:xfrm>
            <a:off x="177134" y="2000249"/>
            <a:ext cx="1958565" cy="1044671"/>
          </a:xfrm>
          <a:prstGeom prst="roundRect">
            <a:avLst/>
          </a:prstGeom>
          <a:solidFill>
            <a:srgbClr val="262626"/>
          </a:solidFill>
          <a:ln w="22860">
            <a:solidFill>
              <a:srgbClr val="78C2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0EEDA41B-71B9-916C-EC00-BF5B347C3222}"/>
              </a:ext>
            </a:extLst>
          </p:cNvPr>
          <p:cNvSpPr/>
          <p:nvPr/>
        </p:nvSpPr>
        <p:spPr>
          <a:xfrm>
            <a:off x="304970" y="2347373"/>
            <a:ext cx="1699025" cy="351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78C28C"/>
                </a:solidFill>
              </a:rPr>
              <a:t>Consistency</a:t>
            </a:r>
            <a:endParaRPr lang="en-US" sz="1800" dirty="0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EEBABF29-2257-4713-1F38-68602D609791}"/>
              </a:ext>
            </a:extLst>
          </p:cNvPr>
          <p:cNvSpPr/>
          <p:nvPr/>
        </p:nvSpPr>
        <p:spPr>
          <a:xfrm>
            <a:off x="2370122" y="1999806"/>
            <a:ext cx="2201878" cy="1045114"/>
          </a:xfrm>
          <a:prstGeom prst="roundRect">
            <a:avLst/>
          </a:prstGeom>
          <a:solidFill>
            <a:srgbClr val="262626"/>
          </a:solidFill>
          <a:ln w="22860">
            <a:solidFill>
              <a:srgbClr val="70A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9E8982C8-C032-AEA8-912E-8F2B78756CE1}"/>
              </a:ext>
            </a:extLst>
          </p:cNvPr>
          <p:cNvSpPr/>
          <p:nvPr/>
        </p:nvSpPr>
        <p:spPr>
          <a:xfrm>
            <a:off x="2513165" y="2356421"/>
            <a:ext cx="1895869" cy="35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70ACE8"/>
                </a:solidFill>
              </a:rPr>
              <a:t>Exchangeability</a:t>
            </a:r>
            <a:endParaRPr lang="en-US" sz="1800" dirty="0"/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578AC9A0-4A2E-325F-0F93-389E0DF5A7AD}"/>
              </a:ext>
            </a:extLst>
          </p:cNvPr>
          <p:cNvSpPr/>
          <p:nvPr/>
        </p:nvSpPr>
        <p:spPr>
          <a:xfrm>
            <a:off x="4806422" y="1999807"/>
            <a:ext cx="1982505" cy="1045556"/>
          </a:xfrm>
          <a:prstGeom prst="roundRect">
            <a:avLst/>
          </a:prstGeom>
          <a:solidFill>
            <a:srgbClr val="262626"/>
          </a:solidFill>
          <a:ln w="22860">
            <a:solidFill>
              <a:srgbClr val="F6B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BDBC98A1-1DCD-A28D-3BD0-B66F26495D8F}"/>
              </a:ext>
            </a:extLst>
          </p:cNvPr>
          <p:cNvSpPr/>
          <p:nvPr/>
        </p:nvSpPr>
        <p:spPr>
          <a:xfrm>
            <a:off x="4922959" y="2356422"/>
            <a:ext cx="1749430" cy="351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F6B62F"/>
                </a:solidFill>
              </a:rPr>
              <a:t>Positivity</a:t>
            </a:r>
            <a:endParaRPr lang="en-US" sz="1800" dirty="0"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5AB02532-A69D-1D67-A618-D06BB2119CC4}"/>
              </a:ext>
            </a:extLst>
          </p:cNvPr>
          <p:cNvSpPr/>
          <p:nvPr/>
        </p:nvSpPr>
        <p:spPr>
          <a:xfrm>
            <a:off x="6974246" y="1999806"/>
            <a:ext cx="1864784" cy="1045557"/>
          </a:xfrm>
          <a:prstGeom prst="roundRect">
            <a:avLst/>
          </a:prstGeom>
          <a:solidFill>
            <a:srgbClr val="262626"/>
          </a:solidFill>
          <a:ln w="22860">
            <a:solidFill>
              <a:srgbClr val="F59C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FA4EC72E-D2D5-269C-3195-0FEE2045D6A7}"/>
              </a:ext>
            </a:extLst>
          </p:cNvPr>
          <p:cNvSpPr/>
          <p:nvPr/>
        </p:nvSpPr>
        <p:spPr>
          <a:xfrm>
            <a:off x="7030276" y="2356422"/>
            <a:ext cx="1699025" cy="351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F59C42"/>
                </a:solidFill>
              </a:rPr>
              <a:t>SUTVA / No interference</a:t>
            </a:r>
            <a:endParaRPr lang="en-US" sz="180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2C263297-3A5B-9A36-B924-E7B1C4819D43}"/>
              </a:ext>
            </a:extLst>
          </p:cNvPr>
          <p:cNvSpPr/>
          <p:nvPr/>
        </p:nvSpPr>
        <p:spPr>
          <a:xfrm>
            <a:off x="46049" y="1135698"/>
            <a:ext cx="8907178" cy="49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solidFill>
                  <a:srgbClr val="A9D3F7"/>
                </a:solidFill>
              </a:rPr>
              <a:t>What they mean • why we need them • what happens when they fail</a:t>
            </a:r>
            <a:endParaRPr lang="en-US" sz="2000" dirty="0"/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498AFC21-A351-75B1-349B-F2EA19D53A11}"/>
              </a:ext>
            </a:extLst>
          </p:cNvPr>
          <p:cNvSpPr/>
          <p:nvPr/>
        </p:nvSpPr>
        <p:spPr>
          <a:xfrm>
            <a:off x="304970" y="4043934"/>
            <a:ext cx="8534060" cy="493180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414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31535910-FF34-8B05-2B1C-CCDACE58BAFF}"/>
              </a:ext>
            </a:extLst>
          </p:cNvPr>
          <p:cNvSpPr/>
          <p:nvPr/>
        </p:nvSpPr>
        <p:spPr>
          <a:xfrm>
            <a:off x="83644" y="4172729"/>
            <a:ext cx="8976711" cy="235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6B62F"/>
                </a:solidFill>
              </a:rPr>
              <a:t>These assumptions are what allow an observed-data analysis to be interpreted causally.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901916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83992-02AA-BF17-E6B4-34ECBEE7D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0F193C-6B2B-DE40-D42F-0988BD9A43B8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Four Causal Assumptions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624401BA-AF29-BD18-2CDD-052ADCA1A951}"/>
              </a:ext>
            </a:extLst>
          </p:cNvPr>
          <p:cNvSpPr/>
          <p:nvPr/>
        </p:nvSpPr>
        <p:spPr>
          <a:xfrm>
            <a:off x="4481877" y="2857436"/>
            <a:ext cx="4491457" cy="1554480"/>
          </a:xfrm>
          <a:prstGeom prst="roundRect">
            <a:avLst>
              <a:gd name="adj" fmla="val 4706"/>
            </a:avLst>
          </a:prstGeom>
          <a:solidFill>
            <a:srgbClr val="252525"/>
          </a:solidFill>
          <a:ln w="1397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9FF8711D-7CD3-C025-3B3A-EDAF4E58F6AE}"/>
              </a:ext>
            </a:extLst>
          </p:cNvPr>
          <p:cNvSpPr/>
          <p:nvPr/>
        </p:nvSpPr>
        <p:spPr>
          <a:xfrm>
            <a:off x="4481877" y="2857436"/>
            <a:ext cx="61422" cy="1554480"/>
          </a:xfrm>
          <a:prstGeom prst="rect">
            <a:avLst/>
          </a:prstGeom>
          <a:solidFill>
            <a:srgbClr val="F59C42"/>
          </a:solidFill>
          <a:ln w="12700">
            <a:solidFill>
              <a:srgbClr val="F59C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9B941075-8F6A-0433-FADC-B1EA496B483F}"/>
              </a:ext>
            </a:extLst>
          </p:cNvPr>
          <p:cNvSpPr/>
          <p:nvPr/>
        </p:nvSpPr>
        <p:spPr>
          <a:xfrm>
            <a:off x="4683045" y="3003740"/>
            <a:ext cx="42227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F59C42"/>
                </a:solidFill>
              </a:rPr>
              <a:t>4. SUTVA / no interference</a:t>
            </a:r>
            <a:endParaRPr lang="en-US" sz="1700" dirty="0"/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91DF2D6B-0EEA-229D-66FD-174B6B376464}"/>
              </a:ext>
            </a:extLst>
          </p:cNvPr>
          <p:cNvSpPr/>
          <p:nvPr/>
        </p:nvSpPr>
        <p:spPr>
          <a:xfrm>
            <a:off x="4683045" y="3406076"/>
            <a:ext cx="4199704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dirty="0">
                <a:solidFill>
                  <a:srgbClr val="F6F4F0"/>
                </a:solidFill>
              </a:rPr>
              <a:t>Treatment is well defined, and one person’s treatment does not change another person’s outcome.</a:t>
            </a:r>
            <a:endParaRPr lang="en-US" sz="1500" dirty="0"/>
          </a:p>
        </p:txBody>
      </p:sp>
      <p:sp>
        <p:nvSpPr>
          <p:cNvPr id="41" name="Shape 9">
            <a:extLst>
              <a:ext uri="{FF2B5EF4-FFF2-40B4-BE49-F238E27FC236}">
                <a16:creationId xmlns:a16="http://schemas.microsoft.com/office/drawing/2014/main" id="{BDF3721E-9E58-A5A6-80BF-9C19C3371F33}"/>
              </a:ext>
            </a:extLst>
          </p:cNvPr>
          <p:cNvSpPr/>
          <p:nvPr/>
        </p:nvSpPr>
        <p:spPr>
          <a:xfrm>
            <a:off x="125649" y="2857436"/>
            <a:ext cx="4304713" cy="1554480"/>
          </a:xfrm>
          <a:prstGeom prst="roundRect">
            <a:avLst>
              <a:gd name="adj" fmla="val 4706"/>
            </a:avLst>
          </a:prstGeom>
          <a:solidFill>
            <a:srgbClr val="252525"/>
          </a:solidFill>
          <a:ln w="1397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10">
            <a:extLst>
              <a:ext uri="{FF2B5EF4-FFF2-40B4-BE49-F238E27FC236}">
                <a16:creationId xmlns:a16="http://schemas.microsoft.com/office/drawing/2014/main" id="{417965E9-E1E6-DE6D-D5C4-715BE1B9CAB2}"/>
              </a:ext>
            </a:extLst>
          </p:cNvPr>
          <p:cNvSpPr/>
          <p:nvPr/>
        </p:nvSpPr>
        <p:spPr>
          <a:xfrm>
            <a:off x="125649" y="2857436"/>
            <a:ext cx="58868" cy="1554480"/>
          </a:xfrm>
          <a:prstGeom prst="rect">
            <a:avLst/>
          </a:prstGeom>
          <a:solidFill>
            <a:srgbClr val="F6B62F"/>
          </a:solidFill>
          <a:ln w="12700">
            <a:solidFill>
              <a:srgbClr val="F6B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ED54D1AE-FCE5-B54B-63DC-62CD7785C86F}"/>
              </a:ext>
            </a:extLst>
          </p:cNvPr>
          <p:cNvSpPr/>
          <p:nvPr/>
        </p:nvSpPr>
        <p:spPr>
          <a:xfrm>
            <a:off x="326817" y="3003740"/>
            <a:ext cx="4047166" cy="30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F6B62F"/>
                </a:solidFill>
              </a:rPr>
              <a:t>3. Positivity</a:t>
            </a:r>
            <a:endParaRPr lang="en-US" sz="1700" dirty="0"/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B1751875-3381-F01F-2385-EDE2724CFAB8}"/>
              </a:ext>
            </a:extLst>
          </p:cNvPr>
          <p:cNvSpPr/>
          <p:nvPr/>
        </p:nvSpPr>
        <p:spPr>
          <a:xfrm>
            <a:off x="326817" y="3406076"/>
            <a:ext cx="4025091" cy="81903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F6F4F0"/>
                </a:solidFill>
              </a:rPr>
              <a:t>Within relevant covariate strata, every treatment option has a nonzero chance of being observed.</a:t>
            </a:r>
            <a:endParaRPr lang="en-US" sz="1600" dirty="0"/>
          </a:p>
        </p:txBody>
      </p:sp>
      <p:sp>
        <p:nvSpPr>
          <p:cNvPr id="46" name="Shape 1">
            <a:extLst>
              <a:ext uri="{FF2B5EF4-FFF2-40B4-BE49-F238E27FC236}">
                <a16:creationId xmlns:a16="http://schemas.microsoft.com/office/drawing/2014/main" id="{3BA5FC44-FA1C-76D6-EA27-D1A22DFA9C00}"/>
              </a:ext>
            </a:extLst>
          </p:cNvPr>
          <p:cNvSpPr/>
          <p:nvPr/>
        </p:nvSpPr>
        <p:spPr>
          <a:xfrm>
            <a:off x="164642" y="1086335"/>
            <a:ext cx="4202872" cy="1554480"/>
          </a:xfrm>
          <a:prstGeom prst="roundRect">
            <a:avLst>
              <a:gd name="adj" fmla="val 4706"/>
            </a:avLst>
          </a:prstGeom>
          <a:solidFill>
            <a:srgbClr val="252525"/>
          </a:solidFill>
          <a:ln w="1397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2">
            <a:extLst>
              <a:ext uri="{FF2B5EF4-FFF2-40B4-BE49-F238E27FC236}">
                <a16:creationId xmlns:a16="http://schemas.microsoft.com/office/drawing/2014/main" id="{EFC8A5DD-AF25-C93F-EA12-81C7726969F2}"/>
              </a:ext>
            </a:extLst>
          </p:cNvPr>
          <p:cNvSpPr/>
          <p:nvPr/>
        </p:nvSpPr>
        <p:spPr>
          <a:xfrm>
            <a:off x="164642" y="1086335"/>
            <a:ext cx="57475" cy="1554480"/>
          </a:xfrm>
          <a:prstGeom prst="rect">
            <a:avLst/>
          </a:prstGeom>
          <a:solidFill>
            <a:srgbClr val="78C28C"/>
          </a:solidFill>
          <a:ln w="12700">
            <a:solidFill>
              <a:srgbClr val="78C2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3">
            <a:extLst>
              <a:ext uri="{FF2B5EF4-FFF2-40B4-BE49-F238E27FC236}">
                <a16:creationId xmlns:a16="http://schemas.microsoft.com/office/drawing/2014/main" id="{E00EDA46-8F40-9C3B-F6DD-3923279A58D1}"/>
              </a:ext>
            </a:extLst>
          </p:cNvPr>
          <p:cNvSpPr/>
          <p:nvPr/>
        </p:nvSpPr>
        <p:spPr>
          <a:xfrm>
            <a:off x="365810" y="1232639"/>
            <a:ext cx="3994160" cy="34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78C28C"/>
                </a:solidFill>
              </a:rPr>
              <a:t>1. Consistency</a:t>
            </a:r>
            <a:endParaRPr lang="en-US" sz="1700" dirty="0"/>
          </a:p>
        </p:txBody>
      </p:sp>
      <p:sp>
        <p:nvSpPr>
          <p:cNvPr id="49" name="Text 4">
            <a:extLst>
              <a:ext uri="{FF2B5EF4-FFF2-40B4-BE49-F238E27FC236}">
                <a16:creationId xmlns:a16="http://schemas.microsoft.com/office/drawing/2014/main" id="{FA77DAB3-6EDF-C000-3DFD-B9888AA6522B}"/>
              </a:ext>
            </a:extLst>
          </p:cNvPr>
          <p:cNvSpPr/>
          <p:nvPr/>
        </p:nvSpPr>
        <p:spPr>
          <a:xfrm>
            <a:off x="365810" y="1634975"/>
            <a:ext cx="3972374" cy="91346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F6F4F0"/>
                </a:solidFill>
              </a:rPr>
              <a:t>The observed outcome equals the potential outcome under the treatment received.</a:t>
            </a:r>
            <a:endParaRPr lang="en-US" sz="1600" dirty="0"/>
          </a:p>
        </p:txBody>
      </p:sp>
      <p:sp>
        <p:nvSpPr>
          <p:cNvPr id="50" name="Shape 5">
            <a:extLst>
              <a:ext uri="{FF2B5EF4-FFF2-40B4-BE49-F238E27FC236}">
                <a16:creationId xmlns:a16="http://schemas.microsoft.com/office/drawing/2014/main" id="{1DCD54BE-B706-56DE-02AA-23B6710DEB2F}"/>
              </a:ext>
            </a:extLst>
          </p:cNvPr>
          <p:cNvSpPr/>
          <p:nvPr/>
        </p:nvSpPr>
        <p:spPr>
          <a:xfrm>
            <a:off x="4481877" y="1086335"/>
            <a:ext cx="4484988" cy="1554480"/>
          </a:xfrm>
          <a:prstGeom prst="roundRect">
            <a:avLst>
              <a:gd name="adj" fmla="val 4706"/>
            </a:avLst>
          </a:prstGeom>
          <a:solidFill>
            <a:srgbClr val="252525"/>
          </a:solidFill>
          <a:ln w="1397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6">
            <a:extLst>
              <a:ext uri="{FF2B5EF4-FFF2-40B4-BE49-F238E27FC236}">
                <a16:creationId xmlns:a16="http://schemas.microsoft.com/office/drawing/2014/main" id="{6DF3A052-2ACD-F891-0805-CF45D95B6B23}"/>
              </a:ext>
            </a:extLst>
          </p:cNvPr>
          <p:cNvSpPr/>
          <p:nvPr/>
        </p:nvSpPr>
        <p:spPr>
          <a:xfrm>
            <a:off x="4481877" y="1086335"/>
            <a:ext cx="61333" cy="1554480"/>
          </a:xfrm>
          <a:prstGeom prst="rect">
            <a:avLst/>
          </a:prstGeom>
          <a:solidFill>
            <a:srgbClr val="70ACE8"/>
          </a:solidFill>
          <a:ln w="12700">
            <a:solidFill>
              <a:srgbClr val="70A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7">
            <a:extLst>
              <a:ext uri="{FF2B5EF4-FFF2-40B4-BE49-F238E27FC236}">
                <a16:creationId xmlns:a16="http://schemas.microsoft.com/office/drawing/2014/main" id="{7C86C54A-7CFF-7254-3E83-8304CE3A59CD}"/>
              </a:ext>
            </a:extLst>
          </p:cNvPr>
          <p:cNvSpPr/>
          <p:nvPr/>
        </p:nvSpPr>
        <p:spPr>
          <a:xfrm>
            <a:off x="4683045" y="1232639"/>
            <a:ext cx="4216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70ACE8"/>
                </a:solidFill>
              </a:rPr>
              <a:t>2. Exchangeability</a:t>
            </a:r>
            <a:endParaRPr lang="en-US" sz="1700" dirty="0"/>
          </a:p>
        </p:txBody>
      </p:sp>
      <p:sp>
        <p:nvSpPr>
          <p:cNvPr id="53" name="Text 8">
            <a:extLst>
              <a:ext uri="{FF2B5EF4-FFF2-40B4-BE49-F238E27FC236}">
                <a16:creationId xmlns:a16="http://schemas.microsoft.com/office/drawing/2014/main" id="{22342BDF-2A71-D028-FEAB-29747C540766}"/>
              </a:ext>
            </a:extLst>
          </p:cNvPr>
          <p:cNvSpPr/>
          <p:nvPr/>
        </p:nvSpPr>
        <p:spPr>
          <a:xfrm>
            <a:off x="4683045" y="1634975"/>
            <a:ext cx="4193655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dirty="0">
                <a:solidFill>
                  <a:srgbClr val="F6F4F0"/>
                </a:solidFill>
              </a:rPr>
              <a:t>After conditioning on the right covariates, treatment assignment carries no extra information about the potential outcomes.</a:t>
            </a:r>
            <a:endParaRPr lang="en-US" sz="1500" dirty="0"/>
          </a:p>
        </p:txBody>
      </p:sp>
      <p:sp>
        <p:nvSpPr>
          <p:cNvPr id="54" name="Shape 17">
            <a:extLst>
              <a:ext uri="{FF2B5EF4-FFF2-40B4-BE49-F238E27FC236}">
                <a16:creationId xmlns:a16="http://schemas.microsoft.com/office/drawing/2014/main" id="{1F5A0B0C-8319-91C2-68B3-46FB97CD7DA1}"/>
              </a:ext>
            </a:extLst>
          </p:cNvPr>
          <p:cNvSpPr/>
          <p:nvPr/>
        </p:nvSpPr>
        <p:spPr>
          <a:xfrm>
            <a:off x="1131804" y="4628538"/>
            <a:ext cx="6700145" cy="401048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414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18">
            <a:extLst>
              <a:ext uri="{FF2B5EF4-FFF2-40B4-BE49-F238E27FC236}">
                <a16:creationId xmlns:a16="http://schemas.microsoft.com/office/drawing/2014/main" id="{553A05E8-1180-774F-8AE7-4BE9FD65FA6A}"/>
              </a:ext>
            </a:extLst>
          </p:cNvPr>
          <p:cNvSpPr/>
          <p:nvPr/>
        </p:nvSpPr>
        <p:spPr>
          <a:xfrm>
            <a:off x="1198295" y="4741060"/>
            <a:ext cx="6442447" cy="172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6B62F"/>
                </a:solidFill>
              </a:rPr>
              <a:t>All four matter. Different assumptions fail in different ways.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776203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777D1-4F69-5444-9876-477B2BFA2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822A54-E062-170D-8786-59F51904E2AB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Assumption 1: Consistency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95E0A944-4A65-951D-9852-8DC5954093D1}"/>
              </a:ext>
            </a:extLst>
          </p:cNvPr>
          <p:cNvSpPr/>
          <p:nvPr/>
        </p:nvSpPr>
        <p:spPr>
          <a:xfrm>
            <a:off x="177135" y="1352157"/>
            <a:ext cx="1920240" cy="868680"/>
          </a:xfrm>
          <a:prstGeom prst="roundRect">
            <a:avLst/>
          </a:prstGeom>
          <a:solidFill>
            <a:srgbClr val="78C28C"/>
          </a:solidFill>
          <a:ln w="12700">
            <a:solidFill>
              <a:srgbClr val="78C2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3">
                <a:extLst>
                  <a:ext uri="{FF2B5EF4-FFF2-40B4-BE49-F238E27FC236}">
                    <a16:creationId xmlns:a16="http://schemas.microsoft.com/office/drawing/2014/main" id="{72D6F331-18EF-B06F-4A7D-C3C132EA7E94}"/>
                  </a:ext>
                </a:extLst>
              </p:cNvPr>
              <p:cNvSpPr/>
              <p:nvPr/>
            </p:nvSpPr>
            <p:spPr>
              <a:xfrm>
                <a:off x="177135" y="1370445"/>
                <a:ext cx="1920240" cy="832104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600" b="1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1600" b="1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1600" b="1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" name="Text 3">
                <a:extLst>
                  <a:ext uri="{FF2B5EF4-FFF2-40B4-BE49-F238E27FC236}">
                    <a16:creationId xmlns:a16="http://schemas.microsoft.com/office/drawing/2014/main" id="{72D6F331-18EF-B06F-4A7D-C3C132EA7E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135" y="1370445"/>
                <a:ext cx="1920240" cy="8321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hape 4">
            <a:extLst>
              <a:ext uri="{FF2B5EF4-FFF2-40B4-BE49-F238E27FC236}">
                <a16:creationId xmlns:a16="http://schemas.microsoft.com/office/drawing/2014/main" id="{C9A834FC-C448-A104-E393-A3AA2E819DD8}"/>
              </a:ext>
            </a:extLst>
          </p:cNvPr>
          <p:cNvSpPr/>
          <p:nvPr/>
        </p:nvSpPr>
        <p:spPr>
          <a:xfrm flipV="1">
            <a:off x="2184034" y="1767078"/>
            <a:ext cx="1084945" cy="2516"/>
          </a:xfrm>
          <a:prstGeom prst="line">
            <a:avLst/>
          </a:prstGeom>
          <a:noFill/>
          <a:ln w="25400">
            <a:solidFill>
              <a:srgbClr val="C8C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DF111857-6D5F-FFA4-2401-586A4B92B1CB}"/>
              </a:ext>
            </a:extLst>
          </p:cNvPr>
          <p:cNvSpPr/>
          <p:nvPr/>
        </p:nvSpPr>
        <p:spPr>
          <a:xfrm>
            <a:off x="3406140" y="1337310"/>
            <a:ext cx="2468880" cy="868680"/>
          </a:xfrm>
          <a:prstGeom prst="roundRect">
            <a:avLst/>
          </a:prstGeom>
          <a:solidFill>
            <a:srgbClr val="A9D3F7"/>
          </a:solidFill>
          <a:ln w="12700">
            <a:solidFill>
              <a:srgbClr val="A9D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6">
                <a:extLst>
                  <a:ext uri="{FF2B5EF4-FFF2-40B4-BE49-F238E27FC236}">
                    <a16:creationId xmlns:a16="http://schemas.microsoft.com/office/drawing/2014/main" id="{4693419A-8F3B-DB75-D5C1-F0F0A3B771A4}"/>
                  </a:ext>
                </a:extLst>
              </p:cNvPr>
              <p:cNvSpPr/>
              <p:nvPr/>
            </p:nvSpPr>
            <p:spPr>
              <a:xfrm>
                <a:off x="3406140" y="1355598"/>
                <a:ext cx="2468880" cy="832104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111111"/>
                    </a:solidFill>
                  </a:rPr>
                  <a:t>Observed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111111"/>
                        </a:solidFill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Text 6">
                <a:extLst>
                  <a:ext uri="{FF2B5EF4-FFF2-40B4-BE49-F238E27FC236}">
                    <a16:creationId xmlns:a16="http://schemas.microsoft.com/office/drawing/2014/main" id="{4693419A-8F3B-DB75-D5C1-F0F0A3B771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6140" y="1355598"/>
                <a:ext cx="2468880" cy="8321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7">
            <a:extLst>
              <a:ext uri="{FF2B5EF4-FFF2-40B4-BE49-F238E27FC236}">
                <a16:creationId xmlns:a16="http://schemas.microsoft.com/office/drawing/2014/main" id="{E388DEE1-DBD6-C6FE-DAAE-4C6BB4DF310F}"/>
              </a:ext>
            </a:extLst>
          </p:cNvPr>
          <p:cNvSpPr/>
          <p:nvPr/>
        </p:nvSpPr>
        <p:spPr>
          <a:xfrm>
            <a:off x="6057900" y="1403581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F6F4F0"/>
                </a:solidFill>
              </a:rPr>
              <a:t>=</a:t>
            </a:r>
            <a:endParaRPr lang="en-US" sz="3200" dirty="0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C9C57294-350D-F44C-9AF3-E5D9382B8B0B}"/>
              </a:ext>
            </a:extLst>
          </p:cNvPr>
          <p:cNvSpPr/>
          <p:nvPr/>
        </p:nvSpPr>
        <p:spPr>
          <a:xfrm>
            <a:off x="6789420" y="1337310"/>
            <a:ext cx="2076909" cy="832104"/>
          </a:xfrm>
          <a:prstGeom prst="roundRect">
            <a:avLst/>
          </a:prstGeom>
          <a:solidFill>
            <a:srgbClr val="F6B62F"/>
          </a:solidFill>
          <a:ln w="12700">
            <a:solidFill>
              <a:srgbClr val="F6B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9">
                <a:extLst>
                  <a:ext uri="{FF2B5EF4-FFF2-40B4-BE49-F238E27FC236}">
                    <a16:creationId xmlns:a16="http://schemas.microsoft.com/office/drawing/2014/main" id="{A0B342CD-00A9-037D-1B99-C89AD5D76A29}"/>
                  </a:ext>
                </a:extLst>
              </p:cNvPr>
              <p:cNvSpPr/>
              <p:nvPr/>
            </p:nvSpPr>
            <p:spPr>
              <a:xfrm>
                <a:off x="6583680" y="1337310"/>
                <a:ext cx="2560320" cy="832104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600" b="1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1600" b="1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1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600" b="1" i="1" dirty="0" smtClean="0">
                          <a:solidFill>
                            <a:srgbClr val="11111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 9">
                <a:extLst>
                  <a:ext uri="{FF2B5EF4-FFF2-40B4-BE49-F238E27FC236}">
                    <a16:creationId xmlns:a16="http://schemas.microsoft.com/office/drawing/2014/main" id="{A0B342CD-00A9-037D-1B99-C89AD5D76A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0" y="1337310"/>
                <a:ext cx="2560320" cy="8321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10">
                <a:extLst>
                  <a:ext uri="{FF2B5EF4-FFF2-40B4-BE49-F238E27FC236}">
                    <a16:creationId xmlns:a16="http://schemas.microsoft.com/office/drawing/2014/main" id="{824B92DF-1168-791C-211D-AEB056CCBB7B}"/>
                  </a:ext>
                </a:extLst>
              </p:cNvPr>
              <p:cNvSpPr/>
              <p:nvPr/>
            </p:nvSpPr>
            <p:spPr>
              <a:xfrm>
                <a:off x="374970" y="2891790"/>
                <a:ext cx="8611148" cy="861133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F6F4F0"/>
                    </a:solidFill>
                  </a:rPr>
                  <a:t>If the person receives treatment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6F4F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solidFill>
                      <a:srgbClr val="F6F4F0"/>
                    </a:solidFill>
                  </a:rPr>
                  <a:t>, then the observed outcome should equal that person’s potential outcome under treatment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6F4F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solidFill>
                      <a:srgbClr val="F6F4F0"/>
                    </a:solidFill>
                  </a:rPr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11" name="Text 10">
                <a:extLst>
                  <a:ext uri="{FF2B5EF4-FFF2-40B4-BE49-F238E27FC236}">
                    <a16:creationId xmlns:a16="http://schemas.microsoft.com/office/drawing/2014/main" id="{824B92DF-1168-791C-211D-AEB056CCBB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70" y="2891790"/>
                <a:ext cx="8611148" cy="861133"/>
              </a:xfrm>
              <a:prstGeom prst="rect">
                <a:avLst/>
              </a:prstGeom>
              <a:blipFill>
                <a:blip r:embed="rId5"/>
                <a:stretch>
                  <a:fillRect l="-1204" r="-1983" b="-422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hape 11">
            <a:extLst>
              <a:ext uri="{FF2B5EF4-FFF2-40B4-BE49-F238E27FC236}">
                <a16:creationId xmlns:a16="http://schemas.microsoft.com/office/drawing/2014/main" id="{F99F736C-71E5-E3AE-9BC7-3CFA7C5D2DFB}"/>
              </a:ext>
            </a:extLst>
          </p:cNvPr>
          <p:cNvSpPr/>
          <p:nvPr/>
        </p:nvSpPr>
        <p:spPr>
          <a:xfrm>
            <a:off x="255181" y="4254246"/>
            <a:ext cx="8611148" cy="523221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414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2">
                <a:extLst>
                  <a:ext uri="{FF2B5EF4-FFF2-40B4-BE49-F238E27FC236}">
                    <a16:creationId xmlns:a16="http://schemas.microsoft.com/office/drawing/2014/main" id="{03073350-4416-2A66-37AB-F3F17C98FFBE}"/>
                  </a:ext>
                </a:extLst>
              </p:cNvPr>
              <p:cNvSpPr/>
              <p:nvPr/>
            </p:nvSpPr>
            <p:spPr>
              <a:xfrm>
                <a:off x="385211" y="4382263"/>
                <a:ext cx="8279950" cy="22552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F6B62F"/>
                    </a:solidFill>
                  </a:rPr>
                  <a:t>Consistency connects the observed outcome </a:t>
                </a:r>
                <a14:m>
                  <m:oMath xmlns:m="http://schemas.openxmlformats.org/officeDocument/2006/math">
                    <m:r>
                      <a:rPr lang="en-US" sz="1500" b="1" i="1" dirty="0" smtClean="0">
                        <a:solidFill>
                          <a:srgbClr val="F6B62F"/>
                        </a:solidFill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sz="1500" b="1" dirty="0">
                    <a:solidFill>
                      <a:srgbClr val="F6B62F"/>
                    </a:solidFill>
                  </a:rPr>
                  <a:t> to the counterfactual notation </a:t>
                </a:r>
                <a14:m>
                  <m:oMath xmlns:m="http://schemas.openxmlformats.org/officeDocument/2006/math">
                    <m:r>
                      <a:rPr lang="en-US" sz="1500" b="1" i="1" dirty="0" smtClean="0">
                        <a:solidFill>
                          <a:srgbClr val="F6B62F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sz="1500" b="1" i="1" dirty="0" smtClean="0">
                        <a:solidFill>
                          <a:srgbClr val="F6B62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500" b="1" i="1" dirty="0" smtClean="0">
                        <a:solidFill>
                          <a:srgbClr val="F6B62F"/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1500" b="1" i="1" dirty="0" smtClean="0">
                        <a:solidFill>
                          <a:srgbClr val="F6B62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500" b="1" dirty="0">
                    <a:solidFill>
                      <a:srgbClr val="F6B62F"/>
                    </a:solidFill>
                  </a:rPr>
                  <a:t>.</a:t>
                </a:r>
                <a:endParaRPr lang="en-US" sz="1500" dirty="0"/>
              </a:p>
            </p:txBody>
          </p:sp>
        </mc:Choice>
        <mc:Fallback xmlns="">
          <p:sp>
            <p:nvSpPr>
              <p:cNvPr id="13" name="Text 12">
                <a:extLst>
                  <a:ext uri="{FF2B5EF4-FFF2-40B4-BE49-F238E27FC236}">
                    <a16:creationId xmlns:a16="http://schemas.microsoft.com/office/drawing/2014/main" id="{03073350-4416-2A66-37AB-F3F17C98FF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211" y="4382263"/>
                <a:ext cx="8279950" cy="225527"/>
              </a:xfrm>
              <a:prstGeom prst="rect">
                <a:avLst/>
              </a:prstGeom>
              <a:blipFill>
                <a:blip r:embed="rId6"/>
                <a:stretch>
                  <a:fillRect t="-27027" b="-5135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1978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6FD7A-CF65-8F59-8F4D-9030E3A30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BEE002-FDBF-8412-6C16-B54173B4AD93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Assumption 1: Consistency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6FACAF0A-4EA0-2821-E6AB-EE0043D57481}"/>
              </a:ext>
            </a:extLst>
          </p:cNvPr>
          <p:cNvSpPr/>
          <p:nvPr/>
        </p:nvSpPr>
        <p:spPr>
          <a:xfrm>
            <a:off x="165365" y="1054619"/>
            <a:ext cx="8813270" cy="728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300" b="1" dirty="0">
                <a:solidFill>
                  <a:srgbClr val="F6F4F0"/>
                </a:solidFill>
              </a:rPr>
              <a:t>Question: Does taking 10 mg of Drug A reduce systolic blood pressure after 4 weeks?</a:t>
            </a:r>
            <a:endParaRPr lang="en-US" sz="2300" dirty="0"/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EE9ADBCA-9A2E-CAC6-A196-B0C95BEED59B}"/>
              </a:ext>
            </a:extLst>
          </p:cNvPr>
          <p:cNvSpPr/>
          <p:nvPr/>
        </p:nvSpPr>
        <p:spPr>
          <a:xfrm>
            <a:off x="4650561" y="2156675"/>
            <a:ext cx="4389120" cy="2057400"/>
          </a:xfrm>
          <a:prstGeom prst="roundRect">
            <a:avLst>
              <a:gd name="adj" fmla="val 3556"/>
            </a:avLst>
          </a:prstGeom>
          <a:solidFill>
            <a:srgbClr val="252525"/>
          </a:solidFill>
          <a:ln w="1397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20BC305D-1471-51AD-0074-676EF3E0098D}"/>
              </a:ext>
            </a:extLst>
          </p:cNvPr>
          <p:cNvSpPr/>
          <p:nvPr/>
        </p:nvSpPr>
        <p:spPr>
          <a:xfrm>
            <a:off x="4650561" y="2156675"/>
            <a:ext cx="73152" cy="2057400"/>
          </a:xfrm>
          <a:prstGeom prst="rect">
            <a:avLst/>
          </a:prstGeom>
          <a:solidFill>
            <a:srgbClr val="70ACE8"/>
          </a:solidFill>
          <a:ln w="12700">
            <a:solidFill>
              <a:srgbClr val="70A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1E92E030-2532-11A9-6B0F-847DFD9E6A51}"/>
              </a:ext>
            </a:extLst>
          </p:cNvPr>
          <p:cNvSpPr/>
          <p:nvPr/>
        </p:nvSpPr>
        <p:spPr>
          <a:xfrm>
            <a:off x="4851729" y="2302979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70ACE8"/>
                </a:solidFill>
              </a:rPr>
              <a:t>Why consistency is plausible</a:t>
            </a:r>
            <a:endParaRPr lang="en-US" sz="170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F0E71B34-39F5-38B7-237B-3EC7B27250F4}"/>
              </a:ext>
            </a:extLst>
          </p:cNvPr>
          <p:cNvSpPr/>
          <p:nvPr/>
        </p:nvSpPr>
        <p:spPr>
          <a:xfrm>
            <a:off x="4851729" y="2705315"/>
            <a:ext cx="4041648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F6F4F0"/>
                </a:solidFill>
              </a:rPr>
              <a:t>People labeled T = 1 are receiving essentially the same intervention that defines Y(1).</a:t>
            </a:r>
            <a:endParaRPr lang="en-US" sz="1800" dirty="0"/>
          </a:p>
        </p:txBody>
      </p:sp>
      <p:sp>
        <p:nvSpPr>
          <p:cNvPr id="36" name="Shape 2">
            <a:extLst>
              <a:ext uri="{FF2B5EF4-FFF2-40B4-BE49-F238E27FC236}">
                <a16:creationId xmlns:a16="http://schemas.microsoft.com/office/drawing/2014/main" id="{FCD2B13E-7605-80FB-7DB7-1A77FF2295A7}"/>
              </a:ext>
            </a:extLst>
          </p:cNvPr>
          <p:cNvSpPr/>
          <p:nvPr/>
        </p:nvSpPr>
        <p:spPr>
          <a:xfrm>
            <a:off x="104319" y="2156675"/>
            <a:ext cx="4389120" cy="2057400"/>
          </a:xfrm>
          <a:prstGeom prst="roundRect">
            <a:avLst>
              <a:gd name="adj" fmla="val 3556"/>
            </a:avLst>
          </a:prstGeom>
          <a:solidFill>
            <a:srgbClr val="252525"/>
          </a:solidFill>
          <a:ln w="1397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">
            <a:extLst>
              <a:ext uri="{FF2B5EF4-FFF2-40B4-BE49-F238E27FC236}">
                <a16:creationId xmlns:a16="http://schemas.microsoft.com/office/drawing/2014/main" id="{EDC193B4-F08F-14D7-DC75-6947B076EFEE}"/>
              </a:ext>
            </a:extLst>
          </p:cNvPr>
          <p:cNvSpPr/>
          <p:nvPr/>
        </p:nvSpPr>
        <p:spPr>
          <a:xfrm>
            <a:off x="104319" y="2156675"/>
            <a:ext cx="73152" cy="2057400"/>
          </a:xfrm>
          <a:prstGeom prst="rect">
            <a:avLst/>
          </a:prstGeom>
          <a:solidFill>
            <a:srgbClr val="78C28C"/>
          </a:solidFill>
          <a:ln w="12700">
            <a:solidFill>
              <a:srgbClr val="78C2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9476408F-4078-BC57-61EF-4FAB5F3A6527}"/>
              </a:ext>
            </a:extLst>
          </p:cNvPr>
          <p:cNvSpPr/>
          <p:nvPr/>
        </p:nvSpPr>
        <p:spPr>
          <a:xfrm>
            <a:off x="305487" y="2302979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78C28C"/>
                </a:solidFill>
              </a:rPr>
              <a:t>Treatment definition</a:t>
            </a:r>
            <a:endParaRPr lang="en-US" sz="1700" dirty="0"/>
          </a:p>
        </p:txBody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5DA08C58-3568-7DB5-4EE8-2868FBF9B476}"/>
              </a:ext>
            </a:extLst>
          </p:cNvPr>
          <p:cNvSpPr/>
          <p:nvPr/>
        </p:nvSpPr>
        <p:spPr>
          <a:xfrm>
            <a:off x="305487" y="2705315"/>
            <a:ext cx="4041648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F6F4F0"/>
                </a:solidFill>
              </a:rPr>
              <a:t>T = 1 means: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6F4F0"/>
                </a:solidFill>
              </a:rPr>
              <a:t>• Drug A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6F4F0"/>
                </a:solidFill>
              </a:rPr>
              <a:t>• 10 mg daily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6F4F0"/>
                </a:solidFill>
              </a:rPr>
              <a:t>• for 4 weeks</a:t>
            </a:r>
            <a:endParaRPr lang="en-US" sz="1800" dirty="0"/>
          </a:p>
        </p:txBody>
      </p:sp>
      <p:sp>
        <p:nvSpPr>
          <p:cNvPr id="40" name="Shape 10">
            <a:extLst>
              <a:ext uri="{FF2B5EF4-FFF2-40B4-BE49-F238E27FC236}">
                <a16:creationId xmlns:a16="http://schemas.microsoft.com/office/drawing/2014/main" id="{1733205B-93BE-9F81-4FFA-09BFEC6B6814}"/>
              </a:ext>
            </a:extLst>
          </p:cNvPr>
          <p:cNvSpPr/>
          <p:nvPr/>
        </p:nvSpPr>
        <p:spPr>
          <a:xfrm>
            <a:off x="681732" y="4455163"/>
            <a:ext cx="7623414" cy="530352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414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3168D2AC-EC3C-EC1E-6832-25FDA3A3ED31}"/>
              </a:ext>
            </a:extLst>
          </p:cNvPr>
          <p:cNvSpPr/>
          <p:nvPr/>
        </p:nvSpPr>
        <p:spPr>
          <a:xfrm>
            <a:off x="773772" y="4583179"/>
            <a:ext cx="73302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6B62F"/>
                </a:solidFill>
              </a:rPr>
              <a:t>The clearer the intervention, the easier consistency is to defend.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272064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C46E8-76A1-9CC8-CF2F-1C3F93DD2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07B4D3-59CA-4DA1-19A7-CB201610E7A7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Assumption 1: Consistency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52DF1411-15EE-4CB2-C4EE-47B979A5DEC2}"/>
              </a:ext>
            </a:extLst>
          </p:cNvPr>
          <p:cNvSpPr/>
          <p:nvPr/>
        </p:nvSpPr>
        <p:spPr>
          <a:xfrm>
            <a:off x="118214" y="1067562"/>
            <a:ext cx="1920240" cy="1097280"/>
          </a:xfrm>
          <a:prstGeom prst="roundRect">
            <a:avLst/>
          </a:prstGeom>
          <a:solidFill>
            <a:srgbClr val="262626"/>
          </a:solidFill>
          <a:ln w="20320">
            <a:solidFill>
              <a:srgbClr val="F59C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38DAF0B3-2932-355D-A355-89D6735987F0}"/>
              </a:ext>
            </a:extLst>
          </p:cNvPr>
          <p:cNvSpPr/>
          <p:nvPr/>
        </p:nvSpPr>
        <p:spPr>
          <a:xfrm>
            <a:off x="191366" y="1351026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59C42"/>
                </a:solidFill>
              </a:rPr>
              <a:t>Walking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59C42"/>
                </a:solidFill>
              </a:rPr>
              <a:t>20 min/week</a:t>
            </a:r>
            <a:endParaRPr lang="en-US" sz="16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F341564A-98F7-D94F-DB7D-2D948C041AC2}"/>
              </a:ext>
            </a:extLst>
          </p:cNvPr>
          <p:cNvSpPr/>
          <p:nvPr/>
        </p:nvSpPr>
        <p:spPr>
          <a:xfrm>
            <a:off x="2482564" y="1067562"/>
            <a:ext cx="1920240" cy="1097280"/>
          </a:xfrm>
          <a:prstGeom prst="roundRect">
            <a:avLst/>
          </a:prstGeom>
          <a:solidFill>
            <a:srgbClr val="262626"/>
          </a:solidFill>
          <a:ln w="20320">
            <a:solidFill>
              <a:srgbClr val="F59C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8C16680B-23B5-7AA1-0975-AB2073E52D9F}"/>
              </a:ext>
            </a:extLst>
          </p:cNvPr>
          <p:cNvSpPr/>
          <p:nvPr/>
        </p:nvSpPr>
        <p:spPr>
          <a:xfrm>
            <a:off x="2555716" y="1351026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59C42"/>
                </a:solidFill>
              </a:rPr>
              <a:t>Running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59C42"/>
                </a:solidFill>
              </a:rPr>
              <a:t>5 days/week</a:t>
            </a:r>
            <a:endParaRPr lang="en-US" sz="1600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AC8D3E78-A78A-DA3A-AB94-01544BED0C6B}"/>
              </a:ext>
            </a:extLst>
          </p:cNvPr>
          <p:cNvSpPr/>
          <p:nvPr/>
        </p:nvSpPr>
        <p:spPr>
          <a:xfrm>
            <a:off x="4741197" y="1051455"/>
            <a:ext cx="1920240" cy="1097280"/>
          </a:xfrm>
          <a:prstGeom prst="roundRect">
            <a:avLst/>
          </a:prstGeom>
          <a:solidFill>
            <a:srgbClr val="262626"/>
          </a:solidFill>
          <a:ln w="20320">
            <a:solidFill>
              <a:srgbClr val="F59C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F3CB4FAE-691C-A46B-3A86-5BB243FA1F81}"/>
              </a:ext>
            </a:extLst>
          </p:cNvPr>
          <p:cNvSpPr/>
          <p:nvPr/>
        </p:nvSpPr>
        <p:spPr>
          <a:xfrm>
            <a:off x="4814349" y="1334919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59C42"/>
                </a:solidFill>
              </a:rPr>
              <a:t>Strength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59C42"/>
                </a:solidFill>
              </a:rPr>
              <a:t>training</a:t>
            </a:r>
            <a:endParaRPr lang="en-US" sz="1600" dirty="0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946B2EB9-31CA-BE10-ACE2-165DA261710D}"/>
              </a:ext>
            </a:extLst>
          </p:cNvPr>
          <p:cNvSpPr/>
          <p:nvPr/>
        </p:nvSpPr>
        <p:spPr>
          <a:xfrm>
            <a:off x="6946089" y="1051455"/>
            <a:ext cx="1920240" cy="1097280"/>
          </a:xfrm>
          <a:prstGeom prst="roundRect">
            <a:avLst/>
          </a:prstGeom>
          <a:solidFill>
            <a:srgbClr val="262626"/>
          </a:solidFill>
          <a:ln w="20320">
            <a:solidFill>
              <a:srgbClr val="F59C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5E96A542-16C3-9C7B-577C-B247E9FFDE50}"/>
              </a:ext>
            </a:extLst>
          </p:cNvPr>
          <p:cNvSpPr/>
          <p:nvPr/>
        </p:nvSpPr>
        <p:spPr>
          <a:xfrm>
            <a:off x="7019241" y="1334919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59C42"/>
                </a:solidFill>
              </a:rPr>
              <a:t>Mixed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59C42"/>
                </a:solidFill>
              </a:rPr>
              <a:t>program</a:t>
            </a:r>
            <a:endParaRPr lang="en-US" sz="16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B4939B68-BFEB-4B02-5F03-DB23BD0BD4EA}"/>
              </a:ext>
            </a:extLst>
          </p:cNvPr>
          <p:cNvSpPr/>
          <p:nvPr/>
        </p:nvSpPr>
        <p:spPr>
          <a:xfrm>
            <a:off x="0" y="2518985"/>
            <a:ext cx="9144000" cy="679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dirty="0">
                <a:solidFill>
                  <a:srgbClr val="F6F4F0"/>
                </a:solidFill>
              </a:rPr>
              <a:t>All four people are coded T = 1, but these are not the same intervention.</a:t>
            </a:r>
            <a:endParaRPr lang="en-US" sz="220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6997BC95-586C-721D-A0EE-0B591ACB83B6}"/>
              </a:ext>
            </a:extLst>
          </p:cNvPr>
          <p:cNvSpPr/>
          <p:nvPr/>
        </p:nvSpPr>
        <p:spPr>
          <a:xfrm>
            <a:off x="743916" y="3798853"/>
            <a:ext cx="7438676" cy="586384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414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9C892965-3F74-5F0C-A7CC-D5C0AABC2469}"/>
              </a:ext>
            </a:extLst>
          </p:cNvPr>
          <p:cNvSpPr/>
          <p:nvPr/>
        </p:nvSpPr>
        <p:spPr>
          <a:xfrm>
            <a:off x="828850" y="3926869"/>
            <a:ext cx="7152573" cy="25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6B62F"/>
                </a:solidFill>
              </a:rPr>
              <a:t>If treatment versions matter for Y, then “Y(1)” is ambiguous.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560327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348FB-BE4F-D7CE-E92F-A36174121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A69791-E911-3846-157D-2C06B2DC1018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Assumption 2: Exchangeability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31285C9B-B080-E94B-3202-AD76EA779232}"/>
              </a:ext>
            </a:extLst>
          </p:cNvPr>
          <p:cNvSpPr/>
          <p:nvPr/>
        </p:nvSpPr>
        <p:spPr>
          <a:xfrm>
            <a:off x="77724" y="1451610"/>
            <a:ext cx="4465956" cy="2240280"/>
          </a:xfrm>
          <a:prstGeom prst="roundRect">
            <a:avLst>
              <a:gd name="adj" fmla="val 3265"/>
            </a:avLst>
          </a:prstGeom>
          <a:solidFill>
            <a:srgbClr val="252525"/>
          </a:solidFill>
          <a:ln w="1397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CAC78F80-DCB5-C4BF-C552-D39BB6FA192D}"/>
              </a:ext>
            </a:extLst>
          </p:cNvPr>
          <p:cNvSpPr/>
          <p:nvPr/>
        </p:nvSpPr>
        <p:spPr>
          <a:xfrm>
            <a:off x="77724" y="1451610"/>
            <a:ext cx="68648" cy="2240280"/>
          </a:xfrm>
          <a:prstGeom prst="rect">
            <a:avLst/>
          </a:prstGeom>
          <a:solidFill>
            <a:srgbClr val="70ACE8"/>
          </a:solidFill>
          <a:ln w="12700">
            <a:solidFill>
              <a:srgbClr val="70A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DD950DBA-B052-9903-34DF-CEC17D3E7436}"/>
              </a:ext>
            </a:extLst>
          </p:cNvPr>
          <p:cNvSpPr/>
          <p:nvPr/>
        </p:nvSpPr>
        <p:spPr>
          <a:xfrm>
            <a:off x="278892" y="1597914"/>
            <a:ext cx="42905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70ACE8"/>
                </a:solidFill>
              </a:rPr>
              <a:t>Ideal comparison</a:t>
            </a:r>
            <a:endParaRPr lang="en-US" sz="17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56868609-65D0-4202-836E-D3E792CA459A}"/>
              </a:ext>
            </a:extLst>
          </p:cNvPr>
          <p:cNvSpPr/>
          <p:nvPr/>
        </p:nvSpPr>
        <p:spPr>
          <a:xfrm>
            <a:off x="278892" y="2000250"/>
            <a:ext cx="4264788" cy="1545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F6F4F0"/>
                </a:solidFill>
              </a:rPr>
              <a:t>Apart from treatment, the groups are comparable with respect to factors that determine the outcome.</a:t>
            </a:r>
            <a:endParaRPr lang="en-US" sz="1800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6A797629-5BA4-3B1C-4DF3-A088D2A539A1}"/>
              </a:ext>
            </a:extLst>
          </p:cNvPr>
          <p:cNvSpPr/>
          <p:nvPr/>
        </p:nvSpPr>
        <p:spPr>
          <a:xfrm>
            <a:off x="4701943" y="1451610"/>
            <a:ext cx="4364334" cy="2240280"/>
          </a:xfrm>
          <a:prstGeom prst="roundRect">
            <a:avLst>
              <a:gd name="adj" fmla="val 3265"/>
            </a:avLst>
          </a:prstGeom>
          <a:solidFill>
            <a:srgbClr val="252525"/>
          </a:solidFill>
          <a:ln w="1397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E5815671-EC75-1A4C-95FC-A30D1E44E3C6}"/>
              </a:ext>
            </a:extLst>
          </p:cNvPr>
          <p:cNvSpPr/>
          <p:nvPr/>
        </p:nvSpPr>
        <p:spPr>
          <a:xfrm>
            <a:off x="4701943" y="1451610"/>
            <a:ext cx="66423" cy="2240280"/>
          </a:xfrm>
          <a:prstGeom prst="rect">
            <a:avLst/>
          </a:prstGeom>
          <a:solidFill>
            <a:srgbClr val="F6B62F"/>
          </a:solidFill>
          <a:ln w="12700">
            <a:solidFill>
              <a:srgbClr val="F6B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1749F6E3-4A16-5E1F-2E4F-1486216F5657}"/>
              </a:ext>
            </a:extLst>
          </p:cNvPr>
          <p:cNvSpPr/>
          <p:nvPr/>
        </p:nvSpPr>
        <p:spPr>
          <a:xfrm>
            <a:off x="4903110" y="1597914"/>
            <a:ext cx="4151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F6B62F"/>
                </a:solidFill>
              </a:rPr>
              <a:t>Why we need it</a:t>
            </a:r>
            <a:endParaRPr lang="en-US" sz="17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7ECB031D-FE14-DDD2-E700-E33810BD9713}"/>
              </a:ext>
            </a:extLst>
          </p:cNvPr>
          <p:cNvSpPr/>
          <p:nvPr/>
        </p:nvSpPr>
        <p:spPr>
          <a:xfrm>
            <a:off x="4903111" y="2000250"/>
            <a:ext cx="4126546" cy="1545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F6F4F0"/>
                </a:solidFill>
              </a:rPr>
              <a:t>We use untreated people to learn what would have happened to treated people without treatment, and vice versa.</a:t>
            </a:r>
            <a:endParaRPr lang="en-US" sz="1800" dirty="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4EDCD20A-597D-50B2-6017-D296CD727A93}"/>
              </a:ext>
            </a:extLst>
          </p:cNvPr>
          <p:cNvSpPr/>
          <p:nvPr/>
        </p:nvSpPr>
        <p:spPr>
          <a:xfrm>
            <a:off x="1218111" y="909805"/>
            <a:ext cx="73699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C8C8C8"/>
                </a:solidFill>
              </a:rPr>
              <a:t>Can the treated and untreated groups stand in for each other’s counterfactual outcomes?</a:t>
            </a:r>
            <a:endParaRPr lang="en-US" sz="140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73647AE3-5034-0A2B-BF52-DA75CEBD94B0}"/>
              </a:ext>
            </a:extLst>
          </p:cNvPr>
          <p:cNvSpPr/>
          <p:nvPr/>
        </p:nvSpPr>
        <p:spPr>
          <a:xfrm>
            <a:off x="1649012" y="3774186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700" b="1" dirty="0">
                <a:solidFill>
                  <a:srgbClr val="78C28C"/>
                </a:solidFill>
              </a:rPr>
              <a:t>No unblocked confounding</a:t>
            </a:r>
            <a:endParaRPr lang="en-US" sz="2700" dirty="0"/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3C71D02F-DAC1-4A8E-E735-FA7341902626}"/>
              </a:ext>
            </a:extLst>
          </p:cNvPr>
          <p:cNvSpPr/>
          <p:nvPr/>
        </p:nvSpPr>
        <p:spPr>
          <a:xfrm>
            <a:off x="126499" y="4455414"/>
            <a:ext cx="8885848" cy="596508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414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2D45E2E-6FFB-31E1-0FCB-87300054D2E6}"/>
              </a:ext>
            </a:extLst>
          </p:cNvPr>
          <p:cNvSpPr/>
          <p:nvPr/>
        </p:nvSpPr>
        <p:spPr>
          <a:xfrm>
            <a:off x="180428" y="4590311"/>
            <a:ext cx="8717573" cy="257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6B62F"/>
                </a:solidFill>
              </a:rPr>
              <a:t>Exchangeability is the assumption that makes between-person comparisons informative about counterfactuals.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52987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5A7BF-68C8-07E8-D033-CF114EBC9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E00D7D-018A-748C-EC7D-4BB266B3AEEA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Assumption 2: Exchangeability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BB15C93A-43D3-9FA1-32AA-5898FA4A9D67}"/>
              </a:ext>
            </a:extLst>
          </p:cNvPr>
          <p:cNvSpPr/>
          <p:nvPr/>
        </p:nvSpPr>
        <p:spPr>
          <a:xfrm>
            <a:off x="222837" y="969702"/>
            <a:ext cx="5466336" cy="386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0" b="1" dirty="0">
                <a:solidFill>
                  <a:srgbClr val="F6F4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Exchangeability in a randomized trial</a:t>
            </a:r>
            <a:endParaRPr lang="en-US" sz="27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EB2D0FB-8A7A-BC19-A91A-422ACC9D17F0}"/>
              </a:ext>
            </a:extLst>
          </p:cNvPr>
          <p:cNvSpPr/>
          <p:nvPr/>
        </p:nvSpPr>
        <p:spPr>
          <a:xfrm>
            <a:off x="410408" y="1715529"/>
            <a:ext cx="1645920" cy="777240"/>
          </a:xfrm>
          <a:prstGeom prst="roundRect">
            <a:avLst/>
          </a:prstGeom>
          <a:solidFill>
            <a:srgbClr val="F59C42"/>
          </a:solidFill>
          <a:ln w="12700">
            <a:solidFill>
              <a:srgbClr val="F59C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A6C35E3-81E9-BAA7-7308-2BAEB854944B}"/>
              </a:ext>
            </a:extLst>
          </p:cNvPr>
          <p:cNvSpPr/>
          <p:nvPr/>
        </p:nvSpPr>
        <p:spPr>
          <a:xfrm>
            <a:off x="410408" y="1733817"/>
            <a:ext cx="1645920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C</a:t>
            </a:r>
            <a:endParaRPr lang="en-US" sz="1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91DB412-02F2-EDC0-C104-E3638F57267A}"/>
              </a:ext>
            </a:extLst>
          </p:cNvPr>
          <p:cNvSpPr/>
          <p:nvPr/>
        </p:nvSpPr>
        <p:spPr>
          <a:xfrm>
            <a:off x="4070962" y="1715529"/>
            <a:ext cx="1645920" cy="777240"/>
          </a:xfrm>
          <a:prstGeom prst="roundRect">
            <a:avLst/>
          </a:prstGeom>
          <a:solidFill>
            <a:srgbClr val="A9D3F7"/>
          </a:solidFill>
          <a:ln w="12700">
            <a:solidFill>
              <a:srgbClr val="A9D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76CF61F-C27B-1B51-9890-1AF60E44557F}"/>
              </a:ext>
            </a:extLst>
          </p:cNvPr>
          <p:cNvSpPr/>
          <p:nvPr/>
        </p:nvSpPr>
        <p:spPr>
          <a:xfrm>
            <a:off x="4070962" y="1733817"/>
            <a:ext cx="1645920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T</a:t>
            </a:r>
            <a:endParaRPr lang="en-US" sz="1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636DB1E-14E3-101F-19D2-2808DEDB40A1}"/>
              </a:ext>
            </a:extLst>
          </p:cNvPr>
          <p:cNvSpPr/>
          <p:nvPr/>
        </p:nvSpPr>
        <p:spPr>
          <a:xfrm>
            <a:off x="7143090" y="1697241"/>
            <a:ext cx="1645920" cy="777240"/>
          </a:xfrm>
          <a:prstGeom prst="roundRect">
            <a:avLst/>
          </a:prstGeom>
          <a:solidFill>
            <a:srgbClr val="78C28C"/>
          </a:solidFill>
          <a:ln w="12700">
            <a:solidFill>
              <a:srgbClr val="78C2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7303568-9697-C06A-9332-A1EC62D4E019}"/>
              </a:ext>
            </a:extLst>
          </p:cNvPr>
          <p:cNvSpPr/>
          <p:nvPr/>
        </p:nvSpPr>
        <p:spPr>
          <a:xfrm>
            <a:off x="7143090" y="1697241"/>
            <a:ext cx="1645920" cy="7406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Y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11">
                <a:extLst>
                  <a:ext uri="{FF2B5EF4-FFF2-40B4-BE49-F238E27FC236}">
                    <a16:creationId xmlns:a16="http://schemas.microsoft.com/office/drawing/2014/main" id="{16556A3C-258B-8743-55A8-1E9CD02C1154}"/>
                  </a:ext>
                </a:extLst>
              </p:cNvPr>
              <p:cNvSpPr/>
              <p:nvPr/>
            </p:nvSpPr>
            <p:spPr>
              <a:xfrm>
                <a:off x="2196123" y="1874291"/>
                <a:ext cx="1735044" cy="3865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1500" dirty="0">
                    <a:solidFill>
                      <a:srgbClr val="E36D6D"/>
                    </a:solidFill>
                  </a:rPr>
                  <a:t>no systematic arrow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solidFill>
                          <a:srgbClr val="E36D6D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500" i="1" dirty="0" smtClean="0">
                        <a:solidFill>
                          <a:srgbClr val="E36D6D"/>
                        </a:solidFill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n-US" sz="1500" i="1" dirty="0" smtClean="0">
                        <a:solidFill>
                          <a:srgbClr val="E36D6D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1500" dirty="0"/>
              </a:p>
            </p:txBody>
          </p:sp>
        </mc:Choice>
        <mc:Fallback>
          <p:sp>
            <p:nvSpPr>
              <p:cNvPr id="10" name="Text 11">
                <a:extLst>
                  <a:ext uri="{FF2B5EF4-FFF2-40B4-BE49-F238E27FC236}">
                    <a16:creationId xmlns:a16="http://schemas.microsoft.com/office/drawing/2014/main" id="{16556A3C-258B-8743-55A8-1E9CD02C11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6123" y="1874291"/>
                <a:ext cx="1735044" cy="386563"/>
              </a:xfrm>
              <a:prstGeom prst="rect">
                <a:avLst/>
              </a:prstGeom>
              <a:blipFill>
                <a:blip r:embed="rId3"/>
                <a:stretch>
                  <a:fillRect l="-5263" t="-23438" r="-8772" b="-1562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E2855EF-EF6E-2028-005E-A582F9A879EF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5716882" y="2085861"/>
            <a:ext cx="1426208" cy="182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 0">
            <a:extLst>
              <a:ext uri="{FF2B5EF4-FFF2-40B4-BE49-F238E27FC236}">
                <a16:creationId xmlns:a16="http://schemas.microsoft.com/office/drawing/2014/main" id="{F2971742-5221-4AA8-ED56-3B0295AA96D7}"/>
              </a:ext>
            </a:extLst>
          </p:cNvPr>
          <p:cNvSpPr/>
          <p:nvPr/>
        </p:nvSpPr>
        <p:spPr>
          <a:xfrm>
            <a:off x="222837" y="2881389"/>
            <a:ext cx="6381128" cy="449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0" b="1" dirty="0">
                <a:solidFill>
                  <a:srgbClr val="F6F4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Exchangeability in observational data</a:t>
            </a:r>
            <a:endParaRPr lang="en-US" sz="2700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DA7B614C-0A89-92B5-996F-EE6AFF90CEE0}"/>
              </a:ext>
            </a:extLst>
          </p:cNvPr>
          <p:cNvSpPr/>
          <p:nvPr/>
        </p:nvSpPr>
        <p:spPr>
          <a:xfrm>
            <a:off x="1085504" y="4107942"/>
            <a:ext cx="1828800" cy="822960"/>
          </a:xfrm>
          <a:prstGeom prst="roundRect">
            <a:avLst/>
          </a:prstGeom>
          <a:solidFill>
            <a:srgbClr val="F59C42"/>
          </a:solidFill>
          <a:ln w="12700">
            <a:solidFill>
              <a:srgbClr val="F59C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95DDEE5B-BD85-2487-EA95-F8DC9A427D3D}"/>
              </a:ext>
            </a:extLst>
          </p:cNvPr>
          <p:cNvSpPr/>
          <p:nvPr/>
        </p:nvSpPr>
        <p:spPr>
          <a:xfrm>
            <a:off x="1085504" y="4126230"/>
            <a:ext cx="182880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Severity C</a:t>
            </a:r>
            <a:endParaRPr lang="en-US" sz="1600" dirty="0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C7C066AA-4B88-24D7-2345-FB1722EC4E21}"/>
              </a:ext>
            </a:extLst>
          </p:cNvPr>
          <p:cNvSpPr/>
          <p:nvPr/>
        </p:nvSpPr>
        <p:spPr>
          <a:xfrm>
            <a:off x="3794068" y="3350838"/>
            <a:ext cx="1828800" cy="822960"/>
          </a:xfrm>
          <a:prstGeom prst="roundRect">
            <a:avLst/>
          </a:prstGeom>
          <a:solidFill>
            <a:srgbClr val="A9D3F7"/>
          </a:solidFill>
          <a:ln w="12700">
            <a:solidFill>
              <a:srgbClr val="A9D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3B98FD35-D490-07ED-8AB8-338F77A85B9C}"/>
              </a:ext>
            </a:extLst>
          </p:cNvPr>
          <p:cNvSpPr/>
          <p:nvPr/>
        </p:nvSpPr>
        <p:spPr>
          <a:xfrm>
            <a:off x="3794068" y="3369126"/>
            <a:ext cx="182880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Treatment T</a:t>
            </a:r>
            <a:endParaRPr lang="en-US" sz="1600" dirty="0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F2B89E76-FAB9-1A4A-7D8B-6D74E90F9757}"/>
              </a:ext>
            </a:extLst>
          </p:cNvPr>
          <p:cNvSpPr/>
          <p:nvPr/>
        </p:nvSpPr>
        <p:spPr>
          <a:xfrm>
            <a:off x="6603965" y="4107942"/>
            <a:ext cx="1828800" cy="822960"/>
          </a:xfrm>
          <a:prstGeom prst="roundRect">
            <a:avLst/>
          </a:prstGeom>
          <a:solidFill>
            <a:srgbClr val="78C28C"/>
          </a:solidFill>
          <a:ln w="12700">
            <a:solidFill>
              <a:srgbClr val="78C2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E18C330F-52E7-401E-B92E-EC249CA1F763}"/>
              </a:ext>
            </a:extLst>
          </p:cNvPr>
          <p:cNvSpPr/>
          <p:nvPr/>
        </p:nvSpPr>
        <p:spPr>
          <a:xfrm>
            <a:off x="6603965" y="4126230"/>
            <a:ext cx="182880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Outcome Y</a:t>
            </a:r>
            <a:endParaRPr lang="en-US" sz="16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CE24876-641E-4E32-DE3C-6B7DD840B433}"/>
              </a:ext>
            </a:extLst>
          </p:cNvPr>
          <p:cNvCxnSpPr>
            <a:stCxn id="13" idx="3"/>
            <a:endCxn id="16" idx="1"/>
          </p:cNvCxnSpPr>
          <p:nvPr/>
        </p:nvCxnSpPr>
        <p:spPr>
          <a:xfrm flipV="1">
            <a:off x="2914304" y="3762318"/>
            <a:ext cx="879764" cy="7571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9A1A5E0-AE44-85D5-BAD3-2A17A0D6ACDA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5622868" y="3762318"/>
            <a:ext cx="981097" cy="5949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3B4EFA2-92A7-8FC3-6A02-57CB60F105FA}"/>
              </a:ext>
            </a:extLst>
          </p:cNvPr>
          <p:cNvCxnSpPr>
            <a:cxnSpLocks/>
            <a:stCxn id="13" idx="3"/>
            <a:endCxn id="17" idx="1"/>
          </p:cNvCxnSpPr>
          <p:nvPr/>
        </p:nvCxnSpPr>
        <p:spPr>
          <a:xfrm>
            <a:off x="2914304" y="4519422"/>
            <a:ext cx="36896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 11">
            <a:extLst>
              <a:ext uri="{FF2B5EF4-FFF2-40B4-BE49-F238E27FC236}">
                <a16:creationId xmlns:a16="http://schemas.microsoft.com/office/drawing/2014/main" id="{ED4153C0-A168-65B5-68F4-8499830DED42}"/>
              </a:ext>
            </a:extLst>
          </p:cNvPr>
          <p:cNvSpPr/>
          <p:nvPr/>
        </p:nvSpPr>
        <p:spPr>
          <a:xfrm>
            <a:off x="5807245" y="3464120"/>
            <a:ext cx="3059084" cy="480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b="1" dirty="0">
                <a:solidFill>
                  <a:srgbClr val="F6B62F"/>
                </a:solidFill>
              </a:rPr>
              <a:t>T ← C → Y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9221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A6984-F85A-5A68-36BC-707FBD425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5A73EF-3693-3094-5E27-86C2A025A198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Conditional Exchangeability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56B04612-CE37-47B6-97E6-AE28518331AC}"/>
              </a:ext>
            </a:extLst>
          </p:cNvPr>
          <p:cNvSpPr/>
          <p:nvPr/>
        </p:nvSpPr>
        <p:spPr>
          <a:xfrm>
            <a:off x="599902" y="867086"/>
            <a:ext cx="8315498" cy="52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C8C8C8"/>
                </a:solidFill>
              </a:rPr>
              <a:t>Observational studies usually rely on exchangeability after conditioning on X.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 2">
                <a:extLst>
                  <a:ext uri="{FF2B5EF4-FFF2-40B4-BE49-F238E27FC236}">
                    <a16:creationId xmlns:a16="http://schemas.microsoft.com/office/drawing/2014/main" id="{1B312F0C-FF7B-B1A7-D0AE-6B22ABEB7334}"/>
                  </a:ext>
                </a:extLst>
              </p:cNvPr>
              <p:cNvSpPr/>
              <p:nvPr/>
            </p:nvSpPr>
            <p:spPr>
              <a:xfrm>
                <a:off x="1687092" y="1499408"/>
                <a:ext cx="5669280" cy="7315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3400" b="1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3400" b="1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400" b="1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3400" b="1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) ⟂ </m:t>
                      </m:r>
                      <m:r>
                        <a:rPr lang="en-US" sz="3400" b="1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3400" b="1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  |  </m:t>
                      </m:r>
                      <m:r>
                        <a:rPr lang="en-US" sz="3400" b="1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en-US" sz="3400" dirty="0"/>
              </a:p>
            </p:txBody>
          </p:sp>
        </mc:Choice>
        <mc:Fallback>
          <p:sp>
            <p:nvSpPr>
              <p:cNvPr id="22" name="Text 2">
                <a:extLst>
                  <a:ext uri="{FF2B5EF4-FFF2-40B4-BE49-F238E27FC236}">
                    <a16:creationId xmlns:a16="http://schemas.microsoft.com/office/drawing/2014/main" id="{1B312F0C-FF7B-B1A7-D0AE-6B22ABEB73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7092" y="1499408"/>
                <a:ext cx="5669280" cy="7315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hape 3">
            <a:extLst>
              <a:ext uri="{FF2B5EF4-FFF2-40B4-BE49-F238E27FC236}">
                <a16:creationId xmlns:a16="http://schemas.microsoft.com/office/drawing/2014/main" id="{424CC294-BF02-9856-BF75-8DA4FB99CF0B}"/>
              </a:ext>
            </a:extLst>
          </p:cNvPr>
          <p:cNvSpPr/>
          <p:nvPr/>
        </p:nvSpPr>
        <p:spPr>
          <a:xfrm>
            <a:off x="77724" y="2571750"/>
            <a:ext cx="4494276" cy="1640032"/>
          </a:xfrm>
          <a:prstGeom prst="roundRect">
            <a:avLst>
              <a:gd name="adj" fmla="val 4324"/>
            </a:avLst>
          </a:prstGeom>
          <a:solidFill>
            <a:srgbClr val="252525"/>
          </a:solidFill>
          <a:ln w="1397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D24C6153-BB33-FC4E-D420-D03F0575B655}"/>
              </a:ext>
            </a:extLst>
          </p:cNvPr>
          <p:cNvSpPr/>
          <p:nvPr/>
        </p:nvSpPr>
        <p:spPr>
          <a:xfrm>
            <a:off x="77724" y="2571750"/>
            <a:ext cx="69143" cy="1640032"/>
          </a:xfrm>
          <a:prstGeom prst="rect">
            <a:avLst/>
          </a:prstGeom>
          <a:solidFill>
            <a:srgbClr val="70ACE8"/>
          </a:solidFill>
          <a:ln w="12700">
            <a:solidFill>
              <a:srgbClr val="70A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55317E84-A50E-579B-CB3C-D0A600D4A20F}"/>
              </a:ext>
            </a:extLst>
          </p:cNvPr>
          <p:cNvSpPr/>
          <p:nvPr/>
        </p:nvSpPr>
        <p:spPr>
          <a:xfrm>
            <a:off x="278892" y="2718054"/>
            <a:ext cx="4191777" cy="31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70ACE8"/>
                </a:solidFill>
              </a:rPr>
              <a:t>Interpretation</a:t>
            </a:r>
            <a:endParaRPr lang="en-US" sz="1700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D6A0209B-C580-AD11-1676-DD85321E0969}"/>
              </a:ext>
            </a:extLst>
          </p:cNvPr>
          <p:cNvSpPr/>
          <p:nvPr/>
        </p:nvSpPr>
        <p:spPr>
          <a:xfrm>
            <a:off x="278892" y="3120390"/>
            <a:ext cx="4165848" cy="9662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>
                <a:solidFill>
                  <a:srgbClr val="F6F4F0"/>
                </a:solidFill>
              </a:rPr>
              <a:t>Within people with the same relevant X, treatment behaves “as if randomized” with respect to the potential outcomes.</a:t>
            </a:r>
            <a:endParaRPr lang="en-US" sz="1700" dirty="0"/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CDA0D33F-1DAB-D471-3608-4B31B64E5996}"/>
              </a:ext>
            </a:extLst>
          </p:cNvPr>
          <p:cNvSpPr/>
          <p:nvPr/>
        </p:nvSpPr>
        <p:spPr>
          <a:xfrm>
            <a:off x="4704025" y="2571750"/>
            <a:ext cx="4362251" cy="1640032"/>
          </a:xfrm>
          <a:prstGeom prst="roundRect">
            <a:avLst>
              <a:gd name="adj" fmla="val 4324"/>
            </a:avLst>
          </a:prstGeom>
          <a:solidFill>
            <a:srgbClr val="252525"/>
          </a:solidFill>
          <a:ln w="1397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C6180921-84A4-043C-D9D7-107E2D31F471}"/>
              </a:ext>
            </a:extLst>
          </p:cNvPr>
          <p:cNvSpPr/>
          <p:nvPr/>
        </p:nvSpPr>
        <p:spPr>
          <a:xfrm>
            <a:off x="4704025" y="2571750"/>
            <a:ext cx="67112" cy="1640032"/>
          </a:xfrm>
          <a:prstGeom prst="rect">
            <a:avLst/>
          </a:prstGeom>
          <a:solidFill>
            <a:srgbClr val="E36D6D"/>
          </a:solidFill>
          <a:ln w="12700">
            <a:solidFill>
              <a:srgbClr val="E36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E4402EE8-788D-1030-0436-47D56FB3DB5C}"/>
              </a:ext>
            </a:extLst>
          </p:cNvPr>
          <p:cNvSpPr/>
          <p:nvPr/>
        </p:nvSpPr>
        <p:spPr>
          <a:xfrm>
            <a:off x="4905193" y="2718054"/>
            <a:ext cx="4068638" cy="31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E36D6D"/>
                </a:solidFill>
              </a:rPr>
              <a:t>Critical limitation</a:t>
            </a:r>
            <a:endParaRPr lang="en-US" sz="170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3CA24DC-CAEB-3010-1DC2-DC253F6982E6}"/>
              </a:ext>
            </a:extLst>
          </p:cNvPr>
          <p:cNvSpPr/>
          <p:nvPr/>
        </p:nvSpPr>
        <p:spPr>
          <a:xfrm>
            <a:off x="4905193" y="3120390"/>
            <a:ext cx="4043471" cy="9662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>
                <a:solidFill>
                  <a:srgbClr val="F6F4F0"/>
                </a:solidFill>
              </a:rPr>
              <a:t>This only works if X actually contains enough information to block the important backdoor paths.</a:t>
            </a:r>
            <a:endParaRPr lang="en-US" sz="1700" dirty="0"/>
          </a:p>
        </p:txBody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79FC2EFA-5E1F-F72E-8113-FBD7DDB65AA5}"/>
              </a:ext>
            </a:extLst>
          </p:cNvPr>
          <p:cNvSpPr/>
          <p:nvPr/>
        </p:nvSpPr>
        <p:spPr>
          <a:xfrm>
            <a:off x="331864" y="4358086"/>
            <a:ext cx="8480272" cy="567205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414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C87CE41B-CA64-C047-18AE-9FDE111F7B9E}"/>
              </a:ext>
            </a:extLst>
          </p:cNvPr>
          <p:cNvSpPr/>
          <p:nvPr/>
        </p:nvSpPr>
        <p:spPr>
          <a:xfrm>
            <a:off x="456860" y="4486101"/>
            <a:ext cx="8154108" cy="244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6B62F"/>
                </a:solidFill>
              </a:rPr>
              <a:t>This is exactly why DAGs matter: they help justify what belongs in X.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54580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22EF2-93BF-892F-83C2-6DCA2B00E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198C16-FE5C-4855-9B17-96063FDC637F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Assumption 3: Positivity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5B4117BB-E085-6F72-3170-93854F85FA81}"/>
              </a:ext>
            </a:extLst>
          </p:cNvPr>
          <p:cNvSpPr/>
          <p:nvPr/>
        </p:nvSpPr>
        <p:spPr>
          <a:xfrm>
            <a:off x="242455" y="925138"/>
            <a:ext cx="932688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C8C8C8"/>
                </a:solidFill>
              </a:rPr>
              <a:t>For every kind of person we want to compare, we need some treated and some untreated observations.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 2">
                <a:extLst>
                  <a:ext uri="{FF2B5EF4-FFF2-40B4-BE49-F238E27FC236}">
                    <a16:creationId xmlns:a16="http://schemas.microsoft.com/office/drawing/2014/main" id="{37FFBBFF-EB87-1BDF-2E8F-305AE6D58402}"/>
                  </a:ext>
                </a:extLst>
              </p:cNvPr>
              <p:cNvSpPr/>
              <p:nvPr/>
            </p:nvSpPr>
            <p:spPr>
              <a:xfrm>
                <a:off x="1399032" y="1644975"/>
                <a:ext cx="6583680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3200" b="1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3200" b="1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 &lt; </m:t>
                      </m:r>
                      <m:r>
                        <a:rPr lang="en-US" sz="3200" b="1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3200" b="1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1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3200" b="1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3200" b="1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3200" b="1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sz="3200" b="1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sz="3200" b="1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3200" b="1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) &lt; </m:t>
                      </m:r>
                      <m:r>
                        <a:rPr lang="en-US" sz="3200" b="1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2" name="Text 2">
                <a:extLst>
                  <a:ext uri="{FF2B5EF4-FFF2-40B4-BE49-F238E27FC236}">
                    <a16:creationId xmlns:a16="http://schemas.microsoft.com/office/drawing/2014/main" id="{37FFBBFF-EB87-1BDF-2E8F-305AE6D584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9032" y="1644975"/>
                <a:ext cx="6583680" cy="685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hape 3">
            <a:extLst>
              <a:ext uri="{FF2B5EF4-FFF2-40B4-BE49-F238E27FC236}">
                <a16:creationId xmlns:a16="http://schemas.microsoft.com/office/drawing/2014/main" id="{52BCEE74-8E74-656D-5805-4A7F5EAA1BDF}"/>
              </a:ext>
            </a:extLst>
          </p:cNvPr>
          <p:cNvSpPr/>
          <p:nvPr/>
        </p:nvSpPr>
        <p:spPr>
          <a:xfrm>
            <a:off x="242455" y="2571750"/>
            <a:ext cx="4258887" cy="1813214"/>
          </a:xfrm>
          <a:prstGeom prst="roundRect">
            <a:avLst>
              <a:gd name="adj" fmla="val 4706"/>
            </a:avLst>
          </a:prstGeom>
          <a:solidFill>
            <a:srgbClr val="252525"/>
          </a:solidFill>
          <a:ln w="1397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DC56D93C-DC32-42CE-8C38-C942D511ED71}"/>
              </a:ext>
            </a:extLst>
          </p:cNvPr>
          <p:cNvSpPr/>
          <p:nvPr/>
        </p:nvSpPr>
        <p:spPr>
          <a:xfrm>
            <a:off x="242456" y="2571750"/>
            <a:ext cx="65522" cy="1813214"/>
          </a:xfrm>
          <a:prstGeom prst="rect">
            <a:avLst/>
          </a:prstGeom>
          <a:solidFill>
            <a:srgbClr val="F6B62F"/>
          </a:solidFill>
          <a:ln w="12700">
            <a:solidFill>
              <a:srgbClr val="F6B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9A81DDC8-3988-4A71-04C9-18BB41B0751E}"/>
              </a:ext>
            </a:extLst>
          </p:cNvPr>
          <p:cNvSpPr/>
          <p:nvPr/>
        </p:nvSpPr>
        <p:spPr>
          <a:xfrm>
            <a:off x="466767" y="2738677"/>
            <a:ext cx="3972231" cy="373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F6B62F"/>
                </a:solidFill>
              </a:rPr>
              <a:t>Plain language</a:t>
            </a:r>
            <a:endParaRPr lang="en-US" sz="1700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C27636CA-4462-83F3-E918-551CD0D50C9C}"/>
              </a:ext>
            </a:extLst>
          </p:cNvPr>
          <p:cNvSpPr/>
          <p:nvPr/>
        </p:nvSpPr>
        <p:spPr>
          <a:xfrm>
            <a:off x="443624" y="3190999"/>
            <a:ext cx="3947660" cy="100260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>
                <a:solidFill>
                  <a:srgbClr val="F6F4F0"/>
                </a:solidFill>
              </a:rPr>
              <a:t>Within each relevant covariate stratum, treatment cannot be impossible or guaranteed.</a:t>
            </a:r>
            <a:endParaRPr lang="en-US" sz="1700" dirty="0"/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F3AA32AB-37A1-E3F9-5FE6-B37E84ACB195}"/>
              </a:ext>
            </a:extLst>
          </p:cNvPr>
          <p:cNvSpPr/>
          <p:nvPr/>
        </p:nvSpPr>
        <p:spPr>
          <a:xfrm>
            <a:off x="4724097" y="2572096"/>
            <a:ext cx="4258886" cy="1812867"/>
          </a:xfrm>
          <a:prstGeom prst="roundRect">
            <a:avLst>
              <a:gd name="adj" fmla="val 4706"/>
            </a:avLst>
          </a:prstGeom>
          <a:solidFill>
            <a:srgbClr val="252525"/>
          </a:solidFill>
          <a:ln w="1397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36C56D79-489F-2C5C-A239-3FD1D735AA96}"/>
              </a:ext>
            </a:extLst>
          </p:cNvPr>
          <p:cNvSpPr/>
          <p:nvPr/>
        </p:nvSpPr>
        <p:spPr>
          <a:xfrm>
            <a:off x="4724097" y="2572096"/>
            <a:ext cx="65522" cy="1812867"/>
          </a:xfrm>
          <a:prstGeom prst="rect">
            <a:avLst/>
          </a:prstGeom>
          <a:solidFill>
            <a:srgbClr val="70ACE8"/>
          </a:solidFill>
          <a:ln w="12700">
            <a:solidFill>
              <a:srgbClr val="70A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34707E-FE51-B4A3-C016-9D24B83658EA}"/>
              </a:ext>
            </a:extLst>
          </p:cNvPr>
          <p:cNvSpPr/>
          <p:nvPr/>
        </p:nvSpPr>
        <p:spPr>
          <a:xfrm>
            <a:off x="4925265" y="2718400"/>
            <a:ext cx="3972230" cy="373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70ACE8"/>
                </a:solidFill>
              </a:rPr>
              <a:t>Why we need it</a:t>
            </a:r>
            <a:endParaRPr lang="en-US" sz="170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8A10448-FDCC-EB8D-B82C-5DF5A08700F2}"/>
              </a:ext>
            </a:extLst>
          </p:cNvPr>
          <p:cNvSpPr/>
          <p:nvPr/>
        </p:nvSpPr>
        <p:spPr>
          <a:xfrm>
            <a:off x="4925264" y="3120736"/>
            <a:ext cx="3947659" cy="100240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>
                <a:solidFill>
                  <a:srgbClr val="F6F4F0"/>
                </a:solidFill>
              </a:rPr>
              <a:t>Without both treatment options represented, the missing counterfactual must be extrapolated rather than learned from data.</a:t>
            </a:r>
            <a:endParaRPr lang="en-US" sz="1700" dirty="0"/>
          </a:p>
        </p:txBody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FC550A21-5436-CBF2-11BB-42224F8C1D6D}"/>
              </a:ext>
            </a:extLst>
          </p:cNvPr>
          <p:cNvSpPr/>
          <p:nvPr/>
        </p:nvSpPr>
        <p:spPr>
          <a:xfrm>
            <a:off x="710431" y="4531267"/>
            <a:ext cx="8027331" cy="513112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414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E636D47D-456C-31A2-5D2D-297578981C8C}"/>
              </a:ext>
            </a:extLst>
          </p:cNvPr>
          <p:cNvSpPr/>
          <p:nvPr/>
        </p:nvSpPr>
        <p:spPr>
          <a:xfrm>
            <a:off x="818007" y="4659283"/>
            <a:ext cx="7718588" cy="221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6B62F"/>
                </a:solidFill>
              </a:rPr>
              <a:t>Positivity is an overlap requirement.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561081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AC2D7-3DF9-B3E8-5CE9-B9B487B3D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37768A-BBD8-B031-D393-1F9AF2B6CCB7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Assumption 3: Positivity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7A98AE2-E497-D822-D0FD-65887582742B}"/>
              </a:ext>
            </a:extLst>
          </p:cNvPr>
          <p:cNvSpPr/>
          <p:nvPr/>
        </p:nvSpPr>
        <p:spPr>
          <a:xfrm>
            <a:off x="113228" y="984295"/>
            <a:ext cx="8806124" cy="52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F6F4F0"/>
                </a:solidFill>
              </a:rPr>
              <a:t>Example: patients with a contraindication NEVER receive the drug.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4CF65B5-5C3E-A345-31F4-BB374C7C3763}"/>
              </a:ext>
            </a:extLst>
          </p:cNvPr>
          <p:cNvSpPr/>
          <p:nvPr/>
        </p:nvSpPr>
        <p:spPr>
          <a:xfrm>
            <a:off x="177135" y="1782806"/>
            <a:ext cx="4394865" cy="1965960"/>
          </a:xfrm>
          <a:prstGeom prst="roundRect">
            <a:avLst>
              <a:gd name="adj" fmla="val 3721"/>
            </a:avLst>
          </a:prstGeom>
          <a:solidFill>
            <a:srgbClr val="252525"/>
          </a:solidFill>
          <a:ln w="1397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4A6AF98-1CD9-C1B0-6548-7E992D23A04D}"/>
              </a:ext>
            </a:extLst>
          </p:cNvPr>
          <p:cNvSpPr/>
          <p:nvPr/>
        </p:nvSpPr>
        <p:spPr>
          <a:xfrm>
            <a:off x="177135" y="1782806"/>
            <a:ext cx="71753" cy="1965960"/>
          </a:xfrm>
          <a:prstGeom prst="rect">
            <a:avLst/>
          </a:prstGeom>
          <a:solidFill>
            <a:srgbClr val="E36D6D"/>
          </a:solidFill>
          <a:ln w="12700">
            <a:solidFill>
              <a:srgbClr val="E36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58ACE97-291B-0E01-4F73-CA32707CEAB2}"/>
              </a:ext>
            </a:extLst>
          </p:cNvPr>
          <p:cNvSpPr/>
          <p:nvPr/>
        </p:nvSpPr>
        <p:spPr>
          <a:xfrm>
            <a:off x="378303" y="1929110"/>
            <a:ext cx="40809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E36D6D"/>
                </a:solidFill>
              </a:rPr>
              <a:t>Stratum X = contraindication</a:t>
            </a:r>
            <a:endParaRPr lang="en-US" sz="17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474CB49-39AB-7329-C015-441BC960ED44}"/>
              </a:ext>
            </a:extLst>
          </p:cNvPr>
          <p:cNvSpPr/>
          <p:nvPr/>
        </p:nvSpPr>
        <p:spPr>
          <a:xfrm>
            <a:off x="378303" y="2331446"/>
            <a:ext cx="4054039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900" dirty="0">
                <a:solidFill>
                  <a:srgbClr val="F6F4F0"/>
                </a:solidFill>
              </a:rPr>
              <a:t>P(T = 1 | X) = 0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F6F4F0"/>
                </a:solidFill>
              </a:rPr>
              <a:t>There are no treated patients in this stratum.</a:t>
            </a:r>
            <a:endParaRPr lang="en-US" sz="19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F6359CD-836F-6271-652C-1C88410C5442}"/>
              </a:ext>
            </a:extLst>
          </p:cNvPr>
          <p:cNvSpPr/>
          <p:nvPr/>
        </p:nvSpPr>
        <p:spPr>
          <a:xfrm>
            <a:off x="4724400" y="1782806"/>
            <a:ext cx="4329545" cy="1965960"/>
          </a:xfrm>
          <a:prstGeom prst="roundRect">
            <a:avLst>
              <a:gd name="adj" fmla="val 3721"/>
            </a:avLst>
          </a:prstGeom>
          <a:solidFill>
            <a:srgbClr val="252525"/>
          </a:solidFill>
          <a:ln w="1397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64F1814-86A1-28F4-BC22-0D55BA6F5F22}"/>
              </a:ext>
            </a:extLst>
          </p:cNvPr>
          <p:cNvSpPr/>
          <p:nvPr/>
        </p:nvSpPr>
        <p:spPr>
          <a:xfrm>
            <a:off x="4724400" y="1782806"/>
            <a:ext cx="70686" cy="1965960"/>
          </a:xfrm>
          <a:prstGeom prst="rect">
            <a:avLst/>
          </a:prstGeom>
          <a:solidFill>
            <a:srgbClr val="F6B62F"/>
          </a:solidFill>
          <a:ln w="12700">
            <a:solidFill>
              <a:srgbClr val="F6B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262CD20-15FC-45DE-9DEF-ABAA5DEDAB65}"/>
              </a:ext>
            </a:extLst>
          </p:cNvPr>
          <p:cNvSpPr/>
          <p:nvPr/>
        </p:nvSpPr>
        <p:spPr>
          <a:xfrm>
            <a:off x="4925568" y="1929110"/>
            <a:ext cx="40202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F6B62F"/>
                </a:solidFill>
              </a:rPr>
              <a:t>Consequence</a:t>
            </a:r>
            <a:endParaRPr lang="en-US" sz="17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37CC88F-648B-28F9-3BA0-7381E4DB0877}"/>
              </a:ext>
            </a:extLst>
          </p:cNvPr>
          <p:cNvSpPr/>
          <p:nvPr/>
        </p:nvSpPr>
        <p:spPr>
          <a:xfrm>
            <a:off x="4925568" y="2331446"/>
            <a:ext cx="3993784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900" dirty="0">
                <a:solidFill>
                  <a:srgbClr val="F6F4F0"/>
                </a:solidFill>
              </a:rPr>
              <a:t>The treated potential outcome for this group is unsupported by observed data.</a:t>
            </a:r>
            <a:endParaRPr lang="en-US" sz="19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8557F99-FE72-FFB3-ED89-268F69BB6111}"/>
              </a:ext>
            </a:extLst>
          </p:cNvPr>
          <p:cNvSpPr/>
          <p:nvPr/>
        </p:nvSpPr>
        <p:spPr>
          <a:xfrm>
            <a:off x="792480" y="394335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300" b="1" dirty="0">
                <a:solidFill>
                  <a:srgbClr val="E36D6D"/>
                </a:solidFill>
              </a:rPr>
              <a:t>More data will not fix a structural zero.</a:t>
            </a:r>
            <a:endParaRPr lang="en-US" sz="23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3ADC3A7-3827-5DFF-9CF2-370FA901C145}"/>
              </a:ext>
            </a:extLst>
          </p:cNvPr>
          <p:cNvSpPr/>
          <p:nvPr/>
        </p:nvSpPr>
        <p:spPr>
          <a:xfrm>
            <a:off x="105382" y="4473633"/>
            <a:ext cx="8895112" cy="502920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414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740B01D-AE1A-3A7F-9307-44CCDE17AA25}"/>
              </a:ext>
            </a:extLst>
          </p:cNvPr>
          <p:cNvSpPr/>
          <p:nvPr/>
        </p:nvSpPr>
        <p:spPr>
          <a:xfrm>
            <a:off x="274651" y="4601649"/>
            <a:ext cx="8552992" cy="21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6B62F"/>
                </a:solidFill>
              </a:rPr>
              <a:t>Positivity can fail because of design, clinical rules, geography, policy, or extreme covariate combinations.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60616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BAEFB-0ED2-1470-C331-6417C289D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CEC639-4409-70B5-969E-DFF50293AF3C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Assumption 3: Positivity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C2902400-8FA2-08F9-6620-068561531E59}"/>
              </a:ext>
            </a:extLst>
          </p:cNvPr>
          <p:cNvSpPr/>
          <p:nvPr/>
        </p:nvSpPr>
        <p:spPr>
          <a:xfrm>
            <a:off x="376843" y="1042585"/>
            <a:ext cx="6972993" cy="661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0" b="1" dirty="0">
                <a:solidFill>
                  <a:srgbClr val="F6F4F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Structural vs practical positivity problems</a:t>
            </a:r>
            <a:endParaRPr lang="en-US" sz="2700" dirty="0"/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D3E71150-E19E-9152-F7A9-186E937072D4}"/>
              </a:ext>
            </a:extLst>
          </p:cNvPr>
          <p:cNvSpPr/>
          <p:nvPr/>
        </p:nvSpPr>
        <p:spPr>
          <a:xfrm>
            <a:off x="96982" y="1868563"/>
            <a:ext cx="4475018" cy="2253164"/>
          </a:xfrm>
          <a:prstGeom prst="roundRect">
            <a:avLst>
              <a:gd name="adj" fmla="val 3333"/>
            </a:avLst>
          </a:prstGeom>
          <a:solidFill>
            <a:srgbClr val="252525"/>
          </a:solidFill>
          <a:ln w="1397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4E6D82CA-D49E-669C-EE11-EC9AE3508679}"/>
              </a:ext>
            </a:extLst>
          </p:cNvPr>
          <p:cNvSpPr/>
          <p:nvPr/>
        </p:nvSpPr>
        <p:spPr>
          <a:xfrm>
            <a:off x="96981" y="1868563"/>
            <a:ext cx="80153" cy="2253164"/>
          </a:xfrm>
          <a:prstGeom prst="rect">
            <a:avLst/>
          </a:prstGeom>
          <a:solidFill>
            <a:srgbClr val="E36D6D"/>
          </a:solidFill>
          <a:ln w="12700">
            <a:solidFill>
              <a:srgbClr val="E36D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87D209B0-01F8-04DE-5D8E-52FF0043BF3B}"/>
              </a:ext>
            </a:extLst>
          </p:cNvPr>
          <p:cNvSpPr/>
          <p:nvPr/>
        </p:nvSpPr>
        <p:spPr>
          <a:xfrm>
            <a:off x="298150" y="2014867"/>
            <a:ext cx="45954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E36D6D"/>
                </a:solidFill>
              </a:rPr>
              <a:t>Structural violation</a:t>
            </a:r>
            <a:endParaRPr lang="en-US" sz="17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2A988F40-5D54-CDF6-4AB4-A02EC258E45B}"/>
              </a:ext>
            </a:extLst>
          </p:cNvPr>
          <p:cNvSpPr/>
          <p:nvPr/>
        </p:nvSpPr>
        <p:spPr>
          <a:xfrm>
            <a:off x="298150" y="2417203"/>
            <a:ext cx="4568963" cy="1499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>
                <a:solidFill>
                  <a:srgbClr val="F6F4F0"/>
                </a:solidFill>
              </a:rPr>
              <a:t>Treatment truly cannot occur in a stratum.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6F4F0"/>
                </a:solidFill>
              </a:rPr>
              <a:t>Example: pregnancy is an absolute contraindication for a specific drug.</a:t>
            </a:r>
            <a:endParaRPr lang="en-US" sz="1700" dirty="0"/>
          </a:p>
        </p:txBody>
      </p:sp>
      <p:sp>
        <p:nvSpPr>
          <p:cNvPr id="20" name="Shape 5">
            <a:extLst>
              <a:ext uri="{FF2B5EF4-FFF2-40B4-BE49-F238E27FC236}">
                <a16:creationId xmlns:a16="http://schemas.microsoft.com/office/drawing/2014/main" id="{6B50F887-B623-32F4-ECE6-3E2A1A70D3E9}"/>
              </a:ext>
            </a:extLst>
          </p:cNvPr>
          <p:cNvSpPr/>
          <p:nvPr/>
        </p:nvSpPr>
        <p:spPr>
          <a:xfrm>
            <a:off x="4606636" y="1868563"/>
            <a:ext cx="4427866" cy="2253164"/>
          </a:xfrm>
          <a:prstGeom prst="roundRect">
            <a:avLst>
              <a:gd name="adj" fmla="val 3333"/>
            </a:avLst>
          </a:prstGeom>
          <a:solidFill>
            <a:srgbClr val="252525"/>
          </a:solidFill>
          <a:ln w="1397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D4835EF2-A1DF-CE2C-5F5D-E2993B076CE8}"/>
              </a:ext>
            </a:extLst>
          </p:cNvPr>
          <p:cNvSpPr/>
          <p:nvPr/>
        </p:nvSpPr>
        <p:spPr>
          <a:xfrm>
            <a:off x="4606636" y="1868563"/>
            <a:ext cx="59312" cy="2253164"/>
          </a:xfrm>
          <a:prstGeom prst="rect">
            <a:avLst/>
          </a:prstGeom>
          <a:solidFill>
            <a:srgbClr val="F6B62F"/>
          </a:solidFill>
          <a:ln w="12700">
            <a:solidFill>
              <a:srgbClr val="F6B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47D7950F-AC20-6ECC-30D9-6C5D19AA0C0B}"/>
              </a:ext>
            </a:extLst>
          </p:cNvPr>
          <p:cNvSpPr/>
          <p:nvPr/>
        </p:nvSpPr>
        <p:spPr>
          <a:xfrm>
            <a:off x="4807804" y="2014867"/>
            <a:ext cx="3855308" cy="328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F6B62F"/>
                </a:solidFill>
              </a:rPr>
              <a:t>Practical violation</a:t>
            </a:r>
            <a:endParaRPr lang="en-US" sz="17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6B87F9F3-3012-1259-4070-5EFD37D82AED}"/>
              </a:ext>
            </a:extLst>
          </p:cNvPr>
          <p:cNvSpPr/>
          <p:nvPr/>
        </p:nvSpPr>
        <p:spPr>
          <a:xfrm>
            <a:off x="4807804" y="2417203"/>
            <a:ext cx="4226698" cy="153966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>
                <a:solidFill>
                  <a:srgbClr val="F6F4F0"/>
                </a:solidFill>
              </a:rPr>
              <a:t>Treatment is possible but extremely rare.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6F4F0"/>
                </a:solidFill>
              </a:rPr>
              <a:t>Example: 2 treated patients versus 500 untreated patients in a covariate region.</a:t>
            </a:r>
            <a:endParaRPr lang="en-US" sz="1700" dirty="0"/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1C05E88B-8AFB-1AB9-18A0-BD0ABE2AB123}"/>
              </a:ext>
            </a:extLst>
          </p:cNvPr>
          <p:cNvSpPr/>
          <p:nvPr/>
        </p:nvSpPr>
        <p:spPr>
          <a:xfrm>
            <a:off x="257286" y="4432893"/>
            <a:ext cx="8609043" cy="552622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414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A5DDF937-4A66-3DC4-BD35-179129023023}"/>
              </a:ext>
            </a:extLst>
          </p:cNvPr>
          <p:cNvSpPr/>
          <p:nvPr/>
        </p:nvSpPr>
        <p:spPr>
          <a:xfrm>
            <a:off x="433405" y="4560909"/>
            <a:ext cx="8277926" cy="2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6B62F"/>
                </a:solidFill>
              </a:rPr>
              <a:t>The assumption is theoretical; overlap diagnostics are empirical clues.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010126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9B931-3DBA-9600-3919-CA061A83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37CFC8-9331-E404-0816-9DACE6139C93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Assumption 4: SUTVA / No Interference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56AABA3-E307-30BA-8F31-81888ABB5E4B}"/>
              </a:ext>
            </a:extLst>
          </p:cNvPr>
          <p:cNvSpPr/>
          <p:nvPr/>
        </p:nvSpPr>
        <p:spPr>
          <a:xfrm>
            <a:off x="918278" y="1131569"/>
            <a:ext cx="7874899" cy="621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300" b="1" dirty="0">
                <a:solidFill>
                  <a:srgbClr val="F6F4F0"/>
                </a:solidFill>
              </a:rPr>
              <a:t>SUTVA is easiest to understand as two separate ideas.</a:t>
            </a:r>
            <a:endParaRPr lang="en-US" sz="23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4F8ADAF5-AD4E-9508-4971-2A8F1FBE3401}"/>
              </a:ext>
            </a:extLst>
          </p:cNvPr>
          <p:cNvSpPr/>
          <p:nvPr/>
        </p:nvSpPr>
        <p:spPr>
          <a:xfrm>
            <a:off x="225627" y="2045970"/>
            <a:ext cx="4346374" cy="1965960"/>
          </a:xfrm>
          <a:prstGeom prst="roundRect">
            <a:avLst>
              <a:gd name="adj" fmla="val 3721"/>
            </a:avLst>
          </a:prstGeom>
          <a:solidFill>
            <a:srgbClr val="252525"/>
          </a:solidFill>
          <a:ln w="1397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1D2EE26D-F111-54EA-D777-FE2AE5969BCB}"/>
              </a:ext>
            </a:extLst>
          </p:cNvPr>
          <p:cNvSpPr/>
          <p:nvPr/>
        </p:nvSpPr>
        <p:spPr>
          <a:xfrm>
            <a:off x="225626" y="2045970"/>
            <a:ext cx="69425" cy="1965960"/>
          </a:xfrm>
          <a:prstGeom prst="rect">
            <a:avLst/>
          </a:prstGeom>
          <a:solidFill>
            <a:srgbClr val="F59C42"/>
          </a:solidFill>
          <a:ln w="12700">
            <a:solidFill>
              <a:srgbClr val="F59C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1654ECE-EEF1-29C7-3B6A-C6478E297A04}"/>
              </a:ext>
            </a:extLst>
          </p:cNvPr>
          <p:cNvSpPr/>
          <p:nvPr/>
        </p:nvSpPr>
        <p:spPr>
          <a:xfrm>
            <a:off x="426794" y="2192274"/>
            <a:ext cx="42088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F59C42"/>
                </a:solidFill>
              </a:rPr>
              <a:t>A. No interference</a:t>
            </a:r>
            <a:endParaRPr lang="en-US" sz="17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919E2F2-9F93-D91C-E49B-DD295839518A}"/>
              </a:ext>
            </a:extLst>
          </p:cNvPr>
          <p:cNvSpPr/>
          <p:nvPr/>
        </p:nvSpPr>
        <p:spPr>
          <a:xfrm>
            <a:off x="426794" y="2594610"/>
            <a:ext cx="4028754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F6F4F0"/>
                </a:solidFill>
              </a:rPr>
              <a:t>One person’s treatment does not change another person’s outcome.</a:t>
            </a:r>
            <a:endParaRPr lang="en-US" sz="18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AC95B9F4-225E-13BC-A5CA-E72388A6D27D}"/>
              </a:ext>
            </a:extLst>
          </p:cNvPr>
          <p:cNvSpPr/>
          <p:nvPr/>
        </p:nvSpPr>
        <p:spPr>
          <a:xfrm>
            <a:off x="4767431" y="2045970"/>
            <a:ext cx="4257911" cy="1965960"/>
          </a:xfrm>
          <a:prstGeom prst="roundRect">
            <a:avLst>
              <a:gd name="adj" fmla="val 3721"/>
            </a:avLst>
          </a:prstGeom>
          <a:solidFill>
            <a:srgbClr val="252525"/>
          </a:solidFill>
          <a:ln w="1397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4FE09F33-5834-B536-9C64-8E4DFCF18CA5}"/>
              </a:ext>
            </a:extLst>
          </p:cNvPr>
          <p:cNvSpPr/>
          <p:nvPr/>
        </p:nvSpPr>
        <p:spPr>
          <a:xfrm>
            <a:off x="4767431" y="2045970"/>
            <a:ext cx="67332" cy="1965960"/>
          </a:xfrm>
          <a:prstGeom prst="rect">
            <a:avLst/>
          </a:prstGeom>
          <a:solidFill>
            <a:srgbClr val="78C28C"/>
          </a:solidFill>
          <a:ln w="12700">
            <a:solidFill>
              <a:srgbClr val="78C2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9EEEA3C8-21C6-A0F8-AD67-2A463ED6E329}"/>
              </a:ext>
            </a:extLst>
          </p:cNvPr>
          <p:cNvSpPr/>
          <p:nvPr/>
        </p:nvSpPr>
        <p:spPr>
          <a:xfrm>
            <a:off x="4968599" y="2192274"/>
            <a:ext cx="408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78C28C"/>
                </a:solidFill>
              </a:rPr>
              <a:t>B. No hidden treatment versions</a:t>
            </a:r>
            <a:endParaRPr lang="en-US" sz="17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438F85B0-C5A8-DEE6-58BF-06B4E09C6CE7}"/>
              </a:ext>
            </a:extLst>
          </p:cNvPr>
          <p:cNvSpPr/>
          <p:nvPr/>
        </p:nvSpPr>
        <p:spPr>
          <a:xfrm>
            <a:off x="4968599" y="2594610"/>
            <a:ext cx="4056743" cy="1271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F6F4F0"/>
                </a:solidFill>
              </a:rPr>
              <a:t>“Treatment 1” corresponds to a sufficiently well-defined intervention.</a:t>
            </a:r>
            <a:endParaRPr lang="en-US" sz="1800" dirty="0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2DFD500F-307A-B9A9-C36C-9EB9B844EA3A}"/>
              </a:ext>
            </a:extLst>
          </p:cNvPr>
          <p:cNvSpPr/>
          <p:nvPr/>
        </p:nvSpPr>
        <p:spPr>
          <a:xfrm>
            <a:off x="0" y="4384755"/>
            <a:ext cx="9006290" cy="523220"/>
          </a:xfrm>
          <a:prstGeom prst="roundRect">
            <a:avLst/>
          </a:prstGeom>
          <a:solidFill>
            <a:srgbClr val="2B2B2B"/>
          </a:solidFill>
          <a:ln w="12700">
            <a:solidFill>
              <a:srgbClr val="4141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52F6269D-DB27-7153-FCEF-77ED3870EE14}"/>
              </a:ext>
            </a:extLst>
          </p:cNvPr>
          <p:cNvSpPr/>
          <p:nvPr/>
        </p:nvSpPr>
        <p:spPr>
          <a:xfrm>
            <a:off x="184898" y="4512771"/>
            <a:ext cx="8659894" cy="22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6B62F"/>
                </a:solidFill>
              </a:rPr>
              <a:t>SUTVA tells us whose treatment can affect whose outcome — and what exactly “treatment” means.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0860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81D89-0EF9-6815-5DB0-5438EF76E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24FB08-218E-C0F6-6D97-060B99D134F8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Assumption 4: SUTVA / No Interference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38816CA-763E-B377-E992-A05427ABCBE2}"/>
              </a:ext>
            </a:extLst>
          </p:cNvPr>
          <p:cNvSpPr/>
          <p:nvPr/>
        </p:nvSpPr>
        <p:spPr>
          <a:xfrm>
            <a:off x="602672" y="962544"/>
            <a:ext cx="7798724" cy="52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300" b="1" dirty="0">
                <a:solidFill>
                  <a:srgbClr val="F6F4F0"/>
                </a:solidFill>
              </a:rPr>
              <a:t>Example: vaccination in an infectious-disease study</a:t>
            </a:r>
            <a:endParaRPr lang="en-US" sz="2300" dirty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A9A07F6E-5AA9-05DB-4F01-F1ACB4E31B38}"/>
              </a:ext>
            </a:extLst>
          </p:cNvPr>
          <p:cNvSpPr/>
          <p:nvPr/>
        </p:nvSpPr>
        <p:spPr>
          <a:xfrm>
            <a:off x="1104207" y="2127088"/>
            <a:ext cx="2057400" cy="822960"/>
          </a:xfrm>
          <a:prstGeom prst="roundRect">
            <a:avLst/>
          </a:prstGeom>
          <a:solidFill>
            <a:srgbClr val="A9D3F7"/>
          </a:solidFill>
          <a:ln w="12700">
            <a:solidFill>
              <a:srgbClr val="A9D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68ED9107-6215-6473-27D3-21B23E1C911A}"/>
              </a:ext>
            </a:extLst>
          </p:cNvPr>
          <p:cNvSpPr/>
          <p:nvPr/>
        </p:nvSpPr>
        <p:spPr>
          <a:xfrm>
            <a:off x="1104207" y="2145376"/>
            <a:ext cx="205740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Person 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Vaccinated</a:t>
            </a:r>
            <a:endParaRPr lang="en-US" sz="1600" dirty="0"/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5AB36F43-E604-434D-DE10-DB884F066BA1}"/>
              </a:ext>
            </a:extLst>
          </p:cNvPr>
          <p:cNvSpPr/>
          <p:nvPr/>
        </p:nvSpPr>
        <p:spPr>
          <a:xfrm>
            <a:off x="5726084" y="2127088"/>
            <a:ext cx="2057400" cy="822960"/>
          </a:xfrm>
          <a:prstGeom prst="roundRect">
            <a:avLst/>
          </a:prstGeom>
          <a:solidFill>
            <a:srgbClr val="78C28C"/>
          </a:solidFill>
          <a:ln w="12700">
            <a:solidFill>
              <a:srgbClr val="78C2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33FB23CC-05A4-EE45-4B96-0F5BDF216ADA}"/>
              </a:ext>
            </a:extLst>
          </p:cNvPr>
          <p:cNvSpPr/>
          <p:nvPr/>
        </p:nvSpPr>
        <p:spPr>
          <a:xfrm>
            <a:off x="5726084" y="2145376"/>
            <a:ext cx="205740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Person B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</a:rPr>
              <a:t>Outcome</a:t>
            </a:r>
            <a:endParaRPr lang="en-US" sz="16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88F40E4-AFFD-4688-C43A-A1F496D88E59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>
            <a:off x="3161607" y="2538568"/>
            <a:ext cx="25644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 7">
            <a:extLst>
              <a:ext uri="{FF2B5EF4-FFF2-40B4-BE49-F238E27FC236}">
                <a16:creationId xmlns:a16="http://schemas.microsoft.com/office/drawing/2014/main" id="{77288FC6-9B5C-E46B-1D84-5B54C7AADF25}"/>
              </a:ext>
            </a:extLst>
          </p:cNvPr>
          <p:cNvSpPr/>
          <p:nvPr/>
        </p:nvSpPr>
        <p:spPr>
          <a:xfrm>
            <a:off x="1255372" y="3213146"/>
            <a:ext cx="6633255" cy="660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solidFill>
                  <a:srgbClr val="F59C42"/>
                </a:solidFill>
              </a:rPr>
              <a:t>A’s vaccination may reduce B’s infection risk.</a:t>
            </a:r>
            <a:endParaRPr lang="en-US" sz="2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F9E4A4E3-C0E9-CCB5-464B-FF87D62F309B}"/>
              </a:ext>
            </a:extLst>
          </p:cNvPr>
          <p:cNvSpPr/>
          <p:nvPr/>
        </p:nvSpPr>
        <p:spPr>
          <a:xfrm>
            <a:off x="0" y="4265951"/>
            <a:ext cx="9088582" cy="52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900" dirty="0">
                <a:solidFill>
                  <a:srgbClr val="F6F4F0"/>
                </a:solidFill>
              </a:rPr>
              <a:t>Then B’s outcome depends not only on B’s own treatment, but also on A’s treatment.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2672599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5D1A9-99DF-CD14-E5A5-D467CE763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F6A69A-1B35-47DD-D995-39B588124776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Assumptions summary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76F8CE07-28F3-7AF0-5C6B-7DEF7FAF2B6F}"/>
              </a:ext>
            </a:extLst>
          </p:cNvPr>
          <p:cNvSpPr/>
          <p:nvPr/>
        </p:nvSpPr>
        <p:spPr>
          <a:xfrm>
            <a:off x="103909" y="1245870"/>
            <a:ext cx="2286000" cy="2598766"/>
          </a:xfrm>
          <a:prstGeom prst="roundRect">
            <a:avLst/>
          </a:prstGeom>
          <a:solidFill>
            <a:srgbClr val="242424"/>
          </a:solidFill>
          <a:ln w="20320">
            <a:solidFill>
              <a:srgbClr val="78C2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C515C2C-509B-81D9-AAF3-FAF5C696BC97}"/>
              </a:ext>
            </a:extLst>
          </p:cNvPr>
          <p:cNvSpPr/>
          <p:nvPr/>
        </p:nvSpPr>
        <p:spPr>
          <a:xfrm>
            <a:off x="195349" y="1520190"/>
            <a:ext cx="2116667" cy="340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78C28C"/>
                </a:solidFill>
              </a:rPr>
              <a:t>Consistency</a:t>
            </a:r>
            <a:endParaRPr lang="en-US" sz="18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1C08E7A-2EE8-FB05-1A3D-ACDC1DF0649A}"/>
              </a:ext>
            </a:extLst>
          </p:cNvPr>
          <p:cNvSpPr/>
          <p:nvPr/>
        </p:nvSpPr>
        <p:spPr>
          <a:xfrm>
            <a:off x="259357" y="2178558"/>
            <a:ext cx="1989667" cy="107535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F6F4F0"/>
                </a:solidFill>
              </a:rPr>
              <a:t>Does observed Y correspond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6F4F0"/>
                </a:solidFill>
              </a:rPr>
              <a:t>to Y(t)?</a:t>
            </a:r>
            <a:endParaRPr lang="en-US" sz="16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9983F9D1-C5BE-D51B-B8BC-31DAB4591EB7}"/>
              </a:ext>
            </a:extLst>
          </p:cNvPr>
          <p:cNvSpPr/>
          <p:nvPr/>
        </p:nvSpPr>
        <p:spPr>
          <a:xfrm>
            <a:off x="2467464" y="1245870"/>
            <a:ext cx="2048656" cy="2598766"/>
          </a:xfrm>
          <a:prstGeom prst="roundRect">
            <a:avLst/>
          </a:prstGeom>
          <a:solidFill>
            <a:srgbClr val="242424"/>
          </a:solidFill>
          <a:ln w="20320">
            <a:solidFill>
              <a:srgbClr val="70A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D10BD32-AC32-D2D9-E84D-5867A0EA2622}"/>
              </a:ext>
            </a:extLst>
          </p:cNvPr>
          <p:cNvSpPr/>
          <p:nvPr/>
        </p:nvSpPr>
        <p:spPr>
          <a:xfrm>
            <a:off x="2527776" y="1520190"/>
            <a:ext cx="1896904" cy="340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70ACE8"/>
                </a:solidFill>
              </a:rPr>
              <a:t>Exchangeability</a:t>
            </a:r>
            <a:endParaRPr lang="en-US" sz="18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5FC72D4-9F19-2C88-F696-9FA8B04E7E53}"/>
              </a:ext>
            </a:extLst>
          </p:cNvPr>
          <p:cNvSpPr/>
          <p:nvPr/>
        </p:nvSpPr>
        <p:spPr>
          <a:xfrm>
            <a:off x="2568438" y="2178558"/>
            <a:ext cx="1783089" cy="107535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F6F4F0"/>
                </a:solidFill>
              </a:rPr>
              <a:t>Are treatment groups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6F4F0"/>
                </a:solidFill>
              </a:rPr>
              <a:t>comparable?</a:t>
            </a:r>
            <a:endParaRPr lang="en-US" sz="16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53CAF905-8AB0-9092-1B43-6D77453BAAA0}"/>
              </a:ext>
            </a:extLst>
          </p:cNvPr>
          <p:cNvSpPr/>
          <p:nvPr/>
        </p:nvSpPr>
        <p:spPr>
          <a:xfrm>
            <a:off x="4669996" y="1245870"/>
            <a:ext cx="2144684" cy="2651760"/>
          </a:xfrm>
          <a:prstGeom prst="roundRect">
            <a:avLst/>
          </a:prstGeom>
          <a:solidFill>
            <a:srgbClr val="242424"/>
          </a:solidFill>
          <a:ln w="20320">
            <a:solidFill>
              <a:srgbClr val="F6B6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3E50E7E-978C-236C-B6AD-7AF470CF4318}"/>
              </a:ext>
            </a:extLst>
          </p:cNvPr>
          <p:cNvSpPr/>
          <p:nvPr/>
        </p:nvSpPr>
        <p:spPr>
          <a:xfrm>
            <a:off x="4761436" y="1520190"/>
            <a:ext cx="19858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F6B62F"/>
                </a:solidFill>
              </a:rPr>
              <a:t>Positivity</a:t>
            </a:r>
            <a:endParaRPr lang="en-US" sz="18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1D20565-2C69-5862-704D-A71D38A16EA4}"/>
              </a:ext>
            </a:extLst>
          </p:cNvPr>
          <p:cNvSpPr/>
          <p:nvPr/>
        </p:nvSpPr>
        <p:spPr>
          <a:xfrm>
            <a:off x="4825444" y="2178558"/>
            <a:ext cx="1866669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F6F4F0"/>
                </a:solidFill>
              </a:rPr>
              <a:t>Do both treatment options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6F4F0"/>
                </a:solidFill>
              </a:rPr>
              <a:t>exist across X?</a:t>
            </a:r>
            <a:endParaRPr lang="en-US" sz="16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F09AFCED-87BB-6BE3-8FEE-99E606FEC0DC}"/>
              </a:ext>
            </a:extLst>
          </p:cNvPr>
          <p:cNvSpPr/>
          <p:nvPr/>
        </p:nvSpPr>
        <p:spPr>
          <a:xfrm>
            <a:off x="6932445" y="1272367"/>
            <a:ext cx="2107646" cy="2651760"/>
          </a:xfrm>
          <a:prstGeom prst="roundRect">
            <a:avLst/>
          </a:prstGeom>
          <a:solidFill>
            <a:srgbClr val="242424"/>
          </a:solidFill>
          <a:ln w="20320">
            <a:solidFill>
              <a:srgbClr val="F59C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0E24D4A1-1FCD-1044-D2DC-410181FC205D}"/>
              </a:ext>
            </a:extLst>
          </p:cNvPr>
          <p:cNvSpPr/>
          <p:nvPr/>
        </p:nvSpPr>
        <p:spPr>
          <a:xfrm>
            <a:off x="7023885" y="1546687"/>
            <a:ext cx="19515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F59C42"/>
                </a:solidFill>
              </a:rPr>
              <a:t>SUTVA</a:t>
            </a:r>
            <a:endParaRPr lang="en-US" sz="1800" dirty="0"/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F49562D2-DB5E-1531-AC80-936AE8DD7EE6}"/>
              </a:ext>
            </a:extLst>
          </p:cNvPr>
          <p:cNvSpPr/>
          <p:nvPr/>
        </p:nvSpPr>
        <p:spPr>
          <a:xfrm>
            <a:off x="7087893" y="2205055"/>
            <a:ext cx="1834433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F6F4F0"/>
                </a:solidFill>
              </a:rPr>
              <a:t>Is treatment well defined,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6F4F0"/>
                </a:solidFill>
              </a:rPr>
              <a:t>without interference?</a:t>
            </a:r>
            <a:endParaRPr lang="en-US" sz="1600" dirty="0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01D748A8-3FF6-EC90-24B3-84E7BF13C499}"/>
              </a:ext>
            </a:extLst>
          </p:cNvPr>
          <p:cNvSpPr/>
          <p:nvPr/>
        </p:nvSpPr>
        <p:spPr>
          <a:xfrm>
            <a:off x="266745" y="4245864"/>
            <a:ext cx="8498750" cy="43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E36D6D"/>
                </a:solidFill>
              </a:rPr>
              <a:t>If any assumption fails, the causal interpretation can fail.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7434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043E09-45CB-E4C7-F544-C7762A5EA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137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ADE92-5ACF-C816-976F-EF98DE1F9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B1700E-5B95-FAC5-EF4F-3EBE7BCE60FF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Why DAG?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7EFC8CE2-2FF1-1894-F22D-C97763D1B22A}"/>
              </a:ext>
            </a:extLst>
          </p:cNvPr>
          <p:cNvSpPr/>
          <p:nvPr/>
        </p:nvSpPr>
        <p:spPr>
          <a:xfrm>
            <a:off x="303415" y="858705"/>
            <a:ext cx="7482840" cy="291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B9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potential-outcomes assumption leaves us with a practical question.</a:t>
            </a:r>
            <a:endParaRPr lang="en-US" sz="12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 2">
                <a:extLst>
                  <a:ext uri="{FF2B5EF4-FFF2-40B4-BE49-F238E27FC236}">
                    <a16:creationId xmlns:a16="http://schemas.microsoft.com/office/drawing/2014/main" id="{12D14AC5-94F9-27D6-B8D0-01AA1F411563}"/>
                  </a:ext>
                </a:extLst>
              </p:cNvPr>
              <p:cNvSpPr/>
              <p:nvPr/>
            </p:nvSpPr>
            <p:spPr>
              <a:xfrm>
                <a:off x="2266881" y="1342782"/>
                <a:ext cx="4251960" cy="731520"/>
              </a:xfrm>
              <a:prstGeom prst="rect">
                <a:avLst/>
              </a:prstGeom>
              <a:noFill/>
              <a:ln/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800" i="1" dirty="0" smtClean="0">
                          <a:solidFill>
                            <a:srgbClr val="F3B83F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𝑌</m:t>
                      </m:r>
                      <m:r>
                        <a:rPr lang="en-US" sz="2800" i="1" dirty="0" smtClean="0">
                          <a:solidFill>
                            <a:srgbClr val="F3B83F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</m:t>
                      </m:r>
                      <m:r>
                        <a:rPr lang="en-US" sz="2800" i="1" dirty="0" smtClean="0">
                          <a:solidFill>
                            <a:srgbClr val="F3B83F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𝑡</m:t>
                      </m:r>
                      <m:r>
                        <a:rPr lang="en-US" sz="2800" i="1" dirty="0" smtClean="0">
                          <a:solidFill>
                            <a:srgbClr val="F3B83F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) ⟂ </m:t>
                      </m:r>
                      <m:r>
                        <a:rPr lang="en-US" sz="2800" i="1" dirty="0" smtClean="0">
                          <a:solidFill>
                            <a:srgbClr val="F3B83F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𝑇</m:t>
                      </m:r>
                      <m:r>
                        <a:rPr lang="en-US" sz="2800" i="1" dirty="0" smtClean="0">
                          <a:solidFill>
                            <a:srgbClr val="F3B83F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 |  </m:t>
                      </m:r>
                      <m:r>
                        <a:rPr lang="en-US" sz="2800" i="1" dirty="0" smtClean="0">
                          <a:solidFill>
                            <a:srgbClr val="F3B83F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𝑋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9" name="Text 2">
                <a:extLst>
                  <a:ext uri="{FF2B5EF4-FFF2-40B4-BE49-F238E27FC236}">
                    <a16:creationId xmlns:a16="http://schemas.microsoft.com/office/drawing/2014/main" id="{12D14AC5-94F9-27D6-B8D0-01AA1F4115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6881" y="1342782"/>
                <a:ext cx="4251960" cy="7315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 3">
            <a:extLst>
              <a:ext uri="{FF2B5EF4-FFF2-40B4-BE49-F238E27FC236}">
                <a16:creationId xmlns:a16="http://schemas.microsoft.com/office/drawing/2014/main" id="{BE4C2988-E3EF-2710-D04C-AC1862C76D01}"/>
              </a:ext>
            </a:extLst>
          </p:cNvPr>
          <p:cNvSpPr/>
          <p:nvPr/>
        </p:nvSpPr>
        <p:spPr>
          <a:xfrm>
            <a:off x="177135" y="2267157"/>
            <a:ext cx="8904520" cy="614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4F4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Within levels of X, treatment assignment carries no additional information about the potential outcomes.</a:t>
            </a:r>
            <a:endParaRPr lang="en-US" dirty="0"/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BF02C999-2AC8-F08F-56DC-69AAFB084F92}"/>
              </a:ext>
            </a:extLst>
          </p:cNvPr>
          <p:cNvSpPr/>
          <p:nvPr/>
        </p:nvSpPr>
        <p:spPr>
          <a:xfrm>
            <a:off x="1725168" y="3001886"/>
            <a:ext cx="5394960" cy="658368"/>
          </a:xfrm>
          <a:prstGeom prst="roundRect">
            <a:avLst>
              <a:gd name="adj" fmla="val 8333"/>
            </a:avLst>
          </a:prstGeom>
          <a:solidFill>
            <a:srgbClr val="242424"/>
          </a:solidFill>
          <a:ln w="19050">
            <a:solidFill>
              <a:srgbClr val="ED6A5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9D10CF19-3552-64C0-F0E1-E94B918D3869}"/>
              </a:ext>
            </a:extLst>
          </p:cNvPr>
          <p:cNvSpPr/>
          <p:nvPr/>
        </p:nvSpPr>
        <p:spPr>
          <a:xfrm>
            <a:off x="1935480" y="3212198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D6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 WHAT BELONGS IN X?</a:t>
            </a:r>
            <a:endParaRPr lang="en-US" sz="1700" dirty="0"/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13444B8E-62DF-43F6-551B-5CB4B8635A24}"/>
              </a:ext>
            </a:extLst>
          </p:cNvPr>
          <p:cNvSpPr/>
          <p:nvPr/>
        </p:nvSpPr>
        <p:spPr>
          <a:xfrm>
            <a:off x="177135" y="3919035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9B9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Age?   Baseline severity?   Mediator?   Every measured variable?</a:t>
            </a:r>
            <a:endParaRPr lang="en-US" sz="1500" dirty="0"/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A9E04A5B-B3CA-C6BD-EF2E-CFFE84FD45B0}"/>
              </a:ext>
            </a:extLst>
          </p:cNvPr>
          <p:cNvSpPr/>
          <p:nvPr/>
        </p:nvSpPr>
        <p:spPr>
          <a:xfrm>
            <a:off x="138342" y="4467697"/>
            <a:ext cx="8904520" cy="517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9B8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DAG helps us decide which variables to adjust for, and which variables NOT to adjust for.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922014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7F209-9D66-42CF-43D2-483EAA001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BA6DBE-DA3A-CD55-8B37-B4F549F4329A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Three Building Blocks</a:t>
            </a:r>
            <a:endParaRPr lang="en-US" sz="2800" dirty="0">
              <a:solidFill>
                <a:schemeClr val="bg1"/>
              </a:solidFill>
              <a:latin typeface="Walter Turncoat" panose="020B0604020202020204" charset="0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068B60D2-6427-15B9-33D7-8132C80C72AE}"/>
              </a:ext>
            </a:extLst>
          </p:cNvPr>
          <p:cNvSpPr/>
          <p:nvPr/>
        </p:nvSpPr>
        <p:spPr>
          <a:xfrm>
            <a:off x="303530" y="1004570"/>
            <a:ext cx="2744470" cy="2945130"/>
          </a:xfrm>
          <a:prstGeom prst="roundRect">
            <a:avLst>
              <a:gd name="adj" fmla="val 3636"/>
            </a:avLst>
          </a:prstGeom>
          <a:solidFill>
            <a:srgbClr val="6CA5DD"/>
          </a:solidFill>
          <a:ln w="15240">
            <a:solidFill>
              <a:srgbClr val="6CA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4087C425-4A28-9EEB-E2EC-0D914A60BABF}"/>
              </a:ext>
            </a:extLst>
          </p:cNvPr>
          <p:cNvSpPr/>
          <p:nvPr/>
        </p:nvSpPr>
        <p:spPr>
          <a:xfrm>
            <a:off x="303530" y="1251458"/>
            <a:ext cx="2646180" cy="302065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3">
                <a:extLst>
                  <a:ext uri="{FF2B5EF4-FFF2-40B4-BE49-F238E27FC236}">
                    <a16:creationId xmlns:a16="http://schemas.microsoft.com/office/drawing/2014/main" id="{EFEA5F9B-DBCD-583F-0729-C5BEEFEFCE8F}"/>
                  </a:ext>
                </a:extLst>
              </p:cNvPr>
              <p:cNvSpPr/>
              <p:nvPr/>
            </p:nvSpPr>
            <p:spPr>
              <a:xfrm>
                <a:off x="303530" y="2089917"/>
                <a:ext cx="2646180" cy="415339"/>
              </a:xfrm>
              <a:prstGeom prst="rect">
                <a:avLst/>
              </a:prstGeom>
              <a:noFill/>
              <a:ln/>
            </p:spPr>
            <p:txBody>
              <a:bodyPr wrap="square" lIns="1016" tIns="1016" rIns="1016" bIns="1016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400" b="1" dirty="0">
                    <a:solidFill>
                      <a:srgbClr val="171717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X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171717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→</m:t>
                    </m:r>
                  </m:oMath>
                </a14:m>
                <a:r>
                  <a:rPr lang="en-US" sz="2400" b="1" dirty="0">
                    <a:solidFill>
                      <a:srgbClr val="171717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 Z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171717"/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→</m:t>
                    </m:r>
                  </m:oMath>
                </a14:m>
                <a:r>
                  <a:rPr lang="en-US" sz="2400" b="1" dirty="0">
                    <a:solidFill>
                      <a:srgbClr val="171717"/>
                    </a:solidFill>
                    <a:latin typeface="Cambria Math" pitchFamily="34" charset="0"/>
                    <a:ea typeface="Cambria Math" pitchFamily="34" charset="-122"/>
                    <a:cs typeface="Cambria Math" pitchFamily="34" charset="-120"/>
                  </a:rPr>
                  <a:t> Y</a:t>
                </a:r>
                <a:endParaRPr lang="en-US" sz="2400" dirty="0"/>
              </a:p>
            </p:txBody>
          </p:sp>
        </mc:Choice>
        <mc:Fallback xmlns="">
          <p:sp>
            <p:nvSpPr>
              <p:cNvPr id="9" name="Text 3">
                <a:extLst>
                  <a:ext uri="{FF2B5EF4-FFF2-40B4-BE49-F238E27FC236}">
                    <a16:creationId xmlns:a16="http://schemas.microsoft.com/office/drawing/2014/main" id="{EFEA5F9B-DBCD-583F-0729-C5BEEFEFCE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30" y="2089917"/>
                <a:ext cx="2646180" cy="415339"/>
              </a:xfrm>
              <a:prstGeom prst="rect">
                <a:avLst/>
              </a:prstGeom>
              <a:blipFill>
                <a:blip r:embed="rId2"/>
                <a:stretch>
                  <a:fillRect t="-17647" b="-3823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4">
            <a:extLst>
              <a:ext uri="{FF2B5EF4-FFF2-40B4-BE49-F238E27FC236}">
                <a16:creationId xmlns:a16="http://schemas.microsoft.com/office/drawing/2014/main" id="{E80D8652-4F99-CDA5-C39B-E22F37FDF114}"/>
              </a:ext>
            </a:extLst>
          </p:cNvPr>
          <p:cNvSpPr/>
          <p:nvPr/>
        </p:nvSpPr>
        <p:spPr>
          <a:xfrm>
            <a:off x="352675" y="3009900"/>
            <a:ext cx="2646180" cy="71740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by default.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171717"/>
                </a:solidFill>
                <a:latin typeface="Arial" pitchFamily="34" charset="0"/>
                <a:cs typeface="Arial" pitchFamily="34" charset="-120"/>
              </a:rPr>
              <a:t>Blocked when conditioned on Z.</a:t>
            </a:r>
            <a:endParaRPr lang="en-US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DA7F0988-0E50-5383-6C9C-50A317884154}"/>
              </a:ext>
            </a:extLst>
          </p:cNvPr>
          <p:cNvSpPr/>
          <p:nvPr/>
        </p:nvSpPr>
        <p:spPr>
          <a:xfrm>
            <a:off x="3263899" y="1004570"/>
            <a:ext cx="2743200" cy="2945130"/>
          </a:xfrm>
          <a:prstGeom prst="roundRect">
            <a:avLst>
              <a:gd name="adj" fmla="val 3636"/>
            </a:avLst>
          </a:prstGeom>
          <a:solidFill>
            <a:srgbClr val="6CA5DD"/>
          </a:solidFill>
          <a:ln w="15240">
            <a:solidFill>
              <a:srgbClr val="6CA5D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DEF80010-A4D1-186F-14CF-D2385C737306}"/>
              </a:ext>
            </a:extLst>
          </p:cNvPr>
          <p:cNvSpPr/>
          <p:nvPr/>
        </p:nvSpPr>
        <p:spPr>
          <a:xfrm>
            <a:off x="3368768" y="1206407"/>
            <a:ext cx="2533457" cy="302065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</a:t>
            </a:r>
            <a:endParaRPr lang="en-US" sz="17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F440EE1A-0B5D-C692-EB2B-4EF78865802B}"/>
              </a:ext>
            </a:extLst>
          </p:cNvPr>
          <p:cNvSpPr/>
          <p:nvPr/>
        </p:nvSpPr>
        <p:spPr>
          <a:xfrm>
            <a:off x="3368770" y="2061796"/>
            <a:ext cx="2533457" cy="41533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171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 ← Z → Y</a:t>
            </a:r>
            <a:endParaRPr lang="en-US" sz="24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0154CC05-A5BD-3F0A-536A-7C909A53157A}"/>
              </a:ext>
            </a:extLst>
          </p:cNvPr>
          <p:cNvSpPr/>
          <p:nvPr/>
        </p:nvSpPr>
        <p:spPr>
          <a:xfrm>
            <a:off x="3368769" y="2962729"/>
            <a:ext cx="2533457" cy="7174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by default.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171717"/>
                </a:solidFill>
                <a:latin typeface="Arial" pitchFamily="34" charset="0"/>
                <a:cs typeface="Arial" pitchFamily="34" charset="-120"/>
              </a:rPr>
              <a:t>Blocked when conditioned on Z.</a:t>
            </a:r>
            <a:endParaRPr lang="en-US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642B33F2-85D2-52C7-079F-D949835B395E}"/>
              </a:ext>
            </a:extLst>
          </p:cNvPr>
          <p:cNvSpPr/>
          <p:nvPr/>
        </p:nvSpPr>
        <p:spPr>
          <a:xfrm>
            <a:off x="6123129" y="1004569"/>
            <a:ext cx="2743200" cy="2945130"/>
          </a:xfrm>
          <a:prstGeom prst="roundRect">
            <a:avLst>
              <a:gd name="adj" fmla="val 3636"/>
            </a:avLst>
          </a:prstGeom>
          <a:solidFill>
            <a:srgbClr val="FDBB30"/>
          </a:solidFill>
          <a:ln w="15240">
            <a:solidFill>
              <a:srgbClr val="FDBB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84FD753E-262C-C0AC-137B-AFB47BAE0C1E}"/>
              </a:ext>
            </a:extLst>
          </p:cNvPr>
          <p:cNvSpPr/>
          <p:nvPr/>
        </p:nvSpPr>
        <p:spPr>
          <a:xfrm>
            <a:off x="6123129" y="1206915"/>
            <a:ext cx="2476062" cy="302065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COLLIDER</a:t>
            </a:r>
            <a:endParaRPr lang="en-US" sz="17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4C78D398-E81D-91D7-BDBD-D7185E67222C}"/>
              </a:ext>
            </a:extLst>
          </p:cNvPr>
          <p:cNvSpPr/>
          <p:nvPr/>
        </p:nvSpPr>
        <p:spPr>
          <a:xfrm>
            <a:off x="6281775" y="2089917"/>
            <a:ext cx="2476062" cy="415339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171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 → Z ← Y</a:t>
            </a:r>
            <a:endParaRPr lang="en-US" sz="240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087BF879-94A0-D4EE-CB07-E3828E2EFE59}"/>
              </a:ext>
            </a:extLst>
          </p:cNvPr>
          <p:cNvSpPr/>
          <p:nvPr/>
        </p:nvSpPr>
        <p:spPr>
          <a:xfrm>
            <a:off x="6281775" y="3016249"/>
            <a:ext cx="2476062" cy="71740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by default.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171717"/>
                </a:solidFill>
                <a:latin typeface="Arial" pitchFamily="34" charset="0"/>
                <a:cs typeface="Arial" pitchFamily="34" charset="-120"/>
              </a:rPr>
              <a:t>Open when conditioned on Z.</a:t>
            </a:r>
            <a:endParaRPr lang="en-US" dirty="0"/>
          </a:p>
        </p:txBody>
      </p:sp>
      <p:sp>
        <p:nvSpPr>
          <p:cNvPr id="33" name="Shape 13">
            <a:extLst>
              <a:ext uri="{FF2B5EF4-FFF2-40B4-BE49-F238E27FC236}">
                <a16:creationId xmlns:a16="http://schemas.microsoft.com/office/drawing/2014/main" id="{5264D1EE-E896-3180-A177-8E685B347016}"/>
              </a:ext>
            </a:extLst>
          </p:cNvPr>
          <p:cNvSpPr/>
          <p:nvPr/>
        </p:nvSpPr>
        <p:spPr>
          <a:xfrm>
            <a:off x="603250" y="4320540"/>
            <a:ext cx="8108950" cy="523220"/>
          </a:xfrm>
          <a:prstGeom prst="roundRect">
            <a:avLst>
              <a:gd name="adj" fmla="val 19355"/>
            </a:avLst>
          </a:prstGeom>
          <a:solidFill>
            <a:srgbClr val="E88A8A"/>
          </a:solidFill>
          <a:ln w="15240">
            <a:solidFill>
              <a:srgbClr val="E88A8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1" name="Text 14">
            <a:extLst>
              <a:ext uri="{FF2B5EF4-FFF2-40B4-BE49-F238E27FC236}">
                <a16:creationId xmlns:a16="http://schemas.microsoft.com/office/drawing/2014/main" id="{3E24336A-BADC-4FCB-17D5-9E6CF0A7813E}"/>
              </a:ext>
            </a:extLst>
          </p:cNvPr>
          <p:cNvSpPr/>
          <p:nvPr/>
        </p:nvSpPr>
        <p:spPr>
          <a:xfrm>
            <a:off x="724932" y="4375404"/>
            <a:ext cx="7804388" cy="4219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Conditioning behaves differently in the collider.</a:t>
            </a:r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val="32071956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04B78-6EEA-D003-C3F7-C86C4F4B1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F81F26-2039-8B85-DC49-957594226471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2F2F2"/>
                </a:solidFill>
                <a:latin typeface="Walbaum Text"/>
              </a:rPr>
              <a:t>d-Separation ≠ Causal Adjustment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E4DAA6D-DDFB-D452-29F4-B855BC3ADCA5}"/>
              </a:ext>
            </a:extLst>
          </p:cNvPr>
          <p:cNvSpPr/>
          <p:nvPr/>
        </p:nvSpPr>
        <p:spPr>
          <a:xfrm>
            <a:off x="177135" y="909320"/>
            <a:ext cx="3988465" cy="2106930"/>
          </a:xfrm>
          <a:prstGeom prst="roundRect">
            <a:avLst/>
          </a:prstGeom>
          <a:solidFill>
            <a:srgbClr val="6FA8DC"/>
          </a:solidFill>
          <a:ln>
            <a:solidFill>
              <a:srgbClr val="6FA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1800" b="1" dirty="0">
                <a:solidFill>
                  <a:srgbClr val="171717"/>
                </a:solidFill>
                <a:latin typeface="Arial"/>
              </a:rPr>
              <a:t>d-SEPARATION</a:t>
            </a:r>
          </a:p>
          <a:p>
            <a:pPr algn="ctr">
              <a:spcBef>
                <a:spcPts val="700"/>
              </a:spcBef>
            </a:pPr>
            <a:r>
              <a:rPr sz="1500" dirty="0">
                <a:solidFill>
                  <a:srgbClr val="171717"/>
                </a:solidFill>
                <a:latin typeface="Arial"/>
              </a:rPr>
              <a:t>Question:
Can we make T and Y conditionally independent?
Goal: BLOCK ALL paths.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EE94E090-8589-E96C-2AA3-3DF2F9A9658A}"/>
              </a:ext>
            </a:extLst>
          </p:cNvPr>
          <p:cNvSpPr/>
          <p:nvPr/>
        </p:nvSpPr>
        <p:spPr>
          <a:xfrm>
            <a:off x="4399281" y="909320"/>
            <a:ext cx="4567584" cy="2106930"/>
          </a:xfrm>
          <a:prstGeom prst="roundRect">
            <a:avLst/>
          </a:prstGeom>
          <a:solidFill>
            <a:srgbClr val="FDBB30"/>
          </a:solidFill>
          <a:ln>
            <a:solidFill>
              <a:srgbClr val="FDB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54864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1800" b="1">
                <a:solidFill>
                  <a:srgbClr val="171717"/>
                </a:solidFill>
                <a:latin typeface="Arial"/>
              </a:rPr>
              <a:t>CAUSAL ADJUSTMENT: TOTAL EFFECT</a:t>
            </a:r>
          </a:p>
          <a:p>
            <a:pPr algn="ctr">
              <a:spcBef>
                <a:spcPts val="700"/>
              </a:spcBef>
            </a:pPr>
            <a:r>
              <a:rPr sz="1500">
                <a:solidFill>
                  <a:srgbClr val="171717"/>
                </a:solidFill>
                <a:latin typeface="Arial"/>
              </a:rPr>
              <a:t>Question:
What should we condition on to identify the total effect?
Goal: BLOCK NONCAUSAL backdoor paths.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4FBDB724-5F3D-C7B1-3655-277D0E8FA61C}"/>
              </a:ext>
            </a:extLst>
          </p:cNvPr>
          <p:cNvSpPr txBox="1"/>
          <p:nvPr/>
        </p:nvSpPr>
        <p:spPr>
          <a:xfrm>
            <a:off x="379730" y="334746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1300" b="1">
                <a:solidFill>
                  <a:srgbClr val="FDBB30"/>
                </a:solidFill>
                <a:latin typeface="Arial"/>
              </a:rPr>
              <a:t>Example: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6B23E68-FD8A-DB31-5FFC-B8414F8AFC79}"/>
              </a:ext>
            </a:extLst>
          </p:cNvPr>
          <p:cNvSpPr/>
          <p:nvPr/>
        </p:nvSpPr>
        <p:spPr>
          <a:xfrm>
            <a:off x="1705610" y="3484626"/>
            <a:ext cx="475488" cy="475488"/>
          </a:xfrm>
          <a:prstGeom prst="ellipse">
            <a:avLst/>
          </a:prstGeom>
          <a:solidFill>
            <a:srgbClr val="91C791"/>
          </a:solidFill>
          <a:ln w="1524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1500" b="1">
                <a:solidFill>
                  <a:srgbClr val="171717"/>
                </a:solidFill>
                <a:latin typeface="Arial"/>
              </a:rPr>
              <a:t>C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64E534-40DA-CBD2-B29A-CEBC227355AB}"/>
              </a:ext>
            </a:extLst>
          </p:cNvPr>
          <p:cNvSpPr/>
          <p:nvPr/>
        </p:nvSpPr>
        <p:spPr>
          <a:xfrm>
            <a:off x="2757170" y="4170425"/>
            <a:ext cx="475488" cy="475488"/>
          </a:xfrm>
          <a:prstGeom prst="ellipse">
            <a:avLst/>
          </a:prstGeom>
          <a:solidFill>
            <a:srgbClr val="6FA8DC"/>
          </a:solidFill>
          <a:ln w="1524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1500" b="1">
                <a:solidFill>
                  <a:srgbClr val="171717"/>
                </a:solidFill>
                <a:latin typeface="Arial"/>
              </a:rPr>
              <a:t>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56EDBB3-8CAA-E620-4211-11B8FDAACBE6}"/>
              </a:ext>
            </a:extLst>
          </p:cNvPr>
          <p:cNvSpPr/>
          <p:nvPr/>
        </p:nvSpPr>
        <p:spPr>
          <a:xfrm>
            <a:off x="4037330" y="4170425"/>
            <a:ext cx="475488" cy="475488"/>
          </a:xfrm>
          <a:prstGeom prst="ellipse">
            <a:avLst/>
          </a:prstGeom>
          <a:solidFill>
            <a:srgbClr val="B592D6"/>
          </a:solidFill>
          <a:ln w="1524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1500" b="1">
                <a:solidFill>
                  <a:srgbClr val="171717"/>
                </a:solidFill>
                <a:latin typeface="Arial"/>
              </a:rPr>
              <a:t>M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CA52D18-9ED2-4FBC-59D3-95FAB7545291}"/>
              </a:ext>
            </a:extLst>
          </p:cNvPr>
          <p:cNvSpPr/>
          <p:nvPr/>
        </p:nvSpPr>
        <p:spPr>
          <a:xfrm>
            <a:off x="5363210" y="4170425"/>
            <a:ext cx="475488" cy="475488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1500" b="1">
                <a:solidFill>
                  <a:srgbClr val="171717"/>
                </a:solidFill>
                <a:latin typeface="Arial"/>
              </a:rPr>
              <a:t>Y</a:t>
            </a:r>
          </a:p>
        </p:txBody>
      </p:sp>
      <p:cxnSp>
        <p:nvCxnSpPr>
          <p:cNvPr id="14" name="Connector 9">
            <a:extLst>
              <a:ext uri="{FF2B5EF4-FFF2-40B4-BE49-F238E27FC236}">
                <a16:creationId xmlns:a16="http://schemas.microsoft.com/office/drawing/2014/main" id="{24899FD2-7886-BCD9-CD8E-9DFBEE84235A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2034793" y="3952748"/>
            <a:ext cx="722377" cy="455421"/>
          </a:xfrm>
          <a:prstGeom prst="line">
            <a:avLst/>
          </a:prstGeom>
          <a:ln w="19050">
            <a:solidFill>
              <a:srgbClr val="F2F2F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0">
            <a:extLst>
              <a:ext uri="{FF2B5EF4-FFF2-40B4-BE49-F238E27FC236}">
                <a16:creationId xmlns:a16="http://schemas.microsoft.com/office/drawing/2014/main" id="{49C80AFD-AF9C-236F-05FD-7E7388F0C361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190242" y="3722370"/>
            <a:ext cx="3242602" cy="517689"/>
          </a:xfrm>
          <a:prstGeom prst="line">
            <a:avLst/>
          </a:prstGeom>
          <a:ln w="19050">
            <a:solidFill>
              <a:srgbClr val="F2F2F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1">
            <a:extLst>
              <a:ext uri="{FF2B5EF4-FFF2-40B4-BE49-F238E27FC236}">
                <a16:creationId xmlns:a16="http://schemas.microsoft.com/office/drawing/2014/main" id="{2B0F2DF1-13B9-E141-4CE1-B996997FEB2E}"/>
              </a:ext>
            </a:extLst>
          </p:cNvPr>
          <p:cNvCxnSpPr/>
          <p:nvPr/>
        </p:nvCxnSpPr>
        <p:spPr>
          <a:xfrm>
            <a:off x="3232658" y="4408170"/>
            <a:ext cx="804672" cy="0"/>
          </a:xfrm>
          <a:prstGeom prst="line">
            <a:avLst/>
          </a:prstGeom>
          <a:ln w="19050">
            <a:solidFill>
              <a:srgbClr val="F2F2F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2">
            <a:extLst>
              <a:ext uri="{FF2B5EF4-FFF2-40B4-BE49-F238E27FC236}">
                <a16:creationId xmlns:a16="http://schemas.microsoft.com/office/drawing/2014/main" id="{8DAC221F-B729-DDD8-66F1-4C46C0571C94}"/>
              </a:ext>
            </a:extLst>
          </p:cNvPr>
          <p:cNvCxnSpPr/>
          <p:nvPr/>
        </p:nvCxnSpPr>
        <p:spPr>
          <a:xfrm>
            <a:off x="4512818" y="4408170"/>
            <a:ext cx="850392" cy="0"/>
          </a:xfrm>
          <a:prstGeom prst="line">
            <a:avLst/>
          </a:prstGeom>
          <a:ln w="19050">
            <a:solidFill>
              <a:srgbClr val="F2F2F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3">
                <a:extLst>
                  <a:ext uri="{FF2B5EF4-FFF2-40B4-BE49-F238E27FC236}">
                    <a16:creationId xmlns:a16="http://schemas.microsoft.com/office/drawing/2014/main" id="{F76D87B6-DA81-C52A-A289-64BA06A12C64}"/>
                  </a:ext>
                </a:extLst>
              </p:cNvPr>
              <p:cNvSpPr txBox="1"/>
              <p:nvPr/>
            </p:nvSpPr>
            <p:spPr>
              <a:xfrm>
                <a:off x="6049010" y="3420618"/>
                <a:ext cx="23317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l"/>
                <a:r>
                  <a:rPr sz="1400" b="1" dirty="0">
                    <a:solidFill>
                      <a:srgbClr val="F2F2F2"/>
                    </a:solidFill>
                    <a:latin typeface="Arial"/>
                  </a:rPr>
                  <a:t>Backdoor path:
T 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sz="1400" b="1" dirty="0">
                    <a:solidFill>
                      <a:srgbClr val="F2F2F2"/>
                    </a:solidFill>
                    <a:latin typeface="Arial"/>
                  </a:rPr>
                  <a:t> C 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1400" b="1" dirty="0">
                    <a:solidFill>
                      <a:srgbClr val="F2F2F2"/>
                    </a:solidFill>
                    <a:latin typeface="Arial"/>
                  </a:rPr>
                  <a:t> Y</a:t>
                </a:r>
              </a:p>
            </p:txBody>
          </p:sp>
        </mc:Choice>
        <mc:Fallback xmlns="">
          <p:sp>
            <p:nvSpPr>
              <p:cNvPr id="18" name="TextBox 13">
                <a:extLst>
                  <a:ext uri="{FF2B5EF4-FFF2-40B4-BE49-F238E27FC236}">
                    <a16:creationId xmlns:a16="http://schemas.microsoft.com/office/drawing/2014/main" id="{F76D87B6-DA81-C52A-A289-64BA06A12C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9010" y="3420618"/>
                <a:ext cx="2331720" cy="523220"/>
              </a:xfrm>
              <a:prstGeom prst="rect">
                <a:avLst/>
              </a:prstGeom>
              <a:blipFill>
                <a:blip r:embed="rId2"/>
                <a:stretch>
                  <a:fillRect l="-783" t="-2326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4">
                <a:extLst>
                  <a:ext uri="{FF2B5EF4-FFF2-40B4-BE49-F238E27FC236}">
                    <a16:creationId xmlns:a16="http://schemas.microsoft.com/office/drawing/2014/main" id="{010D92F8-16E4-03DD-55CC-F36B1FAE597D}"/>
                  </a:ext>
                </a:extLst>
              </p:cNvPr>
              <p:cNvSpPr txBox="1"/>
              <p:nvPr/>
            </p:nvSpPr>
            <p:spPr>
              <a:xfrm>
                <a:off x="6049010" y="4005834"/>
                <a:ext cx="23317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l"/>
                <a:r>
                  <a:rPr sz="1400" b="1" dirty="0">
                    <a:solidFill>
                      <a:srgbClr val="F2F2F2"/>
                    </a:solidFill>
                    <a:latin typeface="Arial"/>
                  </a:rPr>
                  <a:t>Causal path:
T 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1400" b="1" dirty="0">
                    <a:solidFill>
                      <a:srgbClr val="F2F2F2"/>
                    </a:solidFill>
                    <a:latin typeface="Arial"/>
                  </a:rPr>
                  <a:t> M 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1400" b="1" dirty="0">
                    <a:solidFill>
                      <a:srgbClr val="F2F2F2"/>
                    </a:solidFill>
                    <a:latin typeface="Arial"/>
                  </a:rPr>
                  <a:t> Y</a:t>
                </a:r>
              </a:p>
            </p:txBody>
          </p:sp>
        </mc:Choice>
        <mc:Fallback xmlns="">
          <p:sp>
            <p:nvSpPr>
              <p:cNvPr id="19" name="TextBox 14">
                <a:extLst>
                  <a:ext uri="{FF2B5EF4-FFF2-40B4-BE49-F238E27FC236}">
                    <a16:creationId xmlns:a16="http://schemas.microsoft.com/office/drawing/2014/main" id="{010D92F8-16E4-03DD-55CC-F36B1FAE5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9010" y="4005834"/>
                <a:ext cx="2331720" cy="523220"/>
              </a:xfrm>
              <a:prstGeom prst="rect">
                <a:avLst/>
              </a:prstGeom>
              <a:blipFill>
                <a:blip r:embed="rId3"/>
                <a:stretch>
                  <a:fillRect l="-783" t="-2326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5">
            <a:extLst>
              <a:ext uri="{FF2B5EF4-FFF2-40B4-BE49-F238E27FC236}">
                <a16:creationId xmlns:a16="http://schemas.microsoft.com/office/drawing/2014/main" id="{FA2791A5-B911-5F0C-4506-C2F2C3D91C3F}"/>
              </a:ext>
            </a:extLst>
          </p:cNvPr>
          <p:cNvSpPr txBox="1"/>
          <p:nvPr/>
        </p:nvSpPr>
        <p:spPr>
          <a:xfrm>
            <a:off x="6049010" y="4536186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1300" b="1">
                <a:solidFill>
                  <a:srgbClr val="91C791"/>
                </a:solidFill>
                <a:latin typeface="Arial"/>
              </a:rPr>
              <a:t>For total effect: adjust for C,
not M.</a:t>
            </a:r>
          </a:p>
        </p:txBody>
      </p:sp>
    </p:spTree>
    <p:extLst>
      <p:ext uri="{BB962C8B-B14F-4D97-AF65-F5344CB8AC3E}">
        <p14:creationId xmlns:p14="http://schemas.microsoft.com/office/powerpoint/2010/main" val="2702265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5DF58-D8BB-3982-7D92-459C7CCA2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0F967F-2A18-C27C-A47E-7F3DE0C80E67}"/>
              </a:ext>
            </a:extLst>
          </p:cNvPr>
          <p:cNvSpPr txBox="1"/>
          <p:nvPr/>
        </p:nvSpPr>
        <p:spPr>
          <a:xfrm>
            <a:off x="177135" y="157985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2F2F2"/>
                </a:solidFill>
                <a:latin typeface="Walbaum Text"/>
              </a:rPr>
              <a:t>d-Separation vs Causal Adjustment</a:t>
            </a: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5B50705B-11D1-5000-FE49-48DF83552DA2}"/>
              </a:ext>
            </a:extLst>
          </p:cNvPr>
          <p:cNvSpPr/>
          <p:nvPr/>
        </p:nvSpPr>
        <p:spPr>
          <a:xfrm>
            <a:off x="177135" y="998177"/>
            <a:ext cx="4394865" cy="3747005"/>
          </a:xfrm>
          <a:prstGeom prst="roundRect">
            <a:avLst/>
          </a:prstGeom>
          <a:solidFill>
            <a:srgbClr val="262626"/>
          </a:solidFill>
          <a:ln w="2540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27D00C9D-BFE8-BA35-BC5B-4F80EED444C6}"/>
              </a:ext>
            </a:extLst>
          </p:cNvPr>
          <p:cNvSpPr/>
          <p:nvPr/>
        </p:nvSpPr>
        <p:spPr>
          <a:xfrm>
            <a:off x="447299" y="1271594"/>
            <a:ext cx="4019236" cy="363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6FA8DC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d-separation</a:t>
            </a:r>
            <a:endParaRPr lang="en-US" sz="2300" dirty="0">
              <a:latin typeface="+mn-lt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33D43823-0E1E-37EE-E4B5-F8CCB2D3F2A1}"/>
              </a:ext>
            </a:extLst>
          </p:cNvPr>
          <p:cNvSpPr/>
          <p:nvPr/>
        </p:nvSpPr>
        <p:spPr>
          <a:xfrm>
            <a:off x="497176" y="1821137"/>
            <a:ext cx="3868983" cy="268724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03200" indent="-203200">
              <a:buClr>
                <a:schemeClr val="bg1"/>
              </a:buClr>
              <a:buSzPct val="100000"/>
              <a:buChar char="•"/>
            </a:pPr>
            <a:r>
              <a:rPr lang="en-US" sz="2000" dirty="0">
                <a:solidFill>
                  <a:srgbClr val="F3F3F3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Goal: conditional independence</a:t>
            </a:r>
            <a:endParaRPr lang="en-US" sz="2000" dirty="0">
              <a:latin typeface="+mn-lt"/>
            </a:endParaRPr>
          </a:p>
          <a:p>
            <a:pPr marL="203200" indent="-203200">
              <a:buClr>
                <a:schemeClr val="bg1"/>
              </a:buClr>
              <a:buSzPct val="100000"/>
              <a:buChar char="•"/>
            </a:pPr>
            <a:r>
              <a:rPr lang="en-US" sz="2000" dirty="0">
                <a:solidFill>
                  <a:srgbClr val="F3F3F3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Block all open paths between two nodes</a:t>
            </a:r>
            <a:endParaRPr lang="en-US" sz="2000" dirty="0">
              <a:latin typeface="+mn-lt"/>
            </a:endParaRPr>
          </a:p>
          <a:p>
            <a:pPr marL="203200" indent="-203200">
              <a:buClr>
                <a:schemeClr val="bg1"/>
              </a:buClr>
              <a:buSzPct val="100000"/>
              <a:buChar char="•"/>
            </a:pPr>
            <a:r>
              <a:rPr lang="en-US" sz="2000" dirty="0">
                <a:solidFill>
                  <a:srgbClr val="F3F3F3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Useful for reading conditional independences from a DAG</a:t>
            </a:r>
            <a:endParaRPr lang="en-US" sz="2000" dirty="0">
              <a:latin typeface="+mn-lt"/>
            </a:endParaRPr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F4D4443B-C235-5C91-AF60-5CF553C29C83}"/>
              </a:ext>
            </a:extLst>
          </p:cNvPr>
          <p:cNvSpPr/>
          <p:nvPr/>
        </p:nvSpPr>
        <p:spPr>
          <a:xfrm>
            <a:off x="4745013" y="1042993"/>
            <a:ext cx="4274296" cy="3747005"/>
          </a:xfrm>
          <a:prstGeom prst="roundRect">
            <a:avLst/>
          </a:prstGeom>
          <a:solidFill>
            <a:srgbClr val="262626"/>
          </a:solidFill>
          <a:ln w="25400">
            <a:solidFill>
              <a:srgbClr val="FDBB32"/>
            </a:solidFill>
            <a:prstDash val="solid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A48295BF-717A-6165-63E8-40DA7E1C995F}"/>
              </a:ext>
            </a:extLst>
          </p:cNvPr>
          <p:cNvSpPr/>
          <p:nvPr/>
        </p:nvSpPr>
        <p:spPr>
          <a:xfrm>
            <a:off x="4973613" y="1271594"/>
            <a:ext cx="3908971" cy="363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DBB32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Causal adjustment</a:t>
            </a:r>
            <a:endParaRPr lang="en-US" sz="2300" dirty="0">
              <a:latin typeface="+mn-lt"/>
            </a:endParaRPr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ABDA8569-7160-D9D3-9D38-7FF34A1BE10F}"/>
              </a:ext>
            </a:extLst>
          </p:cNvPr>
          <p:cNvSpPr/>
          <p:nvPr/>
        </p:nvSpPr>
        <p:spPr>
          <a:xfrm>
            <a:off x="4918924" y="1865954"/>
            <a:ext cx="3908971" cy="2642429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03200" indent="-203200">
              <a:buClr>
                <a:schemeClr val="bg1"/>
              </a:buClr>
              <a:buSzPct val="100000"/>
              <a:buChar char="•"/>
            </a:pPr>
            <a:r>
              <a:rPr lang="en-US" sz="2000" dirty="0">
                <a:solidFill>
                  <a:srgbClr val="F3F3F3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Goal: identify the total causal effect</a:t>
            </a:r>
            <a:endParaRPr lang="en-US" sz="2000" dirty="0">
              <a:latin typeface="+mn-lt"/>
            </a:endParaRPr>
          </a:p>
          <a:p>
            <a:pPr marL="203200" indent="-203200">
              <a:buClr>
                <a:schemeClr val="bg1"/>
              </a:buClr>
              <a:buSzPct val="100000"/>
              <a:buChar char="•"/>
            </a:pPr>
            <a:r>
              <a:rPr lang="en-US" sz="2000" dirty="0">
                <a:solidFill>
                  <a:srgbClr val="F3F3F3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Block noncausal backdoor paths</a:t>
            </a:r>
            <a:endParaRPr lang="en-US" sz="2000" dirty="0">
              <a:latin typeface="+mn-lt"/>
            </a:endParaRPr>
          </a:p>
          <a:p>
            <a:pPr marL="203200" indent="-203200">
              <a:buClr>
                <a:schemeClr val="bg1"/>
              </a:buClr>
              <a:buSzPct val="100000"/>
              <a:buChar char="•"/>
            </a:pPr>
            <a:r>
              <a:rPr lang="en-US" sz="2000" dirty="0">
                <a:solidFill>
                  <a:srgbClr val="F3F3F3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Preserve causal paths from T to Y</a:t>
            </a: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652477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6D655-1C86-C951-FE3B-A5B633A32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35199938-1831-8447-F7C2-E50E3F710588}"/>
              </a:ext>
            </a:extLst>
          </p:cNvPr>
          <p:cNvSpPr/>
          <p:nvPr/>
        </p:nvSpPr>
        <p:spPr>
          <a:xfrm>
            <a:off x="4394200" y="2545243"/>
            <a:ext cx="4622800" cy="23659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EF56BA-5C79-6EB6-6F0A-4C98D59293A7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Collider adjustment bias with randomized T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4DB8DB1-0E59-A94D-CF9A-B1418772BA0B}"/>
              </a:ext>
            </a:extLst>
          </p:cNvPr>
          <p:cNvSpPr/>
          <p:nvPr/>
        </p:nvSpPr>
        <p:spPr>
          <a:xfrm>
            <a:off x="772414" y="965454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C1E01FA1-82CA-E181-982B-77BD160B46E8}"/>
              </a:ext>
            </a:extLst>
          </p:cNvPr>
          <p:cNvSpPr/>
          <p:nvPr/>
        </p:nvSpPr>
        <p:spPr>
          <a:xfrm>
            <a:off x="772414" y="112090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7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0C55FA08-4BE7-C382-5665-D2A4F7723809}"/>
              </a:ext>
            </a:extLst>
          </p:cNvPr>
          <p:cNvSpPr/>
          <p:nvPr/>
        </p:nvSpPr>
        <p:spPr>
          <a:xfrm>
            <a:off x="2671064" y="965454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3DD48747-992D-1584-3635-D659548D5AC1}"/>
              </a:ext>
            </a:extLst>
          </p:cNvPr>
          <p:cNvSpPr/>
          <p:nvPr/>
        </p:nvSpPr>
        <p:spPr>
          <a:xfrm>
            <a:off x="2671064" y="112090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1700" dirty="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B171BBDA-D0C2-1248-E61B-1A6D24B0B5BB}"/>
              </a:ext>
            </a:extLst>
          </p:cNvPr>
          <p:cNvSpPr/>
          <p:nvPr/>
        </p:nvSpPr>
        <p:spPr>
          <a:xfrm>
            <a:off x="1858264" y="1828800"/>
            <a:ext cx="621792" cy="621792"/>
          </a:xfrm>
          <a:prstGeom prst="ellipse">
            <a:avLst/>
          </a:prstGeom>
          <a:solidFill>
            <a:srgbClr val="E88A8A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9F391772-2903-12E3-5E6F-EC7CE8A0BACD}"/>
              </a:ext>
            </a:extLst>
          </p:cNvPr>
          <p:cNvSpPr/>
          <p:nvPr/>
        </p:nvSpPr>
        <p:spPr>
          <a:xfrm>
            <a:off x="1858264" y="1984248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700" dirty="0"/>
          </a:p>
        </p:txBody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B5178638-A801-B787-B432-B97D809046D8}"/>
              </a:ext>
            </a:extLst>
          </p:cNvPr>
          <p:cNvSpPr/>
          <p:nvPr/>
        </p:nvSpPr>
        <p:spPr>
          <a:xfrm>
            <a:off x="3217164" y="1949958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7AC783D6-E81E-6E06-D81D-10D9E5CB8CB3}"/>
              </a:ext>
            </a:extLst>
          </p:cNvPr>
          <p:cNvSpPr/>
          <p:nvPr/>
        </p:nvSpPr>
        <p:spPr>
          <a:xfrm>
            <a:off x="3217164" y="2105406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7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626E874-626E-6DC4-FC6A-8B905B5FF238}"/>
              </a:ext>
            </a:extLst>
          </p:cNvPr>
          <p:cNvCxnSpPr>
            <a:stCxn id="7" idx="5"/>
            <a:endCxn id="17" idx="1"/>
          </p:cNvCxnSpPr>
          <p:nvPr/>
        </p:nvCxnSpPr>
        <p:spPr>
          <a:xfrm>
            <a:off x="1303147" y="1496187"/>
            <a:ext cx="646176" cy="42367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C56ADC1-32A8-B8E5-D091-44A3ACA4415F}"/>
              </a:ext>
            </a:extLst>
          </p:cNvPr>
          <p:cNvCxnSpPr>
            <a:cxnSpLocks/>
          </p:cNvCxnSpPr>
          <p:nvPr/>
        </p:nvCxnSpPr>
        <p:spPr>
          <a:xfrm>
            <a:off x="3184271" y="1530858"/>
            <a:ext cx="217170" cy="45339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814C11D-1723-A08A-7210-ED9B28EE49D5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1394206" y="1349502"/>
            <a:ext cx="1822958" cy="87020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931AA6F-CA19-6BBE-C51F-0E99B16ED937}"/>
              </a:ext>
            </a:extLst>
          </p:cNvPr>
          <p:cNvCxnSpPr>
            <a:cxnSpLocks/>
            <a:stCxn id="12" idx="3"/>
          </p:cNvCxnSpPr>
          <p:nvPr/>
        </p:nvCxnSpPr>
        <p:spPr>
          <a:xfrm flipH="1">
            <a:off x="2458212" y="1496187"/>
            <a:ext cx="303911" cy="48806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 14">
            <a:extLst>
              <a:ext uri="{FF2B5EF4-FFF2-40B4-BE49-F238E27FC236}">
                <a16:creationId xmlns:a16="http://schemas.microsoft.com/office/drawing/2014/main" id="{4D9E0777-2ADA-C731-9711-979B3E7DEE21}"/>
              </a:ext>
            </a:extLst>
          </p:cNvPr>
          <p:cNvSpPr/>
          <p:nvPr/>
        </p:nvSpPr>
        <p:spPr>
          <a:xfrm>
            <a:off x="3715004" y="1350137"/>
            <a:ext cx="32004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DB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Conditioning on M opens:</a:t>
            </a:r>
            <a:endParaRPr lang="en-US" sz="1800" dirty="0"/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2470B79A-7D95-7D2B-7BD4-3179EE25CA39}"/>
              </a:ext>
            </a:extLst>
          </p:cNvPr>
          <p:cNvSpPr/>
          <p:nvPr/>
        </p:nvSpPr>
        <p:spPr>
          <a:xfrm>
            <a:off x="6641084" y="1258697"/>
            <a:ext cx="2217298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2500" dirty="0">
                <a:solidFill>
                  <a:srgbClr val="F2F2F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 → M ← U → Y</a:t>
            </a:r>
            <a:endParaRPr lang="en-US" sz="2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18BFF9C-F24B-0F4E-F68B-154121CAD03E}"/>
                  </a:ext>
                </a:extLst>
              </p:cNvPr>
              <p:cNvSpPr txBox="1"/>
              <p:nvPr/>
            </p:nvSpPr>
            <p:spPr>
              <a:xfrm>
                <a:off x="38671" y="3206990"/>
                <a:ext cx="4355529" cy="16444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buClr>
                    <a:schemeClr val="bg1"/>
                  </a:buClr>
                </a:pPr>
                <a:r>
                  <a:rPr lang="en-US" sz="2000" dirty="0">
                    <a:solidFill>
                      <a:schemeClr val="bg1"/>
                    </a:solidFill>
                  </a:rPr>
                  <a:t>Example:</a:t>
                </a:r>
              </a:p>
              <a:p>
                <a:pPr marL="342900" lvl="0" indent="-34290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bg1"/>
                    </a:solidFill>
                  </a:rPr>
                  <a:t>T: randomized chemotherapy </a:t>
                </a:r>
              </a:p>
              <a:p>
                <a:pPr marL="342900" lvl="0" indent="-34290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: treatment-induced weight loss </a:t>
                </a:r>
              </a:p>
              <a:p>
                <a:pPr marL="342900" lvl="0" indent="-34290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: underlying frailty </a:t>
                </a:r>
              </a:p>
              <a:p>
                <a:pPr marL="342900" lvl="0" indent="-342900">
                  <a:buClr>
                    <a:schemeClr val="bg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: survival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18BFF9C-F24B-0F4E-F68B-154121CAD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71" y="3206990"/>
                <a:ext cx="4355529" cy="1644410"/>
              </a:xfrm>
              <a:prstGeom prst="rect">
                <a:avLst/>
              </a:prstGeom>
              <a:blipFill>
                <a:blip r:embed="rId2"/>
                <a:stretch>
                  <a:fillRect l="-1399" t="-1481" r="-699" b="-5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5D5C787-53F7-4D1B-FDFB-A196E55DB56F}"/>
                  </a:ext>
                </a:extLst>
              </p:cNvPr>
              <p:cNvSpPr txBox="1"/>
              <p:nvPr/>
            </p:nvSpPr>
            <p:spPr>
              <a:xfrm>
                <a:off x="4476750" y="2602901"/>
                <a:ext cx="4475734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800" dirty="0">
                    <a:solidFill>
                      <a:schemeClr val="tx1"/>
                    </a:solidFill>
                  </a:rPr>
                  <a:t>If you adjust for weight loss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, you induce an association between treatment and frailty, and that can bias the treatment effect on survival.</a:t>
                </a:r>
              </a:p>
              <a:p>
                <a:pPr algn="just"/>
                <a:r>
                  <a:rPr lang="en-US" sz="1800" dirty="0"/>
                  <a:t>Randomization protects you at baseline, but you can destroy that protection by conditioning on the wrong post-treatment variable.</a:t>
                </a:r>
                <a:endParaRPr lang="en-US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5D5C787-53F7-4D1B-FDFB-A196E55DB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750" y="2602901"/>
                <a:ext cx="4475734" cy="2308324"/>
              </a:xfrm>
              <a:prstGeom prst="rect">
                <a:avLst/>
              </a:prstGeom>
              <a:blipFill>
                <a:blip r:embed="rId3"/>
                <a:stretch>
                  <a:fillRect l="-1088" t="-1583" r="-1088" b="-3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15660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F2378-A3EA-B765-8251-BE21A8A3D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6C0C28-942A-778A-C05D-CE79061CBEF9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M-bias</a:t>
            </a: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6F4AA65A-FDBA-7F57-B6E6-FA0B6927B2F7}"/>
              </a:ext>
            </a:extLst>
          </p:cNvPr>
          <p:cNvSpPr/>
          <p:nvPr/>
        </p:nvSpPr>
        <p:spPr>
          <a:xfrm>
            <a:off x="284734" y="827651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B465748B-F106-86AC-5F8A-ECEDFE63840C}"/>
              </a:ext>
            </a:extLst>
          </p:cNvPr>
          <p:cNvSpPr/>
          <p:nvPr/>
        </p:nvSpPr>
        <p:spPr>
          <a:xfrm>
            <a:off x="284734" y="983099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U₁</a:t>
            </a:r>
            <a:endParaRPr lang="en-US" sz="1700" dirty="0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B92297F2-1CAB-64EF-133F-B2AB8D8A443E}"/>
              </a:ext>
            </a:extLst>
          </p:cNvPr>
          <p:cNvSpPr/>
          <p:nvPr/>
        </p:nvSpPr>
        <p:spPr>
          <a:xfrm>
            <a:off x="3069844" y="772406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8896C821-822C-771C-881A-96DB09A06E9D}"/>
              </a:ext>
            </a:extLst>
          </p:cNvPr>
          <p:cNvSpPr/>
          <p:nvPr/>
        </p:nvSpPr>
        <p:spPr>
          <a:xfrm>
            <a:off x="3069844" y="92785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U₂</a:t>
            </a:r>
            <a:endParaRPr lang="en-US" sz="170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2B62F79E-C91D-2C7C-85C1-AE3A360783BA}"/>
              </a:ext>
            </a:extLst>
          </p:cNvPr>
          <p:cNvSpPr/>
          <p:nvPr/>
        </p:nvSpPr>
        <p:spPr>
          <a:xfrm>
            <a:off x="1782064" y="1604891"/>
            <a:ext cx="621792" cy="621792"/>
          </a:xfrm>
          <a:prstGeom prst="ellipse">
            <a:avLst/>
          </a:prstGeom>
          <a:solidFill>
            <a:srgbClr val="E88A8A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75F0D088-0318-E6CC-F707-34B0DE75101B}"/>
              </a:ext>
            </a:extLst>
          </p:cNvPr>
          <p:cNvSpPr/>
          <p:nvPr/>
        </p:nvSpPr>
        <p:spPr>
          <a:xfrm>
            <a:off x="1782064" y="1760339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700" dirty="0"/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918BD8F8-AA13-9430-A73B-52A97260D39D}"/>
              </a:ext>
            </a:extLst>
          </p:cNvPr>
          <p:cNvSpPr/>
          <p:nvPr/>
        </p:nvSpPr>
        <p:spPr>
          <a:xfrm>
            <a:off x="294386" y="2469189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EA97620A-01FC-D325-8FCB-92522B0914EA}"/>
              </a:ext>
            </a:extLst>
          </p:cNvPr>
          <p:cNvSpPr/>
          <p:nvPr/>
        </p:nvSpPr>
        <p:spPr>
          <a:xfrm>
            <a:off x="294386" y="2624637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700" dirty="0"/>
          </a:p>
        </p:txBody>
      </p:sp>
      <p:sp>
        <p:nvSpPr>
          <p:cNvPr id="30" name="Shape 15">
            <a:extLst>
              <a:ext uri="{FF2B5EF4-FFF2-40B4-BE49-F238E27FC236}">
                <a16:creationId xmlns:a16="http://schemas.microsoft.com/office/drawing/2014/main" id="{4D4C5E90-DB6D-C8FA-BA29-009B15757A25}"/>
              </a:ext>
            </a:extLst>
          </p:cNvPr>
          <p:cNvSpPr/>
          <p:nvPr/>
        </p:nvSpPr>
        <p:spPr>
          <a:xfrm>
            <a:off x="3104896" y="2501003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16">
            <a:extLst>
              <a:ext uri="{FF2B5EF4-FFF2-40B4-BE49-F238E27FC236}">
                <a16:creationId xmlns:a16="http://schemas.microsoft.com/office/drawing/2014/main" id="{1368D81D-90B6-ECEC-12FF-919864D6CD32}"/>
              </a:ext>
            </a:extLst>
          </p:cNvPr>
          <p:cNvSpPr/>
          <p:nvPr/>
        </p:nvSpPr>
        <p:spPr>
          <a:xfrm>
            <a:off x="3104896" y="2656451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700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C56ED74-44C9-67FD-6560-CD00F84B2976}"/>
              </a:ext>
            </a:extLst>
          </p:cNvPr>
          <p:cNvCxnSpPr>
            <a:stCxn id="4" idx="6"/>
            <a:endCxn id="16" idx="1"/>
          </p:cNvCxnSpPr>
          <p:nvPr/>
        </p:nvCxnSpPr>
        <p:spPr>
          <a:xfrm>
            <a:off x="906526" y="1138547"/>
            <a:ext cx="966597" cy="55740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B0BE67D-1842-945E-DBAD-00C4E0CB6A26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605282" y="1426265"/>
            <a:ext cx="1080" cy="104292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0086386-7994-4284-D8BF-BD21F379DA8A}"/>
              </a:ext>
            </a:extLst>
          </p:cNvPr>
          <p:cNvCxnSpPr>
            <a:cxnSpLocks/>
            <a:stCxn id="9" idx="4"/>
            <a:endCxn id="30" idx="0"/>
          </p:cNvCxnSpPr>
          <p:nvPr/>
        </p:nvCxnSpPr>
        <p:spPr>
          <a:xfrm>
            <a:off x="3380740" y="1394198"/>
            <a:ext cx="35052" cy="110680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6174F0E-6E0C-3296-B02D-FFAF3A18C6BA}"/>
              </a:ext>
            </a:extLst>
          </p:cNvPr>
          <p:cNvCxnSpPr>
            <a:cxnSpLocks/>
            <a:stCxn id="9" idx="2"/>
            <a:endCxn id="16" idx="7"/>
          </p:cNvCxnSpPr>
          <p:nvPr/>
        </p:nvCxnSpPr>
        <p:spPr>
          <a:xfrm flipH="1">
            <a:off x="2312797" y="1083302"/>
            <a:ext cx="757047" cy="61264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FD839FA-A5E7-CEEF-5B19-7798D8ADFD3A}"/>
              </a:ext>
            </a:extLst>
          </p:cNvPr>
          <p:cNvCxnSpPr>
            <a:cxnSpLocks/>
          </p:cNvCxnSpPr>
          <p:nvPr/>
        </p:nvCxnSpPr>
        <p:spPr>
          <a:xfrm>
            <a:off x="916178" y="2779735"/>
            <a:ext cx="2188718" cy="895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 12">
            <a:extLst>
              <a:ext uri="{FF2B5EF4-FFF2-40B4-BE49-F238E27FC236}">
                <a16:creationId xmlns:a16="http://schemas.microsoft.com/office/drawing/2014/main" id="{7BD7891C-A94D-D5AF-03CB-D6A621B085A2}"/>
              </a:ext>
            </a:extLst>
          </p:cNvPr>
          <p:cNvSpPr/>
          <p:nvPr/>
        </p:nvSpPr>
        <p:spPr>
          <a:xfrm>
            <a:off x="1600073" y="2263259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collider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 17">
                <a:extLst>
                  <a:ext uri="{FF2B5EF4-FFF2-40B4-BE49-F238E27FC236}">
                    <a16:creationId xmlns:a16="http://schemas.microsoft.com/office/drawing/2014/main" id="{B38D8B6A-802F-8E30-CF6C-F56695A36224}"/>
                  </a:ext>
                </a:extLst>
              </p:cNvPr>
              <p:cNvSpPr/>
              <p:nvPr/>
            </p:nvSpPr>
            <p:spPr>
              <a:xfrm>
                <a:off x="3781811" y="1435569"/>
                <a:ext cx="5076571" cy="791114"/>
              </a:xfrm>
              <a:prstGeom prst="rect">
                <a:avLst/>
              </a:prstGeom>
              <a:noFill/>
              <a:ln/>
            </p:spPr>
            <p:txBody>
              <a:bodyPr wrap="square" lIns="1016" tIns="1016" rIns="1016" bIns="1016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850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Without adjusting for M, the path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85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𝑇</m:t>
                    </m:r>
                    <m:r>
                      <a:rPr lang="en-US" sz="185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← </m:t>
                    </m:r>
                    <m:r>
                      <a:rPr lang="en-US" sz="1850" i="1" dirty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𝑈</m:t>
                    </m:r>
                    <m:r>
                      <a:rPr lang="en-US" sz="1850" i="1" dirty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₁ → </m:t>
                    </m:r>
                    <m:r>
                      <a:rPr lang="en-US" sz="1850" i="1" dirty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𝑀</m:t>
                    </m:r>
                    <m:r>
                      <a:rPr lang="en-US" sz="1850" i="1" dirty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← </m:t>
                    </m:r>
                    <m:r>
                      <a:rPr lang="en-US" sz="1850" i="1" dirty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𝑈</m:t>
                    </m:r>
                    <m:r>
                      <a:rPr lang="en-US" sz="1850" i="1" dirty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₂ → </m:t>
                    </m:r>
                    <m:r>
                      <a:rPr lang="en-US" sz="1850" i="1" dirty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𝑌</m:t>
                    </m:r>
                    <m:r>
                      <a:rPr lang="en-US" sz="1850" i="1" dirty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</m:t>
                    </m:r>
                  </m:oMath>
                </a14:m>
                <a:r>
                  <a:rPr lang="en-US" sz="1850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is blocked at M.</a:t>
                </a:r>
                <a:endParaRPr lang="en-US" sz="1850" dirty="0"/>
              </a:p>
            </p:txBody>
          </p:sp>
        </mc:Choice>
        <mc:Fallback xmlns="">
          <p:sp>
            <p:nvSpPr>
              <p:cNvPr id="78" name="Text 17">
                <a:extLst>
                  <a:ext uri="{FF2B5EF4-FFF2-40B4-BE49-F238E27FC236}">
                    <a16:creationId xmlns:a16="http://schemas.microsoft.com/office/drawing/2014/main" id="{B38D8B6A-802F-8E30-CF6C-F56695A362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1811" y="1435569"/>
                <a:ext cx="5076571" cy="791114"/>
              </a:xfrm>
              <a:prstGeom prst="rect">
                <a:avLst/>
              </a:prstGeom>
              <a:blipFill>
                <a:blip r:embed="rId2"/>
                <a:stretch>
                  <a:fillRect b="-461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TextBox 82">
            <a:extLst>
              <a:ext uri="{FF2B5EF4-FFF2-40B4-BE49-F238E27FC236}">
                <a16:creationId xmlns:a16="http://schemas.microsoft.com/office/drawing/2014/main" id="{FFE5DFD4-1293-98EF-CC49-2355037EC4C0}"/>
              </a:ext>
            </a:extLst>
          </p:cNvPr>
          <p:cNvSpPr txBox="1"/>
          <p:nvPr/>
        </p:nvSpPr>
        <p:spPr>
          <a:xfrm>
            <a:off x="228600" y="3447905"/>
            <a:ext cx="88074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Clr>
                <a:schemeClr val="bg1"/>
              </a:buClr>
              <a:buSzPct val="100000"/>
              <a:buChar char="•"/>
            </a:pPr>
            <a:r>
              <a:rPr lang="en-US" sz="18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predictor of treatment or outcome is a confounder.</a:t>
            </a:r>
            <a:endParaRPr lang="en-US" sz="1800" dirty="0"/>
          </a:p>
          <a:p>
            <a:pPr marL="228600" indent="-228600">
              <a:buClr>
                <a:schemeClr val="bg1"/>
              </a:buClr>
              <a:buSzPct val="100000"/>
              <a:buChar char="•"/>
            </a:pPr>
            <a:r>
              <a:rPr lang="en-US" sz="18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variable can be statistically associated with both T and Y yet still be a bad adjustment variable.</a:t>
            </a:r>
            <a:endParaRPr lang="en-US" sz="1800" dirty="0"/>
          </a:p>
          <a:p>
            <a:pPr marL="228600" indent="-228600">
              <a:buClr>
                <a:schemeClr val="bg1"/>
              </a:buClr>
              <a:buSzPct val="100000"/>
              <a:buChar char="•"/>
            </a:pPr>
            <a:r>
              <a:rPr lang="en-US" sz="18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covariate choice should combine subject-matter knowledge, temporal ordering, and causal structure.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663290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FDD22-D4CC-4FAC-ADD2-00CBC3985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886008-B985-E2E6-03EF-25E1BE33FC56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Overadjustment Bias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2A2341-6BBA-F099-9A0B-3A55E6F70098}"/>
              </a:ext>
            </a:extLst>
          </p:cNvPr>
          <p:cNvSpPr txBox="1"/>
          <p:nvPr/>
        </p:nvSpPr>
        <p:spPr>
          <a:xfrm>
            <a:off x="118388" y="1166447"/>
            <a:ext cx="902561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Overadjustment usually means conditioning on a variable that lies on, or is caused by, a causal pathway you intend to estimate.</a:t>
            </a:r>
            <a:endParaRPr lang="en-US" sz="2200" dirty="0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90D70C79-E30C-B65E-EE10-4A3CA45E2B54}"/>
              </a:ext>
            </a:extLst>
          </p:cNvPr>
          <p:cNvSpPr/>
          <p:nvPr/>
        </p:nvSpPr>
        <p:spPr>
          <a:xfrm>
            <a:off x="1417066" y="2796208"/>
            <a:ext cx="2642616" cy="0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D2530EF2-D4BD-DB3A-752D-43A9349B3D1C}"/>
              </a:ext>
            </a:extLst>
          </p:cNvPr>
          <p:cNvSpPr/>
          <p:nvPr/>
        </p:nvSpPr>
        <p:spPr>
          <a:xfrm>
            <a:off x="4754626" y="2796208"/>
            <a:ext cx="2642616" cy="0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37C0A532-E5E8-5CC2-0F00-B0E97373BF8A}"/>
              </a:ext>
            </a:extLst>
          </p:cNvPr>
          <p:cNvSpPr/>
          <p:nvPr/>
        </p:nvSpPr>
        <p:spPr>
          <a:xfrm>
            <a:off x="758698" y="2485312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6EE3CB00-BD73-DD0D-70A1-8C8F72AD6259}"/>
              </a:ext>
            </a:extLst>
          </p:cNvPr>
          <p:cNvSpPr/>
          <p:nvPr/>
        </p:nvSpPr>
        <p:spPr>
          <a:xfrm>
            <a:off x="758698" y="264076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7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DC07505D-E0C9-7DC5-7766-A723EFB6E487}"/>
              </a:ext>
            </a:extLst>
          </p:cNvPr>
          <p:cNvSpPr/>
          <p:nvPr/>
        </p:nvSpPr>
        <p:spPr>
          <a:xfrm>
            <a:off x="4096258" y="2485312"/>
            <a:ext cx="621792" cy="621792"/>
          </a:xfrm>
          <a:prstGeom prst="ellipse">
            <a:avLst/>
          </a:prstGeom>
          <a:solidFill>
            <a:srgbClr val="E88A8A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B26FFB40-FBB8-FE46-D260-99387F1278D2}"/>
              </a:ext>
            </a:extLst>
          </p:cNvPr>
          <p:cNvSpPr/>
          <p:nvPr/>
        </p:nvSpPr>
        <p:spPr>
          <a:xfrm>
            <a:off x="4096258" y="264076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700" dirty="0"/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67714251-CD17-ACB6-8679-2D004E476035}"/>
              </a:ext>
            </a:extLst>
          </p:cNvPr>
          <p:cNvSpPr/>
          <p:nvPr/>
        </p:nvSpPr>
        <p:spPr>
          <a:xfrm>
            <a:off x="7433818" y="2485312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9B781131-F4C0-571F-E115-47BD87896881}"/>
              </a:ext>
            </a:extLst>
          </p:cNvPr>
          <p:cNvSpPr/>
          <p:nvPr/>
        </p:nvSpPr>
        <p:spPr>
          <a:xfrm>
            <a:off x="7433818" y="264076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10">
                <a:extLst>
                  <a:ext uri="{FF2B5EF4-FFF2-40B4-BE49-F238E27FC236}">
                    <a16:creationId xmlns:a16="http://schemas.microsoft.com/office/drawing/2014/main" id="{FA175FC7-5A1A-0355-AFC6-BA7E5360691A}"/>
                  </a:ext>
                </a:extLst>
              </p:cNvPr>
              <p:cNvSpPr/>
              <p:nvPr/>
            </p:nvSpPr>
            <p:spPr>
              <a:xfrm>
                <a:off x="379234" y="3606800"/>
                <a:ext cx="8503920" cy="594360"/>
              </a:xfrm>
              <a:prstGeom prst="rect">
                <a:avLst/>
              </a:prstGeom>
              <a:noFill/>
              <a:ln/>
            </p:spPr>
            <p:txBody>
              <a:bodyPr wrap="square" lIns="1016" tIns="1016" rIns="1016" bIns="1016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FDBB3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Adjust for M → estimated “effect of T” no longer contains 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→</m:t>
                    </m:r>
                  </m:oMath>
                </a14:m>
                <a:r>
                  <a:rPr lang="en-US" sz="2000" b="1" dirty="0">
                    <a:solidFill>
                      <a:srgbClr val="FDBB3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M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→</m:t>
                    </m:r>
                  </m:oMath>
                </a14:m>
                <a:r>
                  <a:rPr lang="en-US" sz="2000" b="1" dirty="0">
                    <a:solidFill>
                      <a:srgbClr val="FDBB30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Y.</a:t>
                </a:r>
                <a:endParaRPr lang="en-US" sz="2000" dirty="0"/>
              </a:p>
            </p:txBody>
          </p:sp>
        </mc:Choice>
        <mc:Fallback xmlns="">
          <p:sp>
            <p:nvSpPr>
              <p:cNvPr id="32" name="Text 10">
                <a:extLst>
                  <a:ext uri="{FF2B5EF4-FFF2-40B4-BE49-F238E27FC236}">
                    <a16:creationId xmlns:a16="http://schemas.microsoft.com/office/drawing/2014/main" id="{FA175FC7-5A1A-0355-AFC6-BA7E536069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234" y="3606800"/>
                <a:ext cx="8503920" cy="594360"/>
              </a:xfrm>
              <a:prstGeom prst="rect">
                <a:avLst/>
              </a:prstGeom>
              <a:blipFill>
                <a:blip r:embed="rId2"/>
                <a:stretch>
                  <a:fillRect l="-717" r="-789" b="-309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0172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229F6-AB3F-8B6E-967C-0674F51F8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93C9E8-E94C-4986-F9FC-253BF3BD518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Selection Bias</a:t>
            </a: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BE603B46-0F2D-3E9B-B125-F001BDADFF6A}"/>
              </a:ext>
            </a:extLst>
          </p:cNvPr>
          <p:cNvSpPr/>
          <p:nvPr/>
        </p:nvSpPr>
        <p:spPr>
          <a:xfrm>
            <a:off x="2157984" y="1517904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E31827C-DC1E-B143-9FA3-98FAFA407626}"/>
              </a:ext>
            </a:extLst>
          </p:cNvPr>
          <p:cNvSpPr/>
          <p:nvPr/>
        </p:nvSpPr>
        <p:spPr>
          <a:xfrm>
            <a:off x="2157984" y="167335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7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AA78D117-1498-211F-E4A8-9C19FCDB8EEA}"/>
              </a:ext>
            </a:extLst>
          </p:cNvPr>
          <p:cNvSpPr/>
          <p:nvPr/>
        </p:nvSpPr>
        <p:spPr>
          <a:xfrm>
            <a:off x="1874520" y="21762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</a:t>
            </a:r>
            <a:endParaRPr lang="en-US" sz="1200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00E8BFA3-4DC4-1050-2FD4-747B637788A5}"/>
              </a:ext>
            </a:extLst>
          </p:cNvPr>
          <p:cNvSpPr/>
          <p:nvPr/>
        </p:nvSpPr>
        <p:spPr>
          <a:xfrm>
            <a:off x="5458970" y="1429004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3EDAC3CD-47BD-1435-543A-B527991D4270}"/>
              </a:ext>
            </a:extLst>
          </p:cNvPr>
          <p:cNvSpPr/>
          <p:nvPr/>
        </p:nvSpPr>
        <p:spPr>
          <a:xfrm>
            <a:off x="5458970" y="158445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7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4A8F5829-C83D-9F04-C737-5C9AE2BAC18E}"/>
              </a:ext>
            </a:extLst>
          </p:cNvPr>
          <p:cNvSpPr/>
          <p:nvPr/>
        </p:nvSpPr>
        <p:spPr>
          <a:xfrm>
            <a:off x="5175506" y="20873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factor</a:t>
            </a:r>
            <a:endParaRPr lang="en-US" sz="1200" dirty="0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C093FEEE-6466-2EE2-0374-9049635DEBF6}"/>
              </a:ext>
            </a:extLst>
          </p:cNvPr>
          <p:cNvSpPr/>
          <p:nvPr/>
        </p:nvSpPr>
        <p:spPr>
          <a:xfrm>
            <a:off x="3782314" y="2139696"/>
            <a:ext cx="621792" cy="621792"/>
          </a:xfrm>
          <a:prstGeom prst="ellipse">
            <a:avLst/>
          </a:prstGeom>
          <a:solidFill>
            <a:srgbClr val="E88A8A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B18AA449-E811-BEAD-D8E9-0A663C85E7EB}"/>
              </a:ext>
            </a:extLst>
          </p:cNvPr>
          <p:cNvSpPr/>
          <p:nvPr/>
        </p:nvSpPr>
        <p:spPr>
          <a:xfrm>
            <a:off x="3782314" y="229514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7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61BB14E2-976A-7CFA-0AE6-90BFE0866EA3}"/>
              </a:ext>
            </a:extLst>
          </p:cNvPr>
          <p:cNvSpPr/>
          <p:nvPr/>
        </p:nvSpPr>
        <p:spPr>
          <a:xfrm>
            <a:off x="3498850" y="279806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hospitalized</a:t>
            </a:r>
            <a:endParaRPr lang="en-US" sz="12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EB9C61A-8043-8495-BCC1-0356C0F351A9}"/>
              </a:ext>
            </a:extLst>
          </p:cNvPr>
          <p:cNvCxnSpPr>
            <a:stCxn id="4" idx="6"/>
            <a:endCxn id="22" idx="1"/>
          </p:cNvCxnSpPr>
          <p:nvPr/>
        </p:nvCxnSpPr>
        <p:spPr>
          <a:xfrm>
            <a:off x="2779776" y="1828800"/>
            <a:ext cx="1093597" cy="40195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1643E90-A624-C001-0DA2-B2F61B998EA8}"/>
              </a:ext>
            </a:extLst>
          </p:cNvPr>
          <p:cNvCxnSpPr>
            <a:cxnSpLocks/>
            <a:endCxn id="22" idx="7"/>
          </p:cNvCxnSpPr>
          <p:nvPr/>
        </p:nvCxnSpPr>
        <p:spPr>
          <a:xfrm flipH="1">
            <a:off x="4313047" y="1741424"/>
            <a:ext cx="1129235" cy="48933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12">
            <a:extLst>
              <a:ext uri="{FF2B5EF4-FFF2-40B4-BE49-F238E27FC236}">
                <a16:creationId xmlns:a16="http://schemas.microsoft.com/office/drawing/2014/main" id="{9BB6D24F-6F99-2981-0938-BE4228B9F025}"/>
              </a:ext>
            </a:extLst>
          </p:cNvPr>
          <p:cNvSpPr/>
          <p:nvPr/>
        </p:nvSpPr>
        <p:spPr>
          <a:xfrm>
            <a:off x="323723" y="3285997"/>
            <a:ext cx="8496554" cy="6309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your dataset contains only H = 1 patients, you have conditioned on a collider.</a:t>
            </a:r>
            <a:endParaRPr lang="en-US" sz="1800" dirty="0"/>
          </a:p>
        </p:txBody>
      </p:sp>
      <p:sp>
        <p:nvSpPr>
          <p:cNvPr id="57" name="Shape 13">
            <a:extLst>
              <a:ext uri="{FF2B5EF4-FFF2-40B4-BE49-F238E27FC236}">
                <a16:creationId xmlns:a16="http://schemas.microsoft.com/office/drawing/2014/main" id="{157C0083-E220-1DBA-BEC8-CF91BBC91BA0}"/>
              </a:ext>
            </a:extLst>
          </p:cNvPr>
          <p:cNvSpPr/>
          <p:nvPr/>
        </p:nvSpPr>
        <p:spPr>
          <a:xfrm>
            <a:off x="323723" y="4128007"/>
            <a:ext cx="8576310" cy="630935"/>
          </a:xfrm>
          <a:prstGeom prst="roundRect">
            <a:avLst>
              <a:gd name="adj" fmla="val 19355"/>
            </a:avLst>
          </a:prstGeom>
          <a:solidFill>
            <a:srgbClr val="FDBB30"/>
          </a:solidFill>
          <a:ln w="15240">
            <a:solidFill>
              <a:srgbClr val="FDBB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14">
            <a:extLst>
              <a:ext uri="{FF2B5EF4-FFF2-40B4-BE49-F238E27FC236}">
                <a16:creationId xmlns:a16="http://schemas.microsoft.com/office/drawing/2014/main" id="{254F7A6D-ADDA-84AB-562A-815A314FAA2B}"/>
              </a:ext>
            </a:extLst>
          </p:cNvPr>
          <p:cNvSpPr/>
          <p:nvPr/>
        </p:nvSpPr>
        <p:spPr>
          <a:xfrm>
            <a:off x="506603" y="4182871"/>
            <a:ext cx="8254195" cy="508819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hospital, D and R can appear associated even if they are independent in the population.</a:t>
            </a:r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val="15519230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10A91-3FBA-4CEC-1AB6-23298BE52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4AE306-D2A6-C155-ADC1-0A72C03D54A7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How to draw a DAG from a research question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DE3C02-7D2F-A5FC-6ACC-2849318CB83D}"/>
              </a:ext>
            </a:extLst>
          </p:cNvPr>
          <p:cNvSpPr txBox="1"/>
          <p:nvPr/>
        </p:nvSpPr>
        <p:spPr>
          <a:xfrm>
            <a:off x="141744" y="1073150"/>
            <a:ext cx="886051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100000"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Define treatment/exposure T and outcome Y clearly.</a:t>
            </a:r>
          </a:p>
          <a:p>
            <a:pPr>
              <a:buSzPct val="100000"/>
            </a:pPr>
            <a:endParaRPr lang="en-US" sz="2000" dirty="0"/>
          </a:p>
          <a:p>
            <a:pPr>
              <a:buSzPct val="100000"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List causes of T, causes of Y, and common causes.</a:t>
            </a:r>
          </a:p>
          <a:p>
            <a:pPr>
              <a:buSzPct val="100000"/>
            </a:pPr>
            <a:endParaRPr lang="en-US" sz="2000" dirty="0"/>
          </a:p>
          <a:p>
            <a:pPr>
              <a:buSzPct val="100000"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Add plausible mediators and important selection variables.</a:t>
            </a:r>
          </a:p>
          <a:p>
            <a:pPr>
              <a:buSzPct val="100000"/>
            </a:pPr>
            <a:endParaRPr lang="en-US" sz="2000" dirty="0"/>
          </a:p>
          <a:p>
            <a:pPr>
              <a:buSzPct val="100000"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Respect temporal ordering whenever possible.</a:t>
            </a:r>
          </a:p>
          <a:p>
            <a:pPr>
              <a:buSzPct val="100000"/>
            </a:pPr>
            <a:endParaRPr lang="en-US" sz="2000" dirty="0"/>
          </a:p>
          <a:p>
            <a:pPr>
              <a:buSzPct val="100000"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Draw arrows from cause to consequence, not from correlation to correlation.</a:t>
            </a:r>
          </a:p>
          <a:p>
            <a:pPr>
              <a:buSzPct val="100000"/>
            </a:pPr>
            <a:endParaRPr lang="en-US" sz="2000" dirty="0"/>
          </a:p>
          <a:p>
            <a:pPr>
              <a:buSzPct val="100000"/>
            </a:pPr>
            <a:r>
              <a:rPr lang="en-US" sz="20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Use the graph to inspect backdoor paths and identify adjustment sets.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322463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6E333-CA12-B97A-5068-50F6B52A1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554981-6959-2CD5-B780-322A41E9D546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Build a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82639CE-1C76-33A5-C311-310E429729E5}"/>
                  </a:ext>
                </a:extLst>
              </p:cNvPr>
              <p:cNvSpPr txBox="1"/>
              <p:nvPr/>
            </p:nvSpPr>
            <p:spPr>
              <a:xfrm>
                <a:off x="141744" y="1073150"/>
                <a:ext cx="8860512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Research question: Does a new intensive blood-pressure treatment reduce 1-year cardiovascular events?</a:t>
                </a:r>
              </a:p>
              <a:p>
                <a:pPr marL="0" indent="0" algn="ctr">
                  <a:buNone/>
                </a:pPr>
                <a:endParaRPr lang="en-US" sz="2000" b="1" dirty="0">
                  <a:solidFill>
                    <a:srgbClr val="F2F2F2"/>
                  </a:solidFill>
                  <a:latin typeface="Arial" pitchFamily="34" charset="0"/>
                  <a:cs typeface="Arial" pitchFamily="34" charset="-120"/>
                </a:endParaRPr>
              </a:p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Candidate variables:</a:t>
                </a:r>
                <a:endParaRPr lang="en-US" sz="2000" dirty="0"/>
              </a:p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Age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•</m:t>
                    </m:r>
                  </m:oMath>
                </a14:m>
                <a:r>
                  <a:rPr lang="en-US" sz="2000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baseline systolic BP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•</m:t>
                    </m:r>
                  </m:oMath>
                </a14:m>
                <a:r>
                  <a:rPr lang="en-US" sz="2000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diabetes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•</m:t>
                    </m:r>
                  </m:oMath>
                </a14:m>
                <a:r>
                  <a:rPr lang="en-US" sz="2000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physician treatment preference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•</m:t>
                    </m:r>
                  </m:oMath>
                </a14:m>
                <a:r>
                  <a:rPr lang="en-US" sz="2000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treatment assignment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•</m:t>
                    </m:r>
                  </m:oMath>
                </a14:m>
                <a:r>
                  <a:rPr lang="en-US" sz="2000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achieved BP at 3 months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•</m:t>
                    </m:r>
                  </m:oMath>
                </a14:m>
                <a:r>
                  <a:rPr lang="en-US" sz="2000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medication adherence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•</m:t>
                    </m:r>
                  </m:oMath>
                </a14:m>
                <a:r>
                  <a:rPr lang="en-US" sz="2000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cardiovascular event</a:t>
                </a: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82639CE-1C76-33A5-C311-310E42972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44" y="1073150"/>
                <a:ext cx="8860512" cy="2554545"/>
              </a:xfrm>
              <a:prstGeom prst="rect">
                <a:avLst/>
              </a:prstGeom>
              <a:blipFill>
                <a:blip r:embed="rId2"/>
                <a:stretch>
                  <a:fillRect t="-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5">
            <a:extLst>
              <a:ext uri="{FF2B5EF4-FFF2-40B4-BE49-F238E27FC236}">
                <a16:creationId xmlns:a16="http://schemas.microsoft.com/office/drawing/2014/main" id="{2A5406BB-AE9E-418A-20DD-B9291068267C}"/>
              </a:ext>
            </a:extLst>
          </p:cNvPr>
          <p:cNvSpPr/>
          <p:nvPr/>
        </p:nvSpPr>
        <p:spPr>
          <a:xfrm>
            <a:off x="317500" y="3627695"/>
            <a:ext cx="8540882" cy="93160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DB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plausible DAG. Circle the variables you would adjust for to estimate the TOTAL treatment effect.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6113369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A4A78-CE97-994C-BEE7-2A33080DE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CE1D76-8C85-D43F-7451-91897C1A9908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One plausible DAG</a:t>
            </a:r>
          </a:p>
        </p:txBody>
      </p:sp>
      <p:sp>
        <p:nvSpPr>
          <p:cNvPr id="64" name="Shape 14">
            <a:extLst>
              <a:ext uri="{FF2B5EF4-FFF2-40B4-BE49-F238E27FC236}">
                <a16:creationId xmlns:a16="http://schemas.microsoft.com/office/drawing/2014/main" id="{E13835AE-D9E9-DC01-43F8-C3D8B1A43E0F}"/>
              </a:ext>
            </a:extLst>
          </p:cNvPr>
          <p:cNvSpPr/>
          <p:nvPr/>
        </p:nvSpPr>
        <p:spPr>
          <a:xfrm>
            <a:off x="923544" y="1106424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15">
            <a:extLst>
              <a:ext uri="{FF2B5EF4-FFF2-40B4-BE49-F238E27FC236}">
                <a16:creationId xmlns:a16="http://schemas.microsoft.com/office/drawing/2014/main" id="{170A221B-931F-60C8-5E12-19D85C3D1166}"/>
              </a:ext>
            </a:extLst>
          </p:cNvPr>
          <p:cNvSpPr/>
          <p:nvPr/>
        </p:nvSpPr>
        <p:spPr>
          <a:xfrm>
            <a:off x="923544" y="126187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1700" dirty="0"/>
          </a:p>
        </p:txBody>
      </p:sp>
      <p:sp>
        <p:nvSpPr>
          <p:cNvPr id="68" name="Shape 16">
            <a:extLst>
              <a:ext uri="{FF2B5EF4-FFF2-40B4-BE49-F238E27FC236}">
                <a16:creationId xmlns:a16="http://schemas.microsoft.com/office/drawing/2014/main" id="{82B183EC-A100-4795-DC18-922A84570A39}"/>
              </a:ext>
            </a:extLst>
          </p:cNvPr>
          <p:cNvSpPr/>
          <p:nvPr/>
        </p:nvSpPr>
        <p:spPr>
          <a:xfrm>
            <a:off x="2525014" y="1106424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CA64C12F-189A-E47A-CE1C-AACEA5CF947A}"/>
              </a:ext>
            </a:extLst>
          </p:cNvPr>
          <p:cNvSpPr/>
          <p:nvPr/>
        </p:nvSpPr>
        <p:spPr>
          <a:xfrm>
            <a:off x="2525014" y="126187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</a:t>
            </a:r>
            <a:endParaRPr lang="en-US" sz="1700" dirty="0"/>
          </a:p>
        </p:txBody>
      </p:sp>
      <p:sp>
        <p:nvSpPr>
          <p:cNvPr id="72" name="Shape 18">
            <a:extLst>
              <a:ext uri="{FF2B5EF4-FFF2-40B4-BE49-F238E27FC236}">
                <a16:creationId xmlns:a16="http://schemas.microsoft.com/office/drawing/2014/main" id="{BEB365B0-722F-7A8D-E0C8-B70C8E4ED92F}"/>
              </a:ext>
            </a:extLst>
          </p:cNvPr>
          <p:cNvSpPr/>
          <p:nvPr/>
        </p:nvSpPr>
        <p:spPr>
          <a:xfrm>
            <a:off x="4334256" y="1106424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19">
            <a:extLst>
              <a:ext uri="{FF2B5EF4-FFF2-40B4-BE49-F238E27FC236}">
                <a16:creationId xmlns:a16="http://schemas.microsoft.com/office/drawing/2014/main" id="{41F3C75E-FFBF-4960-245D-BCE608133662}"/>
              </a:ext>
            </a:extLst>
          </p:cNvPr>
          <p:cNvSpPr/>
          <p:nvPr/>
        </p:nvSpPr>
        <p:spPr>
          <a:xfrm>
            <a:off x="4334256" y="126187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</a:t>
            </a:r>
            <a:endParaRPr lang="en-US" sz="1700" dirty="0"/>
          </a:p>
        </p:txBody>
      </p:sp>
      <p:sp>
        <p:nvSpPr>
          <p:cNvPr id="76" name="Shape 20">
            <a:extLst>
              <a:ext uri="{FF2B5EF4-FFF2-40B4-BE49-F238E27FC236}">
                <a16:creationId xmlns:a16="http://schemas.microsoft.com/office/drawing/2014/main" id="{D8837FC4-1414-8A90-B9A8-5C434F0B08BA}"/>
              </a:ext>
            </a:extLst>
          </p:cNvPr>
          <p:cNvSpPr/>
          <p:nvPr/>
        </p:nvSpPr>
        <p:spPr>
          <a:xfrm>
            <a:off x="6089904" y="1106424"/>
            <a:ext cx="621792" cy="621792"/>
          </a:xfrm>
          <a:prstGeom prst="ellipse">
            <a:avLst/>
          </a:prstGeom>
          <a:solidFill>
            <a:srgbClr val="C8A7E8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21">
            <a:extLst>
              <a:ext uri="{FF2B5EF4-FFF2-40B4-BE49-F238E27FC236}">
                <a16:creationId xmlns:a16="http://schemas.microsoft.com/office/drawing/2014/main" id="{63A30A2A-140C-0BEE-4754-4A4E17CD6230}"/>
              </a:ext>
            </a:extLst>
          </p:cNvPr>
          <p:cNvSpPr/>
          <p:nvPr/>
        </p:nvSpPr>
        <p:spPr>
          <a:xfrm>
            <a:off x="6089904" y="126187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</a:t>
            </a:r>
            <a:endParaRPr lang="en-US" sz="1700" dirty="0"/>
          </a:p>
        </p:txBody>
      </p:sp>
      <p:sp>
        <p:nvSpPr>
          <p:cNvPr id="80" name="Shape 22">
            <a:extLst>
              <a:ext uri="{FF2B5EF4-FFF2-40B4-BE49-F238E27FC236}">
                <a16:creationId xmlns:a16="http://schemas.microsoft.com/office/drawing/2014/main" id="{66B81606-896E-C3D7-D0A0-7F6913461133}"/>
              </a:ext>
            </a:extLst>
          </p:cNvPr>
          <p:cNvSpPr/>
          <p:nvPr/>
        </p:nvSpPr>
        <p:spPr>
          <a:xfrm>
            <a:off x="2525014" y="2404872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23">
            <a:extLst>
              <a:ext uri="{FF2B5EF4-FFF2-40B4-BE49-F238E27FC236}">
                <a16:creationId xmlns:a16="http://schemas.microsoft.com/office/drawing/2014/main" id="{6039FBC6-466B-E673-9AA1-5C4759BD23BD}"/>
              </a:ext>
            </a:extLst>
          </p:cNvPr>
          <p:cNvSpPr/>
          <p:nvPr/>
        </p:nvSpPr>
        <p:spPr>
          <a:xfrm>
            <a:off x="2525014" y="256032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700" dirty="0"/>
          </a:p>
        </p:txBody>
      </p:sp>
      <p:sp>
        <p:nvSpPr>
          <p:cNvPr id="84" name="Shape 24">
            <a:extLst>
              <a:ext uri="{FF2B5EF4-FFF2-40B4-BE49-F238E27FC236}">
                <a16:creationId xmlns:a16="http://schemas.microsoft.com/office/drawing/2014/main" id="{08862AE2-A22E-E629-35CA-FCE39320D8BE}"/>
              </a:ext>
            </a:extLst>
          </p:cNvPr>
          <p:cNvSpPr/>
          <p:nvPr/>
        </p:nvSpPr>
        <p:spPr>
          <a:xfrm>
            <a:off x="4334256" y="2404872"/>
            <a:ext cx="621792" cy="621792"/>
          </a:xfrm>
          <a:prstGeom prst="ellipse">
            <a:avLst/>
          </a:prstGeom>
          <a:solidFill>
            <a:srgbClr val="C8A7E8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25">
            <a:extLst>
              <a:ext uri="{FF2B5EF4-FFF2-40B4-BE49-F238E27FC236}">
                <a16:creationId xmlns:a16="http://schemas.microsoft.com/office/drawing/2014/main" id="{8A6372E6-4B3A-2792-D4D3-CA26A96532C6}"/>
              </a:ext>
            </a:extLst>
          </p:cNvPr>
          <p:cNvSpPr/>
          <p:nvPr/>
        </p:nvSpPr>
        <p:spPr>
          <a:xfrm>
            <a:off x="4334256" y="2560320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3m BP</a:t>
            </a:r>
            <a:endParaRPr lang="en-US" sz="1700" dirty="0"/>
          </a:p>
        </p:txBody>
      </p:sp>
      <p:sp>
        <p:nvSpPr>
          <p:cNvPr id="88" name="Shape 26">
            <a:extLst>
              <a:ext uri="{FF2B5EF4-FFF2-40B4-BE49-F238E27FC236}">
                <a16:creationId xmlns:a16="http://schemas.microsoft.com/office/drawing/2014/main" id="{598C49E5-AD04-55C6-D4E4-59B0B80FD52D}"/>
              </a:ext>
            </a:extLst>
          </p:cNvPr>
          <p:cNvSpPr/>
          <p:nvPr/>
        </p:nvSpPr>
        <p:spPr>
          <a:xfrm>
            <a:off x="6143498" y="2353564"/>
            <a:ext cx="621792" cy="621792"/>
          </a:xfrm>
          <a:prstGeom prst="ellipse">
            <a:avLst/>
          </a:prstGeom>
          <a:solidFill>
            <a:srgbClr val="C8A7E8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27">
            <a:extLst>
              <a:ext uri="{FF2B5EF4-FFF2-40B4-BE49-F238E27FC236}">
                <a16:creationId xmlns:a16="http://schemas.microsoft.com/office/drawing/2014/main" id="{5967BA8E-D3DF-C37C-DCF0-2EFDDBD0A998}"/>
              </a:ext>
            </a:extLst>
          </p:cNvPr>
          <p:cNvSpPr/>
          <p:nvPr/>
        </p:nvSpPr>
        <p:spPr>
          <a:xfrm>
            <a:off x="6143498" y="250901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Adh</a:t>
            </a:r>
            <a:endParaRPr lang="en-US" sz="1700" dirty="0"/>
          </a:p>
        </p:txBody>
      </p:sp>
      <p:sp>
        <p:nvSpPr>
          <p:cNvPr id="92" name="Shape 28">
            <a:extLst>
              <a:ext uri="{FF2B5EF4-FFF2-40B4-BE49-F238E27FC236}">
                <a16:creationId xmlns:a16="http://schemas.microsoft.com/office/drawing/2014/main" id="{8490D3DB-52E4-5D29-2144-92D685FE3008}"/>
              </a:ext>
            </a:extLst>
          </p:cNvPr>
          <p:cNvSpPr/>
          <p:nvPr/>
        </p:nvSpPr>
        <p:spPr>
          <a:xfrm>
            <a:off x="4334256" y="3962654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29">
            <a:extLst>
              <a:ext uri="{FF2B5EF4-FFF2-40B4-BE49-F238E27FC236}">
                <a16:creationId xmlns:a16="http://schemas.microsoft.com/office/drawing/2014/main" id="{CC72D933-4A77-0F3A-FBAF-AC67258671E8}"/>
              </a:ext>
            </a:extLst>
          </p:cNvPr>
          <p:cNvSpPr/>
          <p:nvPr/>
        </p:nvSpPr>
        <p:spPr>
          <a:xfrm>
            <a:off x="4334256" y="411810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700" dirty="0"/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95244028-3F02-91E2-90FC-1DC2EAB78036}"/>
              </a:ext>
            </a:extLst>
          </p:cNvPr>
          <p:cNvCxnSpPr>
            <a:stCxn id="64" idx="5"/>
            <a:endCxn id="80" idx="1"/>
          </p:cNvCxnSpPr>
          <p:nvPr/>
        </p:nvCxnSpPr>
        <p:spPr>
          <a:xfrm>
            <a:off x="1454277" y="1637157"/>
            <a:ext cx="1161796" cy="85877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D9FDE65F-8261-C482-E97E-0D460342E1CE}"/>
              </a:ext>
            </a:extLst>
          </p:cNvPr>
          <p:cNvCxnSpPr>
            <a:cxnSpLocks/>
            <a:endCxn id="92" idx="1"/>
          </p:cNvCxnSpPr>
          <p:nvPr/>
        </p:nvCxnSpPr>
        <p:spPr>
          <a:xfrm>
            <a:off x="3055747" y="2944368"/>
            <a:ext cx="1369568" cy="110934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EAF7B898-CCDA-2737-68CD-018706388A37}"/>
              </a:ext>
            </a:extLst>
          </p:cNvPr>
          <p:cNvCxnSpPr>
            <a:cxnSpLocks/>
            <a:stCxn id="68" idx="4"/>
            <a:endCxn id="80" idx="0"/>
          </p:cNvCxnSpPr>
          <p:nvPr/>
        </p:nvCxnSpPr>
        <p:spPr>
          <a:xfrm>
            <a:off x="2835910" y="1728216"/>
            <a:ext cx="0" cy="67665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F1A93AAD-10E1-6601-F915-68A42C024824}"/>
              </a:ext>
            </a:extLst>
          </p:cNvPr>
          <p:cNvCxnSpPr>
            <a:cxnSpLocks/>
            <a:endCxn id="92" idx="1"/>
          </p:cNvCxnSpPr>
          <p:nvPr/>
        </p:nvCxnSpPr>
        <p:spPr>
          <a:xfrm>
            <a:off x="2902458" y="1712976"/>
            <a:ext cx="1522857" cy="234073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7676B6E-2886-B18A-C8DC-E6B126CB6C9F}"/>
              </a:ext>
            </a:extLst>
          </p:cNvPr>
          <p:cNvCxnSpPr>
            <a:cxnSpLocks/>
            <a:endCxn id="70" idx="1"/>
          </p:cNvCxnSpPr>
          <p:nvPr/>
        </p:nvCxnSpPr>
        <p:spPr>
          <a:xfrm flipV="1">
            <a:off x="1570990" y="1376172"/>
            <a:ext cx="954024" cy="2324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D8633A86-782D-94BF-9220-6BB5EB4D09D7}"/>
              </a:ext>
            </a:extLst>
          </p:cNvPr>
          <p:cNvCxnSpPr>
            <a:cxnSpLocks/>
            <a:endCxn id="74" idx="1"/>
          </p:cNvCxnSpPr>
          <p:nvPr/>
        </p:nvCxnSpPr>
        <p:spPr>
          <a:xfrm flipV="1">
            <a:off x="3146806" y="1376172"/>
            <a:ext cx="1187450" cy="1943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3EFB4F75-7F49-9EC2-D43B-B98B2E9A911A}"/>
              </a:ext>
            </a:extLst>
          </p:cNvPr>
          <p:cNvCxnSpPr>
            <a:cxnSpLocks/>
            <a:stCxn id="72" idx="3"/>
            <a:endCxn id="80" idx="7"/>
          </p:cNvCxnSpPr>
          <p:nvPr/>
        </p:nvCxnSpPr>
        <p:spPr>
          <a:xfrm flipH="1">
            <a:off x="3055747" y="1637157"/>
            <a:ext cx="1369568" cy="85877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A73B01FE-C626-A1F9-1739-97F23E213995}"/>
              </a:ext>
            </a:extLst>
          </p:cNvPr>
          <p:cNvCxnSpPr>
            <a:cxnSpLocks/>
            <a:endCxn id="84" idx="0"/>
          </p:cNvCxnSpPr>
          <p:nvPr/>
        </p:nvCxnSpPr>
        <p:spPr>
          <a:xfrm>
            <a:off x="4645152" y="1728216"/>
            <a:ext cx="0" cy="67665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84D863D-BB56-3ACE-3D74-D2A956E3A2F3}"/>
              </a:ext>
            </a:extLst>
          </p:cNvPr>
          <p:cNvCxnSpPr>
            <a:cxnSpLocks/>
            <a:endCxn id="92" idx="0"/>
          </p:cNvCxnSpPr>
          <p:nvPr/>
        </p:nvCxnSpPr>
        <p:spPr>
          <a:xfrm>
            <a:off x="4645152" y="3021584"/>
            <a:ext cx="0" cy="94107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212CD87D-3007-6868-9D15-40C5F42F6250}"/>
              </a:ext>
            </a:extLst>
          </p:cNvPr>
          <p:cNvCxnSpPr>
            <a:cxnSpLocks/>
            <a:endCxn id="92" idx="7"/>
          </p:cNvCxnSpPr>
          <p:nvPr/>
        </p:nvCxnSpPr>
        <p:spPr>
          <a:xfrm flipH="1">
            <a:off x="4864989" y="2975356"/>
            <a:ext cx="1535811" cy="107835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8E12297-B88A-2453-2557-820E8FEACB13}"/>
              </a:ext>
            </a:extLst>
          </p:cNvPr>
          <p:cNvCxnSpPr>
            <a:cxnSpLocks/>
            <a:endCxn id="88" idx="0"/>
          </p:cNvCxnSpPr>
          <p:nvPr/>
        </p:nvCxnSpPr>
        <p:spPr>
          <a:xfrm>
            <a:off x="6400800" y="1719390"/>
            <a:ext cx="53594" cy="63417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41287642-9C95-3FBD-6F9D-40154D3E6C91}"/>
              </a:ext>
            </a:extLst>
          </p:cNvPr>
          <p:cNvCxnSpPr>
            <a:cxnSpLocks/>
            <a:endCxn id="88" idx="2"/>
          </p:cNvCxnSpPr>
          <p:nvPr/>
        </p:nvCxnSpPr>
        <p:spPr>
          <a:xfrm flipV="1">
            <a:off x="4956048" y="2664460"/>
            <a:ext cx="1187450" cy="2603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85E2CFEB-7A03-A055-6665-9BEAB8E9C8A5}"/>
              </a:ext>
            </a:extLst>
          </p:cNvPr>
          <p:cNvCxnSpPr>
            <a:cxnSpLocks/>
            <a:endCxn id="86" idx="1"/>
          </p:cNvCxnSpPr>
          <p:nvPr/>
        </p:nvCxnSpPr>
        <p:spPr>
          <a:xfrm flipV="1">
            <a:off x="3145536" y="2674620"/>
            <a:ext cx="1188720" cy="1587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59762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2BC25-DE01-3921-A67F-ED6151BAF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ABA1EB-7CD3-45B2-D4C6-E9BC4C186E5E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First: Specify the Estimand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03785FA1-0140-DE31-709E-148B88763756}"/>
              </a:ext>
            </a:extLst>
          </p:cNvPr>
          <p:cNvSpPr/>
          <p:nvPr/>
        </p:nvSpPr>
        <p:spPr>
          <a:xfrm>
            <a:off x="169188" y="1011382"/>
            <a:ext cx="8822412" cy="1267691"/>
          </a:xfrm>
          <a:prstGeom prst="roundRect">
            <a:avLst>
              <a:gd name="adj" fmla="val 3810"/>
            </a:avLst>
          </a:prstGeom>
          <a:solidFill>
            <a:srgbClr val="262626"/>
          </a:solidFill>
          <a:ln w="15240">
            <a:solidFill>
              <a:srgbClr val="5454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942D77E7-6142-9896-3FAF-00CCF2AF36AE}"/>
              </a:ext>
            </a:extLst>
          </p:cNvPr>
          <p:cNvSpPr/>
          <p:nvPr/>
        </p:nvSpPr>
        <p:spPr>
          <a:xfrm>
            <a:off x="585619" y="1109749"/>
            <a:ext cx="8087212" cy="905493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3000" dirty="0">
                <a:solidFill>
                  <a:srgbClr val="F3F3F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What exactly are we trying to estimate from this DAG?</a:t>
            </a:r>
            <a:endParaRPr lang="en-US" sz="30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D3865732-94E6-FA19-24BD-A746AB5C20B1}"/>
              </a:ext>
            </a:extLst>
          </p:cNvPr>
          <p:cNvSpPr/>
          <p:nvPr/>
        </p:nvSpPr>
        <p:spPr>
          <a:xfrm>
            <a:off x="400182" y="2993966"/>
            <a:ext cx="8458200" cy="857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DBB32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Assume our target is the TOTAL effect of treatment T on cardiovascular outcome Y.</a:t>
            </a:r>
            <a:endParaRPr lang="en-US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418902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B2509-4A38-FB63-7632-2A7EC5CB6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2BC38E-7FA2-501D-3C72-D432CE727BAD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Total Effect Means 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61F322-1698-A578-7095-4911CE9521E5}"/>
              </a:ext>
            </a:extLst>
          </p:cNvPr>
          <p:cNvSpPr txBox="1"/>
          <p:nvPr/>
        </p:nvSpPr>
        <p:spPr>
          <a:xfrm>
            <a:off x="337106" y="1185602"/>
            <a:ext cx="846978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Clr>
                <a:schemeClr val="bg1"/>
              </a:buClr>
              <a:buSzPct val="100000"/>
              <a:buChar char="•"/>
            </a:pPr>
            <a:r>
              <a:rPr lang="en-US" sz="2400" dirty="0">
                <a:solidFill>
                  <a:srgbClr val="F3F3F3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Keep every causal pathway that begins at treatment T and ends at Y.</a:t>
            </a:r>
            <a:endParaRPr lang="en-US" sz="2400" dirty="0">
              <a:latin typeface="+mn-lt"/>
            </a:endParaRPr>
          </a:p>
          <a:p>
            <a:pPr marL="228600" indent="-228600">
              <a:buClr>
                <a:schemeClr val="bg1"/>
              </a:buClr>
              <a:buSzPct val="100000"/>
              <a:buChar char="•"/>
            </a:pPr>
            <a:r>
              <a:rPr lang="en-US" sz="2400" dirty="0">
                <a:solidFill>
                  <a:srgbClr val="F3F3F3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Block open backdoor paths that begin with an arrow into T.</a:t>
            </a:r>
            <a:endParaRPr lang="en-US" sz="2400" dirty="0">
              <a:latin typeface="+mn-lt"/>
            </a:endParaRPr>
          </a:p>
          <a:p>
            <a:pPr marL="228600" indent="-228600">
              <a:buClr>
                <a:schemeClr val="bg1"/>
              </a:buClr>
              <a:buSzPct val="100000"/>
              <a:buChar char="•"/>
            </a:pPr>
            <a:r>
              <a:rPr lang="en-US" sz="2400" dirty="0">
                <a:solidFill>
                  <a:srgbClr val="F3F3F3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Do not automatically adjust for post-treatment variables.</a:t>
            </a:r>
            <a:endParaRPr lang="en-US" sz="2400" dirty="0">
              <a:latin typeface="+mn-lt"/>
            </a:endParaRPr>
          </a:p>
          <a:p>
            <a:pPr marL="228600" indent="-228600">
              <a:buClr>
                <a:schemeClr val="bg1"/>
              </a:buClr>
              <a:buSzPct val="100000"/>
              <a:buChar char="•"/>
            </a:pPr>
            <a:r>
              <a:rPr lang="en-US" sz="2400" dirty="0">
                <a:solidFill>
                  <a:srgbClr val="F3F3F3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Do not automatically adjust for variables simply because they predict Y.</a:t>
            </a:r>
            <a:endParaRPr lang="en-US" sz="2400" dirty="0">
              <a:latin typeface="+mn-lt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4903E47-7C3F-F7D7-D949-C96F2FFCF64D}"/>
              </a:ext>
            </a:extLst>
          </p:cNvPr>
          <p:cNvSpPr/>
          <p:nvPr/>
        </p:nvSpPr>
        <p:spPr>
          <a:xfrm>
            <a:off x="51955" y="3957897"/>
            <a:ext cx="9040090" cy="52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DBB32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The estimand comes first; the adjustment set follows from the estimand + DAG.</a:t>
            </a: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897781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031DF-A4D0-BA61-95A2-397DE9513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02CF7C-1FDC-EE65-BB2E-0F09D041FE69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Classify the variables by time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ACA9D07E-0B68-D3C7-159B-E44B769C9AC6}"/>
              </a:ext>
            </a:extLst>
          </p:cNvPr>
          <p:cNvSpPr/>
          <p:nvPr/>
        </p:nvSpPr>
        <p:spPr>
          <a:xfrm>
            <a:off x="169188" y="1334192"/>
            <a:ext cx="4489655" cy="3312622"/>
          </a:xfrm>
          <a:prstGeom prst="roundRect">
            <a:avLst/>
          </a:prstGeom>
          <a:solidFill>
            <a:srgbClr val="262626"/>
          </a:solidFill>
          <a:ln w="25400">
            <a:solidFill>
              <a:srgbClr val="9BD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AA3603F0-AF03-4E06-E474-45E518DDCE57}"/>
              </a:ext>
            </a:extLst>
          </p:cNvPr>
          <p:cNvSpPr/>
          <p:nvPr/>
        </p:nvSpPr>
        <p:spPr>
          <a:xfrm>
            <a:off x="397788" y="1562792"/>
            <a:ext cx="4261055" cy="317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BD5A5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Baseline / pre-treatment</a:t>
            </a:r>
            <a:endParaRPr lang="en-US" sz="2400" dirty="0">
              <a:latin typeface="+mn-lt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023CCD60-74EB-E3CD-3A51-0265D171193B}"/>
              </a:ext>
            </a:extLst>
          </p:cNvPr>
          <p:cNvSpPr/>
          <p:nvPr/>
        </p:nvSpPr>
        <p:spPr>
          <a:xfrm>
            <a:off x="489228" y="2157152"/>
            <a:ext cx="4101763" cy="234789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03200" indent="-203200">
              <a:buClr>
                <a:schemeClr val="bg1"/>
              </a:buClr>
              <a:buSzPct val="100000"/>
              <a:buChar char="•"/>
            </a:pPr>
            <a:r>
              <a:rPr lang="en-US" sz="2400" dirty="0">
                <a:solidFill>
                  <a:srgbClr val="F3F3F3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Age</a:t>
            </a:r>
            <a:endParaRPr lang="en-US" sz="2400" dirty="0">
              <a:latin typeface="+mn-lt"/>
            </a:endParaRPr>
          </a:p>
          <a:p>
            <a:pPr marL="203200" indent="-203200">
              <a:buClr>
                <a:schemeClr val="bg1"/>
              </a:buClr>
              <a:buSzPct val="100000"/>
              <a:buChar char="•"/>
            </a:pPr>
            <a:r>
              <a:rPr lang="en-US" sz="2400" dirty="0">
                <a:solidFill>
                  <a:srgbClr val="F3F3F3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Baseline BP</a:t>
            </a:r>
            <a:endParaRPr lang="en-US" sz="2400" dirty="0">
              <a:latin typeface="+mn-lt"/>
            </a:endParaRPr>
          </a:p>
          <a:p>
            <a:pPr marL="203200" indent="-203200">
              <a:buClr>
                <a:schemeClr val="bg1"/>
              </a:buClr>
              <a:buSzPct val="100000"/>
              <a:buChar char="•"/>
            </a:pPr>
            <a:r>
              <a:rPr lang="en-US" sz="2400" dirty="0">
                <a:solidFill>
                  <a:srgbClr val="F3F3F3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Diabetes (DM)</a:t>
            </a:r>
            <a:endParaRPr lang="en-US" sz="2400" dirty="0">
              <a:latin typeface="+mn-lt"/>
            </a:endParaRPr>
          </a:p>
          <a:p>
            <a:pPr marL="203200" indent="-203200">
              <a:buClr>
                <a:schemeClr val="bg1"/>
              </a:buClr>
              <a:buSzPct val="100000"/>
              <a:buChar char="•"/>
            </a:pPr>
            <a:r>
              <a:rPr lang="en-US" sz="2400" dirty="0">
                <a:solidFill>
                  <a:srgbClr val="F3F3F3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Physician preference</a:t>
            </a:r>
            <a:endParaRPr lang="en-US" sz="2400" dirty="0">
              <a:latin typeface="+mn-lt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BE07F6E7-7696-D49D-A01C-3E547077AD9F}"/>
              </a:ext>
            </a:extLst>
          </p:cNvPr>
          <p:cNvSpPr/>
          <p:nvPr/>
        </p:nvSpPr>
        <p:spPr>
          <a:xfrm>
            <a:off x="4744139" y="1334193"/>
            <a:ext cx="4285576" cy="3312621"/>
          </a:xfrm>
          <a:prstGeom prst="roundRect">
            <a:avLst/>
          </a:prstGeom>
          <a:solidFill>
            <a:srgbClr val="262626"/>
          </a:solidFill>
          <a:ln w="25400">
            <a:solidFill>
              <a:srgbClr val="B99AE1"/>
            </a:solidFill>
            <a:prstDash val="solid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9A11E0EA-2505-4E19-07FE-B1DA9A35841C}"/>
              </a:ext>
            </a:extLst>
          </p:cNvPr>
          <p:cNvSpPr/>
          <p:nvPr/>
        </p:nvSpPr>
        <p:spPr>
          <a:xfrm>
            <a:off x="4867113" y="1562793"/>
            <a:ext cx="3761839" cy="323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99AE1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Post-treatment</a:t>
            </a:r>
            <a:endParaRPr lang="en-US" sz="2400" dirty="0">
              <a:latin typeface="+mn-lt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AE449DCE-055A-A147-B56F-1DE62280017B}"/>
              </a:ext>
            </a:extLst>
          </p:cNvPr>
          <p:cNvSpPr/>
          <p:nvPr/>
        </p:nvSpPr>
        <p:spPr>
          <a:xfrm>
            <a:off x="4867113" y="2157153"/>
            <a:ext cx="4113413" cy="2347897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457200" indent="-457200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3F3F3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3-month BP</a:t>
            </a:r>
            <a:endParaRPr lang="en-US" sz="2400" dirty="0">
              <a:latin typeface="+mn-lt"/>
            </a:endParaRPr>
          </a:p>
          <a:p>
            <a:pPr marL="457200" indent="-457200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3F3F3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Adherence</a:t>
            </a:r>
            <a:endParaRPr lang="en-US" sz="2400" dirty="0">
              <a:latin typeface="+mn-lt"/>
            </a:endParaRPr>
          </a:p>
          <a:p>
            <a:pPr marL="457200" indent="-457200"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3F3F3"/>
                </a:solidFill>
                <a:latin typeface="+mn-lt"/>
                <a:ea typeface="Roboto Condensed" pitchFamily="34" charset="-122"/>
                <a:cs typeface="Roboto Condensed" pitchFamily="34" charset="-120"/>
              </a:rPr>
              <a:t>Cardiovascular outcome Y</a:t>
            </a:r>
            <a:endParaRPr 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303049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D8E30-12CF-A99C-446E-CE202D5B7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9">
            <a:extLst>
              <a:ext uri="{FF2B5EF4-FFF2-40B4-BE49-F238E27FC236}">
                <a16:creationId xmlns:a16="http://schemas.microsoft.com/office/drawing/2014/main" id="{486E4C5C-41F2-4EDB-0D91-AC8877F60F1F}"/>
              </a:ext>
            </a:extLst>
          </p:cNvPr>
          <p:cNvSpPr/>
          <p:nvPr/>
        </p:nvSpPr>
        <p:spPr>
          <a:xfrm>
            <a:off x="679604" y="3204555"/>
            <a:ext cx="1069848" cy="347472"/>
          </a:xfrm>
          <a:prstGeom prst="roundRect">
            <a:avLst>
              <a:gd name="adj" fmla="val 15789"/>
            </a:avLst>
          </a:prstGeom>
          <a:solidFill>
            <a:srgbClr val="202226"/>
          </a:solidFill>
          <a:ln w="16510">
            <a:solidFill>
              <a:srgbClr val="C2A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9417AF-221A-7DFD-B158-5D5FE8C99381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F3F3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Causal paths from T to Y</a:t>
            </a:r>
            <a:endParaRPr lang="en-US" sz="2800" dirty="0"/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2841ACFC-5A45-465A-28D6-E7C59ACD342B}"/>
              </a:ext>
            </a:extLst>
          </p:cNvPr>
          <p:cNvSpPr/>
          <p:nvPr/>
        </p:nvSpPr>
        <p:spPr>
          <a:xfrm>
            <a:off x="652172" y="1311263"/>
            <a:ext cx="1069848" cy="347472"/>
          </a:xfrm>
          <a:prstGeom prst="roundRect">
            <a:avLst>
              <a:gd name="adj" fmla="val 15789"/>
            </a:avLst>
          </a:prstGeom>
          <a:solidFill>
            <a:srgbClr val="202226"/>
          </a:solidFill>
          <a:ln w="16510">
            <a:solidFill>
              <a:srgbClr val="C2A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25AA4E5A-FE1A-1113-3662-BF639F2BA5D3}"/>
              </a:ext>
            </a:extLst>
          </p:cNvPr>
          <p:cNvSpPr/>
          <p:nvPr/>
        </p:nvSpPr>
        <p:spPr>
          <a:xfrm>
            <a:off x="2572412" y="1302119"/>
            <a:ext cx="515666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dirty="0">
                <a:solidFill>
                  <a:srgbClr val="C2A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→ Y</a:t>
            </a:r>
            <a:endParaRPr lang="en-US" sz="2600" dirty="0"/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A086CA77-BF9C-7AA7-AF77-0FAECC644B9A}"/>
              </a:ext>
            </a:extLst>
          </p:cNvPr>
          <p:cNvSpPr/>
          <p:nvPr/>
        </p:nvSpPr>
        <p:spPr>
          <a:xfrm>
            <a:off x="652172" y="2271383"/>
            <a:ext cx="1069848" cy="347472"/>
          </a:xfrm>
          <a:prstGeom prst="roundRect">
            <a:avLst>
              <a:gd name="adj" fmla="val 15789"/>
            </a:avLst>
          </a:prstGeom>
          <a:solidFill>
            <a:srgbClr val="202226"/>
          </a:solidFill>
          <a:ln w="16510">
            <a:solidFill>
              <a:srgbClr val="C2A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498E8ED-2CBD-5A45-41D6-96586B34DB51}"/>
              </a:ext>
            </a:extLst>
          </p:cNvPr>
          <p:cNvSpPr/>
          <p:nvPr/>
        </p:nvSpPr>
        <p:spPr>
          <a:xfrm>
            <a:off x="2572412" y="2262239"/>
            <a:ext cx="515666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dirty="0">
                <a:solidFill>
                  <a:srgbClr val="C2A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→ 3m BP → Y</a:t>
            </a:r>
            <a:endParaRPr lang="en-US" sz="2600" dirty="0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0D7F02AD-EECD-DE3B-3705-C40BDC257758}"/>
              </a:ext>
            </a:extLst>
          </p:cNvPr>
          <p:cNvSpPr/>
          <p:nvPr/>
        </p:nvSpPr>
        <p:spPr>
          <a:xfrm>
            <a:off x="697892" y="3272651"/>
            <a:ext cx="978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C2A0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3</a:t>
            </a:r>
            <a:endParaRPr lang="en-US" sz="1200" dirty="0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C029050E-4DBB-C5E8-58E6-DDFF9468E594}"/>
              </a:ext>
            </a:extLst>
          </p:cNvPr>
          <p:cNvSpPr/>
          <p:nvPr/>
        </p:nvSpPr>
        <p:spPr>
          <a:xfrm>
            <a:off x="2572412" y="3222359"/>
            <a:ext cx="515666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dirty="0">
                <a:solidFill>
                  <a:srgbClr val="C2A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→ 3m BP → Adh → Y</a:t>
            </a:r>
            <a:endParaRPr lang="en-US" sz="2600" dirty="0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435B6275-8FA5-F932-BCB6-726160ECEB00}"/>
              </a:ext>
            </a:extLst>
          </p:cNvPr>
          <p:cNvSpPr/>
          <p:nvPr/>
        </p:nvSpPr>
        <p:spPr>
          <a:xfrm>
            <a:off x="679604" y="1352411"/>
            <a:ext cx="978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C2A0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1</a:t>
            </a:r>
            <a:endParaRPr lang="en-US" sz="1200" dirty="0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17C084C8-EA2A-69ED-C7C4-EB76C1A1CEA6}"/>
              </a:ext>
            </a:extLst>
          </p:cNvPr>
          <p:cNvSpPr/>
          <p:nvPr/>
        </p:nvSpPr>
        <p:spPr>
          <a:xfrm>
            <a:off x="679604" y="2312531"/>
            <a:ext cx="978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C2A0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2</a:t>
            </a:r>
            <a:endParaRPr lang="en-US" sz="1200" dirty="0"/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A7522006-15EB-1DCE-B580-6839CF20DD06}"/>
              </a:ext>
            </a:extLst>
          </p:cNvPr>
          <p:cNvSpPr/>
          <p:nvPr/>
        </p:nvSpPr>
        <p:spPr>
          <a:xfrm>
            <a:off x="422897" y="4381708"/>
            <a:ext cx="829820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C2A0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the pathways we want to KEEP OPEN when the target is the total effect.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4013607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30826-2517-A148-6A09-B6A316B87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14827A-337F-1D18-C90D-9EFAA0E235C7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F3F3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Backdoor paths from T to Y</a:t>
            </a:r>
            <a:endParaRPr lang="en-US" sz="28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CC0CFBA4-6525-524E-01A6-C1B7A15D2CEF}"/>
              </a:ext>
            </a:extLst>
          </p:cNvPr>
          <p:cNvSpPr/>
          <p:nvPr/>
        </p:nvSpPr>
        <p:spPr>
          <a:xfrm>
            <a:off x="169188" y="774954"/>
            <a:ext cx="896112" cy="347472"/>
          </a:xfrm>
          <a:prstGeom prst="roundRect">
            <a:avLst>
              <a:gd name="adj" fmla="val 15789"/>
            </a:avLst>
          </a:prstGeom>
          <a:solidFill>
            <a:srgbClr val="202226"/>
          </a:solidFill>
          <a:ln w="16510">
            <a:solidFill>
              <a:srgbClr val="9BD3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58D4E2D5-9970-5648-5846-95377D936EE1}"/>
              </a:ext>
            </a:extLst>
          </p:cNvPr>
          <p:cNvSpPr/>
          <p:nvPr/>
        </p:nvSpPr>
        <p:spPr>
          <a:xfrm>
            <a:off x="214908" y="816102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9BD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4</a:t>
            </a:r>
            <a:endParaRPr lang="en-US" sz="12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0106578A-E671-AA1C-B74A-89F13EA253C8}"/>
              </a:ext>
            </a:extLst>
          </p:cNvPr>
          <p:cNvSpPr/>
          <p:nvPr/>
        </p:nvSpPr>
        <p:spPr>
          <a:xfrm>
            <a:off x="1193316" y="761238"/>
            <a:ext cx="34061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30" dirty="0">
                <a:solidFill>
                  <a:srgbClr val="9BD3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← BP → Y</a:t>
            </a:r>
            <a:endParaRPr lang="en-US" sz="1630" dirty="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4178EAC5-8560-7BC3-0594-AEBC26FA2D09}"/>
              </a:ext>
            </a:extLst>
          </p:cNvPr>
          <p:cNvSpPr/>
          <p:nvPr/>
        </p:nvSpPr>
        <p:spPr>
          <a:xfrm>
            <a:off x="169188" y="1561338"/>
            <a:ext cx="896112" cy="347472"/>
          </a:xfrm>
          <a:prstGeom prst="roundRect">
            <a:avLst>
              <a:gd name="adj" fmla="val 15789"/>
            </a:avLst>
          </a:prstGeom>
          <a:solidFill>
            <a:srgbClr val="202226"/>
          </a:solidFill>
          <a:ln w="16510">
            <a:solidFill>
              <a:srgbClr val="9BD3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A7607969-AF9A-4F26-A430-38781107715A}"/>
              </a:ext>
            </a:extLst>
          </p:cNvPr>
          <p:cNvSpPr/>
          <p:nvPr/>
        </p:nvSpPr>
        <p:spPr>
          <a:xfrm>
            <a:off x="214908" y="1602486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9BD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5</a:t>
            </a:r>
            <a:endParaRPr lang="en-US" sz="12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1309D04-3D54-6655-D084-1F78A3E69122}"/>
              </a:ext>
            </a:extLst>
          </p:cNvPr>
          <p:cNvSpPr/>
          <p:nvPr/>
        </p:nvSpPr>
        <p:spPr>
          <a:xfrm>
            <a:off x="1193316" y="1547622"/>
            <a:ext cx="34061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30" dirty="0">
                <a:solidFill>
                  <a:srgbClr val="9BD3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← BP → DM → 3m BP → Y</a:t>
            </a:r>
            <a:endParaRPr lang="en-US" sz="1630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9BD0F01F-7E30-9028-B44A-C561DB6EE57F}"/>
              </a:ext>
            </a:extLst>
          </p:cNvPr>
          <p:cNvSpPr/>
          <p:nvPr/>
        </p:nvSpPr>
        <p:spPr>
          <a:xfrm>
            <a:off x="169188" y="2347722"/>
            <a:ext cx="896112" cy="347472"/>
          </a:xfrm>
          <a:prstGeom prst="roundRect">
            <a:avLst>
              <a:gd name="adj" fmla="val 15789"/>
            </a:avLst>
          </a:prstGeom>
          <a:solidFill>
            <a:srgbClr val="202226"/>
          </a:solidFill>
          <a:ln w="16510">
            <a:solidFill>
              <a:srgbClr val="9BD3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CEC2BA2F-679B-0211-E758-23719009C231}"/>
              </a:ext>
            </a:extLst>
          </p:cNvPr>
          <p:cNvSpPr/>
          <p:nvPr/>
        </p:nvSpPr>
        <p:spPr>
          <a:xfrm>
            <a:off x="214908" y="238887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9BD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6</a:t>
            </a:r>
            <a:endParaRPr lang="en-US" sz="12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4D81708D-B8FF-109A-4B9F-EF968558A15A}"/>
              </a:ext>
            </a:extLst>
          </p:cNvPr>
          <p:cNvSpPr/>
          <p:nvPr/>
        </p:nvSpPr>
        <p:spPr>
          <a:xfrm>
            <a:off x="1193316" y="2334006"/>
            <a:ext cx="34061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30" dirty="0">
                <a:solidFill>
                  <a:srgbClr val="9BD3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← BP → DM → 3m BP → Adh → Y</a:t>
            </a:r>
            <a:endParaRPr lang="en-US" sz="1630" dirty="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953153BD-D0B2-CA24-D940-7AA95DBBE041}"/>
              </a:ext>
            </a:extLst>
          </p:cNvPr>
          <p:cNvSpPr/>
          <p:nvPr/>
        </p:nvSpPr>
        <p:spPr>
          <a:xfrm>
            <a:off x="169188" y="3134106"/>
            <a:ext cx="896112" cy="347472"/>
          </a:xfrm>
          <a:prstGeom prst="roundRect">
            <a:avLst>
              <a:gd name="adj" fmla="val 15789"/>
            </a:avLst>
          </a:prstGeom>
          <a:solidFill>
            <a:srgbClr val="202226"/>
          </a:solidFill>
          <a:ln w="16510">
            <a:solidFill>
              <a:srgbClr val="9BD3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F64A7FA8-A6C1-330B-FCD0-93937C4ABCB4}"/>
              </a:ext>
            </a:extLst>
          </p:cNvPr>
          <p:cNvSpPr/>
          <p:nvPr/>
        </p:nvSpPr>
        <p:spPr>
          <a:xfrm>
            <a:off x="214908" y="317525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9BD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7</a:t>
            </a:r>
            <a:endParaRPr lang="en-US" sz="1200" dirty="0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8DD2E791-6C43-5490-7464-FA8D020B2F38}"/>
              </a:ext>
            </a:extLst>
          </p:cNvPr>
          <p:cNvSpPr/>
          <p:nvPr/>
        </p:nvSpPr>
        <p:spPr>
          <a:xfrm>
            <a:off x="1193316" y="3120390"/>
            <a:ext cx="34061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30" dirty="0">
                <a:solidFill>
                  <a:srgbClr val="9BD3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← DM ← BP → Y</a:t>
            </a:r>
            <a:endParaRPr lang="en-US" sz="1630" dirty="0"/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7E3E6AD0-4C96-8BE0-1E15-9BB99E853C98}"/>
              </a:ext>
            </a:extLst>
          </p:cNvPr>
          <p:cNvSpPr/>
          <p:nvPr/>
        </p:nvSpPr>
        <p:spPr>
          <a:xfrm>
            <a:off x="169188" y="3920490"/>
            <a:ext cx="896112" cy="347472"/>
          </a:xfrm>
          <a:prstGeom prst="roundRect">
            <a:avLst>
              <a:gd name="adj" fmla="val 15789"/>
            </a:avLst>
          </a:prstGeom>
          <a:solidFill>
            <a:srgbClr val="202226"/>
          </a:solidFill>
          <a:ln w="16510">
            <a:solidFill>
              <a:srgbClr val="9BD3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1D3C4664-C6ED-45A4-859D-ADC46DAF4964}"/>
              </a:ext>
            </a:extLst>
          </p:cNvPr>
          <p:cNvSpPr/>
          <p:nvPr/>
        </p:nvSpPr>
        <p:spPr>
          <a:xfrm>
            <a:off x="214908" y="396163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9BD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8</a:t>
            </a:r>
            <a:endParaRPr lang="en-US" sz="1200" dirty="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6897FC94-435C-9504-F6CE-A02795E53795}"/>
              </a:ext>
            </a:extLst>
          </p:cNvPr>
          <p:cNvSpPr/>
          <p:nvPr/>
        </p:nvSpPr>
        <p:spPr>
          <a:xfrm>
            <a:off x="1193316" y="3906774"/>
            <a:ext cx="34061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30" dirty="0">
                <a:solidFill>
                  <a:srgbClr val="9BD3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← DM → 3m BP → Y</a:t>
            </a:r>
            <a:endParaRPr lang="en-US" sz="1630" dirty="0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A2296459-1ECC-1906-D531-E9701B09C3B8}"/>
              </a:ext>
            </a:extLst>
          </p:cNvPr>
          <p:cNvSpPr/>
          <p:nvPr/>
        </p:nvSpPr>
        <p:spPr>
          <a:xfrm>
            <a:off x="4437334" y="972173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202226"/>
          </a:solidFill>
          <a:ln w="16510">
            <a:solidFill>
              <a:srgbClr val="9BD3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7A33CDBD-64BC-A86A-61CF-18FE110C430F}"/>
              </a:ext>
            </a:extLst>
          </p:cNvPr>
          <p:cNvSpPr/>
          <p:nvPr/>
        </p:nvSpPr>
        <p:spPr>
          <a:xfrm>
            <a:off x="4483054" y="1013321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9BD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9</a:t>
            </a:r>
            <a:endParaRPr lang="en-US" sz="1200" dirty="0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C35BBAEF-FEC3-8904-23EC-3A15908FD4D1}"/>
              </a:ext>
            </a:extLst>
          </p:cNvPr>
          <p:cNvSpPr/>
          <p:nvPr/>
        </p:nvSpPr>
        <p:spPr>
          <a:xfrm>
            <a:off x="5562046" y="958457"/>
            <a:ext cx="33670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80" dirty="0">
                <a:solidFill>
                  <a:srgbClr val="9BD3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← DM → 3m BP → Adh → Y</a:t>
            </a:r>
            <a:endParaRPr lang="en-US" sz="158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FF23EF30-ABBF-BEA9-5C09-36A5D0F73F3E}"/>
              </a:ext>
            </a:extLst>
          </p:cNvPr>
          <p:cNvSpPr/>
          <p:nvPr/>
        </p:nvSpPr>
        <p:spPr>
          <a:xfrm>
            <a:off x="4437334" y="1904861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202226"/>
          </a:solidFill>
          <a:ln w="16510">
            <a:solidFill>
              <a:srgbClr val="9BD3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BE8BD0AD-340D-72B8-FF98-C41C703582BE}"/>
              </a:ext>
            </a:extLst>
          </p:cNvPr>
          <p:cNvSpPr/>
          <p:nvPr/>
        </p:nvSpPr>
        <p:spPr>
          <a:xfrm>
            <a:off x="4483054" y="1946009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9BD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10</a:t>
            </a:r>
            <a:endParaRPr lang="en-US" sz="1200" dirty="0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F0FC41AB-B216-7DD3-D521-2B4840A26572}"/>
              </a:ext>
            </a:extLst>
          </p:cNvPr>
          <p:cNvSpPr/>
          <p:nvPr/>
        </p:nvSpPr>
        <p:spPr>
          <a:xfrm>
            <a:off x="5562046" y="1891145"/>
            <a:ext cx="33670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80" dirty="0">
                <a:solidFill>
                  <a:srgbClr val="9BD3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← Age → BP → Y</a:t>
            </a:r>
            <a:endParaRPr lang="en-US" sz="1580" dirty="0"/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CC4CE901-0A4C-2F2A-458A-F4F5C5ED2DB5}"/>
              </a:ext>
            </a:extLst>
          </p:cNvPr>
          <p:cNvSpPr/>
          <p:nvPr/>
        </p:nvSpPr>
        <p:spPr>
          <a:xfrm>
            <a:off x="4437334" y="2837549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202226"/>
          </a:solidFill>
          <a:ln w="16510">
            <a:solidFill>
              <a:srgbClr val="9BD3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94C2271C-5A30-3F10-F674-A27E9325AB63}"/>
              </a:ext>
            </a:extLst>
          </p:cNvPr>
          <p:cNvSpPr/>
          <p:nvPr/>
        </p:nvSpPr>
        <p:spPr>
          <a:xfrm>
            <a:off x="4483054" y="2878697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9BD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11</a:t>
            </a:r>
            <a:endParaRPr lang="en-US" sz="1200" dirty="0"/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D4829684-FE6A-5B31-929A-5283B274F223}"/>
              </a:ext>
            </a:extLst>
          </p:cNvPr>
          <p:cNvSpPr/>
          <p:nvPr/>
        </p:nvSpPr>
        <p:spPr>
          <a:xfrm>
            <a:off x="5562046" y="2823833"/>
            <a:ext cx="33670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80" dirty="0">
                <a:solidFill>
                  <a:srgbClr val="9BD3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← Age → BP → DM → 3m BP → Y</a:t>
            </a:r>
            <a:endParaRPr lang="en-US" sz="1580" dirty="0"/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DCB566CE-D469-6A69-08D9-4EC537A14C3B}"/>
              </a:ext>
            </a:extLst>
          </p:cNvPr>
          <p:cNvSpPr/>
          <p:nvPr/>
        </p:nvSpPr>
        <p:spPr>
          <a:xfrm>
            <a:off x="4437334" y="3770237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202226"/>
          </a:solidFill>
          <a:ln w="16510">
            <a:solidFill>
              <a:srgbClr val="9BD3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8">
            <a:extLst>
              <a:ext uri="{FF2B5EF4-FFF2-40B4-BE49-F238E27FC236}">
                <a16:creationId xmlns:a16="http://schemas.microsoft.com/office/drawing/2014/main" id="{974D7EE0-C5EE-F508-45C6-91393A36C7E9}"/>
              </a:ext>
            </a:extLst>
          </p:cNvPr>
          <p:cNvSpPr/>
          <p:nvPr/>
        </p:nvSpPr>
        <p:spPr>
          <a:xfrm>
            <a:off x="4483054" y="3811385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9BD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12</a:t>
            </a:r>
            <a:endParaRPr lang="en-US" sz="120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E3FCF3F9-3906-7BA4-C7DC-A6BB36DC3429}"/>
              </a:ext>
            </a:extLst>
          </p:cNvPr>
          <p:cNvSpPr/>
          <p:nvPr/>
        </p:nvSpPr>
        <p:spPr>
          <a:xfrm>
            <a:off x="5562046" y="3756521"/>
            <a:ext cx="33670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80" dirty="0">
                <a:solidFill>
                  <a:srgbClr val="9BD3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← Age → BP → DM → 3m BP → Adh → Y</a:t>
            </a:r>
            <a:endParaRPr lang="en-US" sz="1580" dirty="0"/>
          </a:p>
        </p:txBody>
      </p:sp>
      <p:sp>
        <p:nvSpPr>
          <p:cNvPr id="41" name="Shape 31">
            <a:extLst>
              <a:ext uri="{FF2B5EF4-FFF2-40B4-BE49-F238E27FC236}">
                <a16:creationId xmlns:a16="http://schemas.microsoft.com/office/drawing/2014/main" id="{BCBBC1AC-D122-A604-A0BB-7D4D8B76FC0C}"/>
              </a:ext>
            </a:extLst>
          </p:cNvPr>
          <p:cNvSpPr/>
          <p:nvPr/>
        </p:nvSpPr>
        <p:spPr>
          <a:xfrm>
            <a:off x="189285" y="4525381"/>
            <a:ext cx="8892370" cy="523220"/>
          </a:xfrm>
          <a:prstGeom prst="roundRect">
            <a:avLst>
              <a:gd name="adj" fmla="val 7273"/>
            </a:avLst>
          </a:prstGeom>
          <a:solidFill>
            <a:srgbClr val="202226"/>
          </a:solidFill>
          <a:ln w="12700">
            <a:solidFill>
              <a:srgbClr val="9BD3A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2">
            <a:extLst>
              <a:ext uri="{FF2B5EF4-FFF2-40B4-BE49-F238E27FC236}">
                <a16:creationId xmlns:a16="http://schemas.microsoft.com/office/drawing/2014/main" id="{570DB7A0-81ED-4380-FF01-F3004F96B7CD}"/>
              </a:ext>
            </a:extLst>
          </p:cNvPr>
          <p:cNvSpPr/>
          <p:nvPr/>
        </p:nvSpPr>
        <p:spPr>
          <a:xfrm>
            <a:off x="381000" y="4644253"/>
            <a:ext cx="8497153" cy="228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rgbClr val="F3F3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backdoor path starts with an arrow INTO T. We need to block all of them, not just one.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924885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3A593-C850-CDFB-D8E6-E1934E2AC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2E127F-F43F-4510-CDFE-F6268410CBB0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F3F3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collider blocked T to Y path</a:t>
            </a:r>
            <a:endParaRPr lang="en-US" sz="2800" dirty="0"/>
          </a:p>
        </p:txBody>
      </p:sp>
      <p:sp>
        <p:nvSpPr>
          <p:cNvPr id="29" name="Shape 3">
            <a:extLst>
              <a:ext uri="{FF2B5EF4-FFF2-40B4-BE49-F238E27FC236}">
                <a16:creationId xmlns:a16="http://schemas.microsoft.com/office/drawing/2014/main" id="{29B89C85-9040-E52E-9661-E98AC7B920E6}"/>
              </a:ext>
            </a:extLst>
          </p:cNvPr>
          <p:cNvSpPr/>
          <p:nvPr/>
        </p:nvSpPr>
        <p:spPr>
          <a:xfrm>
            <a:off x="329045" y="1322347"/>
            <a:ext cx="1069848" cy="347472"/>
          </a:xfrm>
          <a:prstGeom prst="roundRect">
            <a:avLst>
              <a:gd name="adj" fmla="val 15789"/>
            </a:avLst>
          </a:prstGeom>
          <a:solidFill>
            <a:srgbClr val="202226"/>
          </a:solidFill>
          <a:ln w="16510">
            <a:solidFill>
              <a:srgbClr val="F06B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08DE345B-B464-9CCC-28B2-6E4FCF714C79}"/>
              </a:ext>
            </a:extLst>
          </p:cNvPr>
          <p:cNvSpPr/>
          <p:nvPr/>
        </p:nvSpPr>
        <p:spPr>
          <a:xfrm>
            <a:off x="374765" y="1363495"/>
            <a:ext cx="978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0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13</a:t>
            </a:r>
            <a:endParaRPr lang="en-US" sz="1200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EB3631BF-710C-E695-03F4-914FC931C86E}"/>
              </a:ext>
            </a:extLst>
          </p:cNvPr>
          <p:cNvSpPr/>
          <p:nvPr/>
        </p:nvSpPr>
        <p:spPr>
          <a:xfrm>
            <a:off x="1638299" y="1215805"/>
            <a:ext cx="5607628" cy="4601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500" dirty="0">
                <a:solidFill>
                  <a:srgbClr val="F06B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→ 3m BP ← DM ← BP → Y</a:t>
            </a:r>
            <a:endParaRPr lang="en-US" sz="250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21F66C6D-214C-D843-5BE2-C0CE62A185B1}"/>
              </a:ext>
            </a:extLst>
          </p:cNvPr>
          <p:cNvSpPr/>
          <p:nvPr/>
        </p:nvSpPr>
        <p:spPr>
          <a:xfrm>
            <a:off x="456368" y="2165395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F3F3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is it closed?</a:t>
            </a:r>
            <a:endParaRPr lang="en-US" sz="1800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855D9C14-3D5B-4A39-6D1E-D66B5D066E49}"/>
              </a:ext>
            </a:extLst>
          </p:cNvPr>
          <p:cNvSpPr/>
          <p:nvPr/>
        </p:nvSpPr>
        <p:spPr>
          <a:xfrm>
            <a:off x="456368" y="2604307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dirty="0">
                <a:solidFill>
                  <a:srgbClr val="B8BB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3m BP is a collider:</a:t>
            </a:r>
            <a:endParaRPr lang="en-US" sz="1500" dirty="0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88C4A754-86F8-82EF-ADD8-DDE3D0816A06}"/>
              </a:ext>
            </a:extLst>
          </p:cNvPr>
          <p:cNvSpPr/>
          <p:nvPr/>
        </p:nvSpPr>
        <p:spPr>
          <a:xfrm>
            <a:off x="2349176" y="2494579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F06B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→ 3m BP ← DM</a:t>
            </a:r>
            <a:endParaRPr lang="en-US" sz="2400" dirty="0"/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CAF93EBD-7DF6-4A80-E110-3FE61A7DEEE0}"/>
              </a:ext>
            </a:extLst>
          </p:cNvPr>
          <p:cNvSpPr/>
          <p:nvPr/>
        </p:nvSpPr>
        <p:spPr>
          <a:xfrm>
            <a:off x="182880" y="3245363"/>
            <a:ext cx="4389120" cy="1078992"/>
          </a:xfrm>
          <a:prstGeom prst="roundRect">
            <a:avLst>
              <a:gd name="adj" fmla="val 2542"/>
            </a:avLst>
          </a:prstGeom>
          <a:solidFill>
            <a:srgbClr val="202226"/>
          </a:solidFill>
          <a:ln w="12700">
            <a:solidFill>
              <a:srgbClr val="4447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DD20B7B9-A383-32D3-D7A0-F470E8D0A7B2}"/>
              </a:ext>
            </a:extLst>
          </p:cNvPr>
          <p:cNvSpPr/>
          <p:nvPr/>
        </p:nvSpPr>
        <p:spPr>
          <a:xfrm>
            <a:off x="429768" y="3455675"/>
            <a:ext cx="3886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9BD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conditioning on 3m BP</a:t>
            </a:r>
            <a:endParaRPr lang="en-US" sz="1500" dirty="0"/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F83290BB-94F3-9D30-F491-F67C721C157D}"/>
              </a:ext>
            </a:extLst>
          </p:cNvPr>
          <p:cNvSpPr/>
          <p:nvPr/>
        </p:nvSpPr>
        <p:spPr>
          <a:xfrm>
            <a:off x="429768" y="3821435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9BD3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13 is CLOSED</a:t>
            </a:r>
            <a:endParaRPr lang="en-US" sz="1700" dirty="0"/>
          </a:p>
        </p:txBody>
      </p:sp>
      <p:sp>
        <p:nvSpPr>
          <p:cNvPr id="39" name="Shape 12">
            <a:extLst>
              <a:ext uri="{FF2B5EF4-FFF2-40B4-BE49-F238E27FC236}">
                <a16:creationId xmlns:a16="http://schemas.microsoft.com/office/drawing/2014/main" id="{823D4CB4-9766-D82A-7883-A38ADCBC8DFC}"/>
              </a:ext>
            </a:extLst>
          </p:cNvPr>
          <p:cNvSpPr/>
          <p:nvPr/>
        </p:nvSpPr>
        <p:spPr>
          <a:xfrm>
            <a:off x="4572000" y="3245363"/>
            <a:ext cx="4389120" cy="1078992"/>
          </a:xfrm>
          <a:prstGeom prst="roundRect">
            <a:avLst>
              <a:gd name="adj" fmla="val 2542"/>
            </a:avLst>
          </a:prstGeom>
          <a:solidFill>
            <a:srgbClr val="202226"/>
          </a:solidFill>
          <a:ln w="12700">
            <a:solidFill>
              <a:srgbClr val="4447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6511D5A5-EF28-B401-23CC-DB80A6D4BE42}"/>
              </a:ext>
            </a:extLst>
          </p:cNvPr>
          <p:cNvSpPr/>
          <p:nvPr/>
        </p:nvSpPr>
        <p:spPr>
          <a:xfrm>
            <a:off x="4791456" y="3455675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30" b="1" dirty="0">
                <a:solidFill>
                  <a:srgbClr val="F0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 on 3m BP (or descendant Adh)</a:t>
            </a:r>
            <a:endParaRPr lang="en-US" sz="1430" dirty="0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BCDFE9CB-3E5F-55E0-43B8-DD9EA3FF0204}"/>
              </a:ext>
            </a:extLst>
          </p:cNvPr>
          <p:cNvSpPr/>
          <p:nvPr/>
        </p:nvSpPr>
        <p:spPr>
          <a:xfrm>
            <a:off x="4791456" y="3821435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b="1" dirty="0">
                <a:solidFill>
                  <a:srgbClr val="F06B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13 can OPEN</a:t>
            </a:r>
            <a:endParaRPr lang="en-US" sz="1700" dirty="0"/>
          </a:p>
        </p:txBody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24F403AE-6733-BF93-DF5A-81ECA6291799}"/>
              </a:ext>
            </a:extLst>
          </p:cNvPr>
          <p:cNvSpPr/>
          <p:nvPr/>
        </p:nvSpPr>
        <p:spPr>
          <a:xfrm>
            <a:off x="182880" y="4467887"/>
            <a:ext cx="8675502" cy="532082"/>
          </a:xfrm>
          <a:prstGeom prst="roundRect">
            <a:avLst>
              <a:gd name="adj" fmla="val 7273"/>
            </a:avLst>
          </a:prstGeom>
          <a:solidFill>
            <a:srgbClr val="202226"/>
          </a:solidFill>
          <a:ln w="12700">
            <a:solidFill>
              <a:srgbClr val="F06B62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84DB14B8-61A4-06C7-8908-30A2FFC42300}"/>
              </a:ext>
            </a:extLst>
          </p:cNvPr>
          <p:cNvSpPr/>
          <p:nvPr/>
        </p:nvSpPr>
        <p:spPr>
          <a:xfrm>
            <a:off x="329045" y="4609619"/>
            <a:ext cx="8198428" cy="25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50" dirty="0">
                <a:solidFill>
                  <a:srgbClr val="F3F3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3m BP is dangerous twice: it is a mediator on causal paths and a collider on Path 13.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38834594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FB451-1057-003B-503E-B91723ACE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6F7FAC-596E-0D18-A136-C980F60A9920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F3F3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minimal adjustment set</a:t>
            </a:r>
            <a:endParaRPr lang="en-US" sz="280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ABDACF55-BC5D-D094-9005-E8C6ADE7A9C1}"/>
              </a:ext>
            </a:extLst>
          </p:cNvPr>
          <p:cNvSpPr/>
          <p:nvPr/>
        </p:nvSpPr>
        <p:spPr>
          <a:xfrm>
            <a:off x="284711" y="1119101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F0C3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2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75F23A8C-E414-1CD2-5CC5-B9F036DC5F11}"/>
              </a:ext>
            </a:extLst>
          </p:cNvPr>
          <p:cNvSpPr/>
          <p:nvPr/>
        </p:nvSpPr>
        <p:spPr>
          <a:xfrm>
            <a:off x="1280853" y="975533"/>
            <a:ext cx="7634547" cy="60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 every open noncausal path from T to Y — while leaving the causal pathways open.</a:t>
            </a:r>
            <a:endParaRPr lang="en-US" sz="22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BC6A2020-6D1A-2A56-A3C5-4C3B6A926786}"/>
              </a:ext>
            </a:extLst>
          </p:cNvPr>
          <p:cNvSpPr/>
          <p:nvPr/>
        </p:nvSpPr>
        <p:spPr>
          <a:xfrm>
            <a:off x="54995" y="1891490"/>
            <a:ext cx="2825472" cy="1965960"/>
          </a:xfrm>
          <a:prstGeom prst="roundRect">
            <a:avLst/>
          </a:prstGeom>
          <a:solidFill>
            <a:srgbClr val="22262C"/>
          </a:solidFill>
          <a:ln w="19050">
            <a:solidFill>
              <a:srgbClr val="9ED9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0402FEDB-490C-7549-E6AC-1FBCAFA47149}"/>
              </a:ext>
            </a:extLst>
          </p:cNvPr>
          <p:cNvSpPr/>
          <p:nvPr/>
        </p:nvSpPr>
        <p:spPr>
          <a:xfrm>
            <a:off x="283595" y="2165810"/>
            <a:ext cx="2415983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9ED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</a:t>
            </a:r>
            <a:endParaRPr lang="en-US" sz="14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B1EBE6E7-2397-3C5C-4204-BBBD63EE907D}"/>
              </a:ext>
            </a:extLst>
          </p:cNvPr>
          <p:cNvSpPr/>
          <p:nvPr/>
        </p:nvSpPr>
        <p:spPr>
          <a:xfrm>
            <a:off x="329315" y="2650442"/>
            <a:ext cx="2334086" cy="8229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a path that forces a variable into the adjustment set.</a:t>
            </a:r>
            <a:endParaRPr lang="en-US" sz="1800" dirty="0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98BCEDD9-3C40-CD63-0C00-8B2E9E3AD414}"/>
              </a:ext>
            </a:extLst>
          </p:cNvPr>
          <p:cNvSpPr/>
          <p:nvPr/>
        </p:nvSpPr>
        <p:spPr>
          <a:xfrm>
            <a:off x="3002375" y="1891490"/>
            <a:ext cx="3022819" cy="1965960"/>
          </a:xfrm>
          <a:prstGeom prst="roundRect">
            <a:avLst/>
          </a:prstGeom>
          <a:solidFill>
            <a:srgbClr val="22262C"/>
          </a:solidFill>
          <a:ln w="19050">
            <a:solidFill>
              <a:srgbClr val="8C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1BEC78A5-2733-6117-EB4F-04D4CBEFEA00}"/>
              </a:ext>
            </a:extLst>
          </p:cNvPr>
          <p:cNvSpPr/>
          <p:nvPr/>
        </p:nvSpPr>
        <p:spPr>
          <a:xfrm>
            <a:off x="3230975" y="2165810"/>
            <a:ext cx="2584729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8CC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</a:t>
            </a:r>
            <a:endParaRPr lang="en-US" sz="14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F7C1620A-C221-24F8-D474-8A51FF2F651B}"/>
              </a:ext>
            </a:extLst>
          </p:cNvPr>
          <p:cNvSpPr/>
          <p:nvPr/>
        </p:nvSpPr>
        <p:spPr>
          <a:xfrm>
            <a:off x="3276695" y="2650442"/>
            <a:ext cx="2497111" cy="8229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which other backdoor paths are automatically blocked.</a:t>
            </a:r>
            <a:endParaRPr lang="en-US" sz="1800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6564B3DF-87D5-3132-E220-D8E5E9362145}"/>
              </a:ext>
            </a:extLst>
          </p:cNvPr>
          <p:cNvSpPr/>
          <p:nvPr/>
        </p:nvSpPr>
        <p:spPr>
          <a:xfrm>
            <a:off x="6090024" y="1891490"/>
            <a:ext cx="2915007" cy="1965960"/>
          </a:xfrm>
          <a:prstGeom prst="roundRect">
            <a:avLst/>
          </a:prstGeom>
          <a:solidFill>
            <a:srgbClr val="22262C"/>
          </a:solidFill>
          <a:ln w="19050">
            <a:solidFill>
              <a:srgbClr val="C6A0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827D2FBB-DFB7-FF5A-111D-A1E05097F6F4}"/>
              </a:ext>
            </a:extLst>
          </p:cNvPr>
          <p:cNvSpPr/>
          <p:nvPr/>
        </p:nvSpPr>
        <p:spPr>
          <a:xfrm>
            <a:off x="6318624" y="2165810"/>
            <a:ext cx="2492542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C6A0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</a:t>
            </a:r>
            <a:endParaRPr lang="en-US" sz="14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4AD5C14-AAD1-848B-A91B-5DAA15CED861}"/>
              </a:ext>
            </a:extLst>
          </p:cNvPr>
          <p:cNvSpPr/>
          <p:nvPr/>
        </p:nvSpPr>
        <p:spPr>
          <a:xfrm>
            <a:off x="6191045" y="2660903"/>
            <a:ext cx="2682368" cy="903939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another variable only if an open backdoor path remains.</a:t>
            </a:r>
            <a:endParaRPr lang="en-US" sz="1800" dirty="0"/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11416D0E-6263-83EB-1202-01EC7BBB78D9}"/>
              </a:ext>
            </a:extLst>
          </p:cNvPr>
          <p:cNvSpPr/>
          <p:nvPr/>
        </p:nvSpPr>
        <p:spPr>
          <a:xfrm>
            <a:off x="127980" y="4275551"/>
            <a:ext cx="8950036" cy="724418"/>
          </a:xfrm>
          <a:prstGeom prst="roundRect">
            <a:avLst>
              <a:gd name="adj" fmla="val 8065"/>
            </a:avLst>
          </a:prstGeom>
          <a:solidFill>
            <a:srgbClr val="20242A"/>
          </a:solidFill>
          <a:ln w="17780">
            <a:solidFill>
              <a:srgbClr val="F0C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9DBB974E-3C08-3EC8-01C3-0C722935E4FD}"/>
              </a:ext>
            </a:extLst>
          </p:cNvPr>
          <p:cNvSpPr/>
          <p:nvPr/>
        </p:nvSpPr>
        <p:spPr>
          <a:xfrm>
            <a:off x="0" y="4353275"/>
            <a:ext cx="9196485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F0C3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= every included variable is necessary; remove one and at least one backdoor path reopens.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074396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D33DC-23C2-B7B4-50BA-85B66F5C9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F8D395-544D-495F-4298-0803C134816C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F3F3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minimal adjustment set</a:t>
            </a:r>
            <a:endParaRPr lang="en-US" sz="2800" dirty="0"/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459A2C44-D94D-E4BD-A628-9EDF18ECD63B}"/>
              </a:ext>
            </a:extLst>
          </p:cNvPr>
          <p:cNvSpPr/>
          <p:nvPr/>
        </p:nvSpPr>
        <p:spPr>
          <a:xfrm>
            <a:off x="668646" y="1235132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A1D21"/>
          </a:solidFill>
          <a:ln w="16510">
            <a:solidFill>
              <a:srgbClr val="9ED9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E2D00C39-C7EE-1C9B-DB56-F7CF4C77BF3A}"/>
              </a:ext>
            </a:extLst>
          </p:cNvPr>
          <p:cNvSpPr/>
          <p:nvPr/>
        </p:nvSpPr>
        <p:spPr>
          <a:xfrm>
            <a:off x="714366" y="130828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50" b="1" dirty="0">
                <a:solidFill>
                  <a:srgbClr val="9ED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4</a:t>
            </a:r>
            <a:endParaRPr lang="en-US" sz="115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2CAE6094-0DDC-1DE7-DDD9-FD35A7BEE116}"/>
              </a:ext>
            </a:extLst>
          </p:cNvPr>
          <p:cNvSpPr/>
          <p:nvPr/>
        </p:nvSpPr>
        <p:spPr>
          <a:xfrm>
            <a:off x="2222963" y="1231946"/>
            <a:ext cx="200475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50" dirty="0">
                <a:solidFill>
                  <a:srgbClr val="C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← BP → Y</a:t>
            </a:r>
            <a:endParaRPr lang="en-US" sz="205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FD65D631-2F55-D9A8-36EC-ECE2216253FD}"/>
              </a:ext>
            </a:extLst>
          </p:cNvPr>
          <p:cNvSpPr/>
          <p:nvPr/>
        </p:nvSpPr>
        <p:spPr>
          <a:xfrm>
            <a:off x="1800399" y="1669472"/>
            <a:ext cx="3339638" cy="343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dirty="0">
                <a:solidFill>
                  <a:srgbClr val="AEB4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backdoor path. BP is the only internal node.</a:t>
            </a:r>
            <a:endParaRPr lang="en-US" sz="115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FD94FBBA-860B-A8B1-F466-A08EB4BED7E1}"/>
              </a:ext>
            </a:extLst>
          </p:cNvPr>
          <p:cNvSpPr/>
          <p:nvPr/>
        </p:nvSpPr>
        <p:spPr>
          <a:xfrm>
            <a:off x="329086" y="2269929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F4F1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block this path, there is only one option:</a:t>
            </a:r>
            <a:endParaRPr lang="en-US" sz="17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104708A1-7D5C-918E-6EF6-36965250BC5B}"/>
              </a:ext>
            </a:extLst>
          </p:cNvPr>
          <p:cNvSpPr/>
          <p:nvPr/>
        </p:nvSpPr>
        <p:spPr>
          <a:xfrm>
            <a:off x="5503717" y="1085642"/>
            <a:ext cx="2834640" cy="1051560"/>
          </a:xfrm>
          <a:prstGeom prst="roundRect">
            <a:avLst/>
          </a:prstGeom>
          <a:solidFill>
            <a:srgbClr val="203128"/>
          </a:solidFill>
          <a:ln w="25400">
            <a:solidFill>
              <a:srgbClr val="9ED9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AB065079-2A3B-E1C8-AFAF-16F1E3A9311D}"/>
              </a:ext>
            </a:extLst>
          </p:cNvPr>
          <p:cNvSpPr/>
          <p:nvPr/>
        </p:nvSpPr>
        <p:spPr>
          <a:xfrm>
            <a:off x="5778037" y="139653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rgbClr val="9ED9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Adjust for BP</a:t>
            </a:r>
            <a:endParaRPr lang="en-US" sz="24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BFB2B816-198F-5AB8-86CF-493BF2A25813}"/>
              </a:ext>
            </a:extLst>
          </p:cNvPr>
          <p:cNvSpPr/>
          <p:nvPr/>
        </p:nvSpPr>
        <p:spPr>
          <a:xfrm>
            <a:off x="1800399" y="276377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F0C3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can’t we use Age or DM to block Path 4?</a:t>
            </a:r>
            <a:endParaRPr lang="en-US" sz="20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4928F343-1E7B-615A-2B3F-DBB2E94D8A32}"/>
              </a:ext>
            </a:extLst>
          </p:cNvPr>
          <p:cNvSpPr/>
          <p:nvPr/>
        </p:nvSpPr>
        <p:spPr>
          <a:xfrm>
            <a:off x="221672" y="3284982"/>
            <a:ext cx="8749145" cy="72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9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Because neither Age nor DM lies on this particular path. Conditioning on an off-path variable does not block the path.</a:t>
            </a:r>
            <a:endParaRPr lang="en-US" sz="1900" dirty="0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E0FF2EB4-5E64-821E-E5ED-38EAC2FCA306}"/>
              </a:ext>
            </a:extLst>
          </p:cNvPr>
          <p:cNvSpPr/>
          <p:nvPr/>
        </p:nvSpPr>
        <p:spPr>
          <a:xfrm>
            <a:off x="169188" y="4423409"/>
            <a:ext cx="8689194" cy="576560"/>
          </a:xfrm>
          <a:prstGeom prst="roundRect">
            <a:avLst>
              <a:gd name="adj" fmla="val 8065"/>
            </a:avLst>
          </a:prstGeom>
          <a:solidFill>
            <a:srgbClr val="20242A"/>
          </a:solidFill>
          <a:ln w="17780">
            <a:solidFill>
              <a:srgbClr val="9ED9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B195EC50-EE8A-EC93-F252-82A143661D96}"/>
              </a:ext>
            </a:extLst>
          </p:cNvPr>
          <p:cNvSpPr/>
          <p:nvPr/>
        </p:nvSpPr>
        <p:spPr>
          <a:xfrm>
            <a:off x="329086" y="4578857"/>
            <a:ext cx="8381612" cy="232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9ED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Therefore, every valid standard adjustment set for this DAG must contain BP.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970665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3F3E0-36B8-0E60-5B94-C32F7FE20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14E956-AC7A-20E0-FE60-3087C7C6CC8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F3F3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Once we adjust for BP, many paths disappear</a:t>
            </a:r>
            <a:endParaRPr lang="en-US" sz="2800" dirty="0"/>
          </a:p>
        </p:txBody>
      </p:sp>
      <p:sp>
        <p:nvSpPr>
          <p:cNvPr id="70" name="Shape 2">
            <a:extLst>
              <a:ext uri="{FF2B5EF4-FFF2-40B4-BE49-F238E27FC236}">
                <a16:creationId xmlns:a16="http://schemas.microsoft.com/office/drawing/2014/main" id="{ABC7EE1F-869C-B3A9-7C9D-3155BD5209B7}"/>
              </a:ext>
            </a:extLst>
          </p:cNvPr>
          <p:cNvSpPr/>
          <p:nvPr/>
        </p:nvSpPr>
        <p:spPr>
          <a:xfrm>
            <a:off x="169188" y="860158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1A1D21"/>
          </a:solidFill>
          <a:ln w="16510">
            <a:solidFill>
              <a:srgbClr val="9ED9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3">
            <a:extLst>
              <a:ext uri="{FF2B5EF4-FFF2-40B4-BE49-F238E27FC236}">
                <a16:creationId xmlns:a16="http://schemas.microsoft.com/office/drawing/2014/main" id="{78DA5A21-FD10-217E-8DB9-AAE9F0E5C659}"/>
              </a:ext>
            </a:extLst>
          </p:cNvPr>
          <p:cNvSpPr/>
          <p:nvPr/>
        </p:nvSpPr>
        <p:spPr>
          <a:xfrm>
            <a:off x="214908" y="93331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50" b="1" dirty="0">
                <a:solidFill>
                  <a:srgbClr val="9ED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4</a:t>
            </a:r>
            <a:endParaRPr lang="en-US" sz="1150" dirty="0"/>
          </a:p>
        </p:txBody>
      </p:sp>
      <p:sp>
        <p:nvSpPr>
          <p:cNvPr id="72" name="Text 4">
            <a:extLst>
              <a:ext uri="{FF2B5EF4-FFF2-40B4-BE49-F238E27FC236}">
                <a16:creationId xmlns:a16="http://schemas.microsoft.com/office/drawing/2014/main" id="{6F8727F7-5D5A-FD1D-6441-76C5CB9E6BE5}"/>
              </a:ext>
            </a:extLst>
          </p:cNvPr>
          <p:cNvSpPr/>
          <p:nvPr/>
        </p:nvSpPr>
        <p:spPr>
          <a:xfrm>
            <a:off x="1562181" y="919837"/>
            <a:ext cx="49955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20" dirty="0">
                <a:solidFill>
                  <a:srgbClr val="C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← BP → Y</a:t>
            </a:r>
            <a:endParaRPr lang="en-US" sz="1720" dirty="0"/>
          </a:p>
        </p:txBody>
      </p:sp>
      <p:sp>
        <p:nvSpPr>
          <p:cNvPr id="73" name="Text 5">
            <a:extLst>
              <a:ext uri="{FF2B5EF4-FFF2-40B4-BE49-F238E27FC236}">
                <a16:creationId xmlns:a16="http://schemas.microsoft.com/office/drawing/2014/main" id="{90062A80-0BC2-0B2F-D675-AB887ADE3258}"/>
              </a:ext>
            </a:extLst>
          </p:cNvPr>
          <p:cNvSpPr/>
          <p:nvPr/>
        </p:nvSpPr>
        <p:spPr>
          <a:xfrm>
            <a:off x="6853404" y="819253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50" b="1" dirty="0">
                <a:solidFill>
                  <a:srgbClr val="9ED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BLOCKED by BP</a:t>
            </a:r>
            <a:endParaRPr lang="en-US" sz="1050" dirty="0"/>
          </a:p>
        </p:txBody>
      </p:sp>
      <p:sp>
        <p:nvSpPr>
          <p:cNvPr id="74" name="Shape 6">
            <a:extLst>
              <a:ext uri="{FF2B5EF4-FFF2-40B4-BE49-F238E27FC236}">
                <a16:creationId xmlns:a16="http://schemas.microsoft.com/office/drawing/2014/main" id="{52A42000-3E92-C09D-516E-2FFAFAF99D12}"/>
              </a:ext>
            </a:extLst>
          </p:cNvPr>
          <p:cNvSpPr/>
          <p:nvPr/>
        </p:nvSpPr>
        <p:spPr>
          <a:xfrm>
            <a:off x="169188" y="1450189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1A1D21"/>
          </a:solidFill>
          <a:ln w="16510">
            <a:solidFill>
              <a:srgbClr val="9ED9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">
            <a:extLst>
              <a:ext uri="{FF2B5EF4-FFF2-40B4-BE49-F238E27FC236}">
                <a16:creationId xmlns:a16="http://schemas.microsoft.com/office/drawing/2014/main" id="{45B1B85A-43FA-3BA7-C00C-F10A2824529D}"/>
              </a:ext>
            </a:extLst>
          </p:cNvPr>
          <p:cNvSpPr/>
          <p:nvPr/>
        </p:nvSpPr>
        <p:spPr>
          <a:xfrm>
            <a:off x="214908" y="1523341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50" b="1" dirty="0">
                <a:solidFill>
                  <a:srgbClr val="9ED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5</a:t>
            </a:r>
            <a:endParaRPr lang="en-US" sz="115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5B075883-3A67-79A4-6D59-24FB3AE19181}"/>
              </a:ext>
            </a:extLst>
          </p:cNvPr>
          <p:cNvSpPr/>
          <p:nvPr/>
        </p:nvSpPr>
        <p:spPr>
          <a:xfrm>
            <a:off x="1467636" y="1477621"/>
            <a:ext cx="49955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20" dirty="0">
                <a:solidFill>
                  <a:srgbClr val="C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← BP → DM → 3m BP → Y</a:t>
            </a:r>
            <a:endParaRPr lang="en-US" sz="1720" dirty="0"/>
          </a:p>
        </p:txBody>
      </p:sp>
      <p:sp>
        <p:nvSpPr>
          <p:cNvPr id="77" name="Text 9">
            <a:extLst>
              <a:ext uri="{FF2B5EF4-FFF2-40B4-BE49-F238E27FC236}">
                <a16:creationId xmlns:a16="http://schemas.microsoft.com/office/drawing/2014/main" id="{CA476878-3995-5FC3-1B59-F6BC9A09B4C9}"/>
              </a:ext>
            </a:extLst>
          </p:cNvPr>
          <p:cNvSpPr/>
          <p:nvPr/>
        </p:nvSpPr>
        <p:spPr>
          <a:xfrm>
            <a:off x="6853404" y="1477621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50" b="1" dirty="0">
                <a:solidFill>
                  <a:srgbClr val="9ED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BLOCKED by BP</a:t>
            </a:r>
            <a:endParaRPr lang="en-US" sz="1050" dirty="0"/>
          </a:p>
        </p:txBody>
      </p:sp>
      <p:sp>
        <p:nvSpPr>
          <p:cNvPr id="78" name="Shape 10">
            <a:extLst>
              <a:ext uri="{FF2B5EF4-FFF2-40B4-BE49-F238E27FC236}">
                <a16:creationId xmlns:a16="http://schemas.microsoft.com/office/drawing/2014/main" id="{FB6A3AAE-B6C0-B13C-6A3A-F2279E81DFAC}"/>
              </a:ext>
            </a:extLst>
          </p:cNvPr>
          <p:cNvSpPr/>
          <p:nvPr/>
        </p:nvSpPr>
        <p:spPr>
          <a:xfrm>
            <a:off x="169188" y="2108557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1A1D21"/>
          </a:solidFill>
          <a:ln w="16510">
            <a:solidFill>
              <a:srgbClr val="9ED9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11">
            <a:extLst>
              <a:ext uri="{FF2B5EF4-FFF2-40B4-BE49-F238E27FC236}">
                <a16:creationId xmlns:a16="http://schemas.microsoft.com/office/drawing/2014/main" id="{33E61317-A4A7-C93B-F000-E1B345FA42E2}"/>
              </a:ext>
            </a:extLst>
          </p:cNvPr>
          <p:cNvSpPr/>
          <p:nvPr/>
        </p:nvSpPr>
        <p:spPr>
          <a:xfrm>
            <a:off x="214908" y="2181709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50" b="1" dirty="0">
                <a:solidFill>
                  <a:srgbClr val="9ED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6</a:t>
            </a:r>
            <a:endParaRPr lang="en-US" sz="1150" dirty="0"/>
          </a:p>
        </p:txBody>
      </p:sp>
      <p:sp>
        <p:nvSpPr>
          <p:cNvPr id="80" name="Text 12">
            <a:extLst>
              <a:ext uri="{FF2B5EF4-FFF2-40B4-BE49-F238E27FC236}">
                <a16:creationId xmlns:a16="http://schemas.microsoft.com/office/drawing/2014/main" id="{F93BF729-05E9-97F7-D644-4A7FC11B9AF4}"/>
              </a:ext>
            </a:extLst>
          </p:cNvPr>
          <p:cNvSpPr/>
          <p:nvPr/>
        </p:nvSpPr>
        <p:spPr>
          <a:xfrm>
            <a:off x="1467636" y="2135989"/>
            <a:ext cx="49955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20" dirty="0">
                <a:solidFill>
                  <a:srgbClr val="C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← BP → DM → 3m BP → Adh → Y</a:t>
            </a:r>
            <a:endParaRPr lang="en-US" sz="1720" dirty="0"/>
          </a:p>
        </p:txBody>
      </p:sp>
      <p:sp>
        <p:nvSpPr>
          <p:cNvPr id="81" name="Text 13">
            <a:extLst>
              <a:ext uri="{FF2B5EF4-FFF2-40B4-BE49-F238E27FC236}">
                <a16:creationId xmlns:a16="http://schemas.microsoft.com/office/drawing/2014/main" id="{E38EE8D2-F8AB-F0EA-06EC-3291E239D927}"/>
              </a:ext>
            </a:extLst>
          </p:cNvPr>
          <p:cNvSpPr/>
          <p:nvPr/>
        </p:nvSpPr>
        <p:spPr>
          <a:xfrm>
            <a:off x="6853404" y="2135989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50" b="1" dirty="0">
                <a:solidFill>
                  <a:srgbClr val="9ED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BLOCKED by BP</a:t>
            </a:r>
            <a:endParaRPr lang="en-US" sz="1050" dirty="0"/>
          </a:p>
        </p:txBody>
      </p:sp>
      <p:sp>
        <p:nvSpPr>
          <p:cNvPr id="82" name="Shape 14">
            <a:extLst>
              <a:ext uri="{FF2B5EF4-FFF2-40B4-BE49-F238E27FC236}">
                <a16:creationId xmlns:a16="http://schemas.microsoft.com/office/drawing/2014/main" id="{5CDCB00E-9A75-8AFE-30BA-BE1DD0B79D85}"/>
              </a:ext>
            </a:extLst>
          </p:cNvPr>
          <p:cNvSpPr/>
          <p:nvPr/>
        </p:nvSpPr>
        <p:spPr>
          <a:xfrm>
            <a:off x="169188" y="2766925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1A1D21"/>
          </a:solidFill>
          <a:ln w="16510">
            <a:solidFill>
              <a:srgbClr val="9ED9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15">
            <a:extLst>
              <a:ext uri="{FF2B5EF4-FFF2-40B4-BE49-F238E27FC236}">
                <a16:creationId xmlns:a16="http://schemas.microsoft.com/office/drawing/2014/main" id="{7D67724E-043C-A3F9-EFC5-7D934307E7E1}"/>
              </a:ext>
            </a:extLst>
          </p:cNvPr>
          <p:cNvSpPr/>
          <p:nvPr/>
        </p:nvSpPr>
        <p:spPr>
          <a:xfrm>
            <a:off x="214908" y="2840077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50" b="1" dirty="0">
                <a:solidFill>
                  <a:srgbClr val="9ED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7</a:t>
            </a:r>
            <a:endParaRPr lang="en-US" sz="1150" dirty="0"/>
          </a:p>
        </p:txBody>
      </p:sp>
      <p:sp>
        <p:nvSpPr>
          <p:cNvPr id="84" name="Text 16">
            <a:extLst>
              <a:ext uri="{FF2B5EF4-FFF2-40B4-BE49-F238E27FC236}">
                <a16:creationId xmlns:a16="http://schemas.microsoft.com/office/drawing/2014/main" id="{A5DFB6CE-1E83-6E16-7589-CD3E6B74B3F0}"/>
              </a:ext>
            </a:extLst>
          </p:cNvPr>
          <p:cNvSpPr/>
          <p:nvPr/>
        </p:nvSpPr>
        <p:spPr>
          <a:xfrm>
            <a:off x="1467636" y="2794357"/>
            <a:ext cx="49955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20" dirty="0">
                <a:solidFill>
                  <a:srgbClr val="C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← DM ← BP → Y</a:t>
            </a:r>
            <a:endParaRPr lang="en-US" sz="1720" dirty="0"/>
          </a:p>
        </p:txBody>
      </p:sp>
      <p:sp>
        <p:nvSpPr>
          <p:cNvPr id="85" name="Text 17">
            <a:extLst>
              <a:ext uri="{FF2B5EF4-FFF2-40B4-BE49-F238E27FC236}">
                <a16:creationId xmlns:a16="http://schemas.microsoft.com/office/drawing/2014/main" id="{C934E441-051F-1A2C-F905-38CF6373A9C6}"/>
              </a:ext>
            </a:extLst>
          </p:cNvPr>
          <p:cNvSpPr/>
          <p:nvPr/>
        </p:nvSpPr>
        <p:spPr>
          <a:xfrm>
            <a:off x="6853404" y="2794357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50" b="1" dirty="0">
                <a:solidFill>
                  <a:srgbClr val="9ED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BLOCKED by BP</a:t>
            </a:r>
            <a:endParaRPr lang="en-US" sz="1050" dirty="0"/>
          </a:p>
        </p:txBody>
      </p:sp>
      <p:sp>
        <p:nvSpPr>
          <p:cNvPr id="86" name="Shape 18">
            <a:extLst>
              <a:ext uri="{FF2B5EF4-FFF2-40B4-BE49-F238E27FC236}">
                <a16:creationId xmlns:a16="http://schemas.microsoft.com/office/drawing/2014/main" id="{04969E87-16EF-CBB8-B76C-0A8FFDE37F9F}"/>
              </a:ext>
            </a:extLst>
          </p:cNvPr>
          <p:cNvSpPr/>
          <p:nvPr/>
        </p:nvSpPr>
        <p:spPr>
          <a:xfrm>
            <a:off x="169188" y="3425293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1A1D21"/>
          </a:solidFill>
          <a:ln w="16510">
            <a:solidFill>
              <a:srgbClr val="9ED9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19">
            <a:extLst>
              <a:ext uri="{FF2B5EF4-FFF2-40B4-BE49-F238E27FC236}">
                <a16:creationId xmlns:a16="http://schemas.microsoft.com/office/drawing/2014/main" id="{05FAF80B-0D5C-4D43-8777-803CFAE89841}"/>
              </a:ext>
            </a:extLst>
          </p:cNvPr>
          <p:cNvSpPr/>
          <p:nvPr/>
        </p:nvSpPr>
        <p:spPr>
          <a:xfrm>
            <a:off x="214908" y="3498445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50" b="1" dirty="0">
                <a:solidFill>
                  <a:srgbClr val="9ED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10</a:t>
            </a:r>
            <a:endParaRPr lang="en-US" sz="1150" dirty="0"/>
          </a:p>
        </p:txBody>
      </p:sp>
      <p:sp>
        <p:nvSpPr>
          <p:cNvPr id="88" name="Text 20">
            <a:extLst>
              <a:ext uri="{FF2B5EF4-FFF2-40B4-BE49-F238E27FC236}">
                <a16:creationId xmlns:a16="http://schemas.microsoft.com/office/drawing/2014/main" id="{D2A3CB82-8142-53FC-410B-02988AEEABB7}"/>
              </a:ext>
            </a:extLst>
          </p:cNvPr>
          <p:cNvSpPr/>
          <p:nvPr/>
        </p:nvSpPr>
        <p:spPr>
          <a:xfrm>
            <a:off x="1467636" y="3452725"/>
            <a:ext cx="49955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20" dirty="0">
                <a:solidFill>
                  <a:srgbClr val="C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← Age → BP → Y</a:t>
            </a:r>
            <a:endParaRPr lang="en-US" sz="1720" dirty="0"/>
          </a:p>
        </p:txBody>
      </p:sp>
      <p:sp>
        <p:nvSpPr>
          <p:cNvPr id="89" name="Text 21">
            <a:extLst>
              <a:ext uri="{FF2B5EF4-FFF2-40B4-BE49-F238E27FC236}">
                <a16:creationId xmlns:a16="http://schemas.microsoft.com/office/drawing/2014/main" id="{839F2531-6936-558B-C8B0-568E521C845F}"/>
              </a:ext>
            </a:extLst>
          </p:cNvPr>
          <p:cNvSpPr/>
          <p:nvPr/>
        </p:nvSpPr>
        <p:spPr>
          <a:xfrm>
            <a:off x="6853404" y="3452725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50" b="1" dirty="0">
                <a:solidFill>
                  <a:srgbClr val="9ED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BLOCKED by BP</a:t>
            </a:r>
            <a:endParaRPr lang="en-US" sz="1050" dirty="0"/>
          </a:p>
        </p:txBody>
      </p:sp>
      <p:sp>
        <p:nvSpPr>
          <p:cNvPr id="90" name="Shape 22">
            <a:extLst>
              <a:ext uri="{FF2B5EF4-FFF2-40B4-BE49-F238E27FC236}">
                <a16:creationId xmlns:a16="http://schemas.microsoft.com/office/drawing/2014/main" id="{B6C8D2AE-CBF4-7A46-B6F8-A4D65E75AB47}"/>
              </a:ext>
            </a:extLst>
          </p:cNvPr>
          <p:cNvSpPr/>
          <p:nvPr/>
        </p:nvSpPr>
        <p:spPr>
          <a:xfrm>
            <a:off x="169188" y="4083661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1A1D21"/>
          </a:solidFill>
          <a:ln w="16510">
            <a:solidFill>
              <a:srgbClr val="9ED9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23">
            <a:extLst>
              <a:ext uri="{FF2B5EF4-FFF2-40B4-BE49-F238E27FC236}">
                <a16:creationId xmlns:a16="http://schemas.microsoft.com/office/drawing/2014/main" id="{F1ACF34F-27C2-2987-0552-8EF6C699D856}"/>
              </a:ext>
            </a:extLst>
          </p:cNvPr>
          <p:cNvSpPr/>
          <p:nvPr/>
        </p:nvSpPr>
        <p:spPr>
          <a:xfrm>
            <a:off x="214908" y="4156813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50" b="1" dirty="0">
                <a:solidFill>
                  <a:srgbClr val="9ED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11</a:t>
            </a:r>
            <a:endParaRPr lang="en-US" sz="1150" dirty="0"/>
          </a:p>
        </p:txBody>
      </p:sp>
      <p:sp>
        <p:nvSpPr>
          <p:cNvPr id="92" name="Text 24">
            <a:extLst>
              <a:ext uri="{FF2B5EF4-FFF2-40B4-BE49-F238E27FC236}">
                <a16:creationId xmlns:a16="http://schemas.microsoft.com/office/drawing/2014/main" id="{14C3545A-BC21-5227-7782-FCE5B9527560}"/>
              </a:ext>
            </a:extLst>
          </p:cNvPr>
          <p:cNvSpPr/>
          <p:nvPr/>
        </p:nvSpPr>
        <p:spPr>
          <a:xfrm>
            <a:off x="1467636" y="4111093"/>
            <a:ext cx="49955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20" dirty="0">
                <a:solidFill>
                  <a:srgbClr val="C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← Age → BP → DM → 3m BP → Y</a:t>
            </a:r>
            <a:endParaRPr lang="en-US" sz="1720" dirty="0"/>
          </a:p>
        </p:txBody>
      </p:sp>
      <p:sp>
        <p:nvSpPr>
          <p:cNvPr id="93" name="Text 25">
            <a:extLst>
              <a:ext uri="{FF2B5EF4-FFF2-40B4-BE49-F238E27FC236}">
                <a16:creationId xmlns:a16="http://schemas.microsoft.com/office/drawing/2014/main" id="{044B283C-505A-824F-BE2D-DC2F66FFC49E}"/>
              </a:ext>
            </a:extLst>
          </p:cNvPr>
          <p:cNvSpPr/>
          <p:nvPr/>
        </p:nvSpPr>
        <p:spPr>
          <a:xfrm>
            <a:off x="6853404" y="4111093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50" b="1" dirty="0">
                <a:solidFill>
                  <a:srgbClr val="9ED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BLOCKED by BP</a:t>
            </a:r>
            <a:endParaRPr lang="en-US" sz="1050" dirty="0"/>
          </a:p>
        </p:txBody>
      </p:sp>
      <p:sp>
        <p:nvSpPr>
          <p:cNvPr id="94" name="Shape 26">
            <a:extLst>
              <a:ext uri="{FF2B5EF4-FFF2-40B4-BE49-F238E27FC236}">
                <a16:creationId xmlns:a16="http://schemas.microsoft.com/office/drawing/2014/main" id="{44157576-9210-753F-203E-D3663E14BE1F}"/>
              </a:ext>
            </a:extLst>
          </p:cNvPr>
          <p:cNvSpPr/>
          <p:nvPr/>
        </p:nvSpPr>
        <p:spPr>
          <a:xfrm>
            <a:off x="169188" y="4742029"/>
            <a:ext cx="1097280" cy="384048"/>
          </a:xfrm>
          <a:prstGeom prst="roundRect">
            <a:avLst>
              <a:gd name="adj" fmla="val 19048"/>
            </a:avLst>
          </a:prstGeom>
          <a:solidFill>
            <a:srgbClr val="1A1D21"/>
          </a:solidFill>
          <a:ln w="16510">
            <a:solidFill>
              <a:srgbClr val="9ED9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27">
            <a:extLst>
              <a:ext uri="{FF2B5EF4-FFF2-40B4-BE49-F238E27FC236}">
                <a16:creationId xmlns:a16="http://schemas.microsoft.com/office/drawing/2014/main" id="{70CC480F-3DB6-972C-20BA-C25F0A9E0D55}"/>
              </a:ext>
            </a:extLst>
          </p:cNvPr>
          <p:cNvSpPr/>
          <p:nvPr/>
        </p:nvSpPr>
        <p:spPr>
          <a:xfrm>
            <a:off x="214908" y="4815181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50" b="1" dirty="0">
                <a:solidFill>
                  <a:srgbClr val="9ED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12</a:t>
            </a:r>
            <a:endParaRPr lang="en-US" sz="1150" dirty="0"/>
          </a:p>
        </p:txBody>
      </p:sp>
      <p:sp>
        <p:nvSpPr>
          <p:cNvPr id="96" name="Text 28">
            <a:extLst>
              <a:ext uri="{FF2B5EF4-FFF2-40B4-BE49-F238E27FC236}">
                <a16:creationId xmlns:a16="http://schemas.microsoft.com/office/drawing/2014/main" id="{DE34F11D-4836-D796-D516-74ABC597D76A}"/>
              </a:ext>
            </a:extLst>
          </p:cNvPr>
          <p:cNvSpPr/>
          <p:nvPr/>
        </p:nvSpPr>
        <p:spPr>
          <a:xfrm>
            <a:off x="1467636" y="4769461"/>
            <a:ext cx="49955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20" dirty="0">
                <a:solidFill>
                  <a:srgbClr val="C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← Age → BP → DM → 3m BP → Adh → Y</a:t>
            </a:r>
            <a:endParaRPr lang="en-US" sz="1720" dirty="0"/>
          </a:p>
        </p:txBody>
      </p:sp>
      <p:sp>
        <p:nvSpPr>
          <p:cNvPr id="97" name="Text 29">
            <a:extLst>
              <a:ext uri="{FF2B5EF4-FFF2-40B4-BE49-F238E27FC236}">
                <a16:creationId xmlns:a16="http://schemas.microsoft.com/office/drawing/2014/main" id="{BD0C9BE3-9C5B-2E9B-1395-1FB172D62B0C}"/>
              </a:ext>
            </a:extLst>
          </p:cNvPr>
          <p:cNvSpPr/>
          <p:nvPr/>
        </p:nvSpPr>
        <p:spPr>
          <a:xfrm>
            <a:off x="6853404" y="4769461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050" b="1" dirty="0">
                <a:solidFill>
                  <a:srgbClr val="9ED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BLOCKED by BP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5014252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E6B1E-1B0E-5DA1-174D-EF8AA868F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0F81A4-8AF1-3F0A-9E70-435DF19368B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adjusting for BP, what remains open?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1B9C96-58DC-5C78-8A8A-79576BADC5A4}"/>
              </a:ext>
            </a:extLst>
          </p:cNvPr>
          <p:cNvSpPr/>
          <p:nvPr/>
        </p:nvSpPr>
        <p:spPr>
          <a:xfrm>
            <a:off x="1325187" y="87422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F4F1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two backdoor paths do not contain BP:</a:t>
            </a:r>
            <a:endParaRPr lang="en-US" sz="1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1CD1DF7-C671-9E0E-6BD8-5D775E628421}"/>
              </a:ext>
            </a:extLst>
          </p:cNvPr>
          <p:cNvSpPr/>
          <p:nvPr/>
        </p:nvSpPr>
        <p:spPr>
          <a:xfrm>
            <a:off x="342207" y="1450294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A1D21"/>
          </a:solidFill>
          <a:ln w="16510">
            <a:solidFill>
              <a:srgbClr val="FF6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02CB62F-3377-A500-11B2-94952636D4D2}"/>
              </a:ext>
            </a:extLst>
          </p:cNvPr>
          <p:cNvSpPr/>
          <p:nvPr/>
        </p:nvSpPr>
        <p:spPr>
          <a:xfrm>
            <a:off x="387927" y="152344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50" b="1" dirty="0">
                <a:solidFill>
                  <a:srgbClr val="F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8</a:t>
            </a:r>
            <a:endParaRPr lang="en-US" sz="11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4A14E6D-233E-BA9A-4E16-FBAAA7C87D87}"/>
              </a:ext>
            </a:extLst>
          </p:cNvPr>
          <p:cNvSpPr/>
          <p:nvPr/>
        </p:nvSpPr>
        <p:spPr>
          <a:xfrm>
            <a:off x="1805247" y="1468582"/>
            <a:ext cx="45539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50" dirty="0">
                <a:solidFill>
                  <a:srgbClr val="FFD0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← DM → 3m BP → Y</a:t>
            </a:r>
            <a:endParaRPr lang="en-US" sz="20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19A7FBE-5946-216A-7859-6F569D787F8B}"/>
              </a:ext>
            </a:extLst>
          </p:cNvPr>
          <p:cNvSpPr/>
          <p:nvPr/>
        </p:nvSpPr>
        <p:spPr>
          <a:xfrm>
            <a:off x="1805247" y="1880062"/>
            <a:ext cx="3972098" cy="225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dirty="0">
                <a:solidFill>
                  <a:srgbClr val="AEB4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 does not appear on this path, so BP cannot block it.</a:t>
            </a:r>
            <a:endParaRPr lang="en-US" sz="11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18B142E-6BA5-147F-BC33-48C6475206BB}"/>
              </a:ext>
            </a:extLst>
          </p:cNvPr>
          <p:cNvSpPr/>
          <p:nvPr/>
        </p:nvSpPr>
        <p:spPr>
          <a:xfrm>
            <a:off x="342207" y="230983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A1D21"/>
          </a:solidFill>
          <a:ln w="16510">
            <a:solidFill>
              <a:srgbClr val="FF6B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5F3DD04-5C7D-81A1-4854-3CC8846D0929}"/>
              </a:ext>
            </a:extLst>
          </p:cNvPr>
          <p:cNvSpPr/>
          <p:nvPr/>
        </p:nvSpPr>
        <p:spPr>
          <a:xfrm>
            <a:off x="387927" y="238298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50" b="1" dirty="0">
                <a:solidFill>
                  <a:srgbClr val="F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9</a:t>
            </a:r>
            <a:endParaRPr lang="en-US" sz="11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3C0AB7B-9060-FD80-24BB-61D5BFE0B62E}"/>
              </a:ext>
            </a:extLst>
          </p:cNvPr>
          <p:cNvSpPr/>
          <p:nvPr/>
        </p:nvSpPr>
        <p:spPr>
          <a:xfrm>
            <a:off x="1805247" y="2328118"/>
            <a:ext cx="41314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50" dirty="0">
                <a:solidFill>
                  <a:srgbClr val="FFD0C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← DM → 3m BP → Adh → Y</a:t>
            </a:r>
            <a:endParaRPr lang="en-US" sz="20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8CCB62B-7340-A416-4C18-5B102E94A13D}"/>
              </a:ext>
            </a:extLst>
          </p:cNvPr>
          <p:cNvSpPr/>
          <p:nvPr/>
        </p:nvSpPr>
        <p:spPr>
          <a:xfrm>
            <a:off x="1805247" y="2739598"/>
            <a:ext cx="3023062" cy="225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50" dirty="0">
                <a:solidFill>
                  <a:srgbClr val="AEB4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Again, BP is not on the path.</a:t>
            </a:r>
            <a:endParaRPr lang="en-US" sz="11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4BA05A8-3B52-848D-5670-FFDC59AC04E9}"/>
              </a:ext>
            </a:extLst>
          </p:cNvPr>
          <p:cNvSpPr/>
          <p:nvPr/>
        </p:nvSpPr>
        <p:spPr>
          <a:xfrm>
            <a:off x="1530927" y="3272789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b="1" dirty="0">
                <a:solidFill>
                  <a:srgbClr val="FF6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So, BP alone is NOT sufficient.</a:t>
            </a:r>
            <a:endParaRPr lang="en-US" sz="28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A8A9FDC-B061-F6DD-FA1C-9CEA67F56E0E}"/>
              </a:ext>
            </a:extLst>
          </p:cNvPr>
          <p:cNvSpPr/>
          <p:nvPr/>
        </p:nvSpPr>
        <p:spPr>
          <a:xfrm>
            <a:off x="160875" y="4132325"/>
            <a:ext cx="8837652" cy="578219"/>
          </a:xfrm>
          <a:prstGeom prst="roundRect">
            <a:avLst>
              <a:gd name="adj" fmla="val 8065"/>
            </a:avLst>
          </a:prstGeom>
          <a:solidFill>
            <a:srgbClr val="20242A"/>
          </a:solidFill>
          <a:ln w="17780">
            <a:solidFill>
              <a:srgbClr val="F0C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E68B081-BB3B-5FD2-0F71-DB64AD7E3A89}"/>
              </a:ext>
            </a:extLst>
          </p:cNvPr>
          <p:cNvSpPr/>
          <p:nvPr/>
        </p:nvSpPr>
        <p:spPr>
          <a:xfrm>
            <a:off x="343755" y="4287773"/>
            <a:ext cx="8524815" cy="233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0C3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need one more baseline variable to close Paths 8 and 9.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031986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07F83-34C2-E6F3-C151-935276586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CA6777-CB04-4A72-0966-191C9F1F797F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DM closes the remaining two paths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730C114-7C9D-2E6B-613C-6319D9C2429D}"/>
              </a:ext>
            </a:extLst>
          </p:cNvPr>
          <p:cNvSpPr/>
          <p:nvPr/>
        </p:nvSpPr>
        <p:spPr>
          <a:xfrm>
            <a:off x="1325187" y="87422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F4F1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two backdoor paths do not contain BP:</a:t>
            </a:r>
            <a:endParaRPr lang="en-US" sz="1800" dirty="0"/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32EA86F6-DDA8-4BEF-798C-E7E78929843A}"/>
              </a:ext>
            </a:extLst>
          </p:cNvPr>
          <p:cNvSpPr/>
          <p:nvPr/>
        </p:nvSpPr>
        <p:spPr>
          <a:xfrm>
            <a:off x="607522" y="1678687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A1D21"/>
          </a:solidFill>
          <a:ln w="16510">
            <a:solidFill>
              <a:srgbClr val="9ED9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3AD57D34-C6AC-B5B2-4736-F10401FC2FC6}"/>
              </a:ext>
            </a:extLst>
          </p:cNvPr>
          <p:cNvSpPr/>
          <p:nvPr/>
        </p:nvSpPr>
        <p:spPr>
          <a:xfrm>
            <a:off x="653242" y="1751839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50" b="1" dirty="0">
                <a:solidFill>
                  <a:srgbClr val="9ED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8</a:t>
            </a:r>
            <a:endParaRPr lang="en-US" sz="115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80BC7248-A536-CD2E-631B-70F35A8CECB5}"/>
              </a:ext>
            </a:extLst>
          </p:cNvPr>
          <p:cNvSpPr/>
          <p:nvPr/>
        </p:nvSpPr>
        <p:spPr>
          <a:xfrm>
            <a:off x="2070562" y="1696975"/>
            <a:ext cx="37344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50" dirty="0">
                <a:solidFill>
                  <a:srgbClr val="C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← DM → 3m BP → Y</a:t>
            </a:r>
            <a:endParaRPr lang="en-US" sz="2050" dirty="0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9F8C3A25-5DF9-3CBD-B73B-DF61F03653C3}"/>
              </a:ext>
            </a:extLst>
          </p:cNvPr>
          <p:cNvSpPr/>
          <p:nvPr/>
        </p:nvSpPr>
        <p:spPr>
          <a:xfrm>
            <a:off x="607522" y="2547367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A1D21"/>
          </a:solidFill>
          <a:ln w="16510">
            <a:solidFill>
              <a:srgbClr val="9ED9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D9743C86-EE3B-85EC-CFF2-60631765CA0A}"/>
              </a:ext>
            </a:extLst>
          </p:cNvPr>
          <p:cNvSpPr/>
          <p:nvPr/>
        </p:nvSpPr>
        <p:spPr>
          <a:xfrm>
            <a:off x="653242" y="2620519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50" b="1" dirty="0">
                <a:solidFill>
                  <a:srgbClr val="9ED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9</a:t>
            </a:r>
            <a:endParaRPr lang="en-US" sz="115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7A7F2F0C-3A4D-DD60-CB74-C12B1A3445F8}"/>
              </a:ext>
            </a:extLst>
          </p:cNvPr>
          <p:cNvSpPr/>
          <p:nvPr/>
        </p:nvSpPr>
        <p:spPr>
          <a:xfrm>
            <a:off x="2070562" y="2565655"/>
            <a:ext cx="4198620" cy="3505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50" dirty="0">
                <a:solidFill>
                  <a:srgbClr val="C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← DM → 3m BP → Adh → Y</a:t>
            </a:r>
            <a:endParaRPr lang="en-US" sz="205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8AAF4691-3B73-69AB-0473-928C1801F3EB}"/>
              </a:ext>
            </a:extLst>
          </p:cNvPr>
          <p:cNvSpPr/>
          <p:nvPr/>
        </p:nvSpPr>
        <p:spPr>
          <a:xfrm>
            <a:off x="2748742" y="3144773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b="1" dirty="0">
                <a:solidFill>
                  <a:srgbClr val="9ED9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Condition on DM</a:t>
            </a:r>
            <a:endParaRPr lang="en-US" sz="28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E0EA24D7-12EE-4088-42B5-8A1A0F2B9A86}"/>
              </a:ext>
            </a:extLst>
          </p:cNvPr>
          <p:cNvSpPr/>
          <p:nvPr/>
        </p:nvSpPr>
        <p:spPr>
          <a:xfrm>
            <a:off x="1697182" y="3707129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00" dirty="0">
                <a:solidFill>
                  <a:srgbClr val="F4F1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paths are blocked immediately at DM.</a:t>
            </a:r>
            <a:endParaRPr lang="en-US" sz="1700" dirty="0"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5C671820-DE99-D020-D731-D625043A461D}"/>
              </a:ext>
            </a:extLst>
          </p:cNvPr>
          <p:cNvSpPr/>
          <p:nvPr/>
        </p:nvSpPr>
        <p:spPr>
          <a:xfrm>
            <a:off x="2977342" y="4178045"/>
            <a:ext cx="3383280" cy="822960"/>
          </a:xfrm>
          <a:prstGeom prst="roundRect">
            <a:avLst/>
          </a:prstGeom>
          <a:solidFill>
            <a:srgbClr val="203128"/>
          </a:solidFill>
          <a:ln w="25400">
            <a:solidFill>
              <a:srgbClr val="9ED9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9A0680BB-F459-BF78-FCA7-A9AB30BC9A63}"/>
              </a:ext>
            </a:extLst>
          </p:cNvPr>
          <p:cNvSpPr/>
          <p:nvPr/>
        </p:nvSpPr>
        <p:spPr>
          <a:xfrm>
            <a:off x="3388822" y="4397501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500" b="1" dirty="0">
                <a:solidFill>
                  <a:srgbClr val="9ED9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{ BP, DM }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1421401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70519-07CA-F940-38F2-FA8F1BF7E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5B7224-125D-C74B-94AB-5FB101447828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 block using 3-month BP or adherence?</a:t>
            </a:r>
            <a:endParaRPr lang="en-US" sz="28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3522573-9407-2173-C882-C00F73CE4845}"/>
              </a:ext>
            </a:extLst>
          </p:cNvPr>
          <p:cNvSpPr/>
          <p:nvPr/>
        </p:nvSpPr>
        <p:spPr>
          <a:xfrm>
            <a:off x="336665" y="1135726"/>
            <a:ext cx="8521717" cy="39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dirty="0">
                <a:solidFill>
                  <a:srgbClr val="F4F1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Mathematically, conditioning on 3m BP or Adh could block those individual paths.</a:t>
            </a:r>
            <a:endParaRPr lang="en-US" sz="17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18F0E899-1F74-D23E-B685-44575C5E7AD2}"/>
              </a:ext>
            </a:extLst>
          </p:cNvPr>
          <p:cNvSpPr/>
          <p:nvPr/>
        </p:nvSpPr>
        <p:spPr>
          <a:xfrm>
            <a:off x="336665" y="1684366"/>
            <a:ext cx="8521717" cy="39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FF6B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they are post-treatment variables.</a:t>
            </a:r>
            <a:endParaRPr lang="en-US" sz="24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7F0C6D59-72D2-4BBD-1044-F9593409B388}"/>
              </a:ext>
            </a:extLst>
          </p:cNvPr>
          <p:cNvSpPr/>
          <p:nvPr/>
        </p:nvSpPr>
        <p:spPr>
          <a:xfrm>
            <a:off x="241859" y="2286346"/>
            <a:ext cx="4300451" cy="2011680"/>
          </a:xfrm>
          <a:prstGeom prst="roundRect">
            <a:avLst/>
          </a:prstGeom>
          <a:solidFill>
            <a:srgbClr val="22262C"/>
          </a:solidFill>
          <a:ln w="20320">
            <a:solidFill>
              <a:srgbClr val="C6A0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0ED868A-9408-5E08-B558-199C4CBC2278}"/>
              </a:ext>
            </a:extLst>
          </p:cNvPr>
          <p:cNvSpPr/>
          <p:nvPr/>
        </p:nvSpPr>
        <p:spPr>
          <a:xfrm>
            <a:off x="561900" y="2560666"/>
            <a:ext cx="3547696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C6A0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3-month BP</a:t>
            </a:r>
            <a:endParaRPr lang="en-US" sz="16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C5A40B51-F141-E8EC-98EC-345294FA40B6}"/>
              </a:ext>
            </a:extLst>
          </p:cNvPr>
          <p:cNvSpPr/>
          <p:nvPr/>
        </p:nvSpPr>
        <p:spPr>
          <a:xfrm>
            <a:off x="653340" y="3136738"/>
            <a:ext cx="339002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→ 3m BP → Y</a:t>
            </a:r>
            <a:endParaRPr lang="en-US" sz="22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6E6ECA0A-E963-5BFB-2234-1D5CF34ECB6D}"/>
              </a:ext>
            </a:extLst>
          </p:cNvPr>
          <p:cNvSpPr/>
          <p:nvPr/>
        </p:nvSpPr>
        <p:spPr>
          <a:xfrm>
            <a:off x="561900" y="3749386"/>
            <a:ext cx="3547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dirty="0">
                <a:solidFill>
                  <a:srgbClr val="AEB4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Mediator on a causal pathway</a:t>
            </a:r>
            <a:endParaRPr lang="en-US" sz="13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3CC1A056-EEA8-7B96-867A-F1DA5C28D4FB}"/>
              </a:ext>
            </a:extLst>
          </p:cNvPr>
          <p:cNvSpPr/>
          <p:nvPr/>
        </p:nvSpPr>
        <p:spPr>
          <a:xfrm>
            <a:off x="4680784" y="2286346"/>
            <a:ext cx="4177598" cy="2011680"/>
          </a:xfrm>
          <a:prstGeom prst="roundRect">
            <a:avLst/>
          </a:prstGeom>
          <a:solidFill>
            <a:srgbClr val="22262C"/>
          </a:solidFill>
          <a:ln w="20320">
            <a:solidFill>
              <a:srgbClr val="C6A0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9D98E24E-8AC9-15E3-F2F5-9D5C03691282}"/>
              </a:ext>
            </a:extLst>
          </p:cNvPr>
          <p:cNvSpPr/>
          <p:nvPr/>
        </p:nvSpPr>
        <p:spPr>
          <a:xfrm>
            <a:off x="5000824" y="2560666"/>
            <a:ext cx="3615229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C6A0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Adherence</a:t>
            </a:r>
            <a:endParaRPr lang="en-US" sz="16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7FE053C8-C133-465E-4D22-25532B179FE9}"/>
              </a:ext>
            </a:extLst>
          </p:cNvPr>
          <p:cNvSpPr/>
          <p:nvPr/>
        </p:nvSpPr>
        <p:spPr>
          <a:xfrm>
            <a:off x="4863664" y="3136738"/>
            <a:ext cx="38562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→ 3m BP → Adh → Y</a:t>
            </a:r>
            <a:endParaRPr lang="en-US" sz="20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6467CFB5-B67B-CF4A-8BF4-4EDCBDE26AE0}"/>
              </a:ext>
            </a:extLst>
          </p:cNvPr>
          <p:cNvSpPr/>
          <p:nvPr/>
        </p:nvSpPr>
        <p:spPr>
          <a:xfrm>
            <a:off x="4909384" y="3749386"/>
            <a:ext cx="37759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dirty="0">
                <a:solidFill>
                  <a:srgbClr val="AEB4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Also lies downstream of treatment</a:t>
            </a:r>
            <a:endParaRPr lang="en-US" sz="1300" dirty="0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2E8794D6-1E75-97C4-C8FC-3DF6DDBBF187}"/>
              </a:ext>
            </a:extLst>
          </p:cNvPr>
          <p:cNvSpPr/>
          <p:nvPr/>
        </p:nvSpPr>
        <p:spPr>
          <a:xfrm>
            <a:off x="84512" y="4506190"/>
            <a:ext cx="8907088" cy="548640"/>
          </a:xfrm>
          <a:prstGeom prst="roundRect">
            <a:avLst>
              <a:gd name="adj" fmla="val 8065"/>
            </a:avLst>
          </a:prstGeom>
          <a:solidFill>
            <a:srgbClr val="20242A"/>
          </a:solidFill>
          <a:ln w="17780">
            <a:solidFill>
              <a:srgbClr val="F0C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69E554B7-EB7E-AEC9-6DC5-1AE44AF82E33}"/>
              </a:ext>
            </a:extLst>
          </p:cNvPr>
          <p:cNvSpPr/>
          <p:nvPr/>
        </p:nvSpPr>
        <p:spPr>
          <a:xfrm>
            <a:off x="267392" y="4661638"/>
            <a:ext cx="8591793" cy="22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0C3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the TOTAL effect, block backdoor paths using baseline variables, not mediators.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565463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A3F5C-5991-E567-3DB4-2414B6A10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C03822-CA71-A356-443F-ABFB1599EADC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isn’t Age required?</a:t>
            </a:r>
            <a:endParaRPr lang="en-US" sz="2800" dirty="0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04859C8F-FED1-8176-F7C4-128B0E56B11C}"/>
              </a:ext>
            </a:extLst>
          </p:cNvPr>
          <p:cNvSpPr/>
          <p:nvPr/>
        </p:nvSpPr>
        <p:spPr>
          <a:xfrm>
            <a:off x="670560" y="904495"/>
            <a:ext cx="8064731" cy="450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F4F1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creates backdoor paths, but every Age path passes through BP:</a:t>
            </a:r>
            <a:endParaRPr lang="en-US" sz="17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8E4658DF-59BF-033E-7223-2C9F12D5EF34}"/>
              </a:ext>
            </a:extLst>
          </p:cNvPr>
          <p:cNvSpPr/>
          <p:nvPr/>
        </p:nvSpPr>
        <p:spPr>
          <a:xfrm>
            <a:off x="487680" y="1560369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A1D21"/>
          </a:solidFill>
          <a:ln w="16510">
            <a:solidFill>
              <a:srgbClr val="8C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9826B465-3978-D915-B7E9-3412C6D36BCE}"/>
              </a:ext>
            </a:extLst>
          </p:cNvPr>
          <p:cNvSpPr/>
          <p:nvPr/>
        </p:nvSpPr>
        <p:spPr>
          <a:xfrm>
            <a:off x="533400" y="1633521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50" b="1" dirty="0">
                <a:solidFill>
                  <a:srgbClr val="8CC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10</a:t>
            </a:r>
            <a:endParaRPr lang="en-US" sz="115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75517FCB-03C6-7007-517C-27FEF625979C}"/>
              </a:ext>
            </a:extLst>
          </p:cNvPr>
          <p:cNvSpPr/>
          <p:nvPr/>
        </p:nvSpPr>
        <p:spPr>
          <a:xfrm>
            <a:off x="1950720" y="1578657"/>
            <a:ext cx="6528262" cy="4507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50" dirty="0">
                <a:solidFill>
                  <a:srgbClr val="D9E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← Age → BP → Y</a:t>
            </a:r>
            <a:endParaRPr lang="en-US" sz="2050" dirty="0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D6BEA755-6858-6D80-8835-FC788E520F2E}"/>
              </a:ext>
            </a:extLst>
          </p:cNvPr>
          <p:cNvSpPr/>
          <p:nvPr/>
        </p:nvSpPr>
        <p:spPr>
          <a:xfrm>
            <a:off x="487680" y="2429049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A1D21"/>
          </a:solidFill>
          <a:ln w="16510">
            <a:solidFill>
              <a:srgbClr val="8C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56D7A0C0-A873-9C49-713F-62A12AB67481}"/>
              </a:ext>
            </a:extLst>
          </p:cNvPr>
          <p:cNvSpPr/>
          <p:nvPr/>
        </p:nvSpPr>
        <p:spPr>
          <a:xfrm>
            <a:off x="533400" y="2502201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50" b="1" dirty="0">
                <a:solidFill>
                  <a:srgbClr val="8CC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11</a:t>
            </a:r>
            <a:endParaRPr lang="en-US" sz="1150" dirty="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EEBF5DF4-C419-621F-7D36-AAFF11EFBF8A}"/>
              </a:ext>
            </a:extLst>
          </p:cNvPr>
          <p:cNvSpPr/>
          <p:nvPr/>
        </p:nvSpPr>
        <p:spPr>
          <a:xfrm>
            <a:off x="1950720" y="2447337"/>
            <a:ext cx="62442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50" dirty="0">
                <a:solidFill>
                  <a:srgbClr val="D9E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← Age → BP → DM → 3m BP → Y</a:t>
            </a:r>
            <a:endParaRPr lang="en-US" sz="2050" dirty="0"/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90C86A1A-6350-5263-403C-534523FF4A6E}"/>
              </a:ext>
            </a:extLst>
          </p:cNvPr>
          <p:cNvSpPr/>
          <p:nvPr/>
        </p:nvSpPr>
        <p:spPr>
          <a:xfrm>
            <a:off x="487680" y="3297729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A1D21"/>
          </a:solidFill>
          <a:ln w="16510">
            <a:solidFill>
              <a:srgbClr val="8C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11395705-9D60-2ADD-1D0C-A57C3BF87196}"/>
              </a:ext>
            </a:extLst>
          </p:cNvPr>
          <p:cNvSpPr/>
          <p:nvPr/>
        </p:nvSpPr>
        <p:spPr>
          <a:xfrm>
            <a:off x="533400" y="3370881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50" b="1" dirty="0">
                <a:solidFill>
                  <a:srgbClr val="8CC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12</a:t>
            </a:r>
            <a:endParaRPr lang="en-US" sz="115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51394B2F-4769-ADCC-FC65-B1FF08E695E6}"/>
              </a:ext>
            </a:extLst>
          </p:cNvPr>
          <p:cNvSpPr/>
          <p:nvPr/>
        </p:nvSpPr>
        <p:spPr>
          <a:xfrm>
            <a:off x="1950720" y="3316017"/>
            <a:ext cx="69076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50" dirty="0">
                <a:solidFill>
                  <a:srgbClr val="D9E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← Age → BP → DM → 3m BP → Adh → Y</a:t>
            </a:r>
            <a:endParaRPr lang="en-US" sz="2050" dirty="0"/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FAF607C6-6994-1F0B-33E9-23BD78B61E8E}"/>
              </a:ext>
            </a:extLst>
          </p:cNvPr>
          <p:cNvSpPr/>
          <p:nvPr/>
        </p:nvSpPr>
        <p:spPr>
          <a:xfrm>
            <a:off x="87391" y="3820391"/>
            <a:ext cx="8969218" cy="6739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Because BP is already in the adjustment set, all three paths are already blocked.</a:t>
            </a:r>
            <a:endParaRPr lang="en-US" dirty="0"/>
          </a:p>
        </p:txBody>
      </p:sp>
      <p:sp>
        <p:nvSpPr>
          <p:cNvPr id="32" name="Shape 12">
            <a:extLst>
              <a:ext uri="{FF2B5EF4-FFF2-40B4-BE49-F238E27FC236}">
                <a16:creationId xmlns:a16="http://schemas.microsoft.com/office/drawing/2014/main" id="{A4EB08F3-18FB-72D3-DB8D-039594B98B38}"/>
              </a:ext>
            </a:extLst>
          </p:cNvPr>
          <p:cNvSpPr/>
          <p:nvPr/>
        </p:nvSpPr>
        <p:spPr>
          <a:xfrm>
            <a:off x="117764" y="4459223"/>
            <a:ext cx="8969218" cy="566928"/>
          </a:xfrm>
          <a:prstGeom prst="roundRect">
            <a:avLst>
              <a:gd name="adj" fmla="val 8065"/>
            </a:avLst>
          </a:prstGeom>
          <a:solidFill>
            <a:srgbClr val="20242A"/>
          </a:solidFill>
          <a:ln w="17780">
            <a:solidFill>
              <a:srgbClr val="8C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E7319CA5-54DF-5C53-83C7-AEB7BF550D50}"/>
              </a:ext>
            </a:extLst>
          </p:cNvPr>
          <p:cNvSpPr/>
          <p:nvPr/>
        </p:nvSpPr>
        <p:spPr>
          <a:xfrm>
            <a:off x="300644" y="4614671"/>
            <a:ext cx="86517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8CC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may be included, but it is not necessary for a minimal sufficient set.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152788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AEB00-1E8E-2F6E-7275-2BC976C82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3E4ECE-743D-C330-1AEB-C33A20E2E2A3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 vs minimal adjustment sets</a:t>
            </a:r>
            <a:endParaRPr lang="en-US" sz="280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147C52B8-7185-DB81-01D8-54797FB31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36" y="906385"/>
            <a:ext cx="8541327" cy="3583585"/>
          </a:xfrm>
          <a:prstGeom prst="rect">
            <a:avLst/>
          </a:prstGeom>
        </p:spPr>
      </p:pic>
      <p:sp>
        <p:nvSpPr>
          <p:cNvPr id="57" name="Shape 37">
            <a:extLst>
              <a:ext uri="{FF2B5EF4-FFF2-40B4-BE49-F238E27FC236}">
                <a16:creationId xmlns:a16="http://schemas.microsoft.com/office/drawing/2014/main" id="{82A69769-FCE6-876C-21AA-C7A7995F18E6}"/>
              </a:ext>
            </a:extLst>
          </p:cNvPr>
          <p:cNvSpPr/>
          <p:nvPr/>
        </p:nvSpPr>
        <p:spPr>
          <a:xfrm>
            <a:off x="0" y="4576572"/>
            <a:ext cx="9053945" cy="523220"/>
          </a:xfrm>
          <a:prstGeom prst="roundRect">
            <a:avLst>
              <a:gd name="adj" fmla="val 8065"/>
            </a:avLst>
          </a:prstGeom>
          <a:solidFill>
            <a:srgbClr val="20242A"/>
          </a:solidFill>
          <a:ln w="17780">
            <a:solidFill>
              <a:srgbClr val="F0C3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38">
            <a:extLst>
              <a:ext uri="{FF2B5EF4-FFF2-40B4-BE49-F238E27FC236}">
                <a16:creationId xmlns:a16="http://schemas.microsoft.com/office/drawing/2014/main" id="{649CEF86-F8A7-D31B-DC35-AD11349E800C}"/>
              </a:ext>
            </a:extLst>
          </p:cNvPr>
          <p:cNvSpPr/>
          <p:nvPr/>
        </p:nvSpPr>
        <p:spPr>
          <a:xfrm>
            <a:off x="182880" y="4732020"/>
            <a:ext cx="8733451" cy="21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0C3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does not mean “fewest variables possible” in general; it means no variable in the chosen valid set is redundant.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372031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B1EB2-769E-8012-D399-1CA815D5D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690C65-9801-3A5B-CFD3-2E6F0D83DC70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Collider logic is path-specific</a:t>
            </a:r>
            <a:endParaRPr lang="en-US" sz="28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F91E87E7-226C-B2A1-8412-82C5C66F9CB7}"/>
              </a:ext>
            </a:extLst>
          </p:cNvPr>
          <p:cNvSpPr/>
          <p:nvPr/>
        </p:nvSpPr>
        <p:spPr>
          <a:xfrm>
            <a:off x="441960" y="895073"/>
            <a:ext cx="7812075" cy="421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1: A backdoor path with a collider</a:t>
            </a:r>
            <a:endParaRPr lang="en-US" sz="27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357B1FB-327D-0652-2AC2-FCE0B6CC999F}"/>
              </a:ext>
            </a:extLst>
          </p:cNvPr>
          <p:cNvSpPr/>
          <p:nvPr/>
        </p:nvSpPr>
        <p:spPr>
          <a:xfrm>
            <a:off x="469392" y="1443713"/>
            <a:ext cx="7684008" cy="260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Path:  T ← C → V → M ← L → U → O</a:t>
            </a:r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A234F685-18BA-4A30-80C1-8D7A1C6D06D0}"/>
              </a:ext>
            </a:extLst>
          </p:cNvPr>
          <p:cNvSpPr/>
          <p:nvPr/>
        </p:nvSpPr>
        <p:spPr>
          <a:xfrm>
            <a:off x="112914" y="2091690"/>
            <a:ext cx="960120" cy="960120"/>
          </a:xfrm>
          <a:prstGeom prst="ellipse">
            <a:avLst/>
          </a:prstGeom>
          <a:solidFill>
            <a:srgbClr val="D9EAF7"/>
          </a:solidFill>
          <a:ln w="2794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6E8AEA4C-EA45-A3CF-E3CF-4B3993838E8A}"/>
              </a:ext>
            </a:extLst>
          </p:cNvPr>
          <p:cNvSpPr/>
          <p:nvPr/>
        </p:nvSpPr>
        <p:spPr>
          <a:xfrm>
            <a:off x="112914" y="2375154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</a:rPr>
              <a:t>T</a:t>
            </a:r>
            <a:endParaRPr lang="en-US" sz="2000" dirty="0"/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F9BCE038-DD66-C384-F67B-32EA9BF5BE14}"/>
              </a:ext>
            </a:extLst>
          </p:cNvPr>
          <p:cNvSpPr/>
          <p:nvPr/>
        </p:nvSpPr>
        <p:spPr>
          <a:xfrm>
            <a:off x="1371600" y="2091690"/>
            <a:ext cx="960120" cy="96012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62CDE857-1CF8-191E-F8D3-FEFB58062491}"/>
              </a:ext>
            </a:extLst>
          </p:cNvPr>
          <p:cNvSpPr/>
          <p:nvPr/>
        </p:nvSpPr>
        <p:spPr>
          <a:xfrm>
            <a:off x="1371600" y="2375154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</a:rPr>
              <a:t>C</a:t>
            </a:r>
            <a:endParaRPr lang="en-US" sz="2000" dirty="0"/>
          </a:p>
        </p:txBody>
      </p:sp>
      <p:sp>
        <p:nvSpPr>
          <p:cNvPr id="9" name="Shape 12">
            <a:extLst>
              <a:ext uri="{FF2B5EF4-FFF2-40B4-BE49-F238E27FC236}">
                <a16:creationId xmlns:a16="http://schemas.microsoft.com/office/drawing/2014/main" id="{FF92D9A1-F91E-8119-F34B-9C51C1740D7A}"/>
              </a:ext>
            </a:extLst>
          </p:cNvPr>
          <p:cNvSpPr/>
          <p:nvPr/>
        </p:nvSpPr>
        <p:spPr>
          <a:xfrm>
            <a:off x="2630286" y="2091690"/>
            <a:ext cx="960120" cy="96012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708465B8-F28E-D5DC-9F5B-CFB78F48F0FC}"/>
              </a:ext>
            </a:extLst>
          </p:cNvPr>
          <p:cNvSpPr/>
          <p:nvPr/>
        </p:nvSpPr>
        <p:spPr>
          <a:xfrm>
            <a:off x="2630286" y="2375154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</a:rPr>
              <a:t>V</a:t>
            </a:r>
            <a:endParaRPr lang="en-US" sz="2000" dirty="0"/>
          </a:p>
        </p:txBody>
      </p:sp>
      <p:sp>
        <p:nvSpPr>
          <p:cNvPr id="11" name="Shape 14">
            <a:extLst>
              <a:ext uri="{FF2B5EF4-FFF2-40B4-BE49-F238E27FC236}">
                <a16:creationId xmlns:a16="http://schemas.microsoft.com/office/drawing/2014/main" id="{0C484510-38E4-D93B-F619-D96E8A4376FF}"/>
              </a:ext>
            </a:extLst>
          </p:cNvPr>
          <p:cNvSpPr/>
          <p:nvPr/>
        </p:nvSpPr>
        <p:spPr>
          <a:xfrm>
            <a:off x="3931920" y="2091690"/>
            <a:ext cx="960120" cy="960120"/>
          </a:xfrm>
          <a:prstGeom prst="ellipse">
            <a:avLst/>
          </a:prstGeom>
          <a:solidFill>
            <a:srgbClr val="FCE4D6"/>
          </a:solidFill>
          <a:ln w="2794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BB6404E6-3DC9-58E0-A7EB-F39B7B56D1CD}"/>
              </a:ext>
            </a:extLst>
          </p:cNvPr>
          <p:cNvSpPr/>
          <p:nvPr/>
        </p:nvSpPr>
        <p:spPr>
          <a:xfrm>
            <a:off x="3931920" y="2375154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</a:rPr>
              <a:t>M</a:t>
            </a:r>
            <a:endParaRPr lang="en-US" sz="2000" dirty="0"/>
          </a:p>
        </p:txBody>
      </p:sp>
      <p:sp>
        <p:nvSpPr>
          <p:cNvPr id="13" name="Shape 16">
            <a:extLst>
              <a:ext uri="{FF2B5EF4-FFF2-40B4-BE49-F238E27FC236}">
                <a16:creationId xmlns:a16="http://schemas.microsoft.com/office/drawing/2014/main" id="{ED0D9124-F51E-40C1-42FA-3ACD442E0257}"/>
              </a:ext>
            </a:extLst>
          </p:cNvPr>
          <p:cNvSpPr/>
          <p:nvPr/>
        </p:nvSpPr>
        <p:spPr>
          <a:xfrm>
            <a:off x="5233554" y="2091690"/>
            <a:ext cx="960120" cy="96012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7">
            <a:extLst>
              <a:ext uri="{FF2B5EF4-FFF2-40B4-BE49-F238E27FC236}">
                <a16:creationId xmlns:a16="http://schemas.microsoft.com/office/drawing/2014/main" id="{8F5BD226-8220-EC80-C4BB-B230CEBA4091}"/>
              </a:ext>
            </a:extLst>
          </p:cNvPr>
          <p:cNvSpPr/>
          <p:nvPr/>
        </p:nvSpPr>
        <p:spPr>
          <a:xfrm>
            <a:off x="5233554" y="2375154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</a:rPr>
              <a:t>L</a:t>
            </a:r>
            <a:endParaRPr lang="en-US" sz="2000" dirty="0"/>
          </a:p>
        </p:txBody>
      </p:sp>
      <p:sp>
        <p:nvSpPr>
          <p:cNvPr id="15" name="Shape 18">
            <a:extLst>
              <a:ext uri="{FF2B5EF4-FFF2-40B4-BE49-F238E27FC236}">
                <a16:creationId xmlns:a16="http://schemas.microsoft.com/office/drawing/2014/main" id="{1C23346E-EEEA-BCDF-19EB-3C0B785499A9}"/>
              </a:ext>
            </a:extLst>
          </p:cNvPr>
          <p:cNvSpPr/>
          <p:nvPr/>
        </p:nvSpPr>
        <p:spPr>
          <a:xfrm>
            <a:off x="6630786" y="2091690"/>
            <a:ext cx="960120" cy="96012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9">
            <a:extLst>
              <a:ext uri="{FF2B5EF4-FFF2-40B4-BE49-F238E27FC236}">
                <a16:creationId xmlns:a16="http://schemas.microsoft.com/office/drawing/2014/main" id="{B871862A-4E12-6FF1-7DBD-F9999F93BF06}"/>
              </a:ext>
            </a:extLst>
          </p:cNvPr>
          <p:cNvSpPr/>
          <p:nvPr/>
        </p:nvSpPr>
        <p:spPr>
          <a:xfrm>
            <a:off x="6630786" y="2375154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</a:rPr>
              <a:t>U</a:t>
            </a:r>
            <a:endParaRPr lang="en-US" sz="2000" dirty="0"/>
          </a:p>
        </p:txBody>
      </p:sp>
      <p:sp>
        <p:nvSpPr>
          <p:cNvPr id="17" name="Shape 20">
            <a:extLst>
              <a:ext uri="{FF2B5EF4-FFF2-40B4-BE49-F238E27FC236}">
                <a16:creationId xmlns:a16="http://schemas.microsoft.com/office/drawing/2014/main" id="{6C9AC6AF-C686-F429-99E5-9E6725D996A7}"/>
              </a:ext>
            </a:extLst>
          </p:cNvPr>
          <p:cNvSpPr/>
          <p:nvPr/>
        </p:nvSpPr>
        <p:spPr>
          <a:xfrm>
            <a:off x="7932420" y="2091690"/>
            <a:ext cx="960120" cy="960120"/>
          </a:xfrm>
          <a:prstGeom prst="ellipse">
            <a:avLst/>
          </a:prstGeom>
          <a:solidFill>
            <a:srgbClr val="E2F0D9"/>
          </a:solidFill>
          <a:ln w="27940">
            <a:solidFill>
              <a:srgbClr val="54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21">
            <a:extLst>
              <a:ext uri="{FF2B5EF4-FFF2-40B4-BE49-F238E27FC236}">
                <a16:creationId xmlns:a16="http://schemas.microsoft.com/office/drawing/2014/main" id="{6A6BA13D-A385-21DF-B4AD-7F4512FE1A3B}"/>
              </a:ext>
            </a:extLst>
          </p:cNvPr>
          <p:cNvSpPr/>
          <p:nvPr/>
        </p:nvSpPr>
        <p:spPr>
          <a:xfrm>
            <a:off x="7932420" y="2375154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</a:rPr>
              <a:t>O</a:t>
            </a:r>
            <a:endParaRPr lang="en-US" sz="20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A653D9C-6CEC-1091-D7C3-08572096E181}"/>
              </a:ext>
            </a:extLst>
          </p:cNvPr>
          <p:cNvCxnSpPr>
            <a:cxnSpLocks/>
            <a:endCxn id="5" idx="6"/>
          </p:cNvCxnSpPr>
          <p:nvPr/>
        </p:nvCxnSpPr>
        <p:spPr>
          <a:xfrm flipH="1">
            <a:off x="1073034" y="2571750"/>
            <a:ext cx="3281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91F4C6D-025C-E1C0-4DE6-ACD5E7ACC083}"/>
              </a:ext>
            </a:extLst>
          </p:cNvPr>
          <p:cNvCxnSpPr/>
          <p:nvPr/>
        </p:nvCxnSpPr>
        <p:spPr>
          <a:xfrm>
            <a:off x="2331720" y="2571750"/>
            <a:ext cx="2985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E156E4C-0186-C1DC-74CE-64A646049FBE}"/>
              </a:ext>
            </a:extLst>
          </p:cNvPr>
          <p:cNvCxnSpPr/>
          <p:nvPr/>
        </p:nvCxnSpPr>
        <p:spPr>
          <a:xfrm>
            <a:off x="3590406" y="2571750"/>
            <a:ext cx="2985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780213F-DCF8-4C51-7F3D-71CF35FD6B78}"/>
              </a:ext>
            </a:extLst>
          </p:cNvPr>
          <p:cNvCxnSpPr/>
          <p:nvPr/>
        </p:nvCxnSpPr>
        <p:spPr>
          <a:xfrm>
            <a:off x="6275416" y="2571750"/>
            <a:ext cx="2985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B01CC5E-DEDF-0842-1655-BC04954A430C}"/>
              </a:ext>
            </a:extLst>
          </p:cNvPr>
          <p:cNvCxnSpPr/>
          <p:nvPr/>
        </p:nvCxnSpPr>
        <p:spPr>
          <a:xfrm>
            <a:off x="7590906" y="2571750"/>
            <a:ext cx="2985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29FE947-16AF-5D7F-B1D8-1FE4715B0B6D}"/>
              </a:ext>
            </a:extLst>
          </p:cNvPr>
          <p:cNvCxnSpPr>
            <a:cxnSpLocks/>
            <a:endCxn id="11" idx="6"/>
          </p:cNvCxnSpPr>
          <p:nvPr/>
        </p:nvCxnSpPr>
        <p:spPr>
          <a:xfrm flipH="1" flipV="1">
            <a:off x="4892040" y="2571750"/>
            <a:ext cx="341514" cy="103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hape 22">
            <a:extLst>
              <a:ext uri="{FF2B5EF4-FFF2-40B4-BE49-F238E27FC236}">
                <a16:creationId xmlns:a16="http://schemas.microsoft.com/office/drawing/2014/main" id="{44A3AFFB-D001-AFB6-D192-BFA2CA5225F1}"/>
              </a:ext>
            </a:extLst>
          </p:cNvPr>
          <p:cNvSpPr/>
          <p:nvPr/>
        </p:nvSpPr>
        <p:spPr>
          <a:xfrm>
            <a:off x="3931920" y="3257757"/>
            <a:ext cx="1024128" cy="384048"/>
          </a:xfrm>
          <a:prstGeom prst="roundRect">
            <a:avLst/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DEDB0EE0-921F-4374-355F-D791CEF93C84}"/>
              </a:ext>
            </a:extLst>
          </p:cNvPr>
          <p:cNvSpPr/>
          <p:nvPr/>
        </p:nvSpPr>
        <p:spPr>
          <a:xfrm>
            <a:off x="3977640" y="3330909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C55A11"/>
                </a:solidFill>
              </a:rPr>
              <a:t>COLLIDER</a:t>
            </a:r>
            <a:endParaRPr lang="en-US" sz="1300" dirty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D45AC1B1-D86F-345E-8069-B42F99371312}"/>
              </a:ext>
            </a:extLst>
          </p:cNvPr>
          <p:cNvSpPr/>
          <p:nvPr/>
        </p:nvSpPr>
        <p:spPr>
          <a:xfrm>
            <a:off x="469392" y="4204368"/>
            <a:ext cx="8423148" cy="433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No adjustment is needed to close this particular path.</a:t>
            </a:r>
            <a:endParaRPr lang="en-US" sz="24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65662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80020-79AA-EB4B-8267-09B180CF2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A4696F-662E-FE30-F465-C65282C983A4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Collider logic is path-specific</a:t>
            </a:r>
            <a:endParaRPr lang="en-US" sz="28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B4DE784F-F749-FB78-2366-224F12348DBE}"/>
              </a:ext>
            </a:extLst>
          </p:cNvPr>
          <p:cNvSpPr/>
          <p:nvPr/>
        </p:nvSpPr>
        <p:spPr>
          <a:xfrm>
            <a:off x="441960" y="895073"/>
            <a:ext cx="7812075" cy="421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1: What if we condition on C?</a:t>
            </a:r>
            <a:endParaRPr lang="en-US" sz="27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97A2141-DD4E-745D-FBAC-532F29CF31B2}"/>
              </a:ext>
            </a:extLst>
          </p:cNvPr>
          <p:cNvSpPr/>
          <p:nvPr/>
        </p:nvSpPr>
        <p:spPr>
          <a:xfrm>
            <a:off x="469392" y="1443713"/>
            <a:ext cx="7684008" cy="260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Path:  T ← C → V → M ← L → U → O</a:t>
            </a:r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B91A27A5-C5FA-5F8A-6B82-DAFFF1982159}"/>
              </a:ext>
            </a:extLst>
          </p:cNvPr>
          <p:cNvSpPr/>
          <p:nvPr/>
        </p:nvSpPr>
        <p:spPr>
          <a:xfrm>
            <a:off x="112914" y="2091690"/>
            <a:ext cx="960120" cy="960120"/>
          </a:xfrm>
          <a:prstGeom prst="ellipse">
            <a:avLst/>
          </a:prstGeom>
          <a:solidFill>
            <a:srgbClr val="D9EAF7"/>
          </a:solidFill>
          <a:ln w="2794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768F84D9-3759-1484-65DB-A7AB04900803}"/>
              </a:ext>
            </a:extLst>
          </p:cNvPr>
          <p:cNvSpPr/>
          <p:nvPr/>
        </p:nvSpPr>
        <p:spPr>
          <a:xfrm>
            <a:off x="112914" y="2375154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</a:rPr>
              <a:t>T</a:t>
            </a:r>
            <a:endParaRPr lang="en-US" sz="2000" dirty="0"/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B5BAA867-8D53-B50F-C6E4-076460DD8EA5}"/>
              </a:ext>
            </a:extLst>
          </p:cNvPr>
          <p:cNvSpPr/>
          <p:nvPr/>
        </p:nvSpPr>
        <p:spPr>
          <a:xfrm>
            <a:off x="1371600" y="2091690"/>
            <a:ext cx="960120" cy="96012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11DCCC61-4D05-A864-260A-9239491F9734}"/>
              </a:ext>
            </a:extLst>
          </p:cNvPr>
          <p:cNvSpPr/>
          <p:nvPr/>
        </p:nvSpPr>
        <p:spPr>
          <a:xfrm>
            <a:off x="1371600" y="2375154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</a:rPr>
              <a:t>C</a:t>
            </a:r>
            <a:endParaRPr lang="en-US" sz="2000" dirty="0"/>
          </a:p>
        </p:txBody>
      </p:sp>
      <p:sp>
        <p:nvSpPr>
          <p:cNvPr id="9" name="Shape 12">
            <a:extLst>
              <a:ext uri="{FF2B5EF4-FFF2-40B4-BE49-F238E27FC236}">
                <a16:creationId xmlns:a16="http://schemas.microsoft.com/office/drawing/2014/main" id="{AC8B1087-3E4D-2B81-B108-E62A4C42358A}"/>
              </a:ext>
            </a:extLst>
          </p:cNvPr>
          <p:cNvSpPr/>
          <p:nvPr/>
        </p:nvSpPr>
        <p:spPr>
          <a:xfrm>
            <a:off x="2630286" y="2091690"/>
            <a:ext cx="960120" cy="96012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C76802EB-89FE-B1B6-F9BB-6783823D1073}"/>
              </a:ext>
            </a:extLst>
          </p:cNvPr>
          <p:cNvSpPr/>
          <p:nvPr/>
        </p:nvSpPr>
        <p:spPr>
          <a:xfrm>
            <a:off x="2630286" y="2375154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</a:rPr>
              <a:t>V</a:t>
            </a:r>
            <a:endParaRPr lang="en-US" sz="2000" dirty="0"/>
          </a:p>
        </p:txBody>
      </p:sp>
      <p:sp>
        <p:nvSpPr>
          <p:cNvPr id="11" name="Shape 14">
            <a:extLst>
              <a:ext uri="{FF2B5EF4-FFF2-40B4-BE49-F238E27FC236}">
                <a16:creationId xmlns:a16="http://schemas.microsoft.com/office/drawing/2014/main" id="{B6C75668-2E80-A2B2-5F98-4A4099F0A3A2}"/>
              </a:ext>
            </a:extLst>
          </p:cNvPr>
          <p:cNvSpPr/>
          <p:nvPr/>
        </p:nvSpPr>
        <p:spPr>
          <a:xfrm>
            <a:off x="3931920" y="2091690"/>
            <a:ext cx="960120" cy="960120"/>
          </a:xfrm>
          <a:prstGeom prst="ellipse">
            <a:avLst/>
          </a:prstGeom>
          <a:solidFill>
            <a:srgbClr val="FCE4D6"/>
          </a:solidFill>
          <a:ln w="2794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3463B680-C818-E0B8-3345-EC0A6BF94426}"/>
              </a:ext>
            </a:extLst>
          </p:cNvPr>
          <p:cNvSpPr/>
          <p:nvPr/>
        </p:nvSpPr>
        <p:spPr>
          <a:xfrm>
            <a:off x="3931920" y="2375154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</a:rPr>
              <a:t>M</a:t>
            </a:r>
            <a:endParaRPr lang="en-US" sz="2000" dirty="0"/>
          </a:p>
        </p:txBody>
      </p:sp>
      <p:sp>
        <p:nvSpPr>
          <p:cNvPr id="13" name="Shape 16">
            <a:extLst>
              <a:ext uri="{FF2B5EF4-FFF2-40B4-BE49-F238E27FC236}">
                <a16:creationId xmlns:a16="http://schemas.microsoft.com/office/drawing/2014/main" id="{84D6D5C6-4383-4784-83F8-1F087C340E27}"/>
              </a:ext>
            </a:extLst>
          </p:cNvPr>
          <p:cNvSpPr/>
          <p:nvPr/>
        </p:nvSpPr>
        <p:spPr>
          <a:xfrm>
            <a:off x="5233554" y="2091690"/>
            <a:ext cx="960120" cy="96012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7">
            <a:extLst>
              <a:ext uri="{FF2B5EF4-FFF2-40B4-BE49-F238E27FC236}">
                <a16:creationId xmlns:a16="http://schemas.microsoft.com/office/drawing/2014/main" id="{207155A2-31AD-6F44-E354-C930E2F0084D}"/>
              </a:ext>
            </a:extLst>
          </p:cNvPr>
          <p:cNvSpPr/>
          <p:nvPr/>
        </p:nvSpPr>
        <p:spPr>
          <a:xfrm>
            <a:off x="5233554" y="2375154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</a:rPr>
              <a:t>L</a:t>
            </a:r>
            <a:endParaRPr lang="en-US" sz="2000" dirty="0"/>
          </a:p>
        </p:txBody>
      </p:sp>
      <p:sp>
        <p:nvSpPr>
          <p:cNvPr id="15" name="Shape 18">
            <a:extLst>
              <a:ext uri="{FF2B5EF4-FFF2-40B4-BE49-F238E27FC236}">
                <a16:creationId xmlns:a16="http://schemas.microsoft.com/office/drawing/2014/main" id="{72832091-0000-A766-4435-69363D54C81A}"/>
              </a:ext>
            </a:extLst>
          </p:cNvPr>
          <p:cNvSpPr/>
          <p:nvPr/>
        </p:nvSpPr>
        <p:spPr>
          <a:xfrm>
            <a:off x="6630786" y="2091690"/>
            <a:ext cx="960120" cy="96012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9">
            <a:extLst>
              <a:ext uri="{FF2B5EF4-FFF2-40B4-BE49-F238E27FC236}">
                <a16:creationId xmlns:a16="http://schemas.microsoft.com/office/drawing/2014/main" id="{7E4C6DDC-E3DD-6BB5-0B42-21E036D5EE43}"/>
              </a:ext>
            </a:extLst>
          </p:cNvPr>
          <p:cNvSpPr/>
          <p:nvPr/>
        </p:nvSpPr>
        <p:spPr>
          <a:xfrm>
            <a:off x="6630786" y="2375154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</a:rPr>
              <a:t>U</a:t>
            </a:r>
            <a:endParaRPr lang="en-US" sz="2000" dirty="0"/>
          </a:p>
        </p:txBody>
      </p:sp>
      <p:sp>
        <p:nvSpPr>
          <p:cNvPr id="17" name="Shape 20">
            <a:extLst>
              <a:ext uri="{FF2B5EF4-FFF2-40B4-BE49-F238E27FC236}">
                <a16:creationId xmlns:a16="http://schemas.microsoft.com/office/drawing/2014/main" id="{8ECF7F60-B7B8-98F0-B8E2-673409B7AAAB}"/>
              </a:ext>
            </a:extLst>
          </p:cNvPr>
          <p:cNvSpPr/>
          <p:nvPr/>
        </p:nvSpPr>
        <p:spPr>
          <a:xfrm>
            <a:off x="7932420" y="2091690"/>
            <a:ext cx="960120" cy="960120"/>
          </a:xfrm>
          <a:prstGeom prst="ellipse">
            <a:avLst/>
          </a:prstGeom>
          <a:solidFill>
            <a:srgbClr val="E2F0D9"/>
          </a:solidFill>
          <a:ln w="27940">
            <a:solidFill>
              <a:srgbClr val="54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21">
            <a:extLst>
              <a:ext uri="{FF2B5EF4-FFF2-40B4-BE49-F238E27FC236}">
                <a16:creationId xmlns:a16="http://schemas.microsoft.com/office/drawing/2014/main" id="{0935314D-33FD-6AC9-3963-FD2AAA5DDDD6}"/>
              </a:ext>
            </a:extLst>
          </p:cNvPr>
          <p:cNvSpPr/>
          <p:nvPr/>
        </p:nvSpPr>
        <p:spPr>
          <a:xfrm>
            <a:off x="7932420" y="2375154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</a:rPr>
              <a:t>O</a:t>
            </a:r>
            <a:endParaRPr lang="en-US" sz="20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F3BC04F-379E-7E24-B0C5-2F732FA38271}"/>
              </a:ext>
            </a:extLst>
          </p:cNvPr>
          <p:cNvCxnSpPr>
            <a:cxnSpLocks/>
          </p:cNvCxnSpPr>
          <p:nvPr/>
        </p:nvCxnSpPr>
        <p:spPr>
          <a:xfrm flipH="1">
            <a:off x="1122132" y="2571750"/>
            <a:ext cx="2494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7358B8C-7797-72BC-D9C4-FB62C87E376A}"/>
              </a:ext>
            </a:extLst>
          </p:cNvPr>
          <p:cNvCxnSpPr/>
          <p:nvPr/>
        </p:nvCxnSpPr>
        <p:spPr>
          <a:xfrm>
            <a:off x="2331720" y="2571750"/>
            <a:ext cx="2985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82EA590-7998-A39F-61B9-0FDC604363BB}"/>
              </a:ext>
            </a:extLst>
          </p:cNvPr>
          <p:cNvCxnSpPr/>
          <p:nvPr/>
        </p:nvCxnSpPr>
        <p:spPr>
          <a:xfrm>
            <a:off x="3590406" y="2571750"/>
            <a:ext cx="2985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8C22431-2C70-30B9-BD11-1546B76434C4}"/>
              </a:ext>
            </a:extLst>
          </p:cNvPr>
          <p:cNvCxnSpPr/>
          <p:nvPr/>
        </p:nvCxnSpPr>
        <p:spPr>
          <a:xfrm>
            <a:off x="6275416" y="2571750"/>
            <a:ext cx="2985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D1B74B5-4028-F29B-0BF9-06FFFB84B748}"/>
              </a:ext>
            </a:extLst>
          </p:cNvPr>
          <p:cNvCxnSpPr/>
          <p:nvPr/>
        </p:nvCxnSpPr>
        <p:spPr>
          <a:xfrm>
            <a:off x="7590906" y="2571750"/>
            <a:ext cx="2985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2A31FF2-8A59-8BA8-7FCA-CD116F97234C}"/>
              </a:ext>
            </a:extLst>
          </p:cNvPr>
          <p:cNvCxnSpPr>
            <a:cxnSpLocks/>
            <a:endCxn id="11" idx="6"/>
          </p:cNvCxnSpPr>
          <p:nvPr/>
        </p:nvCxnSpPr>
        <p:spPr>
          <a:xfrm flipH="1" flipV="1">
            <a:off x="4892040" y="2571750"/>
            <a:ext cx="341514" cy="103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hape 26">
            <a:extLst>
              <a:ext uri="{FF2B5EF4-FFF2-40B4-BE49-F238E27FC236}">
                <a16:creationId xmlns:a16="http://schemas.microsoft.com/office/drawing/2014/main" id="{039C621D-C30B-171F-7379-0DD5FD68D908}"/>
              </a:ext>
            </a:extLst>
          </p:cNvPr>
          <p:cNvSpPr/>
          <p:nvPr/>
        </p:nvSpPr>
        <p:spPr>
          <a:xfrm>
            <a:off x="169188" y="3531870"/>
            <a:ext cx="4722852" cy="944876"/>
          </a:xfrm>
          <a:prstGeom prst="roundRect">
            <a:avLst>
              <a:gd name="adj" fmla="val 5714"/>
            </a:avLst>
          </a:prstGeom>
          <a:solidFill>
            <a:srgbClr val="FFF2CC"/>
          </a:solidFill>
          <a:ln w="15240">
            <a:solidFill>
              <a:srgbClr val="B38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27">
            <a:extLst>
              <a:ext uri="{FF2B5EF4-FFF2-40B4-BE49-F238E27FC236}">
                <a16:creationId xmlns:a16="http://schemas.microsoft.com/office/drawing/2014/main" id="{E034681A-EBA1-95D7-7A63-FC078D4D0C57}"/>
              </a:ext>
            </a:extLst>
          </p:cNvPr>
          <p:cNvSpPr/>
          <p:nvPr/>
        </p:nvSpPr>
        <p:spPr>
          <a:xfrm>
            <a:off x="315492" y="3641598"/>
            <a:ext cx="4450543" cy="72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</a:rPr>
              <a:t>C is a non-collider on this path.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</a:rPr>
              <a:t>Conditioning on C blocks the path at C.</a:t>
            </a:r>
            <a:endParaRPr lang="en-US" sz="2000" dirty="0"/>
          </a:p>
        </p:txBody>
      </p:sp>
      <p:sp>
        <p:nvSpPr>
          <p:cNvPr id="27" name="Shape 28">
            <a:extLst>
              <a:ext uri="{FF2B5EF4-FFF2-40B4-BE49-F238E27FC236}">
                <a16:creationId xmlns:a16="http://schemas.microsoft.com/office/drawing/2014/main" id="{DA6317F1-51BB-D814-471F-A544FA49BEA1}"/>
              </a:ext>
            </a:extLst>
          </p:cNvPr>
          <p:cNvSpPr/>
          <p:nvPr/>
        </p:nvSpPr>
        <p:spPr>
          <a:xfrm>
            <a:off x="4912339" y="3531870"/>
            <a:ext cx="4109258" cy="960101"/>
          </a:xfrm>
          <a:prstGeom prst="roundRect">
            <a:avLst>
              <a:gd name="adj" fmla="val 5714"/>
            </a:avLst>
          </a:prstGeom>
          <a:solidFill>
            <a:srgbClr val="FCE4D6"/>
          </a:solidFill>
          <a:ln w="1524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9">
            <a:extLst>
              <a:ext uri="{FF2B5EF4-FFF2-40B4-BE49-F238E27FC236}">
                <a16:creationId xmlns:a16="http://schemas.microsoft.com/office/drawing/2014/main" id="{B6D20265-4FB7-2438-01CD-02BF83C6E4FE}"/>
              </a:ext>
            </a:extLst>
          </p:cNvPr>
          <p:cNvSpPr/>
          <p:nvPr/>
        </p:nvSpPr>
        <p:spPr>
          <a:xfrm>
            <a:off x="5058643" y="3641598"/>
            <a:ext cx="3872328" cy="740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</a:rPr>
              <a:t>M is still an unconditioned collider.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</a:rPr>
              <a:t>So the path is also closed at M.</a:t>
            </a:r>
            <a:endParaRPr lang="en-US" sz="20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0B1A7064-FABF-F118-7115-29376BB891ED}"/>
              </a:ext>
            </a:extLst>
          </p:cNvPr>
          <p:cNvSpPr/>
          <p:nvPr/>
        </p:nvSpPr>
        <p:spPr>
          <a:xfrm>
            <a:off x="469392" y="4491971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00" b="1" dirty="0">
                <a:solidFill>
                  <a:srgbClr val="548235"/>
                </a:solidFill>
              </a:rPr>
              <a:t>Result: the path remains CLOSED.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4336902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A8CF2-0E27-BAD6-89BC-F6D7EB709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39446C-F9DA-D60D-3C3D-AAC36C5E0B68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Collider logic is path-specific</a:t>
            </a:r>
            <a:endParaRPr lang="en-US" sz="28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0EFE9E3-0B5E-54AB-A5A5-87CB2364D303}"/>
              </a:ext>
            </a:extLst>
          </p:cNvPr>
          <p:cNvSpPr/>
          <p:nvPr/>
        </p:nvSpPr>
        <p:spPr>
          <a:xfrm>
            <a:off x="441960" y="895073"/>
            <a:ext cx="7812075" cy="421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2: Now suppose we have arrow from M -&gt; 0</a:t>
            </a:r>
            <a:endParaRPr lang="en-US" sz="27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C9D50A1F-BBBD-5BBD-941D-4B8D011B0669}"/>
              </a:ext>
            </a:extLst>
          </p:cNvPr>
          <p:cNvSpPr/>
          <p:nvPr/>
        </p:nvSpPr>
        <p:spPr>
          <a:xfrm>
            <a:off x="112914" y="2091690"/>
            <a:ext cx="960120" cy="960120"/>
          </a:xfrm>
          <a:prstGeom prst="ellipse">
            <a:avLst/>
          </a:prstGeom>
          <a:solidFill>
            <a:srgbClr val="D9EAF7"/>
          </a:solidFill>
          <a:ln w="27940">
            <a:solidFill>
              <a:srgbClr val="2F7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6FC06192-1343-D302-E08E-3E304CC3D1CF}"/>
              </a:ext>
            </a:extLst>
          </p:cNvPr>
          <p:cNvSpPr/>
          <p:nvPr/>
        </p:nvSpPr>
        <p:spPr>
          <a:xfrm>
            <a:off x="112914" y="2375154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</a:rPr>
              <a:t>T</a:t>
            </a:r>
            <a:endParaRPr lang="en-US" sz="2000" dirty="0"/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44684F14-F379-7B19-E44D-7BD57661FE0D}"/>
              </a:ext>
            </a:extLst>
          </p:cNvPr>
          <p:cNvSpPr/>
          <p:nvPr/>
        </p:nvSpPr>
        <p:spPr>
          <a:xfrm>
            <a:off x="1371600" y="2091690"/>
            <a:ext cx="960120" cy="96012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FC4D1FD7-7A9E-DDC9-A6AE-E29103E85D6A}"/>
              </a:ext>
            </a:extLst>
          </p:cNvPr>
          <p:cNvSpPr/>
          <p:nvPr/>
        </p:nvSpPr>
        <p:spPr>
          <a:xfrm>
            <a:off x="1371600" y="2375154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</a:rPr>
              <a:t>C</a:t>
            </a:r>
            <a:endParaRPr lang="en-US" sz="2000" dirty="0"/>
          </a:p>
        </p:txBody>
      </p:sp>
      <p:sp>
        <p:nvSpPr>
          <p:cNvPr id="9" name="Shape 12">
            <a:extLst>
              <a:ext uri="{FF2B5EF4-FFF2-40B4-BE49-F238E27FC236}">
                <a16:creationId xmlns:a16="http://schemas.microsoft.com/office/drawing/2014/main" id="{D1A7EED1-B73F-8DF9-2C07-85B62133A4B4}"/>
              </a:ext>
            </a:extLst>
          </p:cNvPr>
          <p:cNvSpPr/>
          <p:nvPr/>
        </p:nvSpPr>
        <p:spPr>
          <a:xfrm>
            <a:off x="2630286" y="2091690"/>
            <a:ext cx="960120" cy="96012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99734015-9255-D067-3976-5D0EE0406E69}"/>
              </a:ext>
            </a:extLst>
          </p:cNvPr>
          <p:cNvSpPr/>
          <p:nvPr/>
        </p:nvSpPr>
        <p:spPr>
          <a:xfrm>
            <a:off x="2630286" y="2375154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</a:rPr>
              <a:t>V</a:t>
            </a:r>
            <a:endParaRPr lang="en-US" sz="2000" dirty="0"/>
          </a:p>
        </p:txBody>
      </p:sp>
      <p:sp>
        <p:nvSpPr>
          <p:cNvPr id="11" name="Shape 14">
            <a:extLst>
              <a:ext uri="{FF2B5EF4-FFF2-40B4-BE49-F238E27FC236}">
                <a16:creationId xmlns:a16="http://schemas.microsoft.com/office/drawing/2014/main" id="{DBC2B70D-670A-AD9F-F4B0-320A72EA6CD5}"/>
              </a:ext>
            </a:extLst>
          </p:cNvPr>
          <p:cNvSpPr/>
          <p:nvPr/>
        </p:nvSpPr>
        <p:spPr>
          <a:xfrm>
            <a:off x="3931920" y="2091690"/>
            <a:ext cx="960120" cy="960120"/>
          </a:xfrm>
          <a:prstGeom prst="ellipse">
            <a:avLst/>
          </a:prstGeom>
          <a:solidFill>
            <a:srgbClr val="FCE4D6"/>
          </a:solidFill>
          <a:ln w="2794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478E6027-B52C-A499-9E35-3CD84A16A480}"/>
              </a:ext>
            </a:extLst>
          </p:cNvPr>
          <p:cNvSpPr/>
          <p:nvPr/>
        </p:nvSpPr>
        <p:spPr>
          <a:xfrm>
            <a:off x="3931920" y="2375154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</a:rPr>
              <a:t>M</a:t>
            </a:r>
            <a:endParaRPr lang="en-US" sz="2000" dirty="0"/>
          </a:p>
        </p:txBody>
      </p:sp>
      <p:sp>
        <p:nvSpPr>
          <p:cNvPr id="13" name="Shape 16">
            <a:extLst>
              <a:ext uri="{FF2B5EF4-FFF2-40B4-BE49-F238E27FC236}">
                <a16:creationId xmlns:a16="http://schemas.microsoft.com/office/drawing/2014/main" id="{B65CF759-C714-0857-83B2-BFE82D1D6728}"/>
              </a:ext>
            </a:extLst>
          </p:cNvPr>
          <p:cNvSpPr/>
          <p:nvPr/>
        </p:nvSpPr>
        <p:spPr>
          <a:xfrm>
            <a:off x="5233554" y="2091690"/>
            <a:ext cx="960120" cy="96012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7">
            <a:extLst>
              <a:ext uri="{FF2B5EF4-FFF2-40B4-BE49-F238E27FC236}">
                <a16:creationId xmlns:a16="http://schemas.microsoft.com/office/drawing/2014/main" id="{5F311E2B-72D0-CE27-BD00-0627600CA468}"/>
              </a:ext>
            </a:extLst>
          </p:cNvPr>
          <p:cNvSpPr/>
          <p:nvPr/>
        </p:nvSpPr>
        <p:spPr>
          <a:xfrm>
            <a:off x="5233554" y="2375154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</a:rPr>
              <a:t>L</a:t>
            </a:r>
            <a:endParaRPr lang="en-US" sz="2000" dirty="0"/>
          </a:p>
        </p:txBody>
      </p:sp>
      <p:sp>
        <p:nvSpPr>
          <p:cNvPr id="15" name="Shape 18">
            <a:extLst>
              <a:ext uri="{FF2B5EF4-FFF2-40B4-BE49-F238E27FC236}">
                <a16:creationId xmlns:a16="http://schemas.microsoft.com/office/drawing/2014/main" id="{FBA22E0D-899C-DE45-64C4-EC1CAE9F0D55}"/>
              </a:ext>
            </a:extLst>
          </p:cNvPr>
          <p:cNvSpPr/>
          <p:nvPr/>
        </p:nvSpPr>
        <p:spPr>
          <a:xfrm>
            <a:off x="6630786" y="2091690"/>
            <a:ext cx="960120" cy="96012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9">
            <a:extLst>
              <a:ext uri="{FF2B5EF4-FFF2-40B4-BE49-F238E27FC236}">
                <a16:creationId xmlns:a16="http://schemas.microsoft.com/office/drawing/2014/main" id="{8269E5CE-89D9-86C2-539A-72365641484A}"/>
              </a:ext>
            </a:extLst>
          </p:cNvPr>
          <p:cNvSpPr/>
          <p:nvPr/>
        </p:nvSpPr>
        <p:spPr>
          <a:xfrm>
            <a:off x="6630786" y="2375154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</a:rPr>
              <a:t>U</a:t>
            </a:r>
            <a:endParaRPr lang="en-US" sz="2000" dirty="0"/>
          </a:p>
        </p:txBody>
      </p:sp>
      <p:sp>
        <p:nvSpPr>
          <p:cNvPr id="17" name="Shape 20">
            <a:extLst>
              <a:ext uri="{FF2B5EF4-FFF2-40B4-BE49-F238E27FC236}">
                <a16:creationId xmlns:a16="http://schemas.microsoft.com/office/drawing/2014/main" id="{5340D2B4-2A38-7F4A-39A8-8A7B893C3D51}"/>
              </a:ext>
            </a:extLst>
          </p:cNvPr>
          <p:cNvSpPr/>
          <p:nvPr/>
        </p:nvSpPr>
        <p:spPr>
          <a:xfrm>
            <a:off x="7932420" y="2091690"/>
            <a:ext cx="960120" cy="960120"/>
          </a:xfrm>
          <a:prstGeom prst="ellipse">
            <a:avLst/>
          </a:prstGeom>
          <a:solidFill>
            <a:srgbClr val="E2F0D9"/>
          </a:solidFill>
          <a:ln w="27940">
            <a:solidFill>
              <a:srgbClr val="54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21">
            <a:extLst>
              <a:ext uri="{FF2B5EF4-FFF2-40B4-BE49-F238E27FC236}">
                <a16:creationId xmlns:a16="http://schemas.microsoft.com/office/drawing/2014/main" id="{0CD6E5D1-5E48-58BD-C9E9-4E47F9B401C0}"/>
              </a:ext>
            </a:extLst>
          </p:cNvPr>
          <p:cNvSpPr/>
          <p:nvPr/>
        </p:nvSpPr>
        <p:spPr>
          <a:xfrm>
            <a:off x="7932420" y="2375154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</a:rPr>
              <a:t>O</a:t>
            </a:r>
            <a:endParaRPr lang="en-US" sz="20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53137EE-0DE0-1E61-AF7B-00AE8E224D5B}"/>
              </a:ext>
            </a:extLst>
          </p:cNvPr>
          <p:cNvCxnSpPr>
            <a:stCxn id="5" idx="6"/>
            <a:endCxn id="7" idx="2"/>
          </p:cNvCxnSpPr>
          <p:nvPr/>
        </p:nvCxnSpPr>
        <p:spPr>
          <a:xfrm>
            <a:off x="1073034" y="2571750"/>
            <a:ext cx="2985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3D00DE3-502E-CBB2-ACC1-63778A1AA7C7}"/>
              </a:ext>
            </a:extLst>
          </p:cNvPr>
          <p:cNvCxnSpPr/>
          <p:nvPr/>
        </p:nvCxnSpPr>
        <p:spPr>
          <a:xfrm>
            <a:off x="2331720" y="2571750"/>
            <a:ext cx="2985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6F9A692-7C2B-B969-5F73-7DB20EB72881}"/>
              </a:ext>
            </a:extLst>
          </p:cNvPr>
          <p:cNvCxnSpPr/>
          <p:nvPr/>
        </p:nvCxnSpPr>
        <p:spPr>
          <a:xfrm>
            <a:off x="3590406" y="2571750"/>
            <a:ext cx="2985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49A0041-7D48-40CF-D461-D3D0D3F79C33}"/>
              </a:ext>
            </a:extLst>
          </p:cNvPr>
          <p:cNvCxnSpPr/>
          <p:nvPr/>
        </p:nvCxnSpPr>
        <p:spPr>
          <a:xfrm>
            <a:off x="6275416" y="2571750"/>
            <a:ext cx="2985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D50EDE7-3BB1-F8B4-C60F-6667052B3E78}"/>
              </a:ext>
            </a:extLst>
          </p:cNvPr>
          <p:cNvCxnSpPr/>
          <p:nvPr/>
        </p:nvCxnSpPr>
        <p:spPr>
          <a:xfrm>
            <a:off x="7590906" y="2571750"/>
            <a:ext cx="2985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108D66B-38B5-BCFB-E93E-E65473784EC7}"/>
              </a:ext>
            </a:extLst>
          </p:cNvPr>
          <p:cNvCxnSpPr>
            <a:cxnSpLocks/>
            <a:endCxn id="11" idx="6"/>
          </p:cNvCxnSpPr>
          <p:nvPr/>
        </p:nvCxnSpPr>
        <p:spPr>
          <a:xfrm flipH="1" flipV="1">
            <a:off x="4892040" y="2571750"/>
            <a:ext cx="341514" cy="103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83EA9314-D918-E667-DA47-C3162EF98D58}"/>
              </a:ext>
            </a:extLst>
          </p:cNvPr>
          <p:cNvCxnSpPr>
            <a:stCxn id="11" idx="0"/>
            <a:endCxn id="17" idx="0"/>
          </p:cNvCxnSpPr>
          <p:nvPr/>
        </p:nvCxnSpPr>
        <p:spPr>
          <a:xfrm rot="5400000" flipH="1" flipV="1">
            <a:off x="6412230" y="91440"/>
            <a:ext cx="12700" cy="4000500"/>
          </a:xfrm>
          <a:prstGeom prst="curvedConnector3">
            <a:avLst>
              <a:gd name="adj1" fmla="val 1800000"/>
            </a:avLst>
          </a:prstGeom>
          <a:ln>
            <a:solidFill>
              <a:schemeClr val="accent4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Shape 17">
            <a:extLst>
              <a:ext uri="{FF2B5EF4-FFF2-40B4-BE49-F238E27FC236}">
                <a16:creationId xmlns:a16="http://schemas.microsoft.com/office/drawing/2014/main" id="{FE5075BA-80DB-57EF-E481-4611580A0140}"/>
              </a:ext>
            </a:extLst>
          </p:cNvPr>
          <p:cNvSpPr/>
          <p:nvPr/>
        </p:nvSpPr>
        <p:spPr>
          <a:xfrm>
            <a:off x="66612" y="3607746"/>
            <a:ext cx="4178005" cy="699503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 w="15240">
            <a:solidFill>
              <a:srgbClr val="54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 18">
                <a:extLst>
                  <a:ext uri="{FF2B5EF4-FFF2-40B4-BE49-F238E27FC236}">
                    <a16:creationId xmlns:a16="http://schemas.microsoft.com/office/drawing/2014/main" id="{C010437A-7FD2-3EB5-11E1-CA801C77D123}"/>
                  </a:ext>
                </a:extLst>
              </p:cNvPr>
              <p:cNvSpPr/>
              <p:nvPr/>
            </p:nvSpPr>
            <p:spPr>
              <a:xfrm>
                <a:off x="170376" y="3717470"/>
                <a:ext cx="4462272" cy="4663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300" b="1" dirty="0">
                    <a:solidFill>
                      <a:srgbClr val="1F2937"/>
                    </a:solidFill>
                  </a:rPr>
                  <a:t>Path A:  T ← C </a:t>
                </a:r>
                <a14:m>
                  <m:oMath xmlns:m="http://schemas.openxmlformats.org/officeDocument/2006/math">
                    <m:r>
                      <a:rPr lang="en-US" sz="2300" b="1" i="1" smtClean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300" b="1" dirty="0">
                    <a:solidFill>
                      <a:srgbClr val="1F2937"/>
                    </a:solidFill>
                  </a:rPr>
                  <a:t> V → M → O</a:t>
                </a:r>
                <a:endParaRPr lang="en-US" sz="2300" dirty="0"/>
              </a:p>
            </p:txBody>
          </p:sp>
        </mc:Choice>
        <mc:Fallback>
          <p:sp>
            <p:nvSpPr>
              <p:cNvPr id="33" name="Text 18">
                <a:extLst>
                  <a:ext uri="{FF2B5EF4-FFF2-40B4-BE49-F238E27FC236}">
                    <a16:creationId xmlns:a16="http://schemas.microsoft.com/office/drawing/2014/main" id="{C010437A-7FD2-3EB5-11E1-CA801C77D1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76" y="3717470"/>
                <a:ext cx="4462272" cy="466344"/>
              </a:xfrm>
              <a:prstGeom prst="rect">
                <a:avLst/>
              </a:prstGeom>
              <a:blipFill>
                <a:blip r:embed="rId2"/>
                <a:stretch>
                  <a:fillRect l="-4098" t="-7895" b="-2763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Shape 19">
            <a:extLst>
              <a:ext uri="{FF2B5EF4-FFF2-40B4-BE49-F238E27FC236}">
                <a16:creationId xmlns:a16="http://schemas.microsoft.com/office/drawing/2014/main" id="{32011AF2-ED0E-E63A-D548-A835A7558F76}"/>
              </a:ext>
            </a:extLst>
          </p:cNvPr>
          <p:cNvSpPr/>
          <p:nvPr/>
        </p:nvSpPr>
        <p:spPr>
          <a:xfrm>
            <a:off x="4317769" y="3621459"/>
            <a:ext cx="4759619" cy="685790"/>
          </a:xfrm>
          <a:prstGeom prst="roundRect">
            <a:avLst>
              <a:gd name="adj" fmla="val 8000"/>
            </a:avLst>
          </a:prstGeom>
          <a:solidFill>
            <a:srgbClr val="FCE4D6"/>
          </a:solidFill>
          <a:ln w="1524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 20">
                <a:extLst>
                  <a:ext uri="{FF2B5EF4-FFF2-40B4-BE49-F238E27FC236}">
                    <a16:creationId xmlns:a16="http://schemas.microsoft.com/office/drawing/2014/main" id="{E23172A7-16C4-DEB2-4AAE-C7EFC1ED343A}"/>
                  </a:ext>
                </a:extLst>
              </p:cNvPr>
              <p:cNvSpPr/>
              <p:nvPr/>
            </p:nvSpPr>
            <p:spPr>
              <a:xfrm>
                <a:off x="4464073" y="3731186"/>
                <a:ext cx="4679927" cy="48742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300" b="1" dirty="0">
                    <a:solidFill>
                      <a:srgbClr val="1F2937"/>
                    </a:solidFill>
                  </a:rPr>
                  <a:t>Path B: T ← C → V </a:t>
                </a:r>
                <a14:m>
                  <m:oMath xmlns:m="http://schemas.openxmlformats.org/officeDocument/2006/math">
                    <m:r>
                      <a:rPr lang="en-US" sz="2300" b="1" i="1" smtClean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300" b="1" dirty="0">
                    <a:solidFill>
                      <a:srgbClr val="1F2937"/>
                    </a:solidFill>
                  </a:rPr>
                  <a:t> M ← L → O</a:t>
                </a:r>
                <a:endParaRPr lang="en-US" sz="2300" dirty="0"/>
              </a:p>
            </p:txBody>
          </p:sp>
        </mc:Choice>
        <mc:Fallback>
          <p:sp>
            <p:nvSpPr>
              <p:cNvPr id="35" name="Text 20">
                <a:extLst>
                  <a:ext uri="{FF2B5EF4-FFF2-40B4-BE49-F238E27FC236}">
                    <a16:creationId xmlns:a16="http://schemas.microsoft.com/office/drawing/2014/main" id="{E23172A7-16C4-DEB2-4AAE-C7EFC1ED34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4073" y="3731186"/>
                <a:ext cx="4679927" cy="487426"/>
              </a:xfrm>
              <a:prstGeom prst="rect">
                <a:avLst/>
              </a:prstGeom>
              <a:blipFill>
                <a:blip r:embed="rId3"/>
                <a:stretch>
                  <a:fillRect l="-3776" t="-5000" r="-1042" b="-2375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 21">
            <a:extLst>
              <a:ext uri="{FF2B5EF4-FFF2-40B4-BE49-F238E27FC236}">
                <a16:creationId xmlns:a16="http://schemas.microsoft.com/office/drawing/2014/main" id="{2220CE9B-1430-4279-8963-83E62F679103}"/>
              </a:ext>
            </a:extLst>
          </p:cNvPr>
          <p:cNvSpPr/>
          <p:nvPr/>
        </p:nvSpPr>
        <p:spPr>
          <a:xfrm>
            <a:off x="335395" y="4476749"/>
            <a:ext cx="8165869" cy="466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5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Same graph. Same node M. Different path roles.</a:t>
            </a:r>
            <a:endParaRPr lang="en-US" sz="25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9278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5B005-FB30-6EB3-A2E6-E24AC441C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FE4590-1332-B153-2D9F-509288B387EA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Collider logic is path-specific</a:t>
            </a:r>
            <a:endParaRPr 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60B983-E41E-5328-C84B-3990407963CF}"/>
                  </a:ext>
                </a:extLst>
              </p:cNvPr>
              <p:cNvSpPr txBox="1"/>
              <p:nvPr/>
            </p:nvSpPr>
            <p:spPr>
              <a:xfrm>
                <a:off x="228600" y="997527"/>
                <a:ext cx="8285018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Path A: T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20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 C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 V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 M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 O</a:t>
                </a:r>
              </a:p>
              <a:p>
                <a:endParaRPr lang="en-US" sz="2000" dirty="0">
                  <a:solidFill>
                    <a:schemeClr val="accent6">
                      <a:lumMod val="20000"/>
                      <a:lumOff val="8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rPr>
                  <a:t>Path is open since M is not a collider.</a:t>
                </a:r>
              </a:p>
              <a:p>
                <a:endParaRPr lang="en-US" sz="2000" dirty="0">
                  <a:solidFill>
                    <a:schemeClr val="accent6">
                      <a:lumMod val="20000"/>
                      <a:lumOff val="8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rPr>
                  <a:t>So to close it we need to condition on C.</a:t>
                </a:r>
              </a:p>
              <a:p>
                <a:endParaRPr lang="en-US" sz="2000" dirty="0">
                  <a:solidFill>
                    <a:schemeClr val="accent6">
                      <a:lumMod val="20000"/>
                      <a:lumOff val="80000"/>
                    </a:schemeClr>
                  </a:solidFill>
                </a:endParaRPr>
              </a:p>
              <a:p>
                <a:r>
                  <a:rPr lang="en-US" sz="20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Path B: 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20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 C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 V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 M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sz="20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 L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 U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b="1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 O</a:t>
                </a:r>
              </a:p>
              <a:p>
                <a:endParaRPr lang="en-US" sz="2000" dirty="0">
                  <a:solidFill>
                    <a:schemeClr val="accent6">
                      <a:lumMod val="20000"/>
                      <a:lumOff val="8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rPr>
                  <a:t>M is a collider on this path, so the path is closed. No need to condition.</a:t>
                </a:r>
              </a:p>
              <a:p>
                <a:endParaRPr lang="en-US" sz="2000" dirty="0">
                  <a:solidFill>
                    <a:schemeClr val="accent6">
                      <a:lumMod val="20000"/>
                      <a:lumOff val="8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60B983-E41E-5328-C84B-399040796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997527"/>
                <a:ext cx="8285018" cy="3170099"/>
              </a:xfrm>
              <a:prstGeom prst="rect">
                <a:avLst/>
              </a:prstGeom>
              <a:blipFill>
                <a:blip r:embed="rId2"/>
                <a:stretch>
                  <a:fillRect l="-809" t="-9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 22">
            <a:extLst>
              <a:ext uri="{FF2B5EF4-FFF2-40B4-BE49-F238E27FC236}">
                <a16:creationId xmlns:a16="http://schemas.microsoft.com/office/drawing/2014/main" id="{3B6ABCF8-728D-3C4E-3F9D-4E667A27AA12}"/>
              </a:ext>
            </a:extLst>
          </p:cNvPr>
          <p:cNvSpPr/>
          <p:nvPr/>
        </p:nvSpPr>
        <p:spPr>
          <a:xfrm>
            <a:off x="0" y="4203819"/>
            <a:ext cx="8797635" cy="589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Collider present and unconditioned  →  CLOSED by default.</a:t>
            </a:r>
            <a:endParaRPr lang="en-US" sz="20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2850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B643D-7C36-CAD9-9594-D3D6AAF74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1C7BF7-FCB3-2764-8F3E-296113BF7A5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Lesson</a:t>
            </a: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99EFDB-AC2C-22F6-3E7A-C676A732439B}"/>
              </a:ext>
            </a:extLst>
          </p:cNvPr>
          <p:cNvSpPr txBox="1"/>
          <p:nvPr/>
        </p:nvSpPr>
        <p:spPr>
          <a:xfrm>
            <a:off x="282620" y="1200472"/>
            <a:ext cx="857876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Confounder / mediator / collider are path roles, not permanent variable identities.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One node may play different roles on different paths.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Adjustment decisions are made relative to a specific estimand and a specific DAG.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000" b="1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Temporal ordering is necessary information, but it is not sufficient.</a:t>
            </a:r>
          </a:p>
        </p:txBody>
      </p:sp>
    </p:spTree>
    <p:extLst>
      <p:ext uri="{BB962C8B-B14F-4D97-AF65-F5344CB8AC3E}">
        <p14:creationId xmlns:p14="http://schemas.microsoft.com/office/powerpoint/2010/main" val="4142329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F67BB-5366-4F40-3B03-B2D08AFEA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8CED6D-17D0-A052-8AEA-3D7C8E95FBB0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What did the graph buy us?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277D0FC-FE86-7727-755B-8FA8BB1693E4}"/>
              </a:ext>
            </a:extLst>
          </p:cNvPr>
          <p:cNvSpPr/>
          <p:nvPr/>
        </p:nvSpPr>
        <p:spPr>
          <a:xfrm>
            <a:off x="774700" y="1298448"/>
            <a:ext cx="1499514" cy="34616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DB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class:</a:t>
            </a:r>
            <a:endParaRPr lang="en-US" sz="19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2">
                <a:extLst>
                  <a:ext uri="{FF2B5EF4-FFF2-40B4-BE49-F238E27FC236}">
                    <a16:creationId xmlns:a16="http://schemas.microsoft.com/office/drawing/2014/main" id="{C987F7DA-8589-21D4-A422-B60764281651}"/>
                  </a:ext>
                </a:extLst>
              </p:cNvPr>
              <p:cNvSpPr/>
              <p:nvPr/>
            </p:nvSpPr>
            <p:spPr>
              <a:xfrm>
                <a:off x="2350770" y="1189392"/>
                <a:ext cx="2856217" cy="605790"/>
              </a:xfrm>
              <a:prstGeom prst="rect">
                <a:avLst/>
              </a:prstGeom>
              <a:noFill/>
              <a:ln/>
            </p:spPr>
            <p:txBody>
              <a:bodyPr wrap="square" lIns="1016" tIns="1016" rIns="1016" bIns="1016" rtlCol="0" anchor="ctr">
                <a:normAutofit/>
              </a:bodyPr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3000" b="1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𝒀</m:t>
                      </m:r>
                      <m:r>
                        <a:rPr lang="en-US" sz="3000" b="1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(</m:t>
                      </m:r>
                      <m:r>
                        <a:rPr lang="en-US" sz="3000" b="1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𝒕</m:t>
                      </m:r>
                      <m:r>
                        <a:rPr lang="en-US" sz="3000" b="1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) ⟂ </m:t>
                      </m:r>
                      <m:r>
                        <a:rPr lang="en-US" sz="3000" b="1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𝑻</m:t>
                      </m:r>
                      <m:r>
                        <a:rPr lang="en-US" sz="3000" b="1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| </m:t>
                      </m:r>
                      <m:r>
                        <a:rPr lang="en-US" sz="3000" b="1" i="1" dirty="0" smtClean="0">
                          <a:solidFill>
                            <a:srgbClr val="F2F2F2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𝑿</m:t>
                      </m:r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9" name="Text 2">
                <a:extLst>
                  <a:ext uri="{FF2B5EF4-FFF2-40B4-BE49-F238E27FC236}">
                    <a16:creationId xmlns:a16="http://schemas.microsoft.com/office/drawing/2014/main" id="{C987F7DA-8589-21D4-A422-B607642816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0770" y="1189392"/>
                <a:ext cx="2856217" cy="6057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3">
            <a:extLst>
              <a:ext uri="{FF2B5EF4-FFF2-40B4-BE49-F238E27FC236}">
                <a16:creationId xmlns:a16="http://schemas.microsoft.com/office/drawing/2014/main" id="{75D32414-0E9C-C109-890E-9D0EA9BC11D6}"/>
              </a:ext>
            </a:extLst>
          </p:cNvPr>
          <p:cNvSpPr/>
          <p:nvPr/>
        </p:nvSpPr>
        <p:spPr>
          <a:xfrm>
            <a:off x="1244600" y="2470150"/>
            <a:ext cx="1499514" cy="34616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DB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</a:t>
            </a:r>
            <a:endParaRPr lang="en-US" sz="19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6E7E777E-16E7-686A-7A91-C619A074FC69}"/>
              </a:ext>
            </a:extLst>
          </p:cNvPr>
          <p:cNvSpPr/>
          <p:nvPr/>
        </p:nvSpPr>
        <p:spPr>
          <a:xfrm>
            <a:off x="2788920" y="2423160"/>
            <a:ext cx="6069462" cy="60579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DAG to justify a set X that blocks all backdoor paths.</a:t>
            </a:r>
            <a:endParaRPr lang="en-US" sz="22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7C468DEB-BE8F-DD60-FDB3-E2B639F8DC94}"/>
              </a:ext>
            </a:extLst>
          </p:cNvPr>
          <p:cNvSpPr/>
          <p:nvPr/>
        </p:nvSpPr>
        <p:spPr>
          <a:xfrm>
            <a:off x="72390" y="3448013"/>
            <a:ext cx="8970010" cy="768387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the graphical assumptions support conditional exchangeability for the causal effect of interest.</a:t>
            </a:r>
            <a:endParaRPr lang="en-US" sz="2100" dirty="0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C233F8AE-6F89-FB5A-18A3-2204F162FD8E}"/>
              </a:ext>
            </a:extLst>
          </p:cNvPr>
          <p:cNvSpPr/>
          <p:nvPr/>
        </p:nvSpPr>
        <p:spPr>
          <a:xfrm>
            <a:off x="169188" y="4471524"/>
            <a:ext cx="8739862" cy="528445"/>
          </a:xfrm>
          <a:prstGeom prst="roundRect">
            <a:avLst>
              <a:gd name="adj" fmla="val 19355"/>
            </a:avLst>
          </a:prstGeom>
          <a:solidFill>
            <a:srgbClr val="6CA5DD"/>
          </a:solidFill>
          <a:ln w="15240">
            <a:solidFill>
              <a:srgbClr val="6CA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CB63C206-68C8-80A0-14A0-B542429B7585}"/>
              </a:ext>
            </a:extLst>
          </p:cNvPr>
          <p:cNvSpPr/>
          <p:nvPr/>
        </p:nvSpPr>
        <p:spPr>
          <a:xfrm>
            <a:off x="352068" y="4505499"/>
            <a:ext cx="8411604" cy="426165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Graphical identification is the bridge from assumptions to an estimable formula.</a:t>
            </a:r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val="33204366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118F1-805E-4E45-3854-D79178C9C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9B3F0D-7C9E-0399-8AE7-E6A8CEFAC656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After block backdoor paths: adjustment 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1">
                <a:extLst>
                  <a:ext uri="{FF2B5EF4-FFF2-40B4-BE49-F238E27FC236}">
                    <a16:creationId xmlns:a16="http://schemas.microsoft.com/office/drawing/2014/main" id="{FE213060-9C87-B6BE-9B2D-05B68F71799A}"/>
                  </a:ext>
                </a:extLst>
              </p:cNvPr>
              <p:cNvSpPr/>
              <p:nvPr/>
            </p:nvSpPr>
            <p:spPr>
              <a:xfrm>
                <a:off x="246380" y="1203980"/>
                <a:ext cx="8389620" cy="749300"/>
              </a:xfrm>
              <a:prstGeom prst="rect">
                <a:avLst/>
              </a:prstGeom>
              <a:noFill/>
              <a:ln/>
            </p:spPr>
            <p:txBody>
              <a:bodyPr wrap="square" lIns="1016" tIns="1016" rIns="1016" bIns="1016" rtlCol="0" anchor="ctr">
                <a:no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b="1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1" i="1" dirty="0" smtClean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</m:ctrlPr>
                        </m:dPr>
                        <m:e>
                          <m:r>
                            <a:rPr lang="en-US" sz="2400" b="1" i="1" dirty="0" smtClean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𝒀</m:t>
                          </m:r>
                          <m:d>
                            <m:dPr>
                              <m:ctrlPr>
                                <a:rPr lang="en-US" sz="2400" b="1" i="1" dirty="0" smtClean="0">
                                  <a:solidFill>
                                    <a:srgbClr val="FDBB30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2400" b="1" i="1" dirty="0" smtClean="0">
                                  <a:solidFill>
                                    <a:srgbClr val="FDBB30"/>
                                  </a:solidFill>
                                  <a:latin typeface="Cambria Math" panose="02040503050406030204" pitchFamily="18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𝒕</m:t>
                              </m:r>
                            </m:e>
                          </m:d>
                        </m:e>
                      </m:d>
                      <m:r>
                        <a:rPr lang="en-US" sz="2400" b="1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  <a:ea typeface="Cambria Math" pitchFamily="34" charset="-122"/>
                          <a:cs typeface="Cambria Math" pitchFamily="34" charset="-120"/>
                        </a:rPr>
                        <m:t> 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1" i="1" dirty="0" smtClean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1" i="1" dirty="0" smtClean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𝒙</m:t>
                          </m:r>
                        </m:sub>
                        <m:sup/>
                        <m:e>
                          <m:r>
                            <a:rPr lang="en-US" sz="2400" b="1" i="1" dirty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𝑬</m:t>
                          </m:r>
                          <m:r>
                            <a:rPr lang="en-US" sz="2400" b="1" i="1" dirty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[</m:t>
                          </m:r>
                          <m:r>
                            <a:rPr lang="en-US" sz="2400" b="1" i="1" dirty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𝒀</m:t>
                          </m:r>
                          <m:r>
                            <a:rPr lang="en-US" sz="2400" b="1" i="1" dirty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 | </m:t>
                          </m:r>
                          <m:r>
                            <a:rPr lang="en-US" sz="2400" b="1" i="1" dirty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𝑻</m:t>
                          </m:r>
                          <m:r>
                            <a:rPr lang="en-US" sz="2400" b="1" i="1" dirty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=</m:t>
                          </m:r>
                          <m:r>
                            <a:rPr lang="en-US" sz="2400" b="1" i="1" dirty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𝒕</m:t>
                          </m:r>
                          <m:r>
                            <a:rPr lang="en-US" sz="2400" b="1" i="1" dirty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, </m:t>
                          </m:r>
                          <m:r>
                            <a:rPr lang="en-US" sz="2400" b="1" i="1" dirty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𝑿</m:t>
                          </m:r>
                          <m:r>
                            <a:rPr lang="en-US" sz="2400" b="1" i="1" dirty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=</m:t>
                          </m:r>
                          <m:r>
                            <a:rPr lang="en-US" sz="2400" b="1" i="1" dirty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𝒙</m:t>
                          </m:r>
                          <m:r>
                            <a:rPr lang="en-US" sz="2400" b="1" i="1" dirty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]</m:t>
                          </m:r>
                          <m:r>
                            <a:rPr lang="en-US" sz="2400" b="1" i="1" dirty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𝑷</m:t>
                          </m:r>
                          <m:r>
                            <a:rPr lang="en-US" sz="2400" b="1" i="1" dirty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(</m:t>
                          </m:r>
                          <m:r>
                            <a:rPr lang="en-US" sz="2400" b="1" i="1" dirty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𝑿</m:t>
                          </m:r>
                          <m:r>
                            <a:rPr lang="en-US" sz="2400" b="1" i="1" dirty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=</m:t>
                          </m:r>
                          <m:r>
                            <a:rPr lang="en-US" sz="2400" b="1" i="1" dirty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𝒙</m:t>
                          </m:r>
                          <m:r>
                            <a:rPr lang="en-US" sz="2400" b="1" i="1" dirty="0">
                              <a:solidFill>
                                <a:srgbClr val="FDBB30"/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 1">
                <a:extLst>
                  <a:ext uri="{FF2B5EF4-FFF2-40B4-BE49-F238E27FC236}">
                    <a16:creationId xmlns:a16="http://schemas.microsoft.com/office/drawing/2014/main" id="{FE213060-9C87-B6BE-9B2D-05B68F7179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380" y="1203980"/>
                <a:ext cx="8389620" cy="749300"/>
              </a:xfrm>
              <a:prstGeom prst="rect">
                <a:avLst/>
              </a:prstGeom>
              <a:blipFill>
                <a:blip r:embed="rId2"/>
                <a:stretch>
                  <a:fillRect b="-983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2">
            <a:extLst>
              <a:ext uri="{FF2B5EF4-FFF2-40B4-BE49-F238E27FC236}">
                <a16:creationId xmlns:a16="http://schemas.microsoft.com/office/drawing/2014/main" id="{A10E9A5F-417C-8085-3AA2-1C9B59585B84}"/>
              </a:ext>
            </a:extLst>
          </p:cNvPr>
          <p:cNvSpPr/>
          <p:nvPr/>
        </p:nvSpPr>
        <p:spPr>
          <a:xfrm>
            <a:off x="708660" y="2438400"/>
            <a:ext cx="736092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3000" dirty="0">
                <a:solidFill>
                  <a:srgbClr val="F2F2F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ATE = E[Y(1)] − E[Y(0)]</a:t>
            </a:r>
            <a:endParaRPr lang="en-US" sz="30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ECBD3756-4D04-69EF-A9D0-60FBB8D18440}"/>
              </a:ext>
            </a:extLst>
          </p:cNvPr>
          <p:cNvSpPr/>
          <p:nvPr/>
        </p:nvSpPr>
        <p:spPr>
          <a:xfrm>
            <a:off x="176662" y="3556000"/>
            <a:ext cx="8681720" cy="1219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5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DAG helps justify WHICH X makes this identification step valid.</a:t>
            </a:r>
            <a:endParaRPr lang="en-US" sz="2050" dirty="0"/>
          </a:p>
          <a:p>
            <a:pPr marL="0" indent="0" algn="ctr">
              <a:buNone/>
            </a:pPr>
            <a:r>
              <a:rPr lang="en-US" sz="205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Regression, matching, weighting, and g-computation are estimation strategies after identification.</a:t>
            </a:r>
            <a:endParaRPr lang="en-US" sz="2050" dirty="0"/>
          </a:p>
        </p:txBody>
      </p:sp>
    </p:spTree>
    <p:extLst>
      <p:ext uri="{BB962C8B-B14F-4D97-AF65-F5344CB8AC3E}">
        <p14:creationId xmlns:p14="http://schemas.microsoft.com/office/powerpoint/2010/main" val="28804284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B7D17-84BE-FF53-BC6A-C647B88B5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6676EF-AB21-5A58-6A2B-FAD2A4E95C87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A DAG does not prove causality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B0A5A-211F-4B11-F9E2-0E2C64504F1B}"/>
              </a:ext>
            </a:extLst>
          </p:cNvPr>
          <p:cNvSpPr txBox="1"/>
          <p:nvPr/>
        </p:nvSpPr>
        <p:spPr>
          <a:xfrm>
            <a:off x="416990" y="1232922"/>
            <a:ext cx="83100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Clr>
                <a:schemeClr val="bg1"/>
              </a:buClr>
              <a:buSzPct val="100000"/>
              <a:buChar char="•"/>
            </a:pPr>
            <a:r>
              <a:rPr lang="en-US" sz="2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arrows come from scientific knowledge, design, temporal order, and assumptions.</a:t>
            </a:r>
            <a:endParaRPr lang="en-US" sz="2100" dirty="0"/>
          </a:p>
          <a:p>
            <a:pPr marL="228600" indent="-228600">
              <a:buClr>
                <a:schemeClr val="bg1"/>
              </a:buClr>
              <a:buSzPct val="100000"/>
              <a:buChar char="•"/>
            </a:pPr>
            <a:r>
              <a:rPr lang="en-US" sz="2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data generally cannot determine a unique causal DAG by itself.</a:t>
            </a:r>
            <a:endParaRPr lang="en-US" sz="2100" dirty="0"/>
          </a:p>
          <a:p>
            <a:pPr marL="228600" indent="-228600">
              <a:buClr>
                <a:schemeClr val="bg1"/>
              </a:buClr>
              <a:buSzPct val="100000"/>
              <a:buChar char="•"/>
            </a:pPr>
            <a:r>
              <a:rPr lang="en-US" sz="2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DAGs can imply the same set of observed conditional independences.</a:t>
            </a:r>
            <a:endParaRPr lang="en-US" sz="2100" dirty="0"/>
          </a:p>
          <a:p>
            <a:pPr marL="228600" indent="-228600">
              <a:buClr>
                <a:schemeClr val="bg1"/>
              </a:buClr>
              <a:buSzPct val="100000"/>
              <a:buChar char="•"/>
            </a:pPr>
            <a:r>
              <a:rPr lang="en-US" sz="21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correct-looking picture is not a substitute for substantive justification.</a:t>
            </a:r>
            <a:endParaRPr lang="en-US" sz="21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086CEF5D-0938-D497-5EF2-2161862BC381}"/>
              </a:ext>
            </a:extLst>
          </p:cNvPr>
          <p:cNvSpPr/>
          <p:nvPr/>
        </p:nvSpPr>
        <p:spPr>
          <a:xfrm>
            <a:off x="224790" y="4326890"/>
            <a:ext cx="8689194" cy="523220"/>
          </a:xfrm>
          <a:prstGeom prst="roundRect">
            <a:avLst>
              <a:gd name="adj" fmla="val 19355"/>
            </a:avLst>
          </a:prstGeom>
          <a:solidFill>
            <a:srgbClr val="FDBB30"/>
          </a:solidFill>
          <a:ln w="15240">
            <a:solidFill>
              <a:srgbClr val="FDBB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DDF4AD5D-307E-257A-03FF-4ECD4F978990}"/>
              </a:ext>
            </a:extLst>
          </p:cNvPr>
          <p:cNvSpPr/>
          <p:nvPr/>
        </p:nvSpPr>
        <p:spPr>
          <a:xfrm>
            <a:off x="407670" y="4381754"/>
            <a:ext cx="8362839" cy="4219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DAGs make assumptions visible; they do not make them automatically true.</a:t>
            </a:r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val="3594011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795CE-F851-13E8-9C0E-EE0D36108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D762CF-9354-F413-0C6B-0B8140CFF124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Unmeasured confounding: Hidden U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4A19F9E4-E944-4A49-1AB9-6EA657C6EFBC}"/>
              </a:ext>
            </a:extLst>
          </p:cNvPr>
          <p:cNvSpPr/>
          <p:nvPr/>
        </p:nvSpPr>
        <p:spPr>
          <a:xfrm>
            <a:off x="4010914" y="1060704"/>
            <a:ext cx="621792" cy="621792"/>
          </a:xfrm>
          <a:prstGeom prst="ellipse">
            <a:avLst/>
          </a:prstGeom>
          <a:solidFill>
            <a:srgbClr val="E88A8A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EFD54DF-3261-6624-EE8B-1B0F568A5127}"/>
              </a:ext>
            </a:extLst>
          </p:cNvPr>
          <p:cNvSpPr/>
          <p:nvPr/>
        </p:nvSpPr>
        <p:spPr>
          <a:xfrm>
            <a:off x="4010914" y="121615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17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887F11CA-8321-B3E3-6084-4C44D2F3CCB0}"/>
              </a:ext>
            </a:extLst>
          </p:cNvPr>
          <p:cNvSpPr/>
          <p:nvPr/>
        </p:nvSpPr>
        <p:spPr>
          <a:xfrm>
            <a:off x="1994154" y="2485644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3F27F05F-F2C2-0CEB-3744-9BC273A6FC63}"/>
              </a:ext>
            </a:extLst>
          </p:cNvPr>
          <p:cNvSpPr/>
          <p:nvPr/>
        </p:nvSpPr>
        <p:spPr>
          <a:xfrm>
            <a:off x="1994154" y="264109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7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4EA97CCD-6770-203B-BB88-1AFD33158460}"/>
              </a:ext>
            </a:extLst>
          </p:cNvPr>
          <p:cNvSpPr/>
          <p:nvPr/>
        </p:nvSpPr>
        <p:spPr>
          <a:xfrm>
            <a:off x="5970524" y="2409444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942D6501-782E-27A0-DB3C-8ACABBB7F524}"/>
              </a:ext>
            </a:extLst>
          </p:cNvPr>
          <p:cNvSpPr/>
          <p:nvPr/>
        </p:nvSpPr>
        <p:spPr>
          <a:xfrm>
            <a:off x="5970524" y="256489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7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BD8AF4F-665C-CFA9-1F02-D5609F52879F}"/>
              </a:ext>
            </a:extLst>
          </p:cNvPr>
          <p:cNvCxnSpPr>
            <a:endCxn id="10" idx="7"/>
          </p:cNvCxnSpPr>
          <p:nvPr/>
        </p:nvCxnSpPr>
        <p:spPr>
          <a:xfrm flipH="1">
            <a:off x="2524887" y="1504950"/>
            <a:ext cx="1486027" cy="107175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AF02BC2-72A8-4F2E-F119-0AD0BB11673E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4632706" y="1492758"/>
            <a:ext cx="1428877" cy="100774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hape 3">
            <a:extLst>
              <a:ext uri="{FF2B5EF4-FFF2-40B4-BE49-F238E27FC236}">
                <a16:creationId xmlns:a16="http://schemas.microsoft.com/office/drawing/2014/main" id="{0C861B18-AB8F-D022-C7A0-01DD77BA36BC}"/>
              </a:ext>
            </a:extLst>
          </p:cNvPr>
          <p:cNvSpPr/>
          <p:nvPr/>
        </p:nvSpPr>
        <p:spPr>
          <a:xfrm flipV="1">
            <a:off x="2615946" y="2732151"/>
            <a:ext cx="3354578" cy="61341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11">
                <a:extLst>
                  <a:ext uri="{FF2B5EF4-FFF2-40B4-BE49-F238E27FC236}">
                    <a16:creationId xmlns:a16="http://schemas.microsoft.com/office/drawing/2014/main" id="{29316F23-0CCC-02DD-7F40-8F834D5AE9C7}"/>
                  </a:ext>
                </a:extLst>
              </p:cNvPr>
              <p:cNvSpPr/>
              <p:nvPr/>
            </p:nvSpPr>
            <p:spPr>
              <a:xfrm>
                <a:off x="109220" y="3843147"/>
                <a:ext cx="8837930" cy="811403"/>
              </a:xfrm>
              <a:prstGeom prst="rect">
                <a:avLst/>
              </a:prstGeom>
              <a:noFill/>
              <a:ln/>
            </p:spPr>
            <p:txBody>
              <a:bodyPr wrap="square" lIns="1016" tIns="1016" rIns="1016" bIns="1016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100" b="1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If U is unmeasured, ordinary adjustment cannot block </a:t>
                </a:r>
                <a14:m>
                  <m:oMath xmlns:m="http://schemas.openxmlformats.org/officeDocument/2006/math">
                    <m:r>
                      <a:rPr lang="en-US" sz="2100" b="1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𝑻</m:t>
                    </m:r>
                    <m:r>
                      <a:rPr lang="en-US" sz="2100" b="1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← </m:t>
                    </m:r>
                    <m:r>
                      <a:rPr lang="en-US" sz="2100" b="1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𝑼</m:t>
                    </m:r>
                    <m:r>
                      <a:rPr lang="en-US" sz="2100" b="1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 → </m:t>
                    </m:r>
                    <m:r>
                      <a:rPr lang="en-US" sz="2100" b="1" i="1" dirty="0" smtClean="0">
                        <a:solidFill>
                          <a:srgbClr val="F2F2F2"/>
                        </a:solidFill>
                        <a:latin typeface="Cambria Math" panose="02040503050406030204" pitchFamily="18" charset="0"/>
                        <a:ea typeface="Arial" pitchFamily="34" charset="-122"/>
                        <a:cs typeface="Arial" pitchFamily="34" charset="-120"/>
                      </a:rPr>
                      <m:t>𝒀</m:t>
                    </m:r>
                  </m:oMath>
                </a14:m>
                <a:r>
                  <a:rPr lang="en-US" sz="2100" b="1" dirty="0">
                    <a:solidFill>
                      <a:srgbClr val="F2F2F2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.</a:t>
                </a:r>
                <a:endParaRPr lang="en-US" sz="2100" dirty="0"/>
              </a:p>
            </p:txBody>
          </p:sp>
        </mc:Choice>
        <mc:Fallback xmlns="">
          <p:sp>
            <p:nvSpPr>
              <p:cNvPr id="27" name="Text 11">
                <a:extLst>
                  <a:ext uri="{FF2B5EF4-FFF2-40B4-BE49-F238E27FC236}">
                    <a16:creationId xmlns:a16="http://schemas.microsoft.com/office/drawing/2014/main" id="{29316F23-0CCC-02DD-7F40-8F834D5AE9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20" y="3843147"/>
                <a:ext cx="8837930" cy="81140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37901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E7444-4996-68C1-E183-028530730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17FB0-9C37-6110-02A5-5513CE28D558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Measuring poorly is not same as measuring it</a:t>
            </a: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56D8D82E-87DB-58C8-BB55-7D5328C7A300}"/>
              </a:ext>
            </a:extLst>
          </p:cNvPr>
          <p:cNvSpPr/>
          <p:nvPr/>
        </p:nvSpPr>
        <p:spPr>
          <a:xfrm>
            <a:off x="1515110" y="1524762"/>
            <a:ext cx="27940" cy="2010884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CA05A763-F764-A8E4-A9DB-CAEFBE6D5C9D}"/>
              </a:ext>
            </a:extLst>
          </p:cNvPr>
          <p:cNvSpPr/>
          <p:nvPr/>
        </p:nvSpPr>
        <p:spPr>
          <a:xfrm>
            <a:off x="1825456" y="1333564"/>
            <a:ext cx="5877093" cy="2317899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67C151B7-261A-09EC-D279-7BDB260BBB43}"/>
              </a:ext>
            </a:extLst>
          </p:cNvPr>
          <p:cNvSpPr/>
          <p:nvPr/>
        </p:nvSpPr>
        <p:spPr>
          <a:xfrm>
            <a:off x="1797861" y="1379254"/>
            <a:ext cx="1757242" cy="1580290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F4C9F9A5-63BD-4235-1455-064C6D1113E3}"/>
              </a:ext>
            </a:extLst>
          </p:cNvPr>
          <p:cNvSpPr/>
          <p:nvPr/>
        </p:nvSpPr>
        <p:spPr>
          <a:xfrm>
            <a:off x="1862582" y="3904454"/>
            <a:ext cx="5751576" cy="0"/>
          </a:xfrm>
          <a:prstGeom prst="line">
            <a:avLst/>
          </a:prstGeom>
          <a:noFill/>
          <a:ln w="25400">
            <a:solidFill>
              <a:srgbClr val="F2F2F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10C62CB9-5011-D607-AFB2-ECB6EFD2DA17}"/>
              </a:ext>
            </a:extLst>
          </p:cNvPr>
          <p:cNvSpPr/>
          <p:nvPr/>
        </p:nvSpPr>
        <p:spPr>
          <a:xfrm>
            <a:off x="1204214" y="866394"/>
            <a:ext cx="621792" cy="621792"/>
          </a:xfrm>
          <a:prstGeom prst="ellipse">
            <a:avLst/>
          </a:prstGeom>
          <a:solidFill>
            <a:srgbClr val="9AD7A5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21A4E7C8-0B85-8931-4800-9D5DEE863260}"/>
              </a:ext>
            </a:extLst>
          </p:cNvPr>
          <p:cNvSpPr/>
          <p:nvPr/>
        </p:nvSpPr>
        <p:spPr>
          <a:xfrm>
            <a:off x="1204214" y="1021842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C*</a:t>
            </a:r>
            <a:endParaRPr lang="en-US" sz="170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08D9B401-291C-4868-2934-263B7853623D}"/>
              </a:ext>
            </a:extLst>
          </p:cNvPr>
          <p:cNvSpPr/>
          <p:nvPr/>
        </p:nvSpPr>
        <p:spPr>
          <a:xfrm>
            <a:off x="920750" y="152476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confounder</a:t>
            </a:r>
            <a:endParaRPr lang="en-US" sz="1200" dirty="0"/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31EC502D-D09C-B7EB-612E-C64C3E5AD57B}"/>
              </a:ext>
            </a:extLst>
          </p:cNvPr>
          <p:cNvSpPr/>
          <p:nvPr/>
        </p:nvSpPr>
        <p:spPr>
          <a:xfrm>
            <a:off x="3555102" y="2768346"/>
            <a:ext cx="621792" cy="621792"/>
          </a:xfrm>
          <a:prstGeom prst="ellipse">
            <a:avLst/>
          </a:prstGeom>
          <a:solidFill>
            <a:srgbClr val="C8A7E8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C4CCCA9D-7178-FCE1-2A1D-1B8D6AAA39C9}"/>
              </a:ext>
            </a:extLst>
          </p:cNvPr>
          <p:cNvSpPr/>
          <p:nvPr/>
        </p:nvSpPr>
        <p:spPr>
          <a:xfrm>
            <a:off x="3555102" y="292379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70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8B2194E7-E289-21AD-BDF1-71D056F08CF1}"/>
              </a:ext>
            </a:extLst>
          </p:cNvPr>
          <p:cNvSpPr/>
          <p:nvPr/>
        </p:nvSpPr>
        <p:spPr>
          <a:xfrm>
            <a:off x="3271638" y="342671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noisy measure</a:t>
            </a:r>
            <a:endParaRPr lang="en-US" sz="1200" dirty="0"/>
          </a:p>
        </p:txBody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A9D38067-5689-5CAA-1965-21499B51CF7F}"/>
              </a:ext>
            </a:extLst>
          </p:cNvPr>
          <p:cNvSpPr/>
          <p:nvPr/>
        </p:nvSpPr>
        <p:spPr>
          <a:xfrm>
            <a:off x="1240790" y="3535646"/>
            <a:ext cx="621792" cy="621792"/>
          </a:xfrm>
          <a:prstGeom prst="ellipse">
            <a:avLst/>
          </a:prstGeom>
          <a:solidFill>
            <a:srgbClr val="6CA5DD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97463F29-9F8A-D399-DCD3-956E754D534D}"/>
              </a:ext>
            </a:extLst>
          </p:cNvPr>
          <p:cNvSpPr/>
          <p:nvPr/>
        </p:nvSpPr>
        <p:spPr>
          <a:xfrm>
            <a:off x="1240790" y="3691094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700" dirty="0"/>
          </a:p>
        </p:txBody>
      </p:sp>
      <p:sp>
        <p:nvSpPr>
          <p:cNvPr id="38" name="Shape 13">
            <a:extLst>
              <a:ext uri="{FF2B5EF4-FFF2-40B4-BE49-F238E27FC236}">
                <a16:creationId xmlns:a16="http://schemas.microsoft.com/office/drawing/2014/main" id="{2DBE07F6-0163-E586-759B-B35049A69BA6}"/>
              </a:ext>
            </a:extLst>
          </p:cNvPr>
          <p:cNvSpPr/>
          <p:nvPr/>
        </p:nvSpPr>
        <p:spPr>
          <a:xfrm>
            <a:off x="7614158" y="3608798"/>
            <a:ext cx="621792" cy="621792"/>
          </a:xfrm>
          <a:prstGeom prst="ellipse">
            <a:avLst/>
          </a:prstGeom>
          <a:solidFill>
            <a:srgbClr val="FDBB30"/>
          </a:solidFill>
          <a:ln w="1524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9EA6786A-3ADE-030E-8E48-44C283C3C13C}"/>
              </a:ext>
            </a:extLst>
          </p:cNvPr>
          <p:cNvSpPr/>
          <p:nvPr/>
        </p:nvSpPr>
        <p:spPr>
          <a:xfrm>
            <a:off x="7614158" y="3764246"/>
            <a:ext cx="621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700" dirty="0"/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3C4EB264-9D62-177D-DEAB-1879D9B10F7E}"/>
              </a:ext>
            </a:extLst>
          </p:cNvPr>
          <p:cNvSpPr/>
          <p:nvPr/>
        </p:nvSpPr>
        <p:spPr>
          <a:xfrm>
            <a:off x="73025" y="4453094"/>
            <a:ext cx="8997950" cy="471639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85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Conditioning on W may leave residual confounding because W does not perfectly recover C*.</a:t>
            </a:r>
            <a:endParaRPr lang="en-US" sz="1850" dirty="0"/>
          </a:p>
        </p:txBody>
      </p:sp>
    </p:spTree>
    <p:extLst>
      <p:ext uri="{BB962C8B-B14F-4D97-AF65-F5344CB8AC3E}">
        <p14:creationId xmlns:p14="http://schemas.microsoft.com/office/powerpoint/2010/main" val="10972621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B70D0-25C1-447C-30FC-B2B134CB5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046C19-3A85-B7C4-02D8-F680F8B50EF3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0">
                <a:extLst>
                  <a:ext uri="{FF2B5EF4-FFF2-40B4-BE49-F238E27FC236}">
                    <a16:creationId xmlns:a16="http://schemas.microsoft.com/office/drawing/2014/main" id="{A6A7F147-061F-D46A-1BCD-5656B9402DF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35783" y="928370"/>
              <a:ext cx="8735192" cy="3440430"/>
            </p:xfrm>
            <a:graphic>
              <a:graphicData uri="http://schemas.openxmlformats.org/drawingml/2006/table">
                <a:tbl>
                  <a:tblPr/>
                  <a:tblGrid>
                    <a:gridCol w="239936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9936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9364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88495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85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Variable adjusted for</a:t>
                          </a:r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85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Graph role</a:t>
                          </a:r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85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What adjustment does</a:t>
                          </a:r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50645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85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Confounder C</a:t>
                          </a:r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5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𝑇</m:t>
                                </m:r>
                                <m:r>
                                  <a:rPr lang="en-US" sz="185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 ← </m:t>
                                </m:r>
                                <m:r>
                                  <a:rPr lang="en-US" sz="185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𝐶</m:t>
                                </m:r>
                                <m:r>
                                  <a:rPr lang="en-US" sz="185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 → </m:t>
                                </m:r>
                                <m:r>
                                  <a:rPr lang="en-US" sz="185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𝑌</m:t>
                                </m:r>
                              </m:oMath>
                            </m:oMathPara>
                          </a14:m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85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Removes bias</a:t>
                          </a:r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50645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85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Mediator M</a:t>
                          </a:r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5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𝑇</m:t>
                                </m:r>
                                <m:r>
                                  <a:rPr lang="en-US" sz="185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 → </m:t>
                                </m:r>
                                <m:r>
                                  <a:rPr lang="en-US" sz="185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𝑀</m:t>
                                </m:r>
                                <m:r>
                                  <a:rPr lang="en-US" sz="185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 → </m:t>
                                </m:r>
                                <m:r>
                                  <a:rPr lang="en-US" sz="185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𝑌</m:t>
                                </m:r>
                              </m:oMath>
                            </m:oMathPara>
                          </a14:m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85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Blocks part of total effect</a:t>
                          </a:r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50645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85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Collider C</a:t>
                          </a:r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85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𝑇</m:t>
                                </m:r>
                                <m:r>
                                  <a:rPr lang="en-US" sz="185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 → </m:t>
                                </m:r>
                                <m:r>
                                  <a:rPr lang="en-US" sz="185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𝐶</m:t>
                                </m:r>
                                <m:r>
                                  <a:rPr lang="en-US" sz="185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 ← </m:t>
                                </m:r>
                                <m:r>
                                  <a:rPr lang="en-US" sz="1850" i="1" dirty="0" smtClean="0">
                                    <a:solidFill>
                                      <a:srgbClr val="F2F2F2"/>
                                    </a:solidFill>
                                    <a:latin typeface="Cambria Math" panose="02040503050406030204" pitchFamily="18" charset="0"/>
                                    <a:ea typeface="Arial" pitchFamily="34" charset="-122"/>
                                    <a:cs typeface="Arial" pitchFamily="34" charset="-120"/>
                                  </a:rPr>
                                  <m:t>𝑌</m:t>
                                </m:r>
                              </m:oMath>
                            </m:oMathPara>
                          </a14:m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85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Creates association / bias</a:t>
                          </a:r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0">
                <a:extLst>
                  <a:ext uri="{FF2B5EF4-FFF2-40B4-BE49-F238E27FC236}">
                    <a16:creationId xmlns:a16="http://schemas.microsoft.com/office/drawing/2014/main" id="{A6A7F147-061F-D46A-1BCD-5656B9402DF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2722075"/>
                  </p:ext>
                </p:extLst>
              </p:nvPr>
            </p:nvGraphicFramePr>
            <p:xfrm>
              <a:off x="335783" y="928370"/>
              <a:ext cx="8735192" cy="3440430"/>
            </p:xfrm>
            <a:graphic>
              <a:graphicData uri="http://schemas.openxmlformats.org/drawingml/2006/table">
                <a:tbl>
                  <a:tblPr/>
                  <a:tblGrid>
                    <a:gridCol w="239936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9936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9364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88495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85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Variable adjusted for</a:t>
                          </a:r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85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Graph role</a:t>
                          </a:r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85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What adjustment does</a:t>
                          </a:r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50645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85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Confounder C</a:t>
                          </a:r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4" t="-62821" r="-164467" b="-20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85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Removes bias</a:t>
                          </a:r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50645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85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Mediator M</a:t>
                          </a:r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4" t="-162821" r="-164467" b="-10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85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Blocks part of total effect</a:t>
                          </a:r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50645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85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Collider C</a:t>
                          </a:r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54" t="-262821" r="-164467" b="-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sz="1850" dirty="0">
                              <a:solidFill>
                                <a:srgbClr val="F2F2F2"/>
                              </a:solidFill>
                              <a:latin typeface="Arial" pitchFamily="34" charset="0"/>
                              <a:ea typeface="Arial" pitchFamily="34" charset="-122"/>
                              <a:cs typeface="Arial" pitchFamily="34" charset="-120"/>
                            </a:rPr>
                            <a:t>Creates association / bias</a:t>
                          </a:r>
                          <a:endParaRPr lang="en-US" sz="1850" dirty="0">
                            <a:latin typeface="Arial" charset="0"/>
                            <a:ea typeface="Arial" charset="0"/>
                            <a:cs typeface="Arial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777777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6262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Shape 1">
            <a:extLst>
              <a:ext uri="{FF2B5EF4-FFF2-40B4-BE49-F238E27FC236}">
                <a16:creationId xmlns:a16="http://schemas.microsoft.com/office/drawing/2014/main" id="{CD11548B-3188-A5F9-C8D4-30B1B7A8FB96}"/>
              </a:ext>
            </a:extLst>
          </p:cNvPr>
          <p:cNvSpPr/>
          <p:nvPr/>
        </p:nvSpPr>
        <p:spPr>
          <a:xfrm>
            <a:off x="169188" y="4533158"/>
            <a:ext cx="8809712" cy="523220"/>
          </a:xfrm>
          <a:prstGeom prst="roundRect">
            <a:avLst>
              <a:gd name="adj" fmla="val 19355"/>
            </a:avLst>
          </a:prstGeom>
          <a:solidFill>
            <a:srgbClr val="FDBB30"/>
          </a:solidFill>
          <a:ln w="15240">
            <a:solidFill>
              <a:srgbClr val="FDBB3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4B5D31FE-BBD3-5523-54EB-F92CCC3BC1AF}"/>
              </a:ext>
            </a:extLst>
          </p:cNvPr>
          <p:cNvSpPr/>
          <p:nvPr/>
        </p:nvSpPr>
        <p:spPr>
          <a:xfrm>
            <a:off x="352068" y="4579562"/>
            <a:ext cx="8478831" cy="42195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syntax cannot tell you which causal role a covariate has.</a:t>
            </a:r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val="4839331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46E95-63F5-B72D-AAA7-D6E8406A7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B771BC-0248-3077-C0EC-BE7A511D278C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Two branches of analysis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26018E03-3698-35A1-A112-E359EEFFA026}"/>
              </a:ext>
            </a:extLst>
          </p:cNvPr>
          <p:cNvSpPr/>
          <p:nvPr/>
        </p:nvSpPr>
        <p:spPr>
          <a:xfrm>
            <a:off x="266700" y="1264920"/>
            <a:ext cx="4145753" cy="3230880"/>
          </a:xfrm>
          <a:prstGeom prst="roundRect">
            <a:avLst>
              <a:gd name="adj" fmla="val 2581"/>
            </a:avLst>
          </a:prstGeom>
          <a:solidFill>
            <a:srgbClr val="6CA5DD"/>
          </a:solidFill>
          <a:ln w="15240">
            <a:solidFill>
              <a:srgbClr val="6CA5D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3832D195-91CD-7CE1-D649-4DC79D0896B7}"/>
              </a:ext>
            </a:extLst>
          </p:cNvPr>
          <p:cNvSpPr/>
          <p:nvPr/>
        </p:nvSpPr>
        <p:spPr>
          <a:xfrm>
            <a:off x="449581" y="1466088"/>
            <a:ext cx="3852248" cy="31266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ANALYSIS WITH A DAG</a:t>
            </a:r>
            <a:endParaRPr lang="en-US" sz="19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EE47EDC8-0D14-1861-6728-1B7926B25900}"/>
              </a:ext>
            </a:extLst>
          </p:cNvPr>
          <p:cNvSpPr/>
          <p:nvPr/>
        </p:nvSpPr>
        <p:spPr>
          <a:xfrm>
            <a:off x="541020" y="2005584"/>
            <a:ext cx="3705496" cy="243184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8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 scientifically motivated graph.</a:t>
            </a:r>
            <a:endParaRPr lang="en-US" sz="1850" dirty="0"/>
          </a:p>
          <a:p>
            <a:pPr marL="0" indent="0" algn="l">
              <a:buNone/>
            </a:pPr>
            <a:endParaRPr lang="en-US" sz="1850" dirty="0"/>
          </a:p>
          <a:p>
            <a:pPr marL="0" indent="0" algn="l">
              <a:buNone/>
            </a:pPr>
            <a:r>
              <a:rPr lang="en-US" sz="18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to reason about identification, adjustment, and bias.</a:t>
            </a:r>
            <a:endParaRPr lang="en-US" sz="1850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25F7AF62-42AC-3A0F-A1EF-E6EBFC7D8616}"/>
              </a:ext>
            </a:extLst>
          </p:cNvPr>
          <p:cNvSpPr/>
          <p:nvPr/>
        </p:nvSpPr>
        <p:spPr>
          <a:xfrm>
            <a:off x="4520836" y="1264920"/>
            <a:ext cx="4412452" cy="3230880"/>
          </a:xfrm>
          <a:prstGeom prst="roundRect">
            <a:avLst>
              <a:gd name="adj" fmla="val 2581"/>
            </a:avLst>
          </a:prstGeom>
          <a:solidFill>
            <a:srgbClr val="FDBB30"/>
          </a:solidFill>
          <a:ln w="15240">
            <a:solidFill>
              <a:srgbClr val="FDBB3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6E2DB77A-B084-98F1-6510-66F8D8AF4799}"/>
              </a:ext>
            </a:extLst>
          </p:cNvPr>
          <p:cNvSpPr/>
          <p:nvPr/>
        </p:nvSpPr>
        <p:spPr>
          <a:xfrm>
            <a:off x="4697242" y="1466088"/>
            <a:ext cx="4100066" cy="31266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DISCOVERY</a:t>
            </a:r>
            <a:endParaRPr lang="en-US" sz="19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145028A1-79CA-B78E-561C-852E1D12566F}"/>
              </a:ext>
            </a:extLst>
          </p:cNvPr>
          <p:cNvSpPr/>
          <p:nvPr/>
        </p:nvSpPr>
        <p:spPr>
          <a:xfrm>
            <a:off x="4785446" y="2005584"/>
            <a:ext cx="3943873" cy="2431845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8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patterns of conditional independence and assumptions to learn aspects of graph structure.</a:t>
            </a:r>
            <a:endParaRPr lang="en-US" sz="1850" dirty="0"/>
          </a:p>
          <a:p>
            <a:pPr marL="0" indent="0" algn="l">
              <a:buNone/>
            </a:pPr>
            <a:endParaRPr lang="en-US" sz="1850" dirty="0"/>
          </a:p>
          <a:p>
            <a:pPr marL="0" indent="0" algn="l">
              <a:buNone/>
            </a:pPr>
            <a:r>
              <a:rPr lang="en-US" sz="185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may be equivalence classes (CPDAGs/PAGs), not one certain DAG.</a:t>
            </a:r>
            <a:endParaRPr lang="en-US" sz="1850" dirty="0"/>
          </a:p>
        </p:txBody>
      </p:sp>
    </p:spTree>
    <p:extLst>
      <p:ext uri="{BB962C8B-B14F-4D97-AF65-F5344CB8AC3E}">
        <p14:creationId xmlns:p14="http://schemas.microsoft.com/office/powerpoint/2010/main" val="111557823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10D87-1B96-D02B-D4A9-927F41257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BBC737-B738-BF84-C864-84B624313FE8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R Lab Simulation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C9EB9C-91F6-5112-9127-E17A3295A6D2}"/>
              </a:ext>
            </a:extLst>
          </p:cNvPr>
          <p:cNvSpPr txBox="1"/>
          <p:nvPr/>
        </p:nvSpPr>
        <p:spPr>
          <a:xfrm>
            <a:off x="285618" y="1175073"/>
            <a:ext cx="8572764" cy="241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F2F2F2"/>
                </a:solidFill>
                <a:latin typeface="Comic Neue"/>
              </a:defRPr>
            </a:pPr>
            <a:r>
              <a:rPr lang="en-US" sz="1900" dirty="0">
                <a:latin typeface="+mn-lt"/>
              </a:rPr>
              <a:t>• Confounding can make a treatment effect look too large or too small.</a:t>
            </a:r>
          </a:p>
          <a:p>
            <a:pPr>
              <a:spcAft>
                <a:spcPts val="1100"/>
              </a:spcAft>
              <a:defRPr sz="1900">
                <a:solidFill>
                  <a:srgbClr val="F2F2F2"/>
                </a:solidFill>
                <a:latin typeface="Comic Neue"/>
              </a:defRPr>
            </a:pPr>
            <a:r>
              <a:rPr lang="en-US" sz="1900" dirty="0">
                <a:latin typeface="+mn-lt"/>
              </a:rPr>
              <a:t>• Adjusting for the right backdoor variable can recover the causal effect.</a:t>
            </a:r>
          </a:p>
          <a:p>
            <a:pPr>
              <a:spcAft>
                <a:spcPts val="1100"/>
              </a:spcAft>
              <a:defRPr sz="1900">
                <a:solidFill>
                  <a:srgbClr val="F2F2F2"/>
                </a:solidFill>
                <a:latin typeface="Comic Neue"/>
              </a:defRPr>
            </a:pPr>
            <a:r>
              <a:rPr lang="en-US" sz="1900" dirty="0">
                <a:latin typeface="+mn-lt"/>
              </a:rPr>
              <a:t>• Adjusting for a mediator changes the estimand: total effect → direct effect.</a:t>
            </a:r>
          </a:p>
          <a:p>
            <a:pPr>
              <a:spcAft>
                <a:spcPts val="1100"/>
              </a:spcAft>
              <a:defRPr sz="1900">
                <a:solidFill>
                  <a:srgbClr val="F2F2F2"/>
                </a:solidFill>
                <a:latin typeface="Comic Neue"/>
              </a:defRPr>
            </a:pPr>
            <a:r>
              <a:rPr lang="en-US" sz="1900" dirty="0">
                <a:latin typeface="+mn-lt"/>
              </a:rPr>
              <a:t>• Adjusting for a collider can create bias, even when treatment is randomized.</a:t>
            </a:r>
          </a:p>
          <a:p>
            <a:pPr>
              <a:spcAft>
                <a:spcPts val="1100"/>
              </a:spcAft>
              <a:defRPr sz="1900">
                <a:solidFill>
                  <a:srgbClr val="F2F2F2"/>
                </a:solidFill>
                <a:latin typeface="Comic Neue"/>
              </a:defRPr>
            </a:pPr>
            <a:r>
              <a:rPr lang="en-US" sz="1900" dirty="0">
                <a:latin typeface="+mn-lt"/>
              </a:rPr>
              <a:t>• The same DAG can lead to different conditioning choices for d-separation versus causal adjustment.</a:t>
            </a: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D0D5486B-D6D5-0950-CA75-335D08AA6470}"/>
              </a:ext>
            </a:extLst>
          </p:cNvPr>
          <p:cNvSpPr/>
          <p:nvPr/>
        </p:nvSpPr>
        <p:spPr>
          <a:xfrm>
            <a:off x="285618" y="3968427"/>
            <a:ext cx="8503920" cy="548640"/>
          </a:xfrm>
          <a:prstGeom prst="roundRect">
            <a:avLst/>
          </a:prstGeom>
          <a:solidFill>
            <a:srgbClr val="6AA4DA"/>
          </a:solidFill>
          <a:ln>
            <a:solidFill>
              <a:srgbClr val="6AA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700" b="1" dirty="0">
                <a:solidFill>
                  <a:srgbClr val="121212"/>
                </a:solidFill>
              </a:rPr>
              <a:t>Predict first → run the code → explain the result from the DAG.</a:t>
            </a:r>
          </a:p>
        </p:txBody>
      </p:sp>
    </p:spTree>
    <p:extLst>
      <p:ext uri="{BB962C8B-B14F-4D97-AF65-F5344CB8AC3E}">
        <p14:creationId xmlns:p14="http://schemas.microsoft.com/office/powerpoint/2010/main" val="4125951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FBCF4-29D7-5E60-803F-67A7D2664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7915FA-75FF-1632-EE5F-BC903735EB65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Simulation 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8287FAD-CE94-E6DF-5E0A-8EBE9412A37B}"/>
              </a:ext>
            </a:extLst>
          </p:cNvPr>
          <p:cNvSpPr/>
          <p:nvPr/>
        </p:nvSpPr>
        <p:spPr>
          <a:xfrm>
            <a:off x="2355798" y="1277578"/>
            <a:ext cx="658368" cy="658368"/>
          </a:xfrm>
          <a:prstGeom prst="ellipse">
            <a:avLst/>
          </a:prstGeom>
          <a:solidFill>
            <a:srgbClr val="99D7A5"/>
          </a:solidFill>
          <a:ln w="1778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 dirty="0">
                <a:solidFill>
                  <a:srgbClr val="121212"/>
                </a:solidFill>
              </a:rPr>
              <a:t>C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DC85190-F5F7-118B-095D-16699F474F71}"/>
              </a:ext>
            </a:extLst>
          </p:cNvPr>
          <p:cNvSpPr/>
          <p:nvPr/>
        </p:nvSpPr>
        <p:spPr>
          <a:xfrm>
            <a:off x="965910" y="2174198"/>
            <a:ext cx="658368" cy="658368"/>
          </a:xfrm>
          <a:prstGeom prst="ellipse">
            <a:avLst/>
          </a:prstGeom>
          <a:solidFill>
            <a:srgbClr val="6AA4DA"/>
          </a:solidFill>
          <a:ln w="1778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 dirty="0">
                <a:solidFill>
                  <a:srgbClr val="121212"/>
                </a:solidFill>
              </a:rPr>
              <a:t>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B8C4C84-441E-C883-73DB-7D9671C68C27}"/>
              </a:ext>
            </a:extLst>
          </p:cNvPr>
          <p:cNvSpPr/>
          <p:nvPr/>
        </p:nvSpPr>
        <p:spPr>
          <a:xfrm>
            <a:off x="3855668" y="2174198"/>
            <a:ext cx="658368" cy="658368"/>
          </a:xfrm>
          <a:prstGeom prst="ellipse">
            <a:avLst/>
          </a:prstGeom>
          <a:solidFill>
            <a:srgbClr val="FFBE2F"/>
          </a:solidFill>
          <a:ln w="1778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 dirty="0">
                <a:solidFill>
                  <a:srgbClr val="121212"/>
                </a:solidFill>
              </a:rPr>
              <a:t>Y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15AC2803-6FA2-27E5-AFC9-07B6DC859517}"/>
              </a:ext>
            </a:extLst>
          </p:cNvPr>
          <p:cNvSpPr txBox="1"/>
          <p:nvPr/>
        </p:nvSpPr>
        <p:spPr>
          <a:xfrm>
            <a:off x="1624278" y="866098"/>
            <a:ext cx="20574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0" dirty="0">
                <a:solidFill>
                  <a:srgbClr val="F2F2F2"/>
                </a:solidFill>
              </a:rPr>
              <a:t>C = baseline risk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18661C35-1AE0-8352-9FC4-7781279DDD12}"/>
              </a:ext>
            </a:extLst>
          </p:cNvPr>
          <p:cNvSpPr txBox="1"/>
          <p:nvPr/>
        </p:nvSpPr>
        <p:spPr>
          <a:xfrm>
            <a:off x="478790" y="2964391"/>
            <a:ext cx="14630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0" dirty="0">
                <a:solidFill>
                  <a:srgbClr val="F2F2F2"/>
                </a:solidFill>
              </a:rPr>
              <a:t>Treatment</a:t>
            </a: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E52586A6-2840-AFE8-2A4F-CB8151DA6119}"/>
              </a:ext>
            </a:extLst>
          </p:cNvPr>
          <p:cNvSpPr txBox="1"/>
          <p:nvPr/>
        </p:nvSpPr>
        <p:spPr>
          <a:xfrm>
            <a:off x="3489908" y="2997157"/>
            <a:ext cx="14630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0">
                <a:solidFill>
                  <a:srgbClr val="F2F2F2"/>
                </a:solidFill>
              </a:rPr>
              <a:t>Outcome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849F844-C5E9-5A09-C5D9-5D75D2B3E112}"/>
              </a:ext>
            </a:extLst>
          </p:cNvPr>
          <p:cNvCxnSpPr>
            <a:stCxn id="3" idx="2"/>
            <a:endCxn id="4" idx="7"/>
          </p:cNvCxnSpPr>
          <p:nvPr/>
        </p:nvCxnSpPr>
        <p:spPr>
          <a:xfrm flipH="1">
            <a:off x="1527862" y="1606762"/>
            <a:ext cx="827936" cy="66385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77A432D-2389-03CF-DB09-D6C654759A10}"/>
              </a:ext>
            </a:extLst>
          </p:cNvPr>
          <p:cNvCxnSpPr>
            <a:cxnSpLocks/>
            <a:stCxn id="3" idx="6"/>
            <a:endCxn id="7" idx="1"/>
          </p:cNvCxnSpPr>
          <p:nvPr/>
        </p:nvCxnSpPr>
        <p:spPr>
          <a:xfrm>
            <a:off x="3014166" y="1606762"/>
            <a:ext cx="937918" cy="66385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ounded Rectangle 12">
                <a:extLst>
                  <a:ext uri="{FF2B5EF4-FFF2-40B4-BE49-F238E27FC236}">
                    <a16:creationId xmlns:a16="http://schemas.microsoft.com/office/drawing/2014/main" id="{33EB73CC-013E-84AC-8434-6EC2531B7B6D}"/>
                  </a:ext>
                </a:extLst>
              </p:cNvPr>
              <p:cNvSpPr/>
              <p:nvPr/>
            </p:nvSpPr>
            <p:spPr>
              <a:xfrm>
                <a:off x="478790" y="3700375"/>
                <a:ext cx="3810000" cy="594001"/>
              </a:xfrm>
              <a:prstGeom prst="roundRect">
                <a:avLst/>
              </a:prstGeom>
              <a:solidFill>
                <a:srgbClr val="EA8989"/>
              </a:solidFill>
              <a:ln>
                <a:solidFill>
                  <a:srgbClr val="EA898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sz="1800" b="1" dirty="0">
                    <a:solidFill>
                      <a:srgbClr val="121212"/>
                    </a:solidFill>
                  </a:rPr>
                  <a:t>Backdoor path: 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18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 ← </m:t>
                    </m:r>
                    <m:r>
                      <a:rPr lang="en-US" sz="18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sz="18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n-US" sz="18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endParaRPr sz="1800" b="1" dirty="0">
                  <a:solidFill>
                    <a:srgbClr val="121212"/>
                  </a:solidFill>
                </a:endParaRPr>
              </a:p>
            </p:txBody>
          </p:sp>
        </mc:Choice>
        <mc:Fallback xmlns="">
          <p:sp>
            <p:nvSpPr>
              <p:cNvPr id="16" name="Rounded Rectangle 12">
                <a:extLst>
                  <a:ext uri="{FF2B5EF4-FFF2-40B4-BE49-F238E27FC236}">
                    <a16:creationId xmlns:a16="http://schemas.microsoft.com/office/drawing/2014/main" id="{33EB73CC-013E-84AC-8434-6EC2531B7B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790" y="3700375"/>
                <a:ext cx="3810000" cy="59400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EA898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ounded Rectangle 13">
            <a:extLst>
              <a:ext uri="{FF2B5EF4-FFF2-40B4-BE49-F238E27FC236}">
                <a16:creationId xmlns:a16="http://schemas.microsoft.com/office/drawing/2014/main" id="{8E1853BF-0DAC-07C8-5B95-F02341BF9690}"/>
              </a:ext>
            </a:extLst>
          </p:cNvPr>
          <p:cNvSpPr/>
          <p:nvPr/>
        </p:nvSpPr>
        <p:spPr>
          <a:xfrm>
            <a:off x="4660822" y="3687956"/>
            <a:ext cx="4152978" cy="594001"/>
          </a:xfrm>
          <a:prstGeom prst="roundRect">
            <a:avLst/>
          </a:prstGeom>
          <a:solidFill>
            <a:srgbClr val="FFBE2F"/>
          </a:solidFill>
          <a:ln>
            <a:solidFill>
              <a:srgbClr val="FFB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700" b="1" dirty="0">
                <a:solidFill>
                  <a:srgbClr val="121212"/>
                </a:solidFill>
              </a:rPr>
              <a:t>True treatment effect in the simulation = 2</a:t>
            </a: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918E8062-32AE-3F2B-98F9-2CE0E38880DB}"/>
              </a:ext>
            </a:extLst>
          </p:cNvPr>
          <p:cNvSpPr txBox="1"/>
          <p:nvPr/>
        </p:nvSpPr>
        <p:spPr>
          <a:xfrm>
            <a:off x="558761" y="4584576"/>
            <a:ext cx="8204121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0" dirty="0">
                <a:solidFill>
                  <a:srgbClr val="F2F2F2"/>
                </a:solidFill>
              </a:rPr>
              <a:t>Will </a:t>
            </a:r>
            <a:r>
              <a:rPr sz="1800" b="0" dirty="0">
                <a:solidFill>
                  <a:srgbClr val="F2F2F2"/>
                </a:solidFill>
              </a:rPr>
              <a:t>the crude model overestimate or underestimate the effect?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1C2823E-3462-CCD0-E989-D1E38823D9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778"/>
          <a:stretch>
            <a:fillRect/>
          </a:stretch>
        </p:blipFill>
        <p:spPr>
          <a:xfrm>
            <a:off x="5022479" y="1277578"/>
            <a:ext cx="3429664" cy="1250873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82A7717-E4AA-D25E-43DF-1A59A4D51B75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624278" y="2503382"/>
            <a:ext cx="2231390" cy="2873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5781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2D981-9924-340B-3344-AECD7A4FC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AD9BC6-830B-1620-6186-BF976A82B5F3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Simulation 1</a:t>
            </a: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E86D3AF1-D485-A2AD-649E-F05564DC9182}"/>
              </a:ext>
            </a:extLst>
          </p:cNvPr>
          <p:cNvSpPr/>
          <p:nvPr/>
        </p:nvSpPr>
        <p:spPr>
          <a:xfrm>
            <a:off x="298450" y="896620"/>
            <a:ext cx="4368800" cy="3751580"/>
          </a:xfrm>
          <a:prstGeom prst="roundRect">
            <a:avLst/>
          </a:prstGeom>
          <a:solidFill>
            <a:srgbClr val="1E1E1E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09728" bIns="73152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dirty="0">
                <a:solidFill>
                  <a:srgbClr val="E6E6E6"/>
                </a:solidFill>
                <a:latin typeface="Consolas"/>
              </a:rPr>
              <a:t>set.seed(7901)
n &lt;- 5000
C &lt;- rnorm(n)
T &lt;- rbinom(n, 1, plogis(C))
Y &lt;- 2*T + 1.5*C + rnorm(n)
fit_crude &lt;- lm(Y ~ T)
fit_adj   &lt;- lm(Y ~ T + C)
coef(fit_crude)["T"]</a:t>
            </a:r>
            <a:r>
              <a:rPr lang="en-US" sz="1400" dirty="0">
                <a:solidFill>
                  <a:srgbClr val="E6E6E6"/>
                </a:solidFill>
                <a:latin typeface="Consolas"/>
              </a:rPr>
              <a:t> – 3.18</a:t>
            </a:r>
            <a:r>
              <a:rPr sz="1400" dirty="0">
                <a:solidFill>
                  <a:srgbClr val="E6E6E6"/>
                </a:solidFill>
                <a:latin typeface="Consolas"/>
              </a:rPr>
              <a:t>
coef(fit_adj)["T"]</a:t>
            </a:r>
            <a:r>
              <a:rPr lang="en-US" sz="1400" dirty="0">
                <a:solidFill>
                  <a:srgbClr val="E6E6E6"/>
                </a:solidFill>
                <a:latin typeface="Consolas"/>
              </a:rPr>
              <a:t> – 1.99</a:t>
            </a:r>
            <a:endParaRPr sz="1400" dirty="0">
              <a:solidFill>
                <a:srgbClr val="E6E6E6"/>
              </a:solidFill>
              <a:latin typeface="Consola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4">
                <a:extLst>
                  <a:ext uri="{FF2B5EF4-FFF2-40B4-BE49-F238E27FC236}">
                    <a16:creationId xmlns:a16="http://schemas.microsoft.com/office/drawing/2014/main" id="{9F6B6547-7E3E-8C69-0DFF-35C3D32523DE}"/>
                  </a:ext>
                </a:extLst>
              </p:cNvPr>
              <p:cNvSpPr/>
              <p:nvPr/>
            </p:nvSpPr>
            <p:spPr>
              <a:xfrm>
                <a:off x="4832350" y="1005840"/>
                <a:ext cx="3933190" cy="1362710"/>
              </a:xfrm>
              <a:prstGeom prst="roundRect">
                <a:avLst/>
              </a:prstGeom>
              <a:solidFill>
                <a:srgbClr val="EA8989"/>
              </a:solidFill>
              <a:ln>
                <a:solidFill>
                  <a:srgbClr val="EA898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sz="1800" b="1" dirty="0">
                    <a:solidFill>
                      <a:srgbClr val="121212"/>
                    </a:solidFill>
                  </a:rPr>
                  <a:t>MODEL 1
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sz="18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18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sz="1800" b="1" dirty="0">
                    <a:solidFill>
                      <a:srgbClr val="121212"/>
                    </a:solidFill>
                  </a:rPr>
                  <a:t>
Backdoor path remains open</a:t>
                </a:r>
                <a:r>
                  <a:rPr lang="en-US" sz="1800" b="1" dirty="0">
                    <a:solidFill>
                      <a:srgbClr val="121212"/>
                    </a:solidFill>
                  </a:rPr>
                  <a:t>.</a:t>
                </a:r>
                <a:endParaRPr sz="1800" b="1" dirty="0">
                  <a:solidFill>
                    <a:srgbClr val="121212"/>
                  </a:solidFill>
                </a:endParaRPr>
              </a:p>
            </p:txBody>
          </p:sp>
        </mc:Choice>
        <mc:Fallback xmlns="">
          <p:sp>
            <p:nvSpPr>
              <p:cNvPr id="6" name="Rounded Rectangle 4">
                <a:extLst>
                  <a:ext uri="{FF2B5EF4-FFF2-40B4-BE49-F238E27FC236}">
                    <a16:creationId xmlns:a16="http://schemas.microsoft.com/office/drawing/2014/main" id="{9F6B6547-7E3E-8C69-0DFF-35C3D32523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2350" y="1005840"/>
                <a:ext cx="3933190" cy="136271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EA898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ounded Rectangle 5">
                <a:extLst>
                  <a:ext uri="{FF2B5EF4-FFF2-40B4-BE49-F238E27FC236}">
                    <a16:creationId xmlns:a16="http://schemas.microsoft.com/office/drawing/2014/main" id="{060C6491-65E8-FB39-0177-635A6F1DBC06}"/>
                  </a:ext>
                </a:extLst>
              </p:cNvPr>
              <p:cNvSpPr/>
              <p:nvPr/>
            </p:nvSpPr>
            <p:spPr>
              <a:xfrm>
                <a:off x="4846320" y="2571750"/>
                <a:ext cx="3933190" cy="1362710"/>
              </a:xfrm>
              <a:prstGeom prst="roundRect">
                <a:avLst/>
              </a:prstGeom>
              <a:solidFill>
                <a:srgbClr val="99D7A5"/>
              </a:solidFill>
              <a:ln>
                <a:solidFill>
                  <a:srgbClr val="99D7A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sz="1800" b="1" dirty="0">
                    <a:solidFill>
                      <a:srgbClr val="121212"/>
                    </a:solidFill>
                  </a:rPr>
                  <a:t>MODEL 2
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sz="18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18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18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18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sz="1800" b="1" dirty="0">
                    <a:solidFill>
                      <a:srgbClr val="121212"/>
                    </a:solidFill>
                  </a:rPr>
                  <a:t>
Backdoor path is blocked</a:t>
                </a:r>
                <a:r>
                  <a:rPr lang="en-US" sz="1800" b="1" dirty="0">
                    <a:solidFill>
                      <a:srgbClr val="121212"/>
                    </a:solidFill>
                  </a:rPr>
                  <a:t>.</a:t>
                </a:r>
                <a:endParaRPr sz="1800" b="1" dirty="0">
                  <a:solidFill>
                    <a:srgbClr val="121212"/>
                  </a:solidFill>
                </a:endParaRPr>
              </a:p>
            </p:txBody>
          </p:sp>
        </mc:Choice>
        <mc:Fallback xmlns="">
          <p:sp>
            <p:nvSpPr>
              <p:cNvPr id="15" name="Rounded Rectangle 5">
                <a:extLst>
                  <a:ext uri="{FF2B5EF4-FFF2-40B4-BE49-F238E27FC236}">
                    <a16:creationId xmlns:a16="http://schemas.microsoft.com/office/drawing/2014/main" id="{060C6491-65E8-FB39-0177-635A6F1DBC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320" y="2571750"/>
                <a:ext cx="3933190" cy="136271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99D7A5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ounded Rectangle 6">
                <a:extLst>
                  <a:ext uri="{FF2B5EF4-FFF2-40B4-BE49-F238E27FC236}">
                    <a16:creationId xmlns:a16="http://schemas.microsoft.com/office/drawing/2014/main" id="{ACE4DD9C-6567-85ED-87EF-F296443459D3}"/>
                  </a:ext>
                </a:extLst>
              </p:cNvPr>
              <p:cNvSpPr/>
              <p:nvPr/>
            </p:nvSpPr>
            <p:spPr>
              <a:xfrm>
                <a:off x="4908550" y="4183380"/>
                <a:ext cx="3657600" cy="502920"/>
              </a:xfrm>
              <a:prstGeom prst="roundRect">
                <a:avLst/>
              </a:prstGeom>
              <a:solidFill>
                <a:srgbClr val="FFBE2F"/>
              </a:solidFill>
              <a:ln>
                <a:solidFill>
                  <a:srgbClr val="FFBE2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600" b="1" dirty="0">
                    <a:solidFill>
                      <a:srgbClr val="121212"/>
                    </a:solidFill>
                  </a:rPr>
                  <a:t>Adjusted </a:t>
                </a:r>
                <a:r>
                  <a:rPr sz="1600" b="1" dirty="0">
                    <a:solidFill>
                      <a:srgbClr val="121212"/>
                    </a:solidFill>
                  </a:rPr>
                  <a:t>coefficient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sz="1600" b="1" dirty="0">
                    <a:solidFill>
                      <a:srgbClr val="121212"/>
                    </a:solidFill>
                  </a:rPr>
                  <a:t> 2</a:t>
                </a:r>
              </a:p>
            </p:txBody>
          </p:sp>
        </mc:Choice>
        <mc:Fallback xmlns="">
          <p:sp>
            <p:nvSpPr>
              <p:cNvPr id="18" name="Rounded Rectangle 6">
                <a:extLst>
                  <a:ext uri="{FF2B5EF4-FFF2-40B4-BE49-F238E27FC236}">
                    <a16:creationId xmlns:a16="http://schemas.microsoft.com/office/drawing/2014/main" id="{ACE4DD9C-6567-85ED-87EF-F296443459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8550" y="4183380"/>
                <a:ext cx="3657600" cy="50292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FFBE2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946430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5FDF3-021F-59E4-17B8-76776063E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CD9BE5-EC93-A6B9-3B13-95129D5686FE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Simulation 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6E4E650-7EAE-3103-8D09-C0009277E36B}"/>
              </a:ext>
            </a:extLst>
          </p:cNvPr>
          <p:cNvSpPr/>
          <p:nvPr/>
        </p:nvSpPr>
        <p:spPr>
          <a:xfrm>
            <a:off x="2355798" y="1277578"/>
            <a:ext cx="658368" cy="658368"/>
          </a:xfrm>
          <a:prstGeom prst="ellipse">
            <a:avLst/>
          </a:prstGeom>
          <a:solidFill>
            <a:srgbClr val="99D7A5"/>
          </a:solidFill>
          <a:ln w="1778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121212"/>
                </a:solidFill>
              </a:rPr>
              <a:t>M</a:t>
            </a:r>
            <a:endParaRPr sz="2000" b="1" dirty="0">
              <a:solidFill>
                <a:srgbClr val="121212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6638598-35D4-847A-8CF3-C3A5C8A887F5}"/>
              </a:ext>
            </a:extLst>
          </p:cNvPr>
          <p:cNvSpPr/>
          <p:nvPr/>
        </p:nvSpPr>
        <p:spPr>
          <a:xfrm>
            <a:off x="965910" y="2174198"/>
            <a:ext cx="658368" cy="658368"/>
          </a:xfrm>
          <a:prstGeom prst="ellipse">
            <a:avLst/>
          </a:prstGeom>
          <a:solidFill>
            <a:srgbClr val="6AA4DA"/>
          </a:solidFill>
          <a:ln w="1778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 dirty="0">
                <a:solidFill>
                  <a:srgbClr val="121212"/>
                </a:solidFill>
              </a:rPr>
              <a:t>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0AC09A4-81B9-861A-55E2-4FD7841003D6}"/>
              </a:ext>
            </a:extLst>
          </p:cNvPr>
          <p:cNvSpPr/>
          <p:nvPr/>
        </p:nvSpPr>
        <p:spPr>
          <a:xfrm>
            <a:off x="3855668" y="2174198"/>
            <a:ext cx="658368" cy="658368"/>
          </a:xfrm>
          <a:prstGeom prst="ellipse">
            <a:avLst/>
          </a:prstGeom>
          <a:solidFill>
            <a:srgbClr val="FFBE2F"/>
          </a:solidFill>
          <a:ln w="1778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 dirty="0">
                <a:solidFill>
                  <a:srgbClr val="121212"/>
                </a:solidFill>
              </a:rPr>
              <a:t>Y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C476F2B9-5E6C-0171-8DEA-6C78C5C19794}"/>
              </a:ext>
            </a:extLst>
          </p:cNvPr>
          <p:cNvSpPr txBox="1"/>
          <p:nvPr/>
        </p:nvSpPr>
        <p:spPr>
          <a:xfrm>
            <a:off x="1624278" y="866098"/>
            <a:ext cx="20574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rgbClr val="F2F2F2"/>
                </a:solidFill>
              </a:rPr>
              <a:t>M</a:t>
            </a:r>
            <a:r>
              <a:rPr sz="1600" b="0" dirty="0">
                <a:solidFill>
                  <a:srgbClr val="F2F2F2"/>
                </a:solidFill>
              </a:rPr>
              <a:t> = </a:t>
            </a:r>
            <a:r>
              <a:rPr lang="en-US" sz="1600" b="0" dirty="0">
                <a:solidFill>
                  <a:srgbClr val="F2F2F2"/>
                </a:solidFill>
              </a:rPr>
              <a:t>mediator</a:t>
            </a:r>
            <a:endParaRPr sz="1600" b="0" dirty="0">
              <a:solidFill>
                <a:srgbClr val="F2F2F2"/>
              </a:solidFill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044044B8-14A2-89B4-9E48-B032BAA6F12F}"/>
              </a:ext>
            </a:extLst>
          </p:cNvPr>
          <p:cNvSpPr txBox="1"/>
          <p:nvPr/>
        </p:nvSpPr>
        <p:spPr>
          <a:xfrm>
            <a:off x="478790" y="2964391"/>
            <a:ext cx="14630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0" dirty="0">
                <a:solidFill>
                  <a:srgbClr val="F2F2F2"/>
                </a:solidFill>
              </a:rPr>
              <a:t>Treatment</a:t>
            </a: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1A98EF8B-6FCF-E9E4-2289-349BDDE6C13D}"/>
              </a:ext>
            </a:extLst>
          </p:cNvPr>
          <p:cNvSpPr txBox="1"/>
          <p:nvPr/>
        </p:nvSpPr>
        <p:spPr>
          <a:xfrm>
            <a:off x="3489908" y="2997157"/>
            <a:ext cx="14630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0">
                <a:solidFill>
                  <a:srgbClr val="F2F2F2"/>
                </a:solidFill>
              </a:rPr>
              <a:t>Outcome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7824BC1-4586-90DD-707A-0E317D8BEB37}"/>
              </a:ext>
            </a:extLst>
          </p:cNvPr>
          <p:cNvCxnSpPr>
            <a:cxnSpLocks/>
          </p:cNvCxnSpPr>
          <p:nvPr/>
        </p:nvCxnSpPr>
        <p:spPr>
          <a:xfrm flipV="1">
            <a:off x="1516899" y="1593238"/>
            <a:ext cx="849861" cy="64274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7FBA6C-A45B-6481-252C-CCE7C21DE5F5}"/>
              </a:ext>
            </a:extLst>
          </p:cNvPr>
          <p:cNvCxnSpPr>
            <a:cxnSpLocks/>
            <a:stCxn id="3" idx="6"/>
            <a:endCxn id="7" idx="1"/>
          </p:cNvCxnSpPr>
          <p:nvPr/>
        </p:nvCxnSpPr>
        <p:spPr>
          <a:xfrm>
            <a:off x="3014166" y="1606762"/>
            <a:ext cx="937918" cy="66385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3E553F0-F8F2-A9DB-62BF-8E245DE8F0C3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1625271" y="2503382"/>
            <a:ext cx="22303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98E1DE2D-1465-9BA5-6477-4A35C5F28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875" y="1160525"/>
            <a:ext cx="3334215" cy="12193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ounded Rectangle 12">
                <a:extLst>
                  <a:ext uri="{FF2B5EF4-FFF2-40B4-BE49-F238E27FC236}">
                    <a16:creationId xmlns:a16="http://schemas.microsoft.com/office/drawing/2014/main" id="{05AB9491-DFF1-94DC-1A31-967C0261A71C}"/>
                  </a:ext>
                </a:extLst>
              </p:cNvPr>
              <p:cNvSpPr/>
              <p:nvPr/>
            </p:nvSpPr>
            <p:spPr>
              <a:xfrm>
                <a:off x="262891" y="3656604"/>
                <a:ext cx="4163060" cy="609741"/>
              </a:xfrm>
              <a:prstGeom prst="roundRect">
                <a:avLst/>
              </a:prstGeom>
              <a:solidFill>
                <a:srgbClr val="6AA4DA"/>
              </a:solidFill>
              <a:ln>
                <a:solidFill>
                  <a:srgbClr val="6AA4D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r>
                      <a:rPr lang="en-US" sz="1700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700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n-US" sz="1700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700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n-US" sz="1700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700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700" dirty="0">
                    <a:solidFill>
                      <a:srgbClr val="121212"/>
                    </a:solidFill>
                  </a:rPr>
                  <a:t>is part of the causal effect.</a:t>
                </a:r>
              </a:p>
            </p:txBody>
          </p:sp>
        </mc:Choice>
        <mc:Fallback xmlns="">
          <p:sp>
            <p:nvSpPr>
              <p:cNvPr id="22" name="Rounded Rectangle 12">
                <a:extLst>
                  <a:ext uri="{FF2B5EF4-FFF2-40B4-BE49-F238E27FC236}">
                    <a16:creationId xmlns:a16="http://schemas.microsoft.com/office/drawing/2014/main" id="{05AB9491-DFF1-94DC-1A31-967C0261A7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891" y="3656604"/>
                <a:ext cx="4163060" cy="60974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6AA4DA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ounded Rectangle 13">
            <a:extLst>
              <a:ext uri="{FF2B5EF4-FFF2-40B4-BE49-F238E27FC236}">
                <a16:creationId xmlns:a16="http://schemas.microsoft.com/office/drawing/2014/main" id="{690E9AD9-FAE6-E5C1-0093-D77130BDD4F8}"/>
              </a:ext>
            </a:extLst>
          </p:cNvPr>
          <p:cNvSpPr/>
          <p:nvPr/>
        </p:nvSpPr>
        <p:spPr>
          <a:xfrm>
            <a:off x="4629150" y="3656604"/>
            <a:ext cx="4447540" cy="609741"/>
          </a:xfrm>
          <a:prstGeom prst="roundRect">
            <a:avLst/>
          </a:prstGeom>
          <a:solidFill>
            <a:srgbClr val="FFBE2F"/>
          </a:solidFill>
          <a:ln>
            <a:solidFill>
              <a:srgbClr val="FFB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700" dirty="0">
                <a:solidFill>
                  <a:srgbClr val="121212"/>
                </a:solidFill>
              </a:rPr>
              <a:t>Target total effect? Do NOT condition on M.</a:t>
            </a:r>
          </a:p>
        </p:txBody>
      </p:sp>
    </p:spTree>
    <p:extLst>
      <p:ext uri="{BB962C8B-B14F-4D97-AF65-F5344CB8AC3E}">
        <p14:creationId xmlns:p14="http://schemas.microsoft.com/office/powerpoint/2010/main" val="11064929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CCFC5-7826-EB9C-1DD7-2D7CB8AA2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B330F6-0272-C036-BE5C-0F1FC1C2B851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Simulation 2</a:t>
            </a:r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5497DA53-CFE1-D771-22B2-02BA7812F04F}"/>
              </a:ext>
            </a:extLst>
          </p:cNvPr>
          <p:cNvSpPr/>
          <p:nvPr/>
        </p:nvSpPr>
        <p:spPr>
          <a:xfrm>
            <a:off x="169188" y="666751"/>
            <a:ext cx="4402812" cy="4248149"/>
          </a:xfrm>
          <a:prstGeom prst="roundRect">
            <a:avLst/>
          </a:prstGeom>
          <a:solidFill>
            <a:srgbClr val="1E1E1E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09728" bIns="73152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dirty="0">
                <a:solidFill>
                  <a:srgbClr val="E6E6E6"/>
                </a:solidFill>
                <a:latin typeface="Consolas"/>
              </a:rPr>
              <a:t>set.seed(7902)
n &lt;- 5000
T &lt;- rbinom(n, 1, 0.5)
M &lt;- 1.2*T + rnorm(n)
Y &lt;- 1.0*T + 2.0*M + rnorm(n)
fit_total  &lt;- lm(Y ~ T)
fit_direct &lt;- lm(Y ~ T + M)
coef(fit_total)["T"]</a:t>
            </a:r>
            <a:r>
              <a:rPr lang="en-US" sz="1400" dirty="0">
                <a:solidFill>
                  <a:srgbClr val="E6E6E6"/>
                </a:solidFill>
                <a:latin typeface="Consolas"/>
              </a:rPr>
              <a:t>   - 3.38</a:t>
            </a:r>
            <a:r>
              <a:rPr sz="1400" dirty="0">
                <a:solidFill>
                  <a:srgbClr val="E6E6E6"/>
                </a:solidFill>
                <a:latin typeface="Consolas"/>
              </a:rPr>
              <a:t>
coef(fit_direct)["T"]</a:t>
            </a:r>
            <a:r>
              <a:rPr lang="en-US" sz="1400" dirty="0">
                <a:solidFill>
                  <a:srgbClr val="E6E6E6"/>
                </a:solidFill>
                <a:latin typeface="Consolas"/>
              </a:rPr>
              <a:t> -  0.98</a:t>
            </a:r>
            <a:endParaRPr sz="1400" dirty="0">
              <a:solidFill>
                <a:srgbClr val="E6E6E6"/>
              </a:solidFill>
              <a:latin typeface="Consola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4">
                <a:extLst>
                  <a:ext uri="{FF2B5EF4-FFF2-40B4-BE49-F238E27FC236}">
                    <a16:creationId xmlns:a16="http://schemas.microsoft.com/office/drawing/2014/main" id="{E36EBB65-7175-50AA-AD44-FEDA8E7CDDB4}"/>
                  </a:ext>
                </a:extLst>
              </p:cNvPr>
              <p:cNvSpPr/>
              <p:nvPr/>
            </p:nvSpPr>
            <p:spPr>
              <a:xfrm>
                <a:off x="4709160" y="739140"/>
                <a:ext cx="3996690" cy="1464310"/>
              </a:xfrm>
              <a:prstGeom prst="roundRect">
                <a:avLst/>
              </a:prstGeom>
              <a:solidFill>
                <a:srgbClr val="6AA4DA"/>
              </a:solidFill>
              <a:ln>
                <a:solidFill>
                  <a:srgbClr val="6AA4D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sz="1900" b="1" dirty="0">
                    <a:solidFill>
                      <a:srgbClr val="121212"/>
                    </a:solidFill>
                  </a:rPr>
                  <a:t>Without M
T coefficient </a:t>
                </a:r>
                <a14:m>
                  <m:oMath xmlns:m="http://schemas.openxmlformats.org/officeDocument/2006/math">
                    <m:r>
                      <a:rPr lang="en-US" sz="19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≈ </m:t>
                    </m:r>
                    <m:r>
                      <a:rPr lang="en-US" sz="19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19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9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sz="1900" b="1" dirty="0">
                    <a:solidFill>
                      <a:srgbClr val="121212"/>
                    </a:solidFill>
                  </a:rPr>
                  <a:t>
TOTAL EFFECT</a:t>
                </a:r>
              </a:p>
            </p:txBody>
          </p:sp>
        </mc:Choice>
        <mc:Fallback xmlns="">
          <p:sp>
            <p:nvSpPr>
              <p:cNvPr id="4" name="Rounded Rectangle 4">
                <a:extLst>
                  <a:ext uri="{FF2B5EF4-FFF2-40B4-BE49-F238E27FC236}">
                    <a16:creationId xmlns:a16="http://schemas.microsoft.com/office/drawing/2014/main" id="{E36EBB65-7175-50AA-AD44-FEDA8E7CDD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9160" y="739140"/>
                <a:ext cx="3996690" cy="146431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6AA4DA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5">
                <a:extLst>
                  <a:ext uri="{FF2B5EF4-FFF2-40B4-BE49-F238E27FC236}">
                    <a16:creationId xmlns:a16="http://schemas.microsoft.com/office/drawing/2014/main" id="{AE6FA35F-7F52-FC94-AF85-5790433CD89A}"/>
                  </a:ext>
                </a:extLst>
              </p:cNvPr>
              <p:cNvSpPr/>
              <p:nvPr/>
            </p:nvSpPr>
            <p:spPr>
              <a:xfrm>
                <a:off x="4709160" y="2409190"/>
                <a:ext cx="4053840" cy="1388110"/>
              </a:xfrm>
              <a:prstGeom prst="roundRect">
                <a:avLst/>
              </a:prstGeom>
              <a:solidFill>
                <a:srgbClr val="FFBE2F"/>
              </a:solidFill>
              <a:ln>
                <a:solidFill>
                  <a:srgbClr val="FFBE2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sz="1900" b="1" dirty="0">
                    <a:solidFill>
                      <a:srgbClr val="121212"/>
                    </a:solidFill>
                  </a:rPr>
                  <a:t>With M
T coefficient </a:t>
                </a:r>
                <a14:m>
                  <m:oMath xmlns:m="http://schemas.openxmlformats.org/officeDocument/2006/math">
                    <m:r>
                      <a:rPr lang="en-US" sz="19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≈ </m:t>
                    </m:r>
                    <m:r>
                      <a:rPr lang="en-US" sz="19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19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9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sz="1900" b="1" dirty="0">
                    <a:solidFill>
                      <a:srgbClr val="121212"/>
                    </a:solidFill>
                  </a:rPr>
                  <a:t>
DIRECT EFFECT</a:t>
                </a:r>
              </a:p>
            </p:txBody>
          </p:sp>
        </mc:Choice>
        <mc:Fallback xmlns="">
          <p:sp>
            <p:nvSpPr>
              <p:cNvPr id="7" name="Rounded Rectangle 5">
                <a:extLst>
                  <a:ext uri="{FF2B5EF4-FFF2-40B4-BE49-F238E27FC236}">
                    <a16:creationId xmlns:a16="http://schemas.microsoft.com/office/drawing/2014/main" id="{AE6FA35F-7F52-FC94-AF85-5790433CD8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9160" y="2409190"/>
                <a:ext cx="4053840" cy="138811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BE2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0D1F900E-FF4A-1983-5F9A-C49F5CBFE42B}"/>
              </a:ext>
            </a:extLst>
          </p:cNvPr>
          <p:cNvSpPr/>
          <p:nvPr/>
        </p:nvSpPr>
        <p:spPr>
          <a:xfrm>
            <a:off x="4709160" y="4152900"/>
            <a:ext cx="3996690" cy="527050"/>
          </a:xfrm>
          <a:prstGeom prst="roundRect">
            <a:avLst/>
          </a:prstGeom>
          <a:solidFill>
            <a:srgbClr val="EA8989"/>
          </a:solidFill>
          <a:ln>
            <a:solidFill>
              <a:srgbClr val="EA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 dirty="0">
                <a:solidFill>
                  <a:srgbClr val="121212"/>
                </a:solidFill>
              </a:rPr>
              <a:t>Adding a covariate can change the scientific question.</a:t>
            </a:r>
          </a:p>
        </p:txBody>
      </p:sp>
    </p:spTree>
    <p:extLst>
      <p:ext uri="{BB962C8B-B14F-4D97-AF65-F5344CB8AC3E}">
        <p14:creationId xmlns:p14="http://schemas.microsoft.com/office/powerpoint/2010/main" val="10493704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9610C-9BCB-1C37-0F8D-8114CDFFC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0C3469-D5EB-FB57-55B4-AFCBA22C6383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Simulation 3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1228826-2B30-1A6A-A613-FDA456276198}"/>
              </a:ext>
            </a:extLst>
          </p:cNvPr>
          <p:cNvSpPr/>
          <p:nvPr/>
        </p:nvSpPr>
        <p:spPr>
          <a:xfrm>
            <a:off x="3537569" y="882143"/>
            <a:ext cx="658368" cy="658368"/>
          </a:xfrm>
          <a:prstGeom prst="ellipse">
            <a:avLst/>
          </a:prstGeom>
          <a:solidFill>
            <a:srgbClr val="99D7A5"/>
          </a:solidFill>
          <a:ln w="1778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121212"/>
                </a:solidFill>
              </a:rPr>
              <a:t>U</a:t>
            </a:r>
            <a:endParaRPr sz="2000" b="1" dirty="0">
              <a:solidFill>
                <a:srgbClr val="121212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EEC693A-CDD7-C0F8-33EC-A41D62E1F33D}"/>
              </a:ext>
            </a:extLst>
          </p:cNvPr>
          <p:cNvSpPr/>
          <p:nvPr/>
        </p:nvSpPr>
        <p:spPr>
          <a:xfrm>
            <a:off x="965910" y="2174198"/>
            <a:ext cx="658368" cy="658368"/>
          </a:xfrm>
          <a:prstGeom prst="ellipse">
            <a:avLst/>
          </a:prstGeom>
          <a:solidFill>
            <a:srgbClr val="6AA4DA"/>
          </a:solidFill>
          <a:ln w="1778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 dirty="0">
                <a:solidFill>
                  <a:srgbClr val="121212"/>
                </a:solidFill>
              </a:rPr>
              <a:t>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68BFB29-BC21-BF0C-4665-C8E8311AD74A}"/>
              </a:ext>
            </a:extLst>
          </p:cNvPr>
          <p:cNvSpPr/>
          <p:nvPr/>
        </p:nvSpPr>
        <p:spPr>
          <a:xfrm>
            <a:off x="3855668" y="2174198"/>
            <a:ext cx="658368" cy="658368"/>
          </a:xfrm>
          <a:prstGeom prst="ellipse">
            <a:avLst/>
          </a:prstGeom>
          <a:solidFill>
            <a:srgbClr val="FFBE2F"/>
          </a:solidFill>
          <a:ln w="1778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 dirty="0">
                <a:solidFill>
                  <a:srgbClr val="121212"/>
                </a:solidFill>
              </a:rPr>
              <a:t>Y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74770CF2-E517-A67C-494D-213534421A93}"/>
              </a:ext>
            </a:extLst>
          </p:cNvPr>
          <p:cNvSpPr txBox="1"/>
          <p:nvPr/>
        </p:nvSpPr>
        <p:spPr>
          <a:xfrm>
            <a:off x="1624278" y="866098"/>
            <a:ext cx="20574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>
                <a:solidFill>
                  <a:srgbClr val="F2F2F2"/>
                </a:solidFill>
              </a:rPr>
              <a:t>Collider</a:t>
            </a:r>
            <a:endParaRPr sz="1600" b="0" dirty="0">
              <a:solidFill>
                <a:srgbClr val="F2F2F2"/>
              </a:solidFill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21E14A7A-74DF-1AEF-478D-B44F7A99F7DE}"/>
              </a:ext>
            </a:extLst>
          </p:cNvPr>
          <p:cNvSpPr txBox="1"/>
          <p:nvPr/>
        </p:nvSpPr>
        <p:spPr>
          <a:xfrm>
            <a:off x="478790" y="2964391"/>
            <a:ext cx="14630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0" dirty="0">
                <a:solidFill>
                  <a:srgbClr val="F2F2F2"/>
                </a:solidFill>
              </a:rPr>
              <a:t>Treatment</a:t>
            </a: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82C21B1B-69B8-E5B2-3834-7A8FFBE750DD}"/>
              </a:ext>
            </a:extLst>
          </p:cNvPr>
          <p:cNvSpPr txBox="1"/>
          <p:nvPr/>
        </p:nvSpPr>
        <p:spPr>
          <a:xfrm>
            <a:off x="3489908" y="2997157"/>
            <a:ext cx="14630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0">
                <a:solidFill>
                  <a:srgbClr val="F2F2F2"/>
                </a:solidFill>
              </a:rPr>
              <a:t>Outcome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6ACC97C-6015-1A66-30DB-94BFBE745BCE}"/>
              </a:ext>
            </a:extLst>
          </p:cNvPr>
          <p:cNvCxnSpPr>
            <a:cxnSpLocks/>
          </p:cNvCxnSpPr>
          <p:nvPr/>
        </p:nvCxnSpPr>
        <p:spPr>
          <a:xfrm flipV="1">
            <a:off x="1516899" y="1593238"/>
            <a:ext cx="849861" cy="64274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ED05949-A22F-EF1F-A265-292B46F0935A}"/>
              </a:ext>
            </a:extLst>
          </p:cNvPr>
          <p:cNvCxnSpPr>
            <a:cxnSpLocks/>
            <a:stCxn id="3" idx="4"/>
          </p:cNvCxnSpPr>
          <p:nvPr/>
        </p:nvCxnSpPr>
        <p:spPr>
          <a:xfrm>
            <a:off x="3866753" y="1540511"/>
            <a:ext cx="110822" cy="75116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B81F2AE-5705-AD62-331A-435CBA50A8BC}"/>
              </a:ext>
            </a:extLst>
          </p:cNvPr>
          <p:cNvCxnSpPr>
            <a:cxnSpLocks/>
            <a:endCxn id="7" idx="2"/>
          </p:cNvCxnSpPr>
          <p:nvPr/>
        </p:nvCxnSpPr>
        <p:spPr>
          <a:xfrm>
            <a:off x="1625271" y="2503382"/>
            <a:ext cx="22303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D3CAFABF-62F9-D722-A536-83F61DFD3B0C}"/>
              </a:ext>
            </a:extLst>
          </p:cNvPr>
          <p:cNvSpPr/>
          <p:nvPr/>
        </p:nvSpPr>
        <p:spPr>
          <a:xfrm>
            <a:off x="2362642" y="1256244"/>
            <a:ext cx="658368" cy="658368"/>
          </a:xfrm>
          <a:prstGeom prst="ellipse">
            <a:avLst/>
          </a:prstGeom>
          <a:solidFill>
            <a:srgbClr val="EB8484"/>
          </a:solidFill>
          <a:ln w="1778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 dirty="0">
                <a:solidFill>
                  <a:srgbClr val="121212"/>
                </a:solidFill>
              </a:rPr>
              <a:t>M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FDFE573-F43F-AB23-9449-BBC3AD3FEA5D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2972832" y="1211327"/>
            <a:ext cx="564737" cy="22382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3F083D22-E94E-EFA6-B7A9-94C04C0B1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318" y="1112538"/>
            <a:ext cx="3534268" cy="13908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ounded Rectangle 13">
                <a:extLst>
                  <a:ext uri="{FF2B5EF4-FFF2-40B4-BE49-F238E27FC236}">
                    <a16:creationId xmlns:a16="http://schemas.microsoft.com/office/drawing/2014/main" id="{EEB9EC27-64DB-DBA0-5934-90DBFB0E5F1C}"/>
                  </a:ext>
                </a:extLst>
              </p:cNvPr>
              <p:cNvSpPr/>
              <p:nvPr/>
            </p:nvSpPr>
            <p:spPr>
              <a:xfrm>
                <a:off x="1645801" y="3648715"/>
                <a:ext cx="5852398" cy="566915"/>
              </a:xfrm>
              <a:prstGeom prst="roundRect">
                <a:avLst/>
              </a:prstGeom>
              <a:solidFill>
                <a:srgbClr val="99D7A5"/>
              </a:solidFill>
              <a:ln>
                <a:solidFill>
                  <a:srgbClr val="99D7A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sz="1600" b="1" dirty="0">
                    <a:solidFill>
                      <a:srgbClr val="121212"/>
                    </a:solidFill>
                  </a:rPr>
                  <a:t>Before conditioning: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16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n-US" sz="16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sz="16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 ← </m:t>
                    </m:r>
                    <m:r>
                      <a:rPr lang="en-US" sz="16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sz="16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n-US" sz="16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sz="16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600" b="1" dirty="0">
                    <a:solidFill>
                      <a:srgbClr val="121212"/>
                    </a:solidFill>
                  </a:rPr>
                  <a:t>is CLOSED at M.</a:t>
                </a:r>
              </a:p>
            </p:txBody>
          </p:sp>
        </mc:Choice>
        <mc:Fallback xmlns="">
          <p:sp>
            <p:nvSpPr>
              <p:cNvPr id="26" name="Rounded Rectangle 13">
                <a:extLst>
                  <a:ext uri="{FF2B5EF4-FFF2-40B4-BE49-F238E27FC236}">
                    <a16:creationId xmlns:a16="http://schemas.microsoft.com/office/drawing/2014/main" id="{EEB9EC27-64DB-DBA0-5934-90DBFB0E5F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801" y="3648715"/>
                <a:ext cx="5852398" cy="56691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99D7A5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ounded Rectangle 14">
                <a:extLst>
                  <a:ext uri="{FF2B5EF4-FFF2-40B4-BE49-F238E27FC236}">
                    <a16:creationId xmlns:a16="http://schemas.microsoft.com/office/drawing/2014/main" id="{7937C916-7072-1871-3FBC-5BCB60795B7F}"/>
                  </a:ext>
                </a:extLst>
              </p:cNvPr>
              <p:cNvSpPr/>
              <p:nvPr/>
            </p:nvSpPr>
            <p:spPr>
              <a:xfrm>
                <a:off x="2491598" y="4340013"/>
                <a:ext cx="4663440" cy="566928"/>
              </a:xfrm>
              <a:prstGeom prst="roundRect">
                <a:avLst/>
              </a:prstGeom>
              <a:solidFill>
                <a:srgbClr val="EA8989"/>
              </a:solidFill>
              <a:ln>
                <a:solidFill>
                  <a:srgbClr val="EA898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sz="1600" b="1" dirty="0">
                    <a:solidFill>
                      <a:srgbClr val="121212"/>
                    </a:solidFill>
                  </a:rPr>
                  <a:t>Condition on M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1600" b="1" dirty="0">
                    <a:solidFill>
                      <a:srgbClr val="121212"/>
                    </a:solidFill>
                  </a:rPr>
                  <a:t> the collider path OPENS.</a:t>
                </a:r>
              </a:p>
            </p:txBody>
          </p:sp>
        </mc:Choice>
        <mc:Fallback xmlns="">
          <p:sp>
            <p:nvSpPr>
              <p:cNvPr id="27" name="Rounded Rectangle 14">
                <a:extLst>
                  <a:ext uri="{FF2B5EF4-FFF2-40B4-BE49-F238E27FC236}">
                    <a16:creationId xmlns:a16="http://schemas.microsoft.com/office/drawing/2014/main" id="{7937C916-7072-1871-3FBC-5BCB60795B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1598" y="4340013"/>
                <a:ext cx="4663440" cy="566928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EA898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750092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73CD8-3E05-5BCA-65F4-C72BA7CE6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6F8117-F6D9-01B9-DEF5-082FFDACF59F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Simulation 3</a:t>
            </a: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BC9358AA-7FB3-67F8-6877-CFCDC3EE5951}"/>
              </a:ext>
            </a:extLst>
          </p:cNvPr>
          <p:cNvSpPr/>
          <p:nvPr/>
        </p:nvSpPr>
        <p:spPr>
          <a:xfrm>
            <a:off x="169188" y="697230"/>
            <a:ext cx="4345662" cy="4248149"/>
          </a:xfrm>
          <a:prstGeom prst="roundRect">
            <a:avLst/>
          </a:prstGeom>
          <a:solidFill>
            <a:srgbClr val="1E1E1E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09728" bIns="73152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50" dirty="0">
                <a:solidFill>
                  <a:srgbClr val="E6E6E6"/>
                </a:solidFill>
                <a:latin typeface="Consolas"/>
              </a:rPr>
              <a:t>set.seed(7903)
n &lt;- 5000
T &lt;- rbinom(n, 1, 0.5)
U &lt;- rnorm(n)
M &lt;- 1.2*T + 1.2*U + rnorm(n)
Y &lt;- 1.5*U + rnorm(n)   # no effect of T
fit_unadj &lt;- lm(Y ~ T)
fit_col   &lt;- lm(Y ~ T + M)
coef(fit_unadj)["T"]</a:t>
            </a:r>
            <a:r>
              <a:rPr lang="en-US" sz="1350" dirty="0">
                <a:solidFill>
                  <a:srgbClr val="E6E6E6"/>
                </a:solidFill>
                <a:latin typeface="Consolas"/>
              </a:rPr>
              <a:t> - 0.009</a:t>
            </a:r>
            <a:r>
              <a:rPr sz="1350" dirty="0">
                <a:solidFill>
                  <a:srgbClr val="E6E6E6"/>
                </a:solidFill>
                <a:latin typeface="Consolas"/>
              </a:rPr>
              <a:t>
coef(fit_col)["T"]</a:t>
            </a:r>
            <a:r>
              <a:rPr lang="en-US" sz="1350" dirty="0">
                <a:solidFill>
                  <a:srgbClr val="E6E6E6"/>
                </a:solidFill>
                <a:latin typeface="Consolas"/>
              </a:rPr>
              <a:t> - -0.867</a:t>
            </a:r>
            <a:endParaRPr sz="1350" dirty="0">
              <a:solidFill>
                <a:srgbClr val="E6E6E6"/>
              </a:solidFill>
              <a:latin typeface="Consola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4">
                <a:extLst>
                  <a:ext uri="{FF2B5EF4-FFF2-40B4-BE49-F238E27FC236}">
                    <a16:creationId xmlns:a16="http://schemas.microsoft.com/office/drawing/2014/main" id="{1EE693FF-1DD6-669B-D1D1-E37A3E297921}"/>
                  </a:ext>
                </a:extLst>
              </p:cNvPr>
              <p:cNvSpPr/>
              <p:nvPr/>
            </p:nvSpPr>
            <p:spPr>
              <a:xfrm>
                <a:off x="4709160" y="819150"/>
                <a:ext cx="3886200" cy="1234440"/>
              </a:xfrm>
              <a:prstGeom prst="roundRect">
                <a:avLst/>
              </a:prstGeom>
              <a:solidFill>
                <a:srgbClr val="99D7A5"/>
              </a:solidFill>
              <a:ln>
                <a:solidFill>
                  <a:srgbClr val="99D7A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sz="20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20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sz="2000" b="1" dirty="0">
                    <a:solidFill>
                      <a:srgbClr val="121212"/>
                    </a:solidFill>
                  </a:rPr>
                  <a:t>
T coefficient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≈ </m:t>
                    </m:r>
                    <m:r>
                      <a:rPr lang="en-US" sz="20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sz="2000" b="1" dirty="0">
                  <a:solidFill>
                    <a:srgbClr val="121212"/>
                  </a:solidFill>
                </a:endParaRPr>
              </a:p>
            </p:txBody>
          </p:sp>
        </mc:Choice>
        <mc:Fallback xmlns="">
          <p:sp>
            <p:nvSpPr>
              <p:cNvPr id="6" name="Rounded Rectangle 4">
                <a:extLst>
                  <a:ext uri="{FF2B5EF4-FFF2-40B4-BE49-F238E27FC236}">
                    <a16:creationId xmlns:a16="http://schemas.microsoft.com/office/drawing/2014/main" id="{1EE693FF-1DD6-669B-D1D1-E37A3E2979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9160" y="819150"/>
                <a:ext cx="3886200" cy="123444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99D7A5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5">
                <a:extLst>
                  <a:ext uri="{FF2B5EF4-FFF2-40B4-BE49-F238E27FC236}">
                    <a16:creationId xmlns:a16="http://schemas.microsoft.com/office/drawing/2014/main" id="{BE0106AF-2270-B130-C5BF-BA68BF1A6A09}"/>
                  </a:ext>
                </a:extLst>
              </p:cNvPr>
              <p:cNvSpPr/>
              <p:nvPr/>
            </p:nvSpPr>
            <p:spPr>
              <a:xfrm>
                <a:off x="4764405" y="2320290"/>
                <a:ext cx="3886200" cy="1417320"/>
              </a:xfrm>
              <a:prstGeom prst="roundRect">
                <a:avLst/>
              </a:prstGeom>
              <a:solidFill>
                <a:srgbClr val="EA8989"/>
              </a:solidFill>
              <a:ln>
                <a:solidFill>
                  <a:srgbClr val="EA898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sz="18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US" sz="18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18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18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sz="1800" b="1" dirty="0">
                    <a:solidFill>
                      <a:srgbClr val="121212"/>
                    </a:solidFill>
                  </a:rPr>
                  <a:t>
T coefficient moves away from 0</a:t>
                </a:r>
              </a:p>
            </p:txBody>
          </p:sp>
        </mc:Choice>
        <mc:Fallback xmlns="">
          <p:sp>
            <p:nvSpPr>
              <p:cNvPr id="9" name="Rounded Rectangle 5">
                <a:extLst>
                  <a:ext uri="{FF2B5EF4-FFF2-40B4-BE49-F238E27FC236}">
                    <a16:creationId xmlns:a16="http://schemas.microsoft.com/office/drawing/2014/main" id="{BE0106AF-2270-B130-C5BF-BA68BF1A6A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4405" y="2320290"/>
                <a:ext cx="3886200" cy="141732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EA898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8CF61F95-B670-215E-573E-E8327589DD85}"/>
              </a:ext>
            </a:extLst>
          </p:cNvPr>
          <p:cNvSpPr/>
          <p:nvPr/>
        </p:nvSpPr>
        <p:spPr>
          <a:xfrm>
            <a:off x="4754880" y="4138930"/>
            <a:ext cx="3886200" cy="598170"/>
          </a:xfrm>
          <a:prstGeom prst="roundRect">
            <a:avLst/>
          </a:prstGeom>
          <a:solidFill>
            <a:srgbClr val="FFBE2F"/>
          </a:solidFill>
          <a:ln>
            <a:solidFill>
              <a:srgbClr val="FFB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 dirty="0">
                <a:solidFill>
                  <a:srgbClr val="121212"/>
                </a:solidFill>
              </a:rPr>
              <a:t>Randomization does not protect against bad post-treatment adjustment.</a:t>
            </a:r>
          </a:p>
        </p:txBody>
      </p:sp>
    </p:spTree>
    <p:extLst>
      <p:ext uri="{BB962C8B-B14F-4D97-AF65-F5344CB8AC3E}">
        <p14:creationId xmlns:p14="http://schemas.microsoft.com/office/powerpoint/2010/main" val="99298733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B8A3B-1C9B-ADFB-3A67-CFA9735B1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1F621B-07B0-F2D8-C7E5-62AF6B6DA1BA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Simulation 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D9EBDE7-7B28-752C-0742-2E8F2C1C30EE}"/>
              </a:ext>
            </a:extLst>
          </p:cNvPr>
          <p:cNvSpPr/>
          <p:nvPr/>
        </p:nvSpPr>
        <p:spPr>
          <a:xfrm>
            <a:off x="567436" y="1038860"/>
            <a:ext cx="686054" cy="681990"/>
          </a:xfrm>
          <a:prstGeom prst="ellipse">
            <a:avLst/>
          </a:prstGeom>
          <a:solidFill>
            <a:srgbClr val="99D7A5"/>
          </a:solidFill>
          <a:ln w="1778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>
                <a:solidFill>
                  <a:srgbClr val="121212"/>
                </a:solidFill>
              </a:rPr>
              <a:t>U₁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1023709-3376-DC0F-5E34-BBEBE14FE171}"/>
              </a:ext>
            </a:extLst>
          </p:cNvPr>
          <p:cNvSpPr/>
          <p:nvPr/>
        </p:nvSpPr>
        <p:spPr>
          <a:xfrm>
            <a:off x="1636776" y="1913382"/>
            <a:ext cx="686054" cy="681990"/>
          </a:xfrm>
          <a:prstGeom prst="ellipse">
            <a:avLst/>
          </a:prstGeom>
          <a:solidFill>
            <a:srgbClr val="EB8484"/>
          </a:solidFill>
          <a:ln w="1778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 dirty="0">
                <a:solidFill>
                  <a:srgbClr val="121212"/>
                </a:solidFill>
              </a:rPr>
              <a:t>C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D7517AC-6D35-1611-3618-2CEB43A57632}"/>
              </a:ext>
            </a:extLst>
          </p:cNvPr>
          <p:cNvSpPr/>
          <p:nvPr/>
        </p:nvSpPr>
        <p:spPr>
          <a:xfrm>
            <a:off x="2558796" y="1038860"/>
            <a:ext cx="686054" cy="681990"/>
          </a:xfrm>
          <a:prstGeom prst="ellipse">
            <a:avLst/>
          </a:prstGeom>
          <a:solidFill>
            <a:srgbClr val="99D7A5"/>
          </a:solidFill>
          <a:ln w="1778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 dirty="0">
                <a:solidFill>
                  <a:srgbClr val="121212"/>
                </a:solidFill>
              </a:rPr>
              <a:t>U₂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32E2389-E739-BFEB-5F05-FD0E06A948C0}"/>
              </a:ext>
            </a:extLst>
          </p:cNvPr>
          <p:cNvSpPr/>
          <p:nvPr/>
        </p:nvSpPr>
        <p:spPr>
          <a:xfrm>
            <a:off x="516636" y="2727706"/>
            <a:ext cx="686054" cy="681990"/>
          </a:xfrm>
          <a:prstGeom prst="ellipse">
            <a:avLst/>
          </a:prstGeom>
          <a:solidFill>
            <a:srgbClr val="6AA4DA"/>
          </a:solidFill>
          <a:ln w="1778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>
                <a:solidFill>
                  <a:srgbClr val="121212"/>
                </a:solidFill>
              </a:rPr>
              <a:t>T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E64C136-8038-7054-923B-F6E61E34F6FC}"/>
              </a:ext>
            </a:extLst>
          </p:cNvPr>
          <p:cNvSpPr/>
          <p:nvPr/>
        </p:nvSpPr>
        <p:spPr>
          <a:xfrm>
            <a:off x="2558796" y="2632456"/>
            <a:ext cx="686054" cy="681990"/>
          </a:xfrm>
          <a:prstGeom prst="ellipse">
            <a:avLst/>
          </a:prstGeom>
          <a:solidFill>
            <a:srgbClr val="FFBE2F"/>
          </a:solidFill>
          <a:ln w="17780"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>
                <a:solidFill>
                  <a:srgbClr val="121212"/>
                </a:solidFill>
              </a:rPr>
              <a:t>Y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532697F-462B-154A-3B28-FD3B43228587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1253490" y="1516677"/>
            <a:ext cx="483756" cy="49658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5718B9A-1E3E-D80E-6D66-293BB1844360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859663" y="1727698"/>
            <a:ext cx="50800" cy="100000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E2FB719-44F4-C6F4-1AD6-D502755DD609}"/>
              </a:ext>
            </a:extLst>
          </p:cNvPr>
          <p:cNvCxnSpPr>
            <a:cxnSpLocks/>
            <a:endCxn id="18" idx="0"/>
          </p:cNvCxnSpPr>
          <p:nvPr/>
        </p:nvCxnSpPr>
        <p:spPr>
          <a:xfrm flipH="1">
            <a:off x="2901823" y="1727698"/>
            <a:ext cx="25400" cy="90475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1DF4715-FC10-93D1-D9DA-9C180701C5D5}"/>
              </a:ext>
            </a:extLst>
          </p:cNvPr>
          <p:cNvCxnSpPr>
            <a:cxnSpLocks/>
            <a:endCxn id="14" idx="7"/>
          </p:cNvCxnSpPr>
          <p:nvPr/>
        </p:nvCxnSpPr>
        <p:spPr>
          <a:xfrm flipH="1">
            <a:off x="2222360" y="1571148"/>
            <a:ext cx="399863" cy="44210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ounded Rectangle 13">
                <a:extLst>
                  <a:ext uri="{FF2B5EF4-FFF2-40B4-BE49-F238E27FC236}">
                    <a16:creationId xmlns:a16="http://schemas.microsoft.com/office/drawing/2014/main" id="{E02804FB-300B-F808-1253-9CD7AED7C71D}"/>
                  </a:ext>
                </a:extLst>
              </p:cNvPr>
              <p:cNvSpPr/>
              <p:nvPr/>
            </p:nvSpPr>
            <p:spPr>
              <a:xfrm>
                <a:off x="1550542" y="3655928"/>
                <a:ext cx="4856607" cy="681989"/>
              </a:xfrm>
              <a:prstGeom prst="roundRect">
                <a:avLst/>
              </a:prstGeom>
              <a:solidFill>
                <a:srgbClr val="99D7A5"/>
              </a:solidFill>
              <a:ln>
                <a:solidFill>
                  <a:srgbClr val="99D7A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sz="1600" b="1" dirty="0">
                    <a:solidFill>
                      <a:srgbClr val="121212"/>
                    </a:solidFill>
                  </a:rPr>
                  <a:t>Path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16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 ← </m:t>
                    </m:r>
                    <m:r>
                      <a:rPr lang="en-US" sz="16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sz="16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₁ → </m:t>
                    </m:r>
                    <m:r>
                      <a:rPr lang="en-US" sz="16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sz="16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 ← </m:t>
                    </m:r>
                    <m:r>
                      <a:rPr lang="en-US" sz="16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sz="16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₂ → </m:t>
                    </m:r>
                    <m:r>
                      <a:rPr lang="en-US" sz="16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sz="1600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1600" b="1" dirty="0">
                    <a:solidFill>
                      <a:srgbClr val="121212"/>
                    </a:solidFill>
                  </a:rPr>
                  <a:t>is CLOSED at C.</a:t>
                </a:r>
              </a:p>
            </p:txBody>
          </p:sp>
        </mc:Choice>
        <mc:Fallback xmlns="">
          <p:sp>
            <p:nvSpPr>
              <p:cNvPr id="32" name="Rounded Rectangle 13">
                <a:extLst>
                  <a:ext uri="{FF2B5EF4-FFF2-40B4-BE49-F238E27FC236}">
                    <a16:creationId xmlns:a16="http://schemas.microsoft.com/office/drawing/2014/main" id="{E02804FB-300B-F808-1253-9CD7AED7C7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0542" y="3655928"/>
                <a:ext cx="4856607" cy="681989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99D7A5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ounded Rectangle 14">
            <a:extLst>
              <a:ext uri="{FF2B5EF4-FFF2-40B4-BE49-F238E27FC236}">
                <a16:creationId xmlns:a16="http://schemas.microsoft.com/office/drawing/2014/main" id="{483104AA-57A5-3090-2540-6350063DD748}"/>
              </a:ext>
            </a:extLst>
          </p:cNvPr>
          <p:cNvSpPr/>
          <p:nvPr/>
        </p:nvSpPr>
        <p:spPr>
          <a:xfrm>
            <a:off x="2422291" y="4451329"/>
            <a:ext cx="3840480" cy="548640"/>
          </a:xfrm>
          <a:prstGeom prst="roundRect">
            <a:avLst/>
          </a:prstGeom>
          <a:solidFill>
            <a:srgbClr val="EA8989"/>
          </a:solidFill>
          <a:ln>
            <a:solidFill>
              <a:srgbClr val="EA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>
                <a:solidFill>
                  <a:srgbClr val="121212"/>
                </a:solidFill>
              </a:rPr>
              <a:t>Adjusting for C OPENS the path.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234F532-8A0A-E7F5-959D-50D077E50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7529" y="1253221"/>
            <a:ext cx="3839111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75030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5115B-BB10-E412-BCB0-C797F926D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01122C-E6BC-7E87-D431-9335ED2A8954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Walbaum Text" panose="02070503080703020303" pitchFamily="18" charset="0"/>
              </a:rPr>
              <a:t>Simulation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5">
                <a:extLst>
                  <a:ext uri="{FF2B5EF4-FFF2-40B4-BE49-F238E27FC236}">
                    <a16:creationId xmlns:a16="http://schemas.microsoft.com/office/drawing/2014/main" id="{D5340957-C4EF-34C2-508E-89A3BF30554B}"/>
                  </a:ext>
                </a:extLst>
              </p:cNvPr>
              <p:cNvSpPr/>
              <p:nvPr/>
            </p:nvSpPr>
            <p:spPr>
              <a:xfrm>
                <a:off x="4764405" y="2320290"/>
                <a:ext cx="3886200" cy="1417320"/>
              </a:xfrm>
              <a:prstGeom prst="roundRect">
                <a:avLst/>
              </a:prstGeom>
              <a:solidFill>
                <a:srgbClr val="EA8989"/>
              </a:solidFill>
              <a:ln>
                <a:solidFill>
                  <a:srgbClr val="EA898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b="1" i="0" dirty="0">
                    <a:solidFill>
                      <a:srgbClr val="121212"/>
                    </a:solidFill>
                  </a:rPr>
                  <a:t>Adjust for collider C</a:t>
                </a:r>
              </a:p>
              <a:p>
                <a:pPr algn="ctr"/>
                <a:r>
                  <a:rPr lang="en-US" b="1" i="0" dirty="0">
                    <a:solidFill>
                      <a:srgbClr val="121212"/>
                    </a:solidFill>
                  </a:rPr>
                  <a:t>spurious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–</m:t>
                    </m:r>
                    <m:r>
                      <a:rPr lang="en-US" b="1" i="1" dirty="0" smtClean="0">
                        <a:solidFill>
                          <a:srgbClr val="121212"/>
                        </a:solidFill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b="1" i="0" dirty="0">
                    <a:solidFill>
                      <a:srgbClr val="121212"/>
                    </a:solidFill>
                  </a:rPr>
                  <a:t> association appears</a:t>
                </a:r>
              </a:p>
            </p:txBody>
          </p:sp>
        </mc:Choice>
        <mc:Fallback xmlns="">
          <p:sp>
            <p:nvSpPr>
              <p:cNvPr id="9" name="Rounded Rectangle 5">
                <a:extLst>
                  <a:ext uri="{FF2B5EF4-FFF2-40B4-BE49-F238E27FC236}">
                    <a16:creationId xmlns:a16="http://schemas.microsoft.com/office/drawing/2014/main" id="{D5340957-C4EF-34C2-508E-89A3BF3055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4405" y="2320290"/>
                <a:ext cx="3886200" cy="141732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EA898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2430EF7F-E410-3E3A-09C8-F1DE0D555D26}"/>
              </a:ext>
            </a:extLst>
          </p:cNvPr>
          <p:cNvSpPr/>
          <p:nvPr/>
        </p:nvSpPr>
        <p:spPr>
          <a:xfrm>
            <a:off x="4754880" y="4138930"/>
            <a:ext cx="3886200" cy="598170"/>
          </a:xfrm>
          <a:prstGeom prst="roundRect">
            <a:avLst/>
          </a:prstGeom>
          <a:solidFill>
            <a:srgbClr val="FFBE2F"/>
          </a:solidFill>
          <a:ln>
            <a:solidFill>
              <a:srgbClr val="FFB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500" b="1" dirty="0">
                <a:solidFill>
                  <a:srgbClr val="121212"/>
                </a:solidFill>
              </a:rPr>
              <a:t>Timing is not enough. We need the causal role of the variable.</a:t>
            </a:r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9EA3C9EC-E6E1-9FF9-277F-BA1259C953DA}"/>
              </a:ext>
            </a:extLst>
          </p:cNvPr>
          <p:cNvSpPr/>
          <p:nvPr/>
        </p:nvSpPr>
        <p:spPr>
          <a:xfrm>
            <a:off x="276226" y="774700"/>
            <a:ext cx="4103370" cy="4168139"/>
          </a:xfrm>
          <a:prstGeom prst="roundRect">
            <a:avLst/>
          </a:prstGeom>
          <a:solidFill>
            <a:srgbClr val="1E1E1E"/>
          </a:solidFill>
          <a:ln>
            <a:solidFill>
              <a:srgbClr val="4B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09728" bIns="73152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dirty="0">
                <a:solidFill>
                  <a:srgbClr val="E6E6E6"/>
                </a:solidFill>
                <a:latin typeface="Consolas"/>
              </a:rPr>
              <a:t>set.seed(7904)
n &lt;- 100000
U1 &lt;- rnorm(n)
U2 &lt;- rnorm(n)
T  &lt;- rbinom(n, 1, plogis(0.9*U1))
C  &lt;- 0.9*U1 + 0.9*U2 + rnorm(n)
Y  &lt;- 1.5*U2 + rnorm(n)
fit0 &lt;- lm(Y ~ T)
fit1 &lt;- lm(Y ~ T + C)</a:t>
            </a:r>
            <a:endParaRPr lang="en-US" sz="1400" dirty="0">
              <a:solidFill>
                <a:srgbClr val="E6E6E6"/>
              </a:solidFill>
              <a:latin typeface="Consolas"/>
            </a:endParaRPr>
          </a:p>
          <a:p>
            <a:pPr algn="ctr"/>
            <a:endParaRPr lang="en-US" sz="1400" dirty="0">
              <a:solidFill>
                <a:srgbClr val="E6E6E6"/>
              </a:solidFill>
              <a:latin typeface="Consolas"/>
            </a:endParaRPr>
          </a:p>
          <a:p>
            <a:pPr algn="ctr"/>
            <a:r>
              <a:rPr lang="fr-FR" sz="1400" dirty="0">
                <a:solidFill>
                  <a:srgbClr val="E6E6E6"/>
                </a:solidFill>
                <a:latin typeface="Consolas"/>
              </a:rPr>
              <a:t>coef(fit0)["T"] : 0.01
coef(fit1)["T"] : -0.35</a:t>
            </a:r>
            <a:endParaRPr sz="1400" dirty="0">
              <a:solidFill>
                <a:srgbClr val="E6E6E6"/>
              </a:solidFill>
              <a:latin typeface="Consolas"/>
            </a:endParaRP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E978060A-4FE3-83E0-9CEA-6208FEEE4E86}"/>
              </a:ext>
            </a:extLst>
          </p:cNvPr>
          <p:cNvSpPr/>
          <p:nvPr/>
        </p:nvSpPr>
        <p:spPr>
          <a:xfrm>
            <a:off x="4640580" y="876300"/>
            <a:ext cx="3944620" cy="1225550"/>
          </a:xfrm>
          <a:prstGeom prst="roundRect">
            <a:avLst/>
          </a:prstGeom>
          <a:solidFill>
            <a:srgbClr val="99D7A5"/>
          </a:solidFill>
          <a:ln>
            <a:solidFill>
              <a:srgbClr val="99D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 dirty="0">
                <a:solidFill>
                  <a:srgbClr val="121212"/>
                </a:solidFill>
              </a:rPr>
              <a:t>No adjustment
T coefficient ≈ 0</a:t>
            </a:r>
          </a:p>
        </p:txBody>
      </p:sp>
    </p:spTree>
    <p:extLst>
      <p:ext uri="{BB962C8B-B14F-4D97-AF65-F5344CB8AC3E}">
        <p14:creationId xmlns:p14="http://schemas.microsoft.com/office/powerpoint/2010/main" val="89742876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772D8-CB3A-3896-C421-7DDCE1889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306D42-09BA-6E21-0BAB-698EA3CC84DA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d-Separation vs Backdoor Adjustment</a:t>
            </a: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11170E33-637A-C036-0705-2C2FB72A4979}"/>
              </a:ext>
            </a:extLst>
          </p:cNvPr>
          <p:cNvSpPr/>
          <p:nvPr/>
        </p:nvSpPr>
        <p:spPr>
          <a:xfrm>
            <a:off x="185420" y="1257300"/>
            <a:ext cx="4386580" cy="628650"/>
          </a:xfrm>
          <a:prstGeom prst="roundRect">
            <a:avLst/>
          </a:prstGeom>
          <a:solidFill>
            <a:srgbClr val="6AA4DA"/>
          </a:solidFill>
          <a:ln>
            <a:solidFill>
              <a:srgbClr val="6AA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100" b="1" dirty="0">
                <a:solidFill>
                  <a:srgbClr val="121212"/>
                </a:solidFill>
              </a:rPr>
              <a:t>d-SEPARATION</a:t>
            </a: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80D96F6B-237D-DA0D-E2B8-6800CBFD2BA7}"/>
              </a:ext>
            </a:extLst>
          </p:cNvPr>
          <p:cNvSpPr/>
          <p:nvPr/>
        </p:nvSpPr>
        <p:spPr>
          <a:xfrm>
            <a:off x="4664710" y="1257300"/>
            <a:ext cx="4386580" cy="628650"/>
          </a:xfrm>
          <a:prstGeom prst="roundRect">
            <a:avLst/>
          </a:prstGeom>
          <a:solidFill>
            <a:srgbClr val="FFBE2F"/>
          </a:solidFill>
          <a:ln>
            <a:solidFill>
              <a:srgbClr val="FFB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100" b="1">
                <a:solidFill>
                  <a:srgbClr val="121212"/>
                </a:solidFill>
              </a:rPr>
              <a:t>BACKDOOR ADJUSTMENT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5B31B66F-52D9-C1B3-FA1F-624CA6B98C3C}"/>
              </a:ext>
            </a:extLst>
          </p:cNvPr>
          <p:cNvSpPr txBox="1"/>
          <p:nvPr/>
        </p:nvSpPr>
        <p:spPr>
          <a:xfrm>
            <a:off x="185420" y="2343151"/>
            <a:ext cx="4572000" cy="96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900" dirty="0">
                <a:solidFill>
                  <a:srgbClr val="F2F2F2"/>
                </a:solidFill>
              </a:rPr>
              <a:t>Question:
Can we make T and Y conditionally independent?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9BF446-DA3A-3A2E-1BDB-4B395E550718}"/>
              </a:ext>
            </a:extLst>
          </p:cNvPr>
          <p:cNvSpPr txBox="1"/>
          <p:nvPr/>
        </p:nvSpPr>
        <p:spPr>
          <a:xfrm>
            <a:off x="231140" y="3577591"/>
            <a:ext cx="4480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100" dirty="0">
                <a:solidFill>
                  <a:srgbClr val="F2F2F2"/>
                </a:solidFill>
              </a:rPr>
              <a:t>Goal:
Block ALL paths.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291E1BE1-6B5E-3054-056D-E55D09961BC0}"/>
              </a:ext>
            </a:extLst>
          </p:cNvPr>
          <p:cNvSpPr txBox="1"/>
          <p:nvPr/>
        </p:nvSpPr>
        <p:spPr>
          <a:xfrm>
            <a:off x="4664710" y="2353702"/>
            <a:ext cx="4572000" cy="96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900" dirty="0">
                <a:solidFill>
                  <a:srgbClr val="F2F2F2"/>
                </a:solidFill>
              </a:rPr>
              <a:t>Question:
What should we condition on to identify the total effect of T on Y?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2E3DC961-FA4F-EC29-A405-A824509A8B62}"/>
              </a:ext>
            </a:extLst>
          </p:cNvPr>
          <p:cNvSpPr txBox="1"/>
          <p:nvPr/>
        </p:nvSpPr>
        <p:spPr>
          <a:xfrm>
            <a:off x="4572000" y="3562350"/>
            <a:ext cx="457200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dirty="0">
                <a:solidFill>
                  <a:srgbClr val="F2F2F2"/>
                </a:solidFill>
              </a:rPr>
              <a:t>Goal:
Block NONCAUSAL backdoor paths; preserve causal paths.</a:t>
            </a:r>
          </a:p>
        </p:txBody>
      </p:sp>
    </p:spTree>
    <p:extLst>
      <p:ext uri="{BB962C8B-B14F-4D97-AF65-F5344CB8AC3E}">
        <p14:creationId xmlns:p14="http://schemas.microsoft.com/office/powerpoint/2010/main" val="114268981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71AD7-C6D8-6646-B6AD-3AD2CD9D9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783C64-9066-1001-2DBF-47EC6D5AF46A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3281BFF-2EC2-1E3D-386D-F5C38267E59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9188" y="1295400"/>
              <a:ext cx="8689194" cy="3435351"/>
            </p:xfrm>
            <a:graphic>
              <a:graphicData uri="http://schemas.openxmlformats.org/drawingml/2006/table">
                <a:tbl>
                  <a:tblPr firstRow="1" bandRow="1">
                    <a:tableStyleId>{B301B821-A1FF-4177-AEE7-76D212191A09}</a:tableStyleId>
                  </a:tblPr>
                  <a:tblGrid>
                    <a:gridCol w="2273179">
                      <a:extLst>
                        <a:ext uri="{9D8B030D-6E8A-4147-A177-3AD203B41FA5}">
                          <a16:colId xmlns:a16="http://schemas.microsoft.com/office/drawing/2014/main" val="1781661533"/>
                        </a:ext>
                      </a:extLst>
                    </a:gridCol>
                    <a:gridCol w="3291683">
                      <a:extLst>
                        <a:ext uri="{9D8B030D-6E8A-4147-A177-3AD203B41FA5}">
                          <a16:colId xmlns:a16="http://schemas.microsoft.com/office/drawing/2014/main" val="3342434477"/>
                        </a:ext>
                      </a:extLst>
                    </a:gridCol>
                    <a:gridCol w="3124332">
                      <a:extLst>
                        <a:ext uri="{9D8B030D-6E8A-4147-A177-3AD203B41FA5}">
                          <a16:colId xmlns:a16="http://schemas.microsoft.com/office/drawing/2014/main" val="3745194564"/>
                        </a:ext>
                      </a:extLst>
                    </a:gridCol>
                  </a:tblGrid>
                  <a:tr h="3996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Topic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Rule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8221932"/>
                      </a:ext>
                    </a:extLst>
                  </a:tr>
                  <a:tr h="3996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Confounder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←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400" b="0" u="none" strike="noStrike" cap="none" dirty="0">
                              <a:solidFill>
                                <a:srgbClr val="000000"/>
                              </a:solidFill>
                              <a:effectLst/>
                              <a:sym typeface="Arial"/>
                            </a:rPr>
                            <a:t> Usually adjust</a:t>
                          </a:r>
                          <a:endParaRPr lang="en-US" sz="14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0079590"/>
                      </a:ext>
                    </a:extLst>
                  </a:tr>
                  <a:tr h="5583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Mediator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400" b="0" u="none" strike="noStrike" cap="none" dirty="0">
                              <a:solidFill>
                                <a:srgbClr val="000000"/>
                              </a:solidFill>
                              <a:effectLst/>
                              <a:sym typeface="Arial"/>
                            </a:rPr>
                            <a:t>Do not adjust for total effect</a:t>
                          </a:r>
                          <a:endParaRPr lang="en-US" sz="14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1896502"/>
                      </a:ext>
                    </a:extLst>
                  </a:tr>
                  <a:tr h="3996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Collider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←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400" b="0" u="none" strike="noStrike" cap="none" dirty="0">
                              <a:solidFill>
                                <a:srgbClr val="000000"/>
                              </a:solidFill>
                              <a:effectLst/>
                              <a:sym typeface="Arial"/>
                            </a:rPr>
                            <a:t>Do not condition</a:t>
                          </a:r>
                          <a:endParaRPr lang="en-US" sz="14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22941984"/>
                      </a:ext>
                    </a:extLst>
                  </a:tr>
                  <a:tr h="5612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M-bias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←</m:t>
                                </m:r>
                                <m:sSub>
                                  <m:sSubPr>
                                    <m:ctrlP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←</m:t>
                                </m:r>
                                <m:sSub>
                                  <m:sSubPr>
                                    <m:ctrlP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b>
                                    <m:r>
                                      <a:rPr lang="en-US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a:rPr lang="en-US" b="0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400" b="0" u="none" strike="noStrike" cap="none" dirty="0">
                              <a:solidFill>
                                <a:srgbClr val="000000"/>
                              </a:solidFill>
                              <a:effectLst/>
                              <a:sym typeface="Arial"/>
                            </a:rPr>
                            <a:t>Pre-treatment does not imply adjust</a:t>
                          </a:r>
                          <a:endParaRPr lang="en-US" sz="14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64876"/>
                      </a:ext>
                    </a:extLst>
                  </a:tr>
                  <a:tr h="5583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d-separation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Block all paths between X and 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400" b="0" u="none" strike="noStrike" cap="none" dirty="0">
                              <a:solidFill>
                                <a:srgbClr val="000000"/>
                              </a:solidFill>
                              <a:effectLst/>
                              <a:sym typeface="Arial"/>
                            </a:rPr>
                            <a:t>Goal: conditional independence</a:t>
                          </a:r>
                          <a:endParaRPr lang="en-US" sz="14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61450142"/>
                      </a:ext>
                    </a:extLst>
                  </a:tr>
                  <a:tr h="5583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Backdoor adjustment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Block noncausal paths into 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400" b="0" u="none" strike="noStrike" cap="none" dirty="0">
                              <a:solidFill>
                                <a:srgbClr val="000000"/>
                              </a:solidFill>
                              <a:effectLst/>
                              <a:sym typeface="Arial"/>
                            </a:rPr>
                            <a:t>Goal: identify total causal effect</a:t>
                          </a:r>
                          <a:endParaRPr lang="en-US" sz="14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55284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3281BFF-2EC2-1E3D-386D-F5C38267E5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4431829"/>
                  </p:ext>
                </p:extLst>
              </p:nvPr>
            </p:nvGraphicFramePr>
            <p:xfrm>
              <a:off x="169188" y="1295400"/>
              <a:ext cx="8689194" cy="3435351"/>
            </p:xfrm>
            <a:graphic>
              <a:graphicData uri="http://schemas.openxmlformats.org/drawingml/2006/table">
                <a:tbl>
                  <a:tblPr firstRow="1" bandRow="1">
                    <a:tableStyleId>{B301B821-A1FF-4177-AEE7-76D212191A09}</a:tableStyleId>
                  </a:tblPr>
                  <a:tblGrid>
                    <a:gridCol w="2273179">
                      <a:extLst>
                        <a:ext uri="{9D8B030D-6E8A-4147-A177-3AD203B41FA5}">
                          <a16:colId xmlns:a16="http://schemas.microsoft.com/office/drawing/2014/main" val="1781661533"/>
                        </a:ext>
                      </a:extLst>
                    </a:gridCol>
                    <a:gridCol w="3291683">
                      <a:extLst>
                        <a:ext uri="{9D8B030D-6E8A-4147-A177-3AD203B41FA5}">
                          <a16:colId xmlns:a16="http://schemas.microsoft.com/office/drawing/2014/main" val="3342434477"/>
                        </a:ext>
                      </a:extLst>
                    </a:gridCol>
                    <a:gridCol w="3124332">
                      <a:extLst>
                        <a:ext uri="{9D8B030D-6E8A-4147-A177-3AD203B41FA5}">
                          <a16:colId xmlns:a16="http://schemas.microsoft.com/office/drawing/2014/main" val="3745194564"/>
                        </a:ext>
                      </a:extLst>
                    </a:gridCol>
                  </a:tblGrid>
                  <a:tr h="3996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Topic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Structure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Rule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8221932"/>
                      </a:ext>
                    </a:extLst>
                  </a:tr>
                  <a:tr h="3996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Confounder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131" t="-103077" r="-95194" b="-67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400" b="0" u="none" strike="noStrike" cap="none" dirty="0">
                              <a:solidFill>
                                <a:srgbClr val="000000"/>
                              </a:solidFill>
                              <a:effectLst/>
                              <a:sym typeface="Arial"/>
                            </a:rPr>
                            <a:t> Usually adjust</a:t>
                          </a:r>
                          <a:endParaRPr lang="en-US" sz="14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0079590"/>
                      </a:ext>
                    </a:extLst>
                  </a:tr>
                  <a:tr h="5583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Mediator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131" t="-143478" r="-95194" b="-373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400" b="0" u="none" strike="noStrike" cap="none" dirty="0">
                              <a:solidFill>
                                <a:srgbClr val="000000"/>
                              </a:solidFill>
                              <a:effectLst/>
                              <a:sym typeface="Arial"/>
                            </a:rPr>
                            <a:t>Do not adjust for total effect</a:t>
                          </a:r>
                          <a:endParaRPr lang="en-US" sz="14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1896502"/>
                      </a:ext>
                    </a:extLst>
                  </a:tr>
                  <a:tr h="3996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Collider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131" t="-339394" r="-95194" b="-42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400" b="0" u="none" strike="noStrike" cap="none" dirty="0">
                              <a:solidFill>
                                <a:srgbClr val="000000"/>
                              </a:solidFill>
                              <a:effectLst/>
                              <a:sym typeface="Arial"/>
                            </a:rPr>
                            <a:t>Do not condition</a:t>
                          </a:r>
                          <a:endParaRPr lang="en-US" sz="14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22941984"/>
                      </a:ext>
                    </a:extLst>
                  </a:tr>
                  <a:tr h="5612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M-bias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9131" t="-315217" r="-95194" b="-2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400" b="0" u="none" strike="noStrike" cap="none" dirty="0">
                              <a:solidFill>
                                <a:srgbClr val="000000"/>
                              </a:solidFill>
                              <a:effectLst/>
                              <a:sym typeface="Arial"/>
                            </a:rPr>
                            <a:t>Pre-treatment does not imply adjust</a:t>
                          </a:r>
                          <a:endParaRPr lang="en-US" sz="14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64876"/>
                      </a:ext>
                    </a:extLst>
                  </a:tr>
                  <a:tr h="5583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d-separation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Block all paths between X and 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400" b="0" u="none" strike="noStrike" cap="none" dirty="0">
                              <a:solidFill>
                                <a:srgbClr val="000000"/>
                              </a:solidFill>
                              <a:effectLst/>
                              <a:sym typeface="Arial"/>
                            </a:rPr>
                            <a:t>Goal: conditional independence</a:t>
                          </a:r>
                          <a:endParaRPr lang="en-US" sz="14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61450142"/>
                      </a:ext>
                    </a:extLst>
                  </a:tr>
                  <a:tr h="5583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Backdoor adjustment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Block noncausal paths into 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400" b="0" u="none" strike="noStrike" cap="none" dirty="0">
                              <a:solidFill>
                                <a:srgbClr val="000000"/>
                              </a:solidFill>
                              <a:effectLst/>
                              <a:sym typeface="Arial"/>
                            </a:rPr>
                            <a:t>Goal: identify total causal effect</a:t>
                          </a:r>
                          <a:endParaRPr lang="en-US" sz="1400" b="0" i="0" u="none" strike="noStrike" cap="none" dirty="0">
                            <a:solidFill>
                              <a:srgbClr val="000000"/>
                            </a:solidFill>
                            <a:effectLst/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552842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0704589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6D2C6-0A6D-8252-E55F-CAD03708E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EF0050-423F-A4C4-5602-3ACE2634106E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From Adjustment to Estimation</a:t>
            </a:r>
          </a:p>
        </p:txBody>
      </p:sp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CC79DB88-FA18-DEF4-3BED-23CC4216287D}"/>
              </a:ext>
            </a:extLst>
          </p:cNvPr>
          <p:cNvSpPr/>
          <p:nvPr/>
        </p:nvSpPr>
        <p:spPr>
          <a:xfrm>
            <a:off x="293370" y="1096264"/>
            <a:ext cx="1417320" cy="804672"/>
          </a:xfrm>
          <a:prstGeom prst="roundRect">
            <a:avLst/>
          </a:prstGeom>
          <a:solidFill>
            <a:srgbClr val="6FA8DC"/>
          </a:solidFill>
          <a:ln>
            <a:solidFill>
              <a:srgbClr val="6FA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1400" b="1">
                <a:solidFill>
                  <a:srgbClr val="171717"/>
                </a:solidFill>
                <a:latin typeface="Arial"/>
              </a:rPr>
              <a:t>Causal
question</a:t>
            </a: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D6982B50-CA6E-DEFD-B7B1-2C87DBF615EC}"/>
              </a:ext>
            </a:extLst>
          </p:cNvPr>
          <p:cNvSpPr/>
          <p:nvPr/>
        </p:nvSpPr>
        <p:spPr>
          <a:xfrm>
            <a:off x="2030730" y="1096264"/>
            <a:ext cx="1417320" cy="804672"/>
          </a:xfrm>
          <a:prstGeom prst="roundRect">
            <a:avLst/>
          </a:prstGeom>
          <a:solidFill>
            <a:srgbClr val="6FA8DC"/>
          </a:solidFill>
          <a:ln>
            <a:solidFill>
              <a:srgbClr val="6FA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1400" b="1">
                <a:solidFill>
                  <a:srgbClr val="171717"/>
                </a:solidFill>
                <a:latin typeface="Arial"/>
              </a:rPr>
              <a:t>DAG /
assumptions</a:t>
            </a: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A14EF2C5-EF5E-7328-BEB6-CF414B657115}"/>
              </a:ext>
            </a:extLst>
          </p:cNvPr>
          <p:cNvSpPr/>
          <p:nvPr/>
        </p:nvSpPr>
        <p:spPr>
          <a:xfrm>
            <a:off x="3768089" y="1096264"/>
            <a:ext cx="1417320" cy="804672"/>
          </a:xfrm>
          <a:prstGeom prst="roundRect">
            <a:avLst/>
          </a:prstGeom>
          <a:solidFill>
            <a:srgbClr val="91C791"/>
          </a:solidFill>
          <a:ln>
            <a:solidFill>
              <a:srgbClr val="91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1400" b="1">
                <a:solidFill>
                  <a:srgbClr val="171717"/>
                </a:solidFill>
                <a:latin typeface="Arial"/>
              </a:rPr>
              <a:t>Adjustment
set X</a:t>
            </a: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052D182B-9634-5E59-7507-74FB0D6166E3}"/>
              </a:ext>
            </a:extLst>
          </p:cNvPr>
          <p:cNvSpPr/>
          <p:nvPr/>
        </p:nvSpPr>
        <p:spPr>
          <a:xfrm>
            <a:off x="5505450" y="1096264"/>
            <a:ext cx="1417320" cy="804672"/>
          </a:xfrm>
          <a:prstGeom prst="roundRect">
            <a:avLst/>
          </a:prstGeom>
          <a:solidFill>
            <a:srgbClr val="FDBB30"/>
          </a:solidFill>
          <a:ln>
            <a:solidFill>
              <a:srgbClr val="FDB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1400" b="1">
                <a:solidFill>
                  <a:srgbClr val="171717"/>
                </a:solidFill>
                <a:latin typeface="Arial"/>
              </a:rPr>
              <a:t>g-formula</a:t>
            </a:r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D0E6AC4E-2D1A-D06C-D740-5E8FA2D222BD}"/>
              </a:ext>
            </a:extLst>
          </p:cNvPr>
          <p:cNvSpPr/>
          <p:nvPr/>
        </p:nvSpPr>
        <p:spPr>
          <a:xfrm>
            <a:off x="7242810" y="1096264"/>
            <a:ext cx="1417320" cy="804672"/>
          </a:xfrm>
          <a:prstGeom prst="roundRect">
            <a:avLst/>
          </a:prstGeom>
          <a:solidFill>
            <a:srgbClr val="6FA8DC"/>
          </a:solidFill>
          <a:ln>
            <a:solidFill>
              <a:srgbClr val="6FA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1400" b="1">
                <a:solidFill>
                  <a:srgbClr val="171717"/>
                </a:solidFill>
                <a:latin typeface="Arial"/>
              </a:rPr>
              <a:t>Estimation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2BEF2AE2-6523-F172-7A18-E9B8E6FD62BF}"/>
              </a:ext>
            </a:extLst>
          </p:cNvPr>
          <p:cNvSpPr txBox="1"/>
          <p:nvPr/>
        </p:nvSpPr>
        <p:spPr>
          <a:xfrm>
            <a:off x="1783842" y="1306576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2100" b="1">
                <a:solidFill>
                  <a:srgbClr val="F2F2F2"/>
                </a:solidFill>
                <a:latin typeface="Arial"/>
              </a:rPr>
              <a:t>→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71A18AA9-C97E-C5AA-1A08-9AC7DE323091}"/>
              </a:ext>
            </a:extLst>
          </p:cNvPr>
          <p:cNvSpPr txBox="1"/>
          <p:nvPr/>
        </p:nvSpPr>
        <p:spPr>
          <a:xfrm>
            <a:off x="3521202" y="1306576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2100" b="1">
                <a:solidFill>
                  <a:srgbClr val="F2F2F2"/>
                </a:solidFill>
                <a:latin typeface="Arial"/>
              </a:rPr>
              <a:t>→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9FCC61F2-D6B0-B5F2-C87A-C1B85A9F6DFB}"/>
              </a:ext>
            </a:extLst>
          </p:cNvPr>
          <p:cNvSpPr txBox="1"/>
          <p:nvPr/>
        </p:nvSpPr>
        <p:spPr>
          <a:xfrm>
            <a:off x="5258562" y="1306576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2100" b="1">
                <a:solidFill>
                  <a:srgbClr val="F2F2F2"/>
                </a:solidFill>
                <a:latin typeface="Arial"/>
              </a:rPr>
              <a:t>→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DF053B0C-0E97-122F-DCCC-B97838890CBA}"/>
              </a:ext>
            </a:extLst>
          </p:cNvPr>
          <p:cNvSpPr txBox="1"/>
          <p:nvPr/>
        </p:nvSpPr>
        <p:spPr>
          <a:xfrm>
            <a:off x="6995922" y="1306576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2100" b="1">
                <a:solidFill>
                  <a:srgbClr val="F2F2F2"/>
                </a:solidFill>
                <a:latin typeface="Arial"/>
              </a:rPr>
              <a:t>→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E00D21D0-162B-FF96-C6CF-54E353C0EE1B}"/>
              </a:ext>
            </a:extLst>
          </p:cNvPr>
          <p:cNvSpPr txBox="1"/>
          <p:nvPr/>
        </p:nvSpPr>
        <p:spPr>
          <a:xfrm>
            <a:off x="521970" y="2120137"/>
            <a:ext cx="8138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700" b="1">
                <a:solidFill>
                  <a:srgbClr val="F2F2F2"/>
                </a:solidFill>
                <a:latin typeface="Arial"/>
              </a:rPr>
              <a:t>We now know WHAT to adjust for.  How do we use the observed data to estimate the causal effect?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le 12">
                <a:extLst>
                  <a:ext uri="{FF2B5EF4-FFF2-40B4-BE49-F238E27FC236}">
                    <a16:creationId xmlns:a16="http://schemas.microsoft.com/office/drawing/2014/main" id="{E1D51634-FEFA-F206-EFD2-AB9CC9DB10C5}"/>
                  </a:ext>
                </a:extLst>
              </p:cNvPr>
              <p:cNvSpPr/>
              <p:nvPr/>
            </p:nvSpPr>
            <p:spPr>
              <a:xfrm>
                <a:off x="868680" y="2949956"/>
                <a:ext cx="7406640" cy="1097280"/>
              </a:xfrm>
              <a:prstGeom prst="roundRect">
                <a:avLst/>
              </a:prstGeom>
              <a:solidFill>
                <a:srgbClr val="2D2D2D"/>
              </a:solidFill>
              <a:ln>
                <a:solidFill>
                  <a:srgbClr val="5A5A5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r>
                        <a:rPr lang="el-GR" sz="25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l-GR" sz="25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l-GR" sz="25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l-GR" sz="25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l-GR" sz="25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l-GR" sz="2500" i="1" dirty="0" smtClean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</a:rPr>
                        <m:t>)]  =  </m:t>
                      </m:r>
                      <m:r>
                        <m:rPr>
                          <m:sty m:val="p"/>
                        </m:rPr>
                        <a:rPr lang="el-GR" sz="2500" i="0" dirty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2500" i="1" dirty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</a:rPr>
                        <m:t>ₓ  </m:t>
                      </m:r>
                      <m:r>
                        <a:rPr lang="en-US" sz="2500" i="1" dirty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500" i="1" dirty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500" i="1" dirty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500" i="1" dirty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sz="2500" i="1" dirty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500" i="1" dirty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500" i="1" dirty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500" i="1" dirty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500" i="1" dirty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500" i="1" dirty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500" i="1" dirty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500" i="1" dirty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</a:rPr>
                        <m:t>] </m:t>
                      </m:r>
                      <m:r>
                        <a:rPr lang="en-US" sz="2500" i="1" dirty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500" i="1" dirty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500" i="1" dirty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500" i="1" dirty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500" i="1" dirty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500" i="1" dirty="0">
                          <a:solidFill>
                            <a:srgbClr val="FDBB3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500" dirty="0">
                  <a:solidFill>
                    <a:srgbClr val="FDBB30"/>
                  </a:solidFill>
                  <a:latin typeface="Cambria Math"/>
                </a:endParaRPr>
              </a:p>
              <a:p>
                <a:pPr algn="ctr"/>
                <a:endParaRPr sz="2500" dirty="0">
                  <a:solidFill>
                    <a:srgbClr val="FDBB30"/>
                  </a:solidFill>
                  <a:latin typeface="Cambria Math"/>
                </a:endParaRPr>
              </a:p>
              <a:p>
                <a:pPr algn="ctr"/>
                <a:r>
                  <a:rPr sz="1400" dirty="0">
                    <a:solidFill>
                      <a:srgbClr val="F2F2F2"/>
                    </a:solidFill>
                    <a:latin typeface="Arial"/>
                  </a:rPr>
                  <a:t>The DAG justifies WHICH X makes this identification step credible.</a:t>
                </a:r>
              </a:p>
            </p:txBody>
          </p:sp>
        </mc:Choice>
        <mc:Fallback xmlns="">
          <p:sp>
            <p:nvSpPr>
              <p:cNvPr id="14" name="Rounded Rectangle 12">
                <a:extLst>
                  <a:ext uri="{FF2B5EF4-FFF2-40B4-BE49-F238E27FC236}">
                    <a16:creationId xmlns:a16="http://schemas.microsoft.com/office/drawing/2014/main" id="{E1D51634-FEFA-F206-EFD2-AB9CC9DB10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2949956"/>
                <a:ext cx="7406640" cy="109728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5A5A5A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ounded Rectangle 13">
            <a:extLst>
              <a:ext uri="{FF2B5EF4-FFF2-40B4-BE49-F238E27FC236}">
                <a16:creationId xmlns:a16="http://schemas.microsoft.com/office/drawing/2014/main" id="{D06F8687-13A7-61F2-630A-8372EBE34FC8}"/>
              </a:ext>
            </a:extLst>
          </p:cNvPr>
          <p:cNvSpPr/>
          <p:nvPr/>
        </p:nvSpPr>
        <p:spPr>
          <a:xfrm>
            <a:off x="224789" y="4288536"/>
            <a:ext cx="8503920" cy="566928"/>
          </a:xfrm>
          <a:prstGeom prst="roundRect">
            <a:avLst/>
          </a:prstGeom>
          <a:solidFill>
            <a:srgbClr val="91C791"/>
          </a:solidFill>
          <a:ln>
            <a:solidFill>
              <a:srgbClr val="91C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1600" b="1">
                <a:solidFill>
                  <a:srgbClr val="171717"/>
                </a:solidFill>
                <a:latin typeface="Arial"/>
              </a:rPr>
              <a:t>Next question: Is the regression coefficient of T automatically the ATE?  Only in special cases.</a:t>
            </a:r>
          </a:p>
        </p:txBody>
      </p:sp>
    </p:spTree>
    <p:extLst>
      <p:ext uri="{BB962C8B-B14F-4D97-AF65-F5344CB8AC3E}">
        <p14:creationId xmlns:p14="http://schemas.microsoft.com/office/powerpoint/2010/main" val="73068118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CE4F9-BC88-B5DE-A44C-E219C0A64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2094F8-4F62-7A0E-3066-6B862FE64130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g-computation not same as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F91967-582C-A08E-3BA6-F280BB37679E}"/>
              </a:ext>
            </a:extLst>
          </p:cNvPr>
          <p:cNvSpPr txBox="1"/>
          <p:nvPr/>
        </p:nvSpPr>
        <p:spPr>
          <a:xfrm>
            <a:off x="3733800" y="210820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2">
                <a:extLst>
                  <a:ext uri="{FF2B5EF4-FFF2-40B4-BE49-F238E27FC236}">
                    <a16:creationId xmlns:a16="http://schemas.microsoft.com/office/drawing/2014/main" id="{734015B8-CE61-D28C-8A3D-BBFF2EED006D}"/>
                  </a:ext>
                </a:extLst>
              </p:cNvPr>
              <p:cNvSpPr/>
              <p:nvPr/>
            </p:nvSpPr>
            <p:spPr>
              <a:xfrm>
                <a:off x="828040" y="1033760"/>
                <a:ext cx="6938010" cy="1183640"/>
              </a:xfrm>
              <a:prstGeom prst="roundRect">
                <a:avLst/>
              </a:prstGeom>
              <a:solidFill>
                <a:srgbClr val="6DA3DB"/>
              </a:solidFill>
              <a:ln>
                <a:solidFill>
                  <a:srgbClr val="6DA3D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sz="2400" b="1" dirty="0">
                    <a:solidFill>
                      <a:srgbClr val="141414"/>
                    </a:solidFill>
                  </a:rPr>
                  <a:t>Simple additive model:
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₀ + 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₁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₂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endParaRPr sz="2400" b="1" dirty="0">
                  <a:solidFill>
                    <a:srgbClr val="141414"/>
                  </a:solidFill>
                </a:endParaRPr>
              </a:p>
            </p:txBody>
          </p:sp>
        </mc:Choice>
        <mc:Fallback xmlns="">
          <p:sp>
            <p:nvSpPr>
              <p:cNvPr id="7" name="Rounded Rectangle 2">
                <a:extLst>
                  <a:ext uri="{FF2B5EF4-FFF2-40B4-BE49-F238E27FC236}">
                    <a16:creationId xmlns:a16="http://schemas.microsoft.com/office/drawing/2014/main" id="{734015B8-CE61-D28C-8A3D-BBFF2EED00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040" y="1033760"/>
                <a:ext cx="6938010" cy="118364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6DA3DB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3">
                <a:extLst>
                  <a:ext uri="{FF2B5EF4-FFF2-40B4-BE49-F238E27FC236}">
                    <a16:creationId xmlns:a16="http://schemas.microsoft.com/office/drawing/2014/main" id="{A39030B0-0C75-B530-D9D8-C15E8E7ABA28}"/>
                  </a:ext>
                </a:extLst>
              </p:cNvPr>
              <p:cNvSpPr txBox="1"/>
              <p:nvPr/>
            </p:nvSpPr>
            <p:spPr>
              <a:xfrm>
                <a:off x="133350" y="2666533"/>
                <a:ext cx="9010650" cy="23237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1000"/>
                  </a:spcAft>
                </a:pPr>
                <a:r>
                  <a:rPr sz="2400" dirty="0">
                    <a:solidFill>
                      <a:srgbClr val="F5F5F5"/>
                    </a:solidFill>
                  </a:rPr>
                  <a:t>If the model is additive in T, then the contrast for any individual is:</a:t>
                </a:r>
              </a:p>
              <a:p>
                <a:pPr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en-US" sz="24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4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sz="24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=1, </m:t>
                      </m:r>
                      <m:r>
                        <a:rPr lang="en-US" sz="24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) − </m:t>
                      </m:r>
                      <m:r>
                        <a:rPr lang="en-US" sz="24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4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sz="24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=0, </m:t>
                      </m:r>
                      <m:r>
                        <a:rPr lang="en-US" sz="24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24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4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₁.</m:t>
                      </m:r>
                    </m:oMath>
                  </m:oMathPara>
                </a14:m>
                <a:endParaRPr sz="2400" dirty="0">
                  <a:solidFill>
                    <a:srgbClr val="F5F5F5"/>
                  </a:solidFill>
                </a:endParaRPr>
              </a:p>
              <a:p>
                <a:pPr>
                  <a:spcAft>
                    <a:spcPts val="1000"/>
                  </a:spcAft>
                </a:pPr>
                <a:r>
                  <a:rPr sz="2400" dirty="0">
                    <a:solidFill>
                      <a:srgbClr val="F5F5F5"/>
                    </a:solidFill>
                  </a:rPr>
                  <a:t>That means every person has the same model-based treatment effect.</a:t>
                </a:r>
                <a:r>
                  <a:rPr lang="en-US" sz="2400" dirty="0">
                    <a:solidFill>
                      <a:srgbClr val="F5F5F5"/>
                    </a:solidFill>
                  </a:rPr>
                  <a:t> </a:t>
                </a:r>
                <a:r>
                  <a:rPr sz="2400" dirty="0">
                    <a:solidFill>
                      <a:srgbClr val="F5F5F5"/>
                    </a:solidFill>
                  </a:rPr>
                  <a:t>So</a:t>
                </a:r>
                <a:r>
                  <a:rPr lang="en-US" sz="2400" dirty="0">
                    <a:solidFill>
                      <a:srgbClr val="F5F5F5"/>
                    </a:solidFill>
                  </a:rPr>
                  <a:t>,</a:t>
                </a:r>
                <a:r>
                  <a:rPr sz="2400" dirty="0">
                    <a:solidFill>
                      <a:srgbClr val="F5F5F5"/>
                    </a:solidFill>
                  </a:rPr>
                  <a:t> averaging across people gives the same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4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₁</m:t>
                    </m:r>
                  </m:oMath>
                </a14:m>
                <a:r>
                  <a:rPr sz="2400" dirty="0">
                    <a:solidFill>
                      <a:srgbClr val="F5F5F5"/>
                    </a:solidFill>
                  </a:rPr>
                  <a:t> again.</a:t>
                </a:r>
              </a:p>
              <a:p>
                <a:pPr>
                  <a:spcAft>
                    <a:spcPts val="1000"/>
                  </a:spcAft>
                </a:pPr>
                <a:r>
                  <a:rPr sz="2400" dirty="0">
                    <a:solidFill>
                      <a:srgbClr val="F5F5F5"/>
                    </a:solidFill>
                  </a:rPr>
                  <a:t>Therefore: g-computation ATE = regression coefficient of T.</a:t>
                </a:r>
              </a:p>
            </p:txBody>
          </p:sp>
        </mc:Choice>
        <mc:Fallback xmlns="">
          <p:sp>
            <p:nvSpPr>
              <p:cNvPr id="8" name="TextBox 3">
                <a:extLst>
                  <a:ext uri="{FF2B5EF4-FFF2-40B4-BE49-F238E27FC236}">
                    <a16:creationId xmlns:a16="http://schemas.microsoft.com/office/drawing/2014/main" id="{A39030B0-0C75-B530-D9D8-C15E8E7AB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50" y="2666533"/>
                <a:ext cx="9010650" cy="2323713"/>
              </a:xfrm>
              <a:prstGeom prst="rect">
                <a:avLst/>
              </a:prstGeom>
              <a:blipFill>
                <a:blip r:embed="rId3"/>
                <a:stretch>
                  <a:fillRect l="-1083" t="-1832" r="-677" b="-4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351313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A652D-81CB-B4BA-1CFA-74011D645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55BB8A-7E75-BEEE-BB4E-57497DA39FFF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g-computation not same as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C2BC35-27AF-F338-6725-0B06A4F86635}"/>
              </a:ext>
            </a:extLst>
          </p:cNvPr>
          <p:cNvSpPr txBox="1"/>
          <p:nvPr/>
        </p:nvSpPr>
        <p:spPr>
          <a:xfrm>
            <a:off x="3733800" y="210820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6CA82BF-C6D3-113F-E67F-D742686AE544}"/>
              </a:ext>
            </a:extLst>
          </p:cNvPr>
          <p:cNvSpPr/>
          <p:nvPr/>
        </p:nvSpPr>
        <p:spPr>
          <a:xfrm>
            <a:off x="266700" y="1249680"/>
            <a:ext cx="2011680" cy="731520"/>
          </a:xfrm>
          <a:prstGeom prst="roundRect">
            <a:avLst/>
          </a:prstGeom>
          <a:solidFill>
            <a:srgbClr val="8EC991"/>
          </a:solidFill>
          <a:ln>
            <a:solidFill>
              <a:srgbClr val="8EC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200" b="1">
                <a:solidFill>
                  <a:srgbClr val="141414"/>
                </a:solidFill>
              </a:rPr>
              <a:t>Clinical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4E115156-1E2E-3ABE-49B6-A59B0B2D3566}"/>
                  </a:ext>
                </a:extLst>
              </p:cNvPr>
              <p:cNvSpPr/>
              <p:nvPr/>
            </p:nvSpPr>
            <p:spPr>
              <a:xfrm>
                <a:off x="2533650" y="1224915"/>
                <a:ext cx="6388100" cy="1230630"/>
              </a:xfrm>
              <a:prstGeom prst="roundRect">
                <a:avLst/>
              </a:prstGeom>
              <a:solidFill>
                <a:srgbClr val="BEA0DC"/>
              </a:solidFill>
              <a:ln>
                <a:solidFill>
                  <a:srgbClr val="BEA0D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sz="2300" b="1" dirty="0">
                    <a:solidFill>
                      <a:srgbClr val="141414"/>
                    </a:solidFill>
                  </a:rPr>
                  <a:t>Outcome model:
</a:t>
                </a:r>
                <a14:m>
                  <m:oMath xmlns:m="http://schemas.openxmlformats.org/officeDocument/2006/math">
                    <m:r>
                      <a:rPr lang="en-US" sz="23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sz="23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3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sz="23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23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3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3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3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3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𝟏𝟒𝟎</m:t>
                    </m:r>
                    <m:r>
                      <a:rPr lang="en-US" sz="23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23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3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3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23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3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sz="23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23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3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n-US" sz="23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3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3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23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3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𝑻𝑿</m:t>
                    </m:r>
                    <m:r>
                      <a:rPr lang="en-US" sz="23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300" b="1" dirty="0">
                  <a:solidFill>
                    <a:srgbClr val="141414"/>
                  </a:solidFill>
                </a:endParaRPr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4E115156-1E2E-3ABE-49B6-A59B0B2D35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650" y="1224915"/>
                <a:ext cx="6388100" cy="123063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BEA0D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3">
            <a:extLst>
              <a:ext uri="{FF2B5EF4-FFF2-40B4-BE49-F238E27FC236}">
                <a16:creationId xmlns:a16="http://schemas.microsoft.com/office/drawing/2014/main" id="{34E73454-1C30-52B2-A89A-19F0A34C5D06}"/>
              </a:ext>
            </a:extLst>
          </p:cNvPr>
          <p:cNvSpPr txBox="1"/>
          <p:nvPr/>
        </p:nvSpPr>
        <p:spPr>
          <a:xfrm>
            <a:off x="0" y="2792729"/>
            <a:ext cx="6796762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</a:pPr>
            <a:r>
              <a:rPr sz="2400">
                <a:solidFill>
                  <a:srgbClr val="F5F5F5"/>
                </a:solidFill>
              </a:rPr>
              <a:t>T = 1: antihypertensive drug;   T = 0: no drug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F5F5F5"/>
                </a:solidFill>
              </a:rPr>
              <a:t>Y = post-treatment systolic blood pressure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F5F5F5"/>
                </a:solidFill>
              </a:rPr>
              <a:t>X = Age − 50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F5F5F5"/>
                </a:solidFill>
              </a:rPr>
              <a:t>Suppose the effect of treatment depends on age.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D94E2D95-CBF6-D5BB-13CE-1378C5B3E76B}"/>
                  </a:ext>
                </a:extLst>
              </p:cNvPr>
              <p:cNvSpPr/>
              <p:nvPr/>
            </p:nvSpPr>
            <p:spPr>
              <a:xfrm>
                <a:off x="6591300" y="2730500"/>
                <a:ext cx="2444750" cy="2269469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Because of the interaction term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6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, the treatment effect is no longer constant across patients.</a:t>
                </a: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D94E2D95-CBF6-D5BB-13CE-1378C5B3E7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300" y="2730500"/>
                <a:ext cx="2444750" cy="2269469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647734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986F4-4BF8-C3B7-0688-1B33FC733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80E70B-9FA5-5529-3986-3C4348ED1A6D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g-computation not same as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2">
                <a:extLst>
                  <a:ext uri="{FF2B5EF4-FFF2-40B4-BE49-F238E27FC236}">
                    <a16:creationId xmlns:a16="http://schemas.microsoft.com/office/drawing/2014/main" id="{9D177DED-9370-BD55-7B58-8B5E8E2FF5C3}"/>
                  </a:ext>
                </a:extLst>
              </p:cNvPr>
              <p:cNvSpPr/>
              <p:nvPr/>
            </p:nvSpPr>
            <p:spPr>
              <a:xfrm>
                <a:off x="261825" y="1070610"/>
                <a:ext cx="8503920" cy="1097280"/>
              </a:xfrm>
              <a:prstGeom prst="roundRect">
                <a:avLst/>
              </a:prstGeom>
              <a:solidFill>
                <a:srgbClr val="6DA3DB"/>
              </a:solidFill>
              <a:ln>
                <a:solidFill>
                  <a:srgbClr val="6DA3D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sz="2400" b="1" dirty="0">
                    <a:solidFill>
                      <a:srgbClr val="141414"/>
                    </a:solidFill>
                  </a:rPr>
                  <a:t>At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sz="2400" b="1" dirty="0">
                    <a:solidFill>
                      <a:srgbClr val="141414"/>
                    </a:solidFill>
                  </a:rPr>
                  <a:t>(that is, Age = 50):
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) − 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) = −</m:t>
                    </m:r>
                    <m:r>
                      <a:rPr lang="en-US" sz="2400" b="1" i="1" dirty="0" smtClean="0">
                        <a:solidFill>
                          <a:srgbClr val="141414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sz="2400" b="1" dirty="0">
                  <a:solidFill>
                    <a:srgbClr val="141414"/>
                  </a:solidFill>
                </a:endParaRPr>
              </a:p>
            </p:txBody>
          </p:sp>
        </mc:Choice>
        <mc:Fallback xmlns="">
          <p:sp>
            <p:nvSpPr>
              <p:cNvPr id="7" name="Rounded Rectangle 2">
                <a:extLst>
                  <a:ext uri="{FF2B5EF4-FFF2-40B4-BE49-F238E27FC236}">
                    <a16:creationId xmlns:a16="http://schemas.microsoft.com/office/drawing/2014/main" id="{9D177DED-9370-BD55-7B58-8B5E8E2FF5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825" y="1070610"/>
                <a:ext cx="8503920" cy="109728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6DA3DB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3">
                <a:extLst>
                  <a:ext uri="{FF2B5EF4-FFF2-40B4-BE49-F238E27FC236}">
                    <a16:creationId xmlns:a16="http://schemas.microsoft.com/office/drawing/2014/main" id="{9CE503AA-ECCF-01C9-9AF7-B9C89DD80A66}"/>
                  </a:ext>
                </a:extLst>
              </p:cNvPr>
              <p:cNvSpPr txBox="1"/>
              <p:nvPr/>
            </p:nvSpPr>
            <p:spPr>
              <a:xfrm>
                <a:off x="261825" y="2571748"/>
                <a:ext cx="8412275" cy="23237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1000"/>
                  </a:spcAft>
                </a:pPr>
                <a:r>
                  <a:rPr sz="2000" dirty="0">
                    <a:solidFill>
                      <a:srgbClr val="F5F5F5"/>
                    </a:solidFill>
                  </a:rPr>
                  <a:t>So the coefficient of T (−5) is the treatment effect only at the reference value X = 0.</a:t>
                </a:r>
              </a:p>
              <a:p>
                <a:pPr>
                  <a:spcAft>
                    <a:spcPts val="1000"/>
                  </a:spcAft>
                </a:pPr>
                <a:r>
                  <a:rPr sz="2000" dirty="0">
                    <a:solidFill>
                      <a:srgbClr val="F5F5F5"/>
                    </a:solidFill>
                  </a:rPr>
                  <a:t>It is NOT automatically the average treatment effect in the study population.</a:t>
                </a:r>
              </a:p>
              <a:p>
                <a:pPr>
                  <a:spcAft>
                    <a:spcPts val="1000"/>
                  </a:spcAft>
                </a:pPr>
                <a:r>
                  <a:rPr sz="2000" dirty="0">
                    <a:solidFill>
                      <a:srgbClr val="F5F5F5"/>
                    </a:solidFill>
                  </a:rPr>
                  <a:t>For a person with covariate value X, the model-based treatment effect is:</a:t>
                </a:r>
              </a:p>
              <a:p>
                <a:pPr>
                  <a:spcAft>
                    <a:spcPts val="10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0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sz="2000" i="1" dirty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sz="2000" i="1" dirty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l-GR" sz="2000" i="1" dirty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) = [140 + 0.5</m:t>
                    </m:r>
                    <m:r>
                      <a:rPr lang="el-GR" sz="2000" i="1" dirty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l-GR" sz="2000" i="1" dirty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 − 5 − 0.2</m:t>
                    </m:r>
                    <m:r>
                      <a:rPr lang="el-GR" sz="2000" i="1" dirty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l-GR" sz="2000" i="1" dirty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] − [140 + 0.5</m:t>
                    </m:r>
                    <m:r>
                      <a:rPr lang="el-GR" sz="2000" i="1" dirty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l-GR" sz="2000" i="1" dirty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] = −5 − 0.2</m:t>
                    </m:r>
                    <m:r>
                      <a:rPr lang="el-GR" sz="2000" i="1" dirty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000" dirty="0">
                    <a:solidFill>
                      <a:srgbClr val="F5F5F5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3">
                <a:extLst>
                  <a:ext uri="{FF2B5EF4-FFF2-40B4-BE49-F238E27FC236}">
                    <a16:creationId xmlns:a16="http://schemas.microsoft.com/office/drawing/2014/main" id="{9CE503AA-ECCF-01C9-9AF7-B9C89DD80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825" y="2571748"/>
                <a:ext cx="8412275" cy="2323713"/>
              </a:xfrm>
              <a:prstGeom prst="rect">
                <a:avLst/>
              </a:prstGeom>
              <a:blipFill>
                <a:blip r:embed="rId3"/>
                <a:stretch>
                  <a:fillRect l="-797" t="-1312" b="-3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453313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C931B-82DF-52B4-877C-B9522D2C4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B8AFBE-2F2F-C6BB-4FDB-891E9FDB94A7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What does g-computation do?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B1DFEA1-212C-D0FC-89EF-EF944F5F4E6B}"/>
                  </a:ext>
                </a:extLst>
              </p:cNvPr>
              <p:cNvSpPr txBox="1"/>
              <p:nvPr/>
            </p:nvSpPr>
            <p:spPr>
              <a:xfrm>
                <a:off x="283210" y="1276350"/>
                <a:ext cx="8340090" cy="24867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1000"/>
                  </a:spcAft>
                </a:pPr>
                <a:r>
                  <a:rPr sz="2400" dirty="0">
                    <a:solidFill>
                      <a:srgbClr val="F5F5F5"/>
                    </a:solidFill>
                  </a:rPr>
                  <a:t>Step 1: fit an outcome model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24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sz="2400" dirty="0">
                  <a:solidFill>
                    <a:srgbClr val="F5F5F5"/>
                  </a:solidFill>
                </a:endParaRPr>
              </a:p>
              <a:p>
                <a:pPr>
                  <a:spcAft>
                    <a:spcPts val="1000"/>
                  </a:spcAft>
                </a:pPr>
                <a:r>
                  <a:rPr sz="2400" dirty="0">
                    <a:solidFill>
                      <a:srgbClr val="F5F5F5"/>
                    </a:solidFill>
                  </a:rPr>
                  <a:t>Step 2: for each person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dirty="0">
                    <a:solidFill>
                      <a:srgbClr val="F5F5F5"/>
                    </a:solidFill>
                  </a:rPr>
                  <a:t>, predict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Ŷᵢ(1)</m:t>
                    </m:r>
                  </m:oMath>
                </a14:m>
                <a:r>
                  <a:rPr sz="2400" dirty="0">
                    <a:solidFill>
                      <a:srgbClr val="F5F5F5"/>
                    </a:solidFill>
                  </a:rPr>
                  <a:t> by setting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sz="2400" dirty="0">
                    <a:solidFill>
                      <a:srgbClr val="F5F5F5"/>
                    </a:solidFill>
                  </a:rPr>
                  <a:t>.</a:t>
                </a:r>
              </a:p>
              <a:p>
                <a:pPr>
                  <a:spcAft>
                    <a:spcPts val="1000"/>
                  </a:spcAft>
                </a:pPr>
                <a:r>
                  <a:rPr sz="2400" dirty="0">
                    <a:solidFill>
                      <a:srgbClr val="F5F5F5"/>
                    </a:solidFill>
                  </a:rPr>
                  <a:t>Step 3: for the same person, predict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Ŷᵢ(0)</m:t>
                    </m:r>
                  </m:oMath>
                </a14:m>
                <a:r>
                  <a:rPr sz="2400" dirty="0">
                    <a:solidFill>
                      <a:srgbClr val="F5F5F5"/>
                    </a:solidFill>
                  </a:rPr>
                  <a:t> by setting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2400" dirty="0">
                    <a:solidFill>
                      <a:srgbClr val="F5F5F5"/>
                    </a:solidFill>
                  </a:rPr>
                  <a:t>.</a:t>
                </a:r>
              </a:p>
              <a:p>
                <a:pPr>
                  <a:spcAft>
                    <a:spcPts val="1000"/>
                  </a:spcAft>
                </a:pPr>
                <a:r>
                  <a:rPr sz="2400" dirty="0">
                    <a:solidFill>
                      <a:srgbClr val="F5F5F5"/>
                    </a:solidFill>
                  </a:rPr>
                  <a:t>Step 4: compute the individual contrast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Ŷᵢ(1) − Ŷᵢ(0)</m:t>
                    </m:r>
                  </m:oMath>
                </a14:m>
                <a:r>
                  <a:rPr sz="2400" dirty="0">
                    <a:solidFill>
                      <a:srgbClr val="F5F5F5"/>
                    </a:solidFill>
                  </a:rPr>
                  <a:t>.</a:t>
                </a:r>
              </a:p>
              <a:p>
                <a:pPr>
                  <a:spcAft>
                    <a:spcPts val="1000"/>
                  </a:spcAft>
                </a:pPr>
                <a:r>
                  <a:rPr sz="2400" dirty="0">
                    <a:solidFill>
                      <a:srgbClr val="F5F5F5"/>
                    </a:solidFill>
                  </a:rPr>
                  <a:t>Step 5: average these contrasts over the whole sample.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B1DFEA1-212C-D0FC-89EF-EF944F5F4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210" y="1276350"/>
                <a:ext cx="8340090" cy="2486771"/>
              </a:xfrm>
              <a:prstGeom prst="rect">
                <a:avLst/>
              </a:prstGeom>
              <a:blipFill>
                <a:blip r:embed="rId2"/>
                <a:stretch>
                  <a:fillRect l="-1096" t="-1716" b="-49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7C62D1D7-FEC3-3431-AF71-80FA644B8BA8}"/>
                  </a:ext>
                </a:extLst>
              </p:cNvPr>
              <p:cNvSpPr/>
              <p:nvPr/>
            </p:nvSpPr>
            <p:spPr>
              <a:xfrm>
                <a:off x="1499870" y="3989070"/>
                <a:ext cx="6309360" cy="822960"/>
              </a:xfrm>
              <a:prstGeom prst="roundRect">
                <a:avLst/>
              </a:prstGeom>
              <a:solidFill>
                <a:srgbClr val="F5BE3B"/>
              </a:solidFill>
              <a:ln>
                <a:solidFill>
                  <a:srgbClr val="F5BE3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400" b="1" i="1" dirty="0" smtClean="0">
                          <a:solidFill>
                            <a:srgbClr val="141414"/>
                          </a:solidFill>
                          <a:latin typeface="Cambria Math" panose="02040503050406030204" pitchFamily="18" charset="0"/>
                        </a:rPr>
                        <m:t>𝑨𝑻</m:t>
                      </m:r>
                      <m:sSub>
                        <m:sSubPr>
                          <m:ctrlPr>
                            <a:rPr lang="en-US" sz="2400" b="1" i="1" dirty="0" smtClean="0">
                              <a:solidFill>
                                <a:srgbClr val="14141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 smtClean="0">
                              <a:solidFill>
                                <a:srgbClr val="141414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sz="2400" b="1" i="1" dirty="0" smtClean="0">
                              <a:solidFill>
                                <a:srgbClr val="141414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sub>
                      </m:sSub>
                      <m:r>
                        <a:rPr lang="en-US" sz="2400" b="1" i="1" dirty="0">
                          <a:solidFill>
                            <a:srgbClr val="141414"/>
                          </a:solidFill>
                          <a:latin typeface="Cambria Math" panose="02040503050406030204" pitchFamily="18" charset="0"/>
                        </a:rPr>
                        <m:t> = (</m:t>
                      </m:r>
                      <m:r>
                        <a:rPr lang="en-US" sz="2400" b="1" i="1" dirty="0">
                          <a:solidFill>
                            <a:srgbClr val="141414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dirty="0">
                          <a:solidFill>
                            <a:srgbClr val="141414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400" b="1" i="1" dirty="0">
                          <a:solidFill>
                            <a:srgbClr val="141414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400" b="1" i="1" dirty="0">
                          <a:solidFill>
                            <a:srgbClr val="141414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sz="2400" b="1" i="0" dirty="0">
                          <a:solidFill>
                            <a:srgbClr val="141414"/>
                          </a:solidFill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en-US" sz="2400" b="1" i="1" dirty="0">
                          <a:solidFill>
                            <a:srgbClr val="141414"/>
                          </a:solidFill>
                          <a:latin typeface="Cambria Math" panose="02040503050406030204" pitchFamily="18" charset="0"/>
                        </a:rPr>
                        <m:t> [ Ŷᵢ(</m:t>
                      </m:r>
                      <m:r>
                        <a:rPr lang="en-US" sz="2400" b="1" i="1" dirty="0">
                          <a:solidFill>
                            <a:srgbClr val="141414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dirty="0">
                          <a:solidFill>
                            <a:srgbClr val="141414"/>
                          </a:solidFill>
                          <a:latin typeface="Cambria Math" panose="02040503050406030204" pitchFamily="18" charset="0"/>
                        </a:rPr>
                        <m:t>) − Ŷᵢ(</m:t>
                      </m:r>
                      <m:r>
                        <a:rPr lang="en-US" sz="2400" b="1" i="1" dirty="0">
                          <a:solidFill>
                            <a:srgbClr val="141414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400" b="1" i="1" dirty="0">
                          <a:solidFill>
                            <a:srgbClr val="141414"/>
                          </a:solidFill>
                          <a:latin typeface="Cambria Math" panose="02040503050406030204" pitchFamily="18" charset="0"/>
                        </a:rPr>
                        <m:t>) ]</m:t>
                      </m:r>
                    </m:oMath>
                  </m:oMathPara>
                </a14:m>
                <a:endParaRPr sz="2400" b="1" dirty="0">
                  <a:solidFill>
                    <a:srgbClr val="141414"/>
                  </a:solidFill>
                </a:endParaRP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7C62D1D7-FEC3-3431-AF71-80FA644B8B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9870" y="3989070"/>
                <a:ext cx="6309360" cy="82296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5BE3B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165126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22B57-8097-B307-8794-370B0CDA7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DA75FA-F3A5-81AD-2510-D0EB6B5EE809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Simple Illustration I</a:t>
            </a: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2AFD6D63-404D-2BAC-11D4-B480609E4616}"/>
              </a:ext>
            </a:extLst>
          </p:cNvPr>
          <p:cNvSpPr/>
          <p:nvPr/>
        </p:nvSpPr>
        <p:spPr>
          <a:xfrm>
            <a:off x="107950" y="933449"/>
            <a:ext cx="1720850" cy="618351"/>
          </a:xfrm>
          <a:prstGeom prst="roundRect">
            <a:avLst/>
          </a:prstGeom>
          <a:solidFill>
            <a:srgbClr val="BEA0DC"/>
          </a:solidFill>
          <a:ln>
            <a:solidFill>
              <a:srgbClr val="BEA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800" b="1">
                <a:solidFill>
                  <a:srgbClr val="141414"/>
                </a:solidFill>
              </a:rPr>
              <a:t>Patient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35306B45-6BEA-3D8E-7BB5-443CB2007426}"/>
              </a:ext>
            </a:extLst>
          </p:cNvPr>
          <p:cNvSpPr/>
          <p:nvPr/>
        </p:nvSpPr>
        <p:spPr>
          <a:xfrm>
            <a:off x="2103120" y="933450"/>
            <a:ext cx="1371600" cy="594360"/>
          </a:xfrm>
          <a:prstGeom prst="roundRect">
            <a:avLst/>
          </a:prstGeom>
          <a:solidFill>
            <a:srgbClr val="BEA0DC"/>
          </a:solidFill>
          <a:ln>
            <a:solidFill>
              <a:srgbClr val="BEA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800" b="1">
                <a:solidFill>
                  <a:srgbClr val="141414"/>
                </a:solidFill>
              </a:rPr>
              <a:t>Age</a:t>
            </a:r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F2A01C80-162F-99FE-6383-61B155B869C9}"/>
              </a:ext>
            </a:extLst>
          </p:cNvPr>
          <p:cNvSpPr/>
          <p:nvPr/>
        </p:nvSpPr>
        <p:spPr>
          <a:xfrm>
            <a:off x="3657600" y="933450"/>
            <a:ext cx="1828800" cy="594360"/>
          </a:xfrm>
          <a:prstGeom prst="roundRect">
            <a:avLst/>
          </a:prstGeom>
          <a:solidFill>
            <a:srgbClr val="BEA0DC"/>
          </a:solidFill>
          <a:ln>
            <a:solidFill>
              <a:srgbClr val="BEA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800" b="1">
                <a:solidFill>
                  <a:srgbClr val="141414"/>
                </a:solidFill>
              </a:rPr>
              <a:t>X = Age−50</a:t>
            </a: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9C8D1D93-64C9-7AAE-9240-29F4CDD800C6}"/>
              </a:ext>
            </a:extLst>
          </p:cNvPr>
          <p:cNvSpPr/>
          <p:nvPr/>
        </p:nvSpPr>
        <p:spPr>
          <a:xfrm>
            <a:off x="5760720" y="933450"/>
            <a:ext cx="3331210" cy="594360"/>
          </a:xfrm>
          <a:prstGeom prst="roundRect">
            <a:avLst/>
          </a:prstGeom>
          <a:solidFill>
            <a:srgbClr val="BEA0DC"/>
          </a:solidFill>
          <a:ln>
            <a:solidFill>
              <a:srgbClr val="BEA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800" b="1">
                <a:solidFill>
                  <a:srgbClr val="141414"/>
                </a:solidFill>
              </a:rPr>
              <a:t>Predicted effect = −5 − 0.2X</a:t>
            </a:r>
          </a:p>
        </p:txBody>
      </p:sp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5B76672A-B8A8-DD7D-3855-D11DEF6179E4}"/>
              </a:ext>
            </a:extLst>
          </p:cNvPr>
          <p:cNvSpPr/>
          <p:nvPr/>
        </p:nvSpPr>
        <p:spPr>
          <a:xfrm>
            <a:off x="107950" y="1664970"/>
            <a:ext cx="1720850" cy="523220"/>
          </a:xfrm>
          <a:prstGeom prst="roundRect">
            <a:avLst/>
          </a:prstGeom>
          <a:solidFill>
            <a:srgbClr val="6DA3DB"/>
          </a:solidFill>
          <a:ln>
            <a:solidFill>
              <a:srgbClr val="6DA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>
                <a:solidFill>
                  <a:srgbClr val="141414"/>
                </a:solidFill>
              </a:rPr>
              <a:t>A</a:t>
            </a: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6073EEC1-01CA-5CC6-EA1A-8EB97301CC86}"/>
              </a:ext>
            </a:extLst>
          </p:cNvPr>
          <p:cNvSpPr/>
          <p:nvPr/>
        </p:nvSpPr>
        <p:spPr>
          <a:xfrm>
            <a:off x="2103120" y="1664970"/>
            <a:ext cx="1371600" cy="502920"/>
          </a:xfrm>
          <a:prstGeom prst="roundRect">
            <a:avLst/>
          </a:prstGeom>
          <a:solidFill>
            <a:srgbClr val="6DA3DB"/>
          </a:solidFill>
          <a:ln>
            <a:solidFill>
              <a:srgbClr val="6DA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>
                <a:solidFill>
                  <a:srgbClr val="141414"/>
                </a:solidFill>
              </a:rPr>
              <a:t>50</a:t>
            </a: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2D8CCF1F-ECF8-3722-24DE-F48B29B4D7FB}"/>
              </a:ext>
            </a:extLst>
          </p:cNvPr>
          <p:cNvSpPr/>
          <p:nvPr/>
        </p:nvSpPr>
        <p:spPr>
          <a:xfrm>
            <a:off x="3657600" y="1664970"/>
            <a:ext cx="1828800" cy="502920"/>
          </a:xfrm>
          <a:prstGeom prst="roundRect">
            <a:avLst/>
          </a:prstGeom>
          <a:solidFill>
            <a:srgbClr val="6DA3DB"/>
          </a:solidFill>
          <a:ln>
            <a:solidFill>
              <a:srgbClr val="6DA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>
                <a:solidFill>
                  <a:srgbClr val="141414"/>
                </a:solidFill>
              </a:rPr>
              <a:t>0</a:t>
            </a:r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1105445C-1923-5597-E12A-00CBE1ADF0CB}"/>
              </a:ext>
            </a:extLst>
          </p:cNvPr>
          <p:cNvSpPr/>
          <p:nvPr/>
        </p:nvSpPr>
        <p:spPr>
          <a:xfrm>
            <a:off x="5760720" y="1664970"/>
            <a:ext cx="3331210" cy="502920"/>
          </a:xfrm>
          <a:prstGeom prst="roundRect">
            <a:avLst/>
          </a:prstGeom>
          <a:solidFill>
            <a:srgbClr val="8EC991"/>
          </a:solidFill>
          <a:ln>
            <a:solidFill>
              <a:srgbClr val="8EC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>
                <a:solidFill>
                  <a:srgbClr val="141414"/>
                </a:solidFill>
              </a:rPr>
              <a:t>−5</a:t>
            </a:r>
          </a:p>
        </p:txBody>
      </p:sp>
      <p:sp>
        <p:nvSpPr>
          <p:cNvPr id="13" name="Rounded Rectangle 10">
            <a:extLst>
              <a:ext uri="{FF2B5EF4-FFF2-40B4-BE49-F238E27FC236}">
                <a16:creationId xmlns:a16="http://schemas.microsoft.com/office/drawing/2014/main" id="{F50E60B8-AFF2-80D9-7C34-1D224C9043C8}"/>
              </a:ext>
            </a:extLst>
          </p:cNvPr>
          <p:cNvSpPr/>
          <p:nvPr/>
        </p:nvSpPr>
        <p:spPr>
          <a:xfrm>
            <a:off x="107950" y="2396490"/>
            <a:ext cx="1720850" cy="523220"/>
          </a:xfrm>
          <a:prstGeom prst="roundRect">
            <a:avLst/>
          </a:prstGeom>
          <a:solidFill>
            <a:srgbClr val="6DA3DB"/>
          </a:solidFill>
          <a:ln>
            <a:solidFill>
              <a:srgbClr val="6DA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>
                <a:solidFill>
                  <a:srgbClr val="141414"/>
                </a:solidFill>
              </a:rPr>
              <a:t>B</a:t>
            </a:r>
          </a:p>
        </p:txBody>
      </p:sp>
      <p:sp>
        <p:nvSpPr>
          <p:cNvPr id="14" name="Rounded Rectangle 11">
            <a:extLst>
              <a:ext uri="{FF2B5EF4-FFF2-40B4-BE49-F238E27FC236}">
                <a16:creationId xmlns:a16="http://schemas.microsoft.com/office/drawing/2014/main" id="{9EDC004D-E238-5FF1-0A31-29347E58CB66}"/>
              </a:ext>
            </a:extLst>
          </p:cNvPr>
          <p:cNvSpPr/>
          <p:nvPr/>
        </p:nvSpPr>
        <p:spPr>
          <a:xfrm>
            <a:off x="2103120" y="2396490"/>
            <a:ext cx="1371600" cy="502920"/>
          </a:xfrm>
          <a:prstGeom prst="roundRect">
            <a:avLst/>
          </a:prstGeom>
          <a:solidFill>
            <a:srgbClr val="6DA3DB"/>
          </a:solidFill>
          <a:ln>
            <a:solidFill>
              <a:srgbClr val="6DA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>
                <a:solidFill>
                  <a:srgbClr val="141414"/>
                </a:solidFill>
              </a:rPr>
              <a:t>60</a:t>
            </a:r>
          </a:p>
        </p:txBody>
      </p:sp>
      <p:sp>
        <p:nvSpPr>
          <p:cNvPr id="15" name="Rounded Rectangle 12">
            <a:extLst>
              <a:ext uri="{FF2B5EF4-FFF2-40B4-BE49-F238E27FC236}">
                <a16:creationId xmlns:a16="http://schemas.microsoft.com/office/drawing/2014/main" id="{0493CFE4-C8C1-2F1B-A0CE-5F5CEB05D2FD}"/>
              </a:ext>
            </a:extLst>
          </p:cNvPr>
          <p:cNvSpPr/>
          <p:nvPr/>
        </p:nvSpPr>
        <p:spPr>
          <a:xfrm>
            <a:off x="3657600" y="2396490"/>
            <a:ext cx="1828800" cy="502920"/>
          </a:xfrm>
          <a:prstGeom prst="roundRect">
            <a:avLst/>
          </a:prstGeom>
          <a:solidFill>
            <a:srgbClr val="6DA3DB"/>
          </a:solidFill>
          <a:ln>
            <a:solidFill>
              <a:srgbClr val="6DA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>
                <a:solidFill>
                  <a:srgbClr val="141414"/>
                </a:solidFill>
              </a:rPr>
              <a:t>10</a:t>
            </a:r>
          </a:p>
        </p:txBody>
      </p:sp>
      <p:sp>
        <p:nvSpPr>
          <p:cNvPr id="16" name="Rounded Rectangle 13">
            <a:extLst>
              <a:ext uri="{FF2B5EF4-FFF2-40B4-BE49-F238E27FC236}">
                <a16:creationId xmlns:a16="http://schemas.microsoft.com/office/drawing/2014/main" id="{63A8C356-CBA1-8FA7-EB36-E08CBA94282B}"/>
              </a:ext>
            </a:extLst>
          </p:cNvPr>
          <p:cNvSpPr/>
          <p:nvPr/>
        </p:nvSpPr>
        <p:spPr>
          <a:xfrm>
            <a:off x="5760720" y="2396490"/>
            <a:ext cx="3331210" cy="502920"/>
          </a:xfrm>
          <a:prstGeom prst="roundRect">
            <a:avLst/>
          </a:prstGeom>
          <a:solidFill>
            <a:srgbClr val="8EC991"/>
          </a:solidFill>
          <a:ln>
            <a:solidFill>
              <a:srgbClr val="8EC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>
                <a:solidFill>
                  <a:srgbClr val="141414"/>
                </a:solidFill>
              </a:rPr>
              <a:t>−7</a:t>
            </a:r>
          </a:p>
        </p:txBody>
      </p:sp>
      <p:sp>
        <p:nvSpPr>
          <p:cNvPr id="17" name="Rounded Rectangle 14">
            <a:extLst>
              <a:ext uri="{FF2B5EF4-FFF2-40B4-BE49-F238E27FC236}">
                <a16:creationId xmlns:a16="http://schemas.microsoft.com/office/drawing/2014/main" id="{E5BD5F15-0B7E-6158-1A83-4C857C4F43E5}"/>
              </a:ext>
            </a:extLst>
          </p:cNvPr>
          <p:cNvSpPr/>
          <p:nvPr/>
        </p:nvSpPr>
        <p:spPr>
          <a:xfrm>
            <a:off x="107950" y="3128010"/>
            <a:ext cx="1720850" cy="523220"/>
          </a:xfrm>
          <a:prstGeom prst="roundRect">
            <a:avLst/>
          </a:prstGeom>
          <a:solidFill>
            <a:srgbClr val="6DA3DB"/>
          </a:solidFill>
          <a:ln>
            <a:solidFill>
              <a:srgbClr val="6DA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>
                <a:solidFill>
                  <a:srgbClr val="141414"/>
                </a:solidFill>
              </a:rPr>
              <a:t>C</a:t>
            </a:r>
          </a:p>
        </p:txBody>
      </p:sp>
      <p:sp>
        <p:nvSpPr>
          <p:cNvPr id="18" name="Rounded Rectangle 15">
            <a:extLst>
              <a:ext uri="{FF2B5EF4-FFF2-40B4-BE49-F238E27FC236}">
                <a16:creationId xmlns:a16="http://schemas.microsoft.com/office/drawing/2014/main" id="{797E258A-7800-DB58-59EF-77129ABEF16A}"/>
              </a:ext>
            </a:extLst>
          </p:cNvPr>
          <p:cNvSpPr/>
          <p:nvPr/>
        </p:nvSpPr>
        <p:spPr>
          <a:xfrm>
            <a:off x="2103120" y="3128010"/>
            <a:ext cx="1371600" cy="502920"/>
          </a:xfrm>
          <a:prstGeom prst="roundRect">
            <a:avLst/>
          </a:prstGeom>
          <a:solidFill>
            <a:srgbClr val="6DA3DB"/>
          </a:solidFill>
          <a:ln>
            <a:solidFill>
              <a:srgbClr val="6DA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>
                <a:solidFill>
                  <a:srgbClr val="141414"/>
                </a:solidFill>
              </a:rPr>
              <a:t>70</a:t>
            </a:r>
          </a:p>
        </p:txBody>
      </p:sp>
      <p:sp>
        <p:nvSpPr>
          <p:cNvPr id="19" name="Rounded Rectangle 16">
            <a:extLst>
              <a:ext uri="{FF2B5EF4-FFF2-40B4-BE49-F238E27FC236}">
                <a16:creationId xmlns:a16="http://schemas.microsoft.com/office/drawing/2014/main" id="{E96BDB20-6B79-EF4F-DABE-BE6BDC286165}"/>
              </a:ext>
            </a:extLst>
          </p:cNvPr>
          <p:cNvSpPr/>
          <p:nvPr/>
        </p:nvSpPr>
        <p:spPr>
          <a:xfrm>
            <a:off x="3657600" y="3128010"/>
            <a:ext cx="1828800" cy="502920"/>
          </a:xfrm>
          <a:prstGeom prst="roundRect">
            <a:avLst/>
          </a:prstGeom>
          <a:solidFill>
            <a:srgbClr val="6DA3DB"/>
          </a:solidFill>
          <a:ln>
            <a:solidFill>
              <a:srgbClr val="6DA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>
                <a:solidFill>
                  <a:srgbClr val="141414"/>
                </a:solidFill>
              </a:rPr>
              <a:t>20</a:t>
            </a:r>
          </a:p>
        </p:txBody>
      </p:sp>
      <p:sp>
        <p:nvSpPr>
          <p:cNvPr id="20" name="Rounded Rectangle 17">
            <a:extLst>
              <a:ext uri="{FF2B5EF4-FFF2-40B4-BE49-F238E27FC236}">
                <a16:creationId xmlns:a16="http://schemas.microsoft.com/office/drawing/2014/main" id="{53E2EC9C-0D14-C253-6DF1-B85AA3496DF2}"/>
              </a:ext>
            </a:extLst>
          </p:cNvPr>
          <p:cNvSpPr/>
          <p:nvPr/>
        </p:nvSpPr>
        <p:spPr>
          <a:xfrm>
            <a:off x="5760720" y="3128010"/>
            <a:ext cx="3331210" cy="502920"/>
          </a:xfrm>
          <a:prstGeom prst="roundRect">
            <a:avLst/>
          </a:prstGeom>
          <a:solidFill>
            <a:srgbClr val="8EC991"/>
          </a:solidFill>
          <a:ln>
            <a:solidFill>
              <a:srgbClr val="8EC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>
                <a:solidFill>
                  <a:srgbClr val="141414"/>
                </a:solidFill>
              </a:rPr>
              <a:t>−9</a:t>
            </a:r>
          </a:p>
        </p:txBody>
      </p:sp>
      <p:sp>
        <p:nvSpPr>
          <p:cNvPr id="21" name="Rounded Rectangle 18">
            <a:extLst>
              <a:ext uri="{FF2B5EF4-FFF2-40B4-BE49-F238E27FC236}">
                <a16:creationId xmlns:a16="http://schemas.microsoft.com/office/drawing/2014/main" id="{29C8F16C-51C3-FADE-C774-94402A781A91}"/>
              </a:ext>
            </a:extLst>
          </p:cNvPr>
          <p:cNvSpPr/>
          <p:nvPr/>
        </p:nvSpPr>
        <p:spPr>
          <a:xfrm>
            <a:off x="777240" y="3897630"/>
            <a:ext cx="7955279" cy="822960"/>
          </a:xfrm>
          <a:prstGeom prst="roundRect">
            <a:avLst/>
          </a:prstGeom>
          <a:solidFill>
            <a:srgbClr val="F5BE3B"/>
          </a:solidFill>
          <a:ln>
            <a:solidFill>
              <a:srgbClr val="F5B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400" b="1">
                <a:solidFill>
                  <a:srgbClr val="141414"/>
                </a:solidFill>
              </a:rPr>
              <a:t>g-computation average = (−5 − 7 − 9)/3 = −7</a:t>
            </a:r>
          </a:p>
        </p:txBody>
      </p:sp>
    </p:spTree>
    <p:extLst>
      <p:ext uri="{BB962C8B-B14F-4D97-AF65-F5344CB8AC3E}">
        <p14:creationId xmlns:p14="http://schemas.microsoft.com/office/powerpoint/2010/main" val="236260896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7AD3E-F6FD-79A5-6016-9496571D6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E6459A-787C-B99E-3BA6-618EADDD9BA9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Simple Illustration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6E56F70-ECEE-7257-62E6-2DA059A14E5C}"/>
                  </a:ext>
                </a:extLst>
              </p:cNvPr>
              <p:cNvSpPr txBox="1"/>
              <p:nvPr/>
            </p:nvSpPr>
            <p:spPr>
              <a:xfrm>
                <a:off x="340360" y="1228090"/>
                <a:ext cx="4688840" cy="30543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1000"/>
                  </a:spcAft>
                </a:pPr>
                <a:r>
                  <a:rPr sz="2400" dirty="0">
                    <a:solidFill>
                      <a:srgbClr val="F5F5F5"/>
                    </a:solidFill>
                  </a:rPr>
                  <a:t>Suppose the study population has mean age 65.</a:t>
                </a:r>
              </a:p>
              <a:p>
                <a:pPr>
                  <a:spcAft>
                    <a:spcPts val="1000"/>
                  </a:spcAft>
                </a:pPr>
                <a:r>
                  <a:rPr sz="2400" dirty="0">
                    <a:solidFill>
                      <a:srgbClr val="F5F5F5"/>
                    </a:solidFill>
                  </a:rPr>
                  <a:t>Then mean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 = 65 − 50 = 15</m:t>
                    </m:r>
                  </m:oMath>
                </a14:m>
                <a:r>
                  <a:rPr sz="2400" dirty="0">
                    <a:solidFill>
                      <a:srgbClr val="F5F5F5"/>
                    </a:solidFill>
                  </a:rPr>
                  <a:t>.</a:t>
                </a:r>
              </a:p>
              <a:p>
                <a:pPr>
                  <a:spcAft>
                    <a:spcPts val="1000"/>
                  </a:spcAft>
                </a:pPr>
                <a:r>
                  <a:rPr sz="2400" dirty="0">
                    <a:solidFill>
                      <a:srgbClr val="F5F5F5"/>
                    </a:solidFill>
                  </a:rPr>
                  <a:t>Average model-based treatment effect:</a:t>
                </a:r>
              </a:p>
              <a:p>
                <a:pPr>
                  <a:spcAft>
                    <a:spcPts val="1000"/>
                  </a:spcAft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𝐴𝑇𝐸</m:t>
                    </m:r>
                    <m:r>
                      <a:rPr lang="en-US" sz="24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[−5 − 0.2</m:t>
                    </m:r>
                    <m:r>
                      <a:rPr lang="en-US" sz="24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] = −5 − 0.2</m:t>
                    </m:r>
                    <m:r>
                      <a:rPr lang="en-US" sz="24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] = −5 − 0.2(15) = −8</m:t>
                    </m:r>
                  </m:oMath>
                </a14:m>
                <a:r>
                  <a:rPr sz="2400" dirty="0">
                    <a:solidFill>
                      <a:srgbClr val="F5F5F5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6E56F70-ECEE-7257-62E6-2DA059A14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60" y="1228090"/>
                <a:ext cx="4688840" cy="3054362"/>
              </a:xfrm>
              <a:prstGeom prst="rect">
                <a:avLst/>
              </a:prstGeom>
              <a:blipFill>
                <a:blip r:embed="rId2"/>
                <a:stretch>
                  <a:fillRect l="-2081" t="-1394" r="-1951" b="-3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874AA83-E757-2B3A-2EA4-26C83A8A4CA6}"/>
              </a:ext>
            </a:extLst>
          </p:cNvPr>
          <p:cNvSpPr/>
          <p:nvPr/>
        </p:nvSpPr>
        <p:spPr>
          <a:xfrm>
            <a:off x="5029200" y="1303020"/>
            <a:ext cx="4114800" cy="868680"/>
          </a:xfrm>
          <a:prstGeom prst="roundRect">
            <a:avLst/>
          </a:prstGeom>
          <a:solidFill>
            <a:srgbClr val="E88C8C"/>
          </a:solidFill>
          <a:ln>
            <a:solidFill>
              <a:srgbClr val="E8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400" b="1">
                <a:solidFill>
                  <a:srgbClr val="141414"/>
                </a:solidFill>
              </a:rPr>
              <a:t>Regression coefficient of T = −5</a:t>
            </a:r>
          </a:p>
        </p:txBody>
      </p:sp>
      <p:sp>
        <p:nvSpPr>
          <p:cNvPr id="22" name="Rounded Rectangle 4">
            <a:extLst>
              <a:ext uri="{FF2B5EF4-FFF2-40B4-BE49-F238E27FC236}">
                <a16:creationId xmlns:a16="http://schemas.microsoft.com/office/drawing/2014/main" id="{31BB4ED2-12D6-A277-74CA-8C54826E51F5}"/>
              </a:ext>
            </a:extLst>
          </p:cNvPr>
          <p:cNvSpPr/>
          <p:nvPr/>
        </p:nvSpPr>
        <p:spPr>
          <a:xfrm>
            <a:off x="5029200" y="2400300"/>
            <a:ext cx="4114800" cy="868680"/>
          </a:xfrm>
          <a:prstGeom prst="roundRect">
            <a:avLst/>
          </a:prstGeom>
          <a:solidFill>
            <a:srgbClr val="F5BE3B"/>
          </a:solidFill>
          <a:ln>
            <a:solidFill>
              <a:srgbClr val="F5B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400" b="1">
                <a:solidFill>
                  <a:srgbClr val="141414"/>
                </a:solidFill>
              </a:rPr>
              <a:t>g-computation ATE = −8</a:t>
            </a:r>
          </a:p>
        </p:txBody>
      </p:sp>
      <p:sp>
        <p:nvSpPr>
          <p:cNvPr id="23" name="TextBox 5">
            <a:extLst>
              <a:ext uri="{FF2B5EF4-FFF2-40B4-BE49-F238E27FC236}">
                <a16:creationId xmlns:a16="http://schemas.microsoft.com/office/drawing/2014/main" id="{F1CEDE5A-5A7C-747B-0911-9F305516F486}"/>
              </a:ext>
            </a:extLst>
          </p:cNvPr>
          <p:cNvSpPr txBox="1"/>
          <p:nvPr/>
        </p:nvSpPr>
        <p:spPr>
          <a:xfrm>
            <a:off x="4921250" y="3797299"/>
            <a:ext cx="4178300" cy="76200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200" b="1" dirty="0">
                <a:solidFill>
                  <a:srgbClr val="F5F5F5"/>
                </a:solidFill>
              </a:rPr>
              <a:t>These differ because treatment effect varies with X.</a:t>
            </a:r>
          </a:p>
        </p:txBody>
      </p:sp>
    </p:spTree>
    <p:extLst>
      <p:ext uri="{BB962C8B-B14F-4D97-AF65-F5344CB8AC3E}">
        <p14:creationId xmlns:p14="http://schemas.microsoft.com/office/powerpoint/2010/main" val="78340123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31032-D91D-C838-8498-34E7BA752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11BD7B-8A57-CD11-AE35-7BBC50C28CE0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g-computation vs regression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9BC09541-E8CA-B9D0-D309-6CF44B5E9669}"/>
              </a:ext>
            </a:extLst>
          </p:cNvPr>
          <p:cNvSpPr txBox="1"/>
          <p:nvPr/>
        </p:nvSpPr>
        <p:spPr>
          <a:xfrm>
            <a:off x="82550" y="763647"/>
            <a:ext cx="8978900" cy="337528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</a:pPr>
            <a:r>
              <a:rPr sz="2000" dirty="0">
                <a:solidFill>
                  <a:srgbClr val="F5F5F5"/>
                </a:solidFill>
              </a:rPr>
              <a:t>Regression coefficient of T is a conditional effect tied to the chosen parameterization.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F5F5F5"/>
                </a:solidFill>
              </a:rPr>
              <a:t>g-computation targets a marginal causal estimand: average over the covariate distribution.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F5F5F5"/>
                </a:solidFill>
              </a:rPr>
              <a:t>They are equal in special cases, especially a simple additive linear model with no interaction.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F5F5F5"/>
                </a:solidFill>
              </a:rPr>
              <a:t>They generally differ with interactions, nonlinear models, logistic regression, splines, or machine learning.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F5F5F5"/>
                </a:solidFill>
              </a:rPr>
              <a:t>Therefore: g-computation is NOT “just the T coefficient”.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36CF2CD9-EFEB-E8CD-7911-F8E3C7F41AD2}"/>
              </a:ext>
            </a:extLst>
          </p:cNvPr>
          <p:cNvSpPr/>
          <p:nvPr/>
        </p:nvSpPr>
        <p:spPr>
          <a:xfrm>
            <a:off x="82550" y="4138930"/>
            <a:ext cx="8978900" cy="918189"/>
          </a:xfrm>
          <a:prstGeom prst="roundRect">
            <a:avLst/>
          </a:prstGeom>
          <a:solidFill>
            <a:srgbClr val="8EC991"/>
          </a:solidFill>
          <a:ln>
            <a:solidFill>
              <a:srgbClr val="8EC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 dirty="0">
                <a:solidFill>
                  <a:srgbClr val="141414"/>
                </a:solidFill>
              </a:rPr>
              <a:t>regression = model
g-computation = model + counterfactual prediction + averaging</a:t>
            </a:r>
          </a:p>
        </p:txBody>
      </p:sp>
    </p:spTree>
    <p:extLst>
      <p:ext uri="{BB962C8B-B14F-4D97-AF65-F5344CB8AC3E}">
        <p14:creationId xmlns:p14="http://schemas.microsoft.com/office/powerpoint/2010/main" val="329905692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0981B-8BB0-2A95-7AC4-E9C430EF4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94F467-23CB-162B-6E23-F26D0A8931BD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Short R workflow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AABF6F5-886F-75A6-6764-6F07AD3F1995}"/>
              </a:ext>
            </a:extLst>
          </p:cNvPr>
          <p:cNvSpPr/>
          <p:nvPr/>
        </p:nvSpPr>
        <p:spPr>
          <a:xfrm>
            <a:off x="214762" y="844550"/>
            <a:ext cx="8643620" cy="2840990"/>
          </a:xfrm>
          <a:prstGeom prst="roundRect">
            <a:avLst/>
          </a:prstGeom>
          <a:solidFill>
            <a:srgbClr val="232A3A"/>
          </a:solidFill>
          <a:ln>
            <a:solidFill>
              <a:srgbClr val="23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200" dirty="0">
                <a:solidFill>
                  <a:srgbClr val="F5F5F5"/>
                </a:solidFill>
                <a:latin typeface="Consolas" panose="020B0609020204030204" pitchFamily="49" charset="0"/>
              </a:rPr>
              <a:t>fit &lt;- lm(Y ~ T * X, data = dat)
dat1 &lt;- transform(dat, T = 1)
dat0 &lt;- transform(dat, T = 0)
y1hat &lt;- predict(fit, newdata = dat1)
y0hat &lt;- predict(fit, newdata = dat0)
ate_g &lt;- mean(y1hat - y0hat)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6C1ACFD2-3830-ABB8-4ADD-9FD2389B0764}"/>
              </a:ext>
            </a:extLst>
          </p:cNvPr>
          <p:cNvSpPr txBox="1"/>
          <p:nvPr/>
        </p:nvSpPr>
        <p:spPr>
          <a:xfrm>
            <a:off x="368402" y="3787141"/>
            <a:ext cx="8407195" cy="114390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</a:pPr>
            <a:r>
              <a:rPr sz="2000" dirty="0">
                <a:solidFill>
                  <a:srgbClr val="F5F5F5"/>
                </a:solidFill>
              </a:rPr>
              <a:t>Notice: we </a:t>
            </a:r>
            <a:r>
              <a:rPr lang="en-US" sz="2000" dirty="0">
                <a:solidFill>
                  <a:srgbClr val="F5F5F5"/>
                </a:solidFill>
              </a:rPr>
              <a:t>didn’t</a:t>
            </a:r>
            <a:r>
              <a:rPr sz="2000" dirty="0">
                <a:solidFill>
                  <a:srgbClr val="F5F5F5"/>
                </a:solidFill>
              </a:rPr>
              <a:t> use coef(fit)["T"] as the ATE.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F5F5F5"/>
                </a:solidFill>
              </a:rPr>
              <a:t>We predicted both counterfactual outcomes for everyone and then averaged.</a:t>
            </a:r>
          </a:p>
        </p:txBody>
      </p:sp>
    </p:spTree>
    <p:extLst>
      <p:ext uri="{BB962C8B-B14F-4D97-AF65-F5344CB8AC3E}">
        <p14:creationId xmlns:p14="http://schemas.microsoft.com/office/powerpoint/2010/main" val="293491732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DAC7D-CE69-4797-9141-D38D8467B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AF0F5C-1CEF-DB34-D54C-C9135694EC24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Structural Causal Models (SCM)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2039FE-5BEF-DDB5-0324-EF05E8895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698" y="881736"/>
            <a:ext cx="6733194" cy="411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16093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090EE-66E4-1BA9-5F69-F1B208934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7CB232-C451-C57F-EAE2-B60495A9C3BC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Structural Causal Models (SCM)</a:t>
            </a: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134E01F2-6E5B-A917-3086-9302C9A523BE}"/>
              </a:ext>
            </a:extLst>
          </p:cNvPr>
          <p:cNvSpPr/>
          <p:nvPr/>
        </p:nvSpPr>
        <p:spPr>
          <a:xfrm>
            <a:off x="814648" y="2010641"/>
            <a:ext cx="3383280" cy="914400"/>
          </a:xfrm>
          <a:prstGeom prst="roundRect">
            <a:avLst/>
          </a:prstGeom>
          <a:solidFill>
            <a:srgbClr val="222427"/>
          </a:solidFill>
          <a:ln w="19050">
            <a:solidFill>
              <a:srgbClr val="70A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2300" b="1">
                <a:solidFill>
                  <a:srgbClr val="70ACE8"/>
                </a:solidFill>
                <a:latin typeface="Arial"/>
              </a:rPr>
              <a:t>DAG = causal map</a:t>
            </a:r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EC6C95D9-DC7D-6262-4792-462E669AD533}"/>
              </a:ext>
            </a:extLst>
          </p:cNvPr>
          <p:cNvSpPr/>
          <p:nvPr/>
        </p:nvSpPr>
        <p:spPr>
          <a:xfrm>
            <a:off x="4655128" y="2010641"/>
            <a:ext cx="3749039" cy="914400"/>
          </a:xfrm>
          <a:prstGeom prst="roundRect">
            <a:avLst/>
          </a:prstGeom>
          <a:solidFill>
            <a:srgbClr val="222427"/>
          </a:solidFill>
          <a:ln w="19050">
            <a:solidFill>
              <a:srgbClr val="78C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2200" b="1">
                <a:solidFill>
                  <a:srgbClr val="78C28C"/>
                </a:solidFill>
                <a:latin typeface="Arial"/>
              </a:rPr>
              <a:t>SCM = causal map + generating rules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3EA70916-4519-325B-930D-1FEB086FAA27}"/>
              </a:ext>
            </a:extLst>
          </p:cNvPr>
          <p:cNvSpPr txBox="1"/>
          <p:nvPr/>
        </p:nvSpPr>
        <p:spPr>
          <a:xfrm>
            <a:off x="1009997" y="1312926"/>
            <a:ext cx="7955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sz="1600" dirty="0">
                <a:solidFill>
                  <a:srgbClr val="70ACE8"/>
                </a:solidFill>
                <a:latin typeface="Arial"/>
              </a:rPr>
              <a:t>From a causal picture to a model of how the world generates variables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E135F326-C768-288B-5E0A-E5A929A9DAC2}"/>
              </a:ext>
            </a:extLst>
          </p:cNvPr>
          <p:cNvSpPr txBox="1"/>
          <p:nvPr/>
        </p:nvSpPr>
        <p:spPr>
          <a:xfrm>
            <a:off x="814648" y="3554037"/>
            <a:ext cx="731520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200" b="1" dirty="0">
                <a:solidFill>
                  <a:srgbClr val="F5F5F5"/>
                </a:solidFill>
                <a:latin typeface="Arial"/>
              </a:rPr>
              <a:t>We </a:t>
            </a:r>
            <a:r>
              <a:rPr sz="2200" b="1" dirty="0">
                <a:solidFill>
                  <a:srgbClr val="F5F5F5"/>
                </a:solidFill>
                <a:latin typeface="Arial"/>
              </a:rPr>
              <a:t>will learn how to represent an intervention such as “force treatment = 1.”</a:t>
            </a:r>
          </a:p>
        </p:txBody>
      </p:sp>
    </p:spTree>
    <p:extLst>
      <p:ext uri="{BB962C8B-B14F-4D97-AF65-F5344CB8AC3E}">
        <p14:creationId xmlns:p14="http://schemas.microsoft.com/office/powerpoint/2010/main" val="137847753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339C3-79DB-309B-577A-D15F2C8E3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44120F-1792-A4C0-CE54-3FD098864140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Structural Causal Models (SCM)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214DE3-5E6F-67FC-27EB-16D0904254D2}"/>
              </a:ext>
            </a:extLst>
          </p:cNvPr>
          <p:cNvSpPr txBox="1"/>
          <p:nvPr/>
        </p:nvSpPr>
        <p:spPr>
          <a:xfrm>
            <a:off x="423949" y="1277042"/>
            <a:ext cx="384048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2000" b="1" dirty="0">
                <a:solidFill>
                  <a:srgbClr val="70ACE8"/>
                </a:solidFill>
                <a:latin typeface="Arial"/>
              </a:rPr>
              <a:t>A DAG already tells us: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AC72BD-7999-6A86-D634-10D4B543E0D6}"/>
              </a:ext>
            </a:extLst>
          </p:cNvPr>
          <p:cNvSpPr txBox="1"/>
          <p:nvPr/>
        </p:nvSpPr>
        <p:spPr>
          <a:xfrm>
            <a:off x="515389" y="1688523"/>
            <a:ext cx="3840480" cy="1477328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 sz="1800">
                <a:solidFill>
                  <a:srgbClr val="F5F5F5"/>
                </a:solidFill>
                <a:latin typeface="Arial"/>
              </a:defRPr>
            </a:pPr>
            <a:r>
              <a:rPr dirty="0"/>
              <a:t>which variables directly cause which</a:t>
            </a:r>
            <a:r>
              <a:rPr lang="en-US" dirty="0"/>
              <a:t>.</a:t>
            </a:r>
            <a:endParaRPr dirty="0"/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 sz="1800">
                <a:solidFill>
                  <a:srgbClr val="F5F5F5"/>
                </a:solidFill>
                <a:latin typeface="Arial"/>
              </a:defRPr>
            </a:pPr>
            <a:r>
              <a:rPr dirty="0"/>
              <a:t>which paths are causal or noncausal</a:t>
            </a:r>
            <a:r>
              <a:rPr lang="en-US" dirty="0"/>
              <a:t>.</a:t>
            </a:r>
            <a:endParaRPr dirty="0"/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 sz="1800">
                <a:solidFill>
                  <a:srgbClr val="F5F5F5"/>
                </a:solidFill>
                <a:latin typeface="Arial"/>
              </a:defRPr>
            </a:pPr>
            <a:r>
              <a:rPr dirty="0"/>
              <a:t>what we may need to adjust for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53FCE9-73BE-28DB-5155-B1BB2EF7150A}"/>
              </a:ext>
            </a:extLst>
          </p:cNvPr>
          <p:cNvSpPr txBox="1"/>
          <p:nvPr/>
        </p:nvSpPr>
        <p:spPr>
          <a:xfrm>
            <a:off x="4584469" y="1277042"/>
            <a:ext cx="402137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2000" b="1" dirty="0">
                <a:solidFill>
                  <a:srgbClr val="78C28C"/>
                </a:solidFill>
                <a:latin typeface="Arial"/>
              </a:rPr>
              <a:t>SCM adds something new: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75E5FD-2EF0-641E-BF2A-490DCE2454E4}"/>
              </a:ext>
            </a:extLst>
          </p:cNvPr>
          <p:cNvSpPr txBox="1"/>
          <p:nvPr/>
        </p:nvSpPr>
        <p:spPr>
          <a:xfrm>
            <a:off x="4675909" y="1688522"/>
            <a:ext cx="3920836" cy="1477328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 sz="1800">
                <a:solidFill>
                  <a:srgbClr val="F5F5F5"/>
                </a:solidFill>
                <a:latin typeface="Arial"/>
              </a:defRPr>
            </a:pPr>
            <a:r>
              <a:rPr dirty="0"/>
              <a:t>a rule for how each variable is generated</a:t>
            </a:r>
            <a:r>
              <a:rPr lang="en-US" dirty="0"/>
              <a:t>.</a:t>
            </a:r>
            <a:endParaRPr dirty="0"/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 sz="1800">
                <a:solidFill>
                  <a:srgbClr val="F5F5F5"/>
                </a:solidFill>
                <a:latin typeface="Arial"/>
              </a:defRPr>
            </a:pPr>
            <a:r>
              <a:rPr dirty="0"/>
              <a:t>a precise meaning for “intervene”</a:t>
            </a:r>
            <a:r>
              <a:rPr lang="en-US" dirty="0"/>
              <a:t>.</a:t>
            </a:r>
            <a:endParaRPr dirty="0"/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 sz="1800">
                <a:solidFill>
                  <a:srgbClr val="F5F5F5"/>
                </a:solidFill>
                <a:latin typeface="Arial"/>
              </a:defRPr>
            </a:pPr>
            <a:r>
              <a:rPr dirty="0"/>
              <a:t>a way to define the same person under different treatment choices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942B7E6-D15A-77A9-2B90-33B173713105}"/>
              </a:ext>
            </a:extLst>
          </p:cNvPr>
          <p:cNvSpPr/>
          <p:nvPr/>
        </p:nvSpPr>
        <p:spPr>
          <a:xfrm>
            <a:off x="620657" y="3842470"/>
            <a:ext cx="7602015" cy="690303"/>
          </a:xfrm>
          <a:prstGeom prst="roundRect">
            <a:avLst/>
          </a:prstGeom>
          <a:solidFill>
            <a:srgbClr val="222427"/>
          </a:solidFill>
          <a:ln w="19050">
            <a:solidFill>
              <a:srgbClr val="FDB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1900" b="1">
                <a:solidFill>
                  <a:srgbClr val="FDBB30"/>
                </a:solidFill>
                <a:latin typeface="Arial"/>
              </a:rPr>
              <a:t>SCM makes “what if we changed T?” mathematically precise.</a:t>
            </a:r>
          </a:p>
        </p:txBody>
      </p:sp>
    </p:spTree>
    <p:extLst>
      <p:ext uri="{BB962C8B-B14F-4D97-AF65-F5344CB8AC3E}">
        <p14:creationId xmlns:p14="http://schemas.microsoft.com/office/powerpoint/2010/main" val="227975990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0194B-E79F-87A6-188D-4F38FB091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4AA719-63F5-A12C-A386-2A249D3D329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Example 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6080FACE-595C-E595-8853-46FF292A448E}"/>
              </a:ext>
            </a:extLst>
          </p:cNvPr>
          <p:cNvSpPr txBox="1"/>
          <p:nvPr/>
        </p:nvSpPr>
        <p:spPr>
          <a:xfrm>
            <a:off x="116378" y="1141406"/>
            <a:ext cx="1733204" cy="677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1900" b="1" dirty="0">
                <a:solidFill>
                  <a:srgbClr val="F6B62F"/>
                </a:solidFill>
                <a:latin typeface="Arial"/>
              </a:rPr>
              <a:t>Clinical question: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C09A8974-C63E-1B1D-3F5F-0EB137568B31}"/>
              </a:ext>
            </a:extLst>
          </p:cNvPr>
          <p:cNvSpPr txBox="1"/>
          <p:nvPr/>
        </p:nvSpPr>
        <p:spPr>
          <a:xfrm>
            <a:off x="1432560" y="1112103"/>
            <a:ext cx="759506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2400" b="1" dirty="0">
                <a:solidFill>
                  <a:srgbClr val="F5F5F5"/>
                </a:solidFill>
                <a:latin typeface="Arial"/>
              </a:rPr>
              <a:t>Does an intensive blood-pressure treatment lower systolic BP after 3 months?</a:t>
            </a:r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F494FFC0-A075-C36E-EB81-C11713AEC6BD}"/>
              </a:ext>
            </a:extLst>
          </p:cNvPr>
          <p:cNvSpPr/>
          <p:nvPr/>
        </p:nvSpPr>
        <p:spPr>
          <a:xfrm>
            <a:off x="3194858" y="2297984"/>
            <a:ext cx="1051560" cy="658368"/>
          </a:xfrm>
          <a:prstGeom prst="roundRect">
            <a:avLst/>
          </a:prstGeom>
          <a:solidFill>
            <a:srgbClr val="191B1D"/>
          </a:solidFill>
          <a:ln w="21590">
            <a:solidFill>
              <a:srgbClr val="78C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2000" b="1">
                <a:solidFill>
                  <a:srgbClr val="F5F5F5"/>
                </a:solidFill>
                <a:latin typeface="Arial"/>
              </a:rPr>
              <a:t>C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FCAD6BFF-64E8-ECCD-4218-CCC2B45DFC81}"/>
              </a:ext>
            </a:extLst>
          </p:cNvPr>
          <p:cNvSpPr txBox="1"/>
          <p:nvPr/>
        </p:nvSpPr>
        <p:spPr>
          <a:xfrm>
            <a:off x="2783378" y="3047792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400" b="0">
                <a:solidFill>
                  <a:srgbClr val="C8CDD2"/>
                </a:solidFill>
                <a:latin typeface="Arial"/>
              </a:rPr>
              <a:t>baseline severity</a:t>
            </a:r>
          </a:p>
        </p:txBody>
      </p:sp>
      <p:sp>
        <p:nvSpPr>
          <p:cNvPr id="12" name="Rounded Rectangle 6">
            <a:extLst>
              <a:ext uri="{FF2B5EF4-FFF2-40B4-BE49-F238E27FC236}">
                <a16:creationId xmlns:a16="http://schemas.microsoft.com/office/drawing/2014/main" id="{0CA98CCC-39D6-27FB-F1B2-4635CC8BB6CB}"/>
              </a:ext>
            </a:extLst>
          </p:cNvPr>
          <p:cNvSpPr/>
          <p:nvPr/>
        </p:nvSpPr>
        <p:spPr>
          <a:xfrm>
            <a:off x="1030085" y="3373029"/>
            <a:ext cx="1051560" cy="658368"/>
          </a:xfrm>
          <a:prstGeom prst="roundRect">
            <a:avLst/>
          </a:prstGeom>
          <a:solidFill>
            <a:srgbClr val="191B1D"/>
          </a:solidFill>
          <a:ln w="21590">
            <a:solidFill>
              <a:srgbClr val="70A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2000" b="1">
                <a:solidFill>
                  <a:srgbClr val="F5F5F5"/>
                </a:solidFill>
                <a:latin typeface="Arial"/>
              </a:rPr>
              <a:t>T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4B46C2DD-B51B-7221-7228-8A6D7360B64A}"/>
              </a:ext>
            </a:extLst>
          </p:cNvPr>
          <p:cNvSpPr txBox="1"/>
          <p:nvPr/>
        </p:nvSpPr>
        <p:spPr>
          <a:xfrm>
            <a:off x="664325" y="4122837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400" b="0">
                <a:solidFill>
                  <a:srgbClr val="C8CDD2"/>
                </a:solidFill>
                <a:latin typeface="Arial"/>
              </a:rPr>
              <a:t>treatment</a:t>
            </a:r>
          </a:p>
        </p:txBody>
      </p:sp>
      <p:sp>
        <p:nvSpPr>
          <p:cNvPr id="14" name="Rounded Rectangle 8">
            <a:extLst>
              <a:ext uri="{FF2B5EF4-FFF2-40B4-BE49-F238E27FC236}">
                <a16:creationId xmlns:a16="http://schemas.microsoft.com/office/drawing/2014/main" id="{44D2911F-9071-360B-9BC5-DB0028AFA493}"/>
              </a:ext>
            </a:extLst>
          </p:cNvPr>
          <p:cNvSpPr/>
          <p:nvPr/>
        </p:nvSpPr>
        <p:spPr>
          <a:xfrm>
            <a:off x="5866707" y="3373029"/>
            <a:ext cx="1051560" cy="658368"/>
          </a:xfrm>
          <a:prstGeom prst="roundRect">
            <a:avLst/>
          </a:prstGeom>
          <a:solidFill>
            <a:srgbClr val="191B1D"/>
          </a:solidFill>
          <a:ln w="21590">
            <a:solidFill>
              <a:srgbClr val="F6B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2000" b="1">
                <a:solidFill>
                  <a:srgbClr val="F5F5F5"/>
                </a:solidFill>
                <a:latin typeface="Arial"/>
              </a:rPr>
              <a:t>Y</a:t>
            </a: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101D8F2D-FF95-15E0-CBF5-2A1B57E84434}"/>
              </a:ext>
            </a:extLst>
          </p:cNvPr>
          <p:cNvSpPr txBox="1"/>
          <p:nvPr/>
        </p:nvSpPr>
        <p:spPr>
          <a:xfrm>
            <a:off x="5500947" y="4122837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400" b="0">
                <a:solidFill>
                  <a:srgbClr val="C8CDD2"/>
                </a:solidFill>
                <a:latin typeface="Arial"/>
              </a:rPr>
              <a:t>3-month BP</a:t>
            </a:r>
          </a:p>
        </p:txBody>
      </p:sp>
      <p:cxnSp>
        <p:nvCxnSpPr>
          <p:cNvPr id="16" name="Connector 11">
            <a:extLst>
              <a:ext uri="{FF2B5EF4-FFF2-40B4-BE49-F238E27FC236}">
                <a16:creationId xmlns:a16="http://schemas.microsoft.com/office/drawing/2014/main" id="{E0FB54AB-5AD3-847D-881C-1C5C0A0B373E}"/>
              </a:ext>
            </a:extLst>
          </p:cNvPr>
          <p:cNvCxnSpPr>
            <a:cxnSpLocks/>
            <a:stCxn id="12" idx="3"/>
            <a:endCxn id="10" idx="1"/>
          </p:cNvCxnSpPr>
          <p:nvPr/>
        </p:nvCxnSpPr>
        <p:spPr>
          <a:xfrm flipV="1">
            <a:off x="2081645" y="2627168"/>
            <a:ext cx="1113213" cy="1075045"/>
          </a:xfrm>
          <a:prstGeom prst="line">
            <a:avLst/>
          </a:prstGeom>
          <a:ln w="27940">
            <a:solidFill>
              <a:srgbClr val="70ACE8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1">
            <a:extLst>
              <a:ext uri="{FF2B5EF4-FFF2-40B4-BE49-F238E27FC236}">
                <a16:creationId xmlns:a16="http://schemas.microsoft.com/office/drawing/2014/main" id="{5A2DECBB-B2F4-F98A-ADBE-F0BFE58FBF72}"/>
              </a:ext>
            </a:extLst>
          </p:cNvPr>
          <p:cNvCxnSpPr>
            <a:cxnSpLocks/>
            <a:stCxn id="14" idx="1"/>
            <a:endCxn id="10" idx="3"/>
          </p:cNvCxnSpPr>
          <p:nvPr/>
        </p:nvCxnSpPr>
        <p:spPr>
          <a:xfrm flipH="1" flipV="1">
            <a:off x="4246418" y="2627168"/>
            <a:ext cx="1620289" cy="1075045"/>
          </a:xfrm>
          <a:prstGeom prst="line">
            <a:avLst/>
          </a:prstGeom>
          <a:ln w="27940">
            <a:solidFill>
              <a:srgbClr val="70ACE8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11">
            <a:extLst>
              <a:ext uri="{FF2B5EF4-FFF2-40B4-BE49-F238E27FC236}">
                <a16:creationId xmlns:a16="http://schemas.microsoft.com/office/drawing/2014/main" id="{AC607359-F2CA-021B-18EA-E7C946EEAB75}"/>
              </a:ext>
            </a:extLst>
          </p:cNvPr>
          <p:cNvCxnSpPr>
            <a:cxnSpLocks/>
          </p:cNvCxnSpPr>
          <p:nvPr/>
        </p:nvCxnSpPr>
        <p:spPr>
          <a:xfrm flipH="1">
            <a:off x="2081645" y="3834176"/>
            <a:ext cx="3785062" cy="12367"/>
          </a:xfrm>
          <a:prstGeom prst="line">
            <a:avLst/>
          </a:prstGeom>
          <a:ln w="27940">
            <a:solidFill>
              <a:srgbClr val="70ACE8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32322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20ABC-6599-C447-AAD0-99CA62656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D18BED-CB6D-C00D-C5EA-DCEB7D271B70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Example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214F1F-7A0B-C7F0-EEBA-AE19224A8E15}"/>
              </a:ext>
            </a:extLst>
          </p:cNvPr>
          <p:cNvSpPr txBox="1"/>
          <p:nvPr/>
        </p:nvSpPr>
        <p:spPr>
          <a:xfrm>
            <a:off x="971203" y="1258477"/>
            <a:ext cx="2011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2800" b="0">
                <a:solidFill>
                  <a:srgbClr val="78C28C"/>
                </a:solidFill>
                <a:latin typeface="Cambria Math"/>
              </a:rPr>
              <a:t>C  →  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381AEA-12FF-82AF-E4B3-E79923C1B023}"/>
              </a:ext>
            </a:extLst>
          </p:cNvPr>
          <p:cNvSpPr txBox="1"/>
          <p:nvPr/>
        </p:nvSpPr>
        <p:spPr>
          <a:xfrm>
            <a:off x="2982883" y="1258477"/>
            <a:ext cx="5212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1900" b="0">
                <a:solidFill>
                  <a:srgbClr val="F5F5F5"/>
                </a:solidFill>
                <a:latin typeface="Arial"/>
              </a:rPr>
              <a:t>Baseline severity can influence which treatment is chosen.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594AEB-9324-F2F3-C10E-8B9CA568B3F6}"/>
              </a:ext>
            </a:extLst>
          </p:cNvPr>
          <p:cNvSpPr txBox="1"/>
          <p:nvPr/>
        </p:nvSpPr>
        <p:spPr>
          <a:xfrm>
            <a:off x="971203" y="2218597"/>
            <a:ext cx="2011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2800" b="0">
                <a:solidFill>
                  <a:srgbClr val="78C28C"/>
                </a:solidFill>
                <a:latin typeface="Cambria Math"/>
              </a:rPr>
              <a:t>C  →  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0A5C04-8A9A-ABF7-EC0F-A871B0E64512}"/>
              </a:ext>
            </a:extLst>
          </p:cNvPr>
          <p:cNvSpPr txBox="1"/>
          <p:nvPr/>
        </p:nvSpPr>
        <p:spPr>
          <a:xfrm>
            <a:off x="2982883" y="2218597"/>
            <a:ext cx="5212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1900" b="0">
                <a:solidFill>
                  <a:srgbClr val="F5F5F5"/>
                </a:solidFill>
                <a:latin typeface="Arial"/>
              </a:rPr>
              <a:t>Baseline severity can also influence the outcome.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A1CB23-6F1B-0592-B20F-73B6774E02C4}"/>
              </a:ext>
            </a:extLst>
          </p:cNvPr>
          <p:cNvSpPr txBox="1"/>
          <p:nvPr/>
        </p:nvSpPr>
        <p:spPr>
          <a:xfrm>
            <a:off x="971203" y="3178717"/>
            <a:ext cx="2011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2800" b="0">
                <a:solidFill>
                  <a:srgbClr val="70ACE8"/>
                </a:solidFill>
                <a:latin typeface="Cambria Math"/>
              </a:rPr>
              <a:t>T  →  Y</a:t>
            </a: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AF3AC813-6426-B6E7-DB76-A5DD163A5DDB}"/>
              </a:ext>
            </a:extLst>
          </p:cNvPr>
          <p:cNvSpPr txBox="1"/>
          <p:nvPr/>
        </p:nvSpPr>
        <p:spPr>
          <a:xfrm>
            <a:off x="2982883" y="3178717"/>
            <a:ext cx="5212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1900" b="0">
                <a:solidFill>
                  <a:srgbClr val="F5F5F5"/>
                </a:solidFill>
                <a:latin typeface="Arial"/>
              </a:rPr>
              <a:t>Treatment can causally change the outcome.</a:t>
            </a:r>
          </a:p>
        </p:txBody>
      </p:sp>
      <p:sp>
        <p:nvSpPr>
          <p:cNvPr id="18" name="Rounded Rectangle 8">
            <a:extLst>
              <a:ext uri="{FF2B5EF4-FFF2-40B4-BE49-F238E27FC236}">
                <a16:creationId xmlns:a16="http://schemas.microsoft.com/office/drawing/2014/main" id="{AA88343F-2F47-647F-7951-179984BE220D}"/>
              </a:ext>
            </a:extLst>
          </p:cNvPr>
          <p:cNvSpPr/>
          <p:nvPr/>
        </p:nvSpPr>
        <p:spPr>
          <a:xfrm>
            <a:off x="654098" y="4061251"/>
            <a:ext cx="8025775" cy="711639"/>
          </a:xfrm>
          <a:prstGeom prst="roundRect">
            <a:avLst/>
          </a:prstGeom>
          <a:solidFill>
            <a:srgbClr val="222427"/>
          </a:solidFill>
          <a:ln w="19050">
            <a:solidFill>
              <a:srgbClr val="FDB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1700" b="1" dirty="0">
                <a:solidFill>
                  <a:srgbClr val="FDBB30"/>
                </a:solidFill>
                <a:latin typeface="Arial"/>
              </a:rPr>
              <a:t>The DAG gives direction</a:t>
            </a:r>
            <a:r>
              <a:rPr lang="en-US" sz="1700" b="1" dirty="0">
                <a:solidFill>
                  <a:srgbClr val="FDBB30"/>
                </a:solidFill>
                <a:latin typeface="Arial"/>
              </a:rPr>
              <a:t>,</a:t>
            </a:r>
            <a:r>
              <a:rPr sz="1700" b="1" dirty="0">
                <a:solidFill>
                  <a:srgbClr val="FDBB30"/>
                </a:solidFill>
                <a:latin typeface="Arial"/>
              </a:rPr>
              <a:t> but not yet the actual rule for generating T or Y.</a:t>
            </a:r>
          </a:p>
        </p:txBody>
      </p:sp>
    </p:spTree>
    <p:extLst>
      <p:ext uri="{BB962C8B-B14F-4D97-AF65-F5344CB8AC3E}">
        <p14:creationId xmlns:p14="http://schemas.microsoft.com/office/powerpoint/2010/main" val="125490659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B6262-862F-0143-5881-7F913A910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F09E2B-93EE-905D-A6B5-5077BEE9EF6A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Example 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E9DC0B84-D43B-6E50-7755-3FD89BE694BF}"/>
              </a:ext>
            </a:extLst>
          </p:cNvPr>
          <p:cNvSpPr txBox="1"/>
          <p:nvPr/>
        </p:nvSpPr>
        <p:spPr>
          <a:xfrm>
            <a:off x="750916" y="1188235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2100" b="1">
                <a:solidFill>
                  <a:srgbClr val="F6B62F"/>
                </a:solidFill>
                <a:latin typeface="Arial"/>
              </a:rPr>
              <a:t>The graph does not tell us: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5293618C-D68E-23B2-6AB0-2B4ABD381DF0}"/>
              </a:ext>
            </a:extLst>
          </p:cNvPr>
          <p:cNvSpPr txBox="1"/>
          <p:nvPr/>
        </p:nvSpPr>
        <p:spPr>
          <a:xfrm>
            <a:off x="613756" y="1958290"/>
            <a:ext cx="7315200" cy="1631216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  <a:defRPr sz="1900">
                <a:solidFill>
                  <a:srgbClr val="F5F5F5"/>
                </a:solidFill>
                <a:latin typeface="Arial"/>
              </a:defRPr>
            </a:pPr>
            <a:r>
              <a:rPr sz="2000" dirty="0"/>
              <a:t>How strongly does severity affect treatment choice?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  <a:defRPr sz="1900">
                <a:solidFill>
                  <a:srgbClr val="F5F5F5"/>
                </a:solidFill>
                <a:latin typeface="Arial"/>
              </a:defRPr>
            </a:pPr>
            <a:r>
              <a:rPr sz="2000" dirty="0"/>
              <a:t>How strongly does treatment change blood pressure?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  <a:defRPr sz="1900">
                <a:solidFill>
                  <a:srgbClr val="F5F5F5"/>
                </a:solidFill>
                <a:latin typeface="Arial"/>
              </a:defRPr>
            </a:pPr>
            <a:r>
              <a:rPr sz="2000" dirty="0"/>
              <a:t>What other background factors affect treatment or outcome?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  <a:defRPr sz="1900">
                <a:solidFill>
                  <a:srgbClr val="F5F5F5"/>
                </a:solidFill>
                <a:latin typeface="Arial"/>
              </a:defRPr>
            </a:pPr>
            <a:r>
              <a:rPr sz="2000" dirty="0"/>
              <a:t>Exactly what should we change when we say “give treatment to everyone”?</a:t>
            </a:r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237E3816-DB4F-E25A-9EF2-454C9E3253AA}"/>
              </a:ext>
            </a:extLst>
          </p:cNvPr>
          <p:cNvSpPr/>
          <p:nvPr/>
        </p:nvSpPr>
        <p:spPr>
          <a:xfrm>
            <a:off x="1939636" y="4205755"/>
            <a:ext cx="5120640" cy="566928"/>
          </a:xfrm>
          <a:prstGeom prst="roundRect">
            <a:avLst/>
          </a:prstGeom>
          <a:solidFill>
            <a:srgbClr val="222427"/>
          </a:solidFill>
          <a:ln w="19050">
            <a:solidFill>
              <a:srgbClr val="78C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2000" b="1">
                <a:solidFill>
                  <a:srgbClr val="78C28C"/>
                </a:solidFill>
                <a:latin typeface="Arial"/>
              </a:rPr>
              <a:t>SCM supplies those generating rules.</a:t>
            </a:r>
          </a:p>
        </p:txBody>
      </p:sp>
    </p:spTree>
    <p:extLst>
      <p:ext uri="{BB962C8B-B14F-4D97-AF65-F5344CB8AC3E}">
        <p14:creationId xmlns:p14="http://schemas.microsoft.com/office/powerpoint/2010/main" val="71125759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AEF0F-5ADE-256D-C5C9-2A96BE213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C3753B-9C94-63A6-7B53-175BD57B24C1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SCM 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FCFF4BE-0595-F075-B450-4EE61AD2F9C4}"/>
              </a:ext>
            </a:extLst>
          </p:cNvPr>
          <p:cNvSpPr/>
          <p:nvPr/>
        </p:nvSpPr>
        <p:spPr>
          <a:xfrm>
            <a:off x="285618" y="1418359"/>
            <a:ext cx="2545080" cy="1474120"/>
          </a:xfrm>
          <a:prstGeom prst="roundRect">
            <a:avLst/>
          </a:prstGeom>
          <a:solidFill>
            <a:srgbClr val="24272A"/>
          </a:solidFill>
          <a:ln w="15240">
            <a:solidFill>
              <a:srgbClr val="78C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1800" b="1" dirty="0">
                <a:solidFill>
                  <a:srgbClr val="78C28C"/>
                </a:solidFill>
                <a:latin typeface="Arial"/>
              </a:rPr>
              <a:t>1</a:t>
            </a:r>
          </a:p>
          <a:p>
            <a:pPr algn="ctr"/>
            <a:r>
              <a:rPr sz="1700" dirty="0">
                <a:solidFill>
                  <a:srgbClr val="F5F5F5"/>
                </a:solidFill>
                <a:latin typeface="Arial"/>
              </a:rPr>
              <a:t>Generate baseline severity C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F0400A4B-0927-FFC3-D684-58B2C89F21E2}"/>
              </a:ext>
            </a:extLst>
          </p:cNvPr>
          <p:cNvSpPr/>
          <p:nvPr/>
        </p:nvSpPr>
        <p:spPr>
          <a:xfrm>
            <a:off x="3180895" y="1418359"/>
            <a:ext cx="2665780" cy="1474119"/>
          </a:xfrm>
          <a:prstGeom prst="roundRect">
            <a:avLst/>
          </a:prstGeom>
          <a:solidFill>
            <a:srgbClr val="24272A"/>
          </a:solidFill>
          <a:ln w="15240">
            <a:solidFill>
              <a:srgbClr val="70A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1800" b="1" dirty="0">
                <a:solidFill>
                  <a:srgbClr val="70ACE8"/>
                </a:solidFill>
                <a:latin typeface="Arial"/>
              </a:rPr>
              <a:t>2</a:t>
            </a:r>
          </a:p>
          <a:p>
            <a:pPr algn="ctr"/>
            <a:r>
              <a:rPr sz="1700" dirty="0">
                <a:solidFill>
                  <a:srgbClr val="F5F5F5"/>
                </a:solidFill>
                <a:latin typeface="Arial"/>
              </a:rPr>
              <a:t>Generate treatment T using C + other factors</a:t>
            </a:r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6760354F-5560-A6C6-C826-544AF6880C19}"/>
              </a:ext>
            </a:extLst>
          </p:cNvPr>
          <p:cNvSpPr/>
          <p:nvPr/>
        </p:nvSpPr>
        <p:spPr>
          <a:xfrm>
            <a:off x="5999018" y="1418358"/>
            <a:ext cx="2859364" cy="1474119"/>
          </a:xfrm>
          <a:prstGeom prst="roundRect">
            <a:avLst/>
          </a:prstGeom>
          <a:solidFill>
            <a:srgbClr val="24272A"/>
          </a:solidFill>
          <a:ln w="15240">
            <a:solidFill>
              <a:srgbClr val="F6B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1800" b="1" dirty="0">
                <a:solidFill>
                  <a:srgbClr val="F6B62F"/>
                </a:solidFill>
                <a:latin typeface="Arial"/>
              </a:rPr>
              <a:t>3</a:t>
            </a:r>
          </a:p>
          <a:p>
            <a:pPr algn="ctr"/>
            <a:r>
              <a:rPr sz="1700" dirty="0">
                <a:solidFill>
                  <a:srgbClr val="F5F5F5"/>
                </a:solidFill>
                <a:latin typeface="Arial"/>
              </a:rPr>
              <a:t>Generate outcome Y using T, C + other factors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03716F4-61D6-92A5-7389-825454DB7D9C}"/>
              </a:ext>
            </a:extLst>
          </p:cNvPr>
          <p:cNvSpPr txBox="1"/>
          <p:nvPr/>
        </p:nvSpPr>
        <p:spPr>
          <a:xfrm>
            <a:off x="412702" y="3957478"/>
            <a:ext cx="8567437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2000" b="1" dirty="0">
                <a:solidFill>
                  <a:srgbClr val="F5F5F5"/>
                </a:solidFill>
                <a:latin typeface="Arial"/>
              </a:rPr>
              <a:t>Each recipe says: “given the direct causes of this variable, how is this variable produced?”</a:t>
            </a:r>
          </a:p>
        </p:txBody>
      </p:sp>
    </p:spTree>
    <p:extLst>
      <p:ext uri="{BB962C8B-B14F-4D97-AF65-F5344CB8AC3E}">
        <p14:creationId xmlns:p14="http://schemas.microsoft.com/office/powerpoint/2010/main" val="108621839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9492C-19DA-B920-9027-2C9930789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E4D0CF-6A33-6C78-ABE1-5C3FBCC7F08D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U Variables 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128C4B5E-3EBE-4240-2264-D75307519FD1}"/>
              </a:ext>
            </a:extLst>
          </p:cNvPr>
          <p:cNvSpPr txBox="1"/>
          <p:nvPr/>
        </p:nvSpPr>
        <p:spPr>
          <a:xfrm>
            <a:off x="228503" y="855726"/>
            <a:ext cx="868699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sz="1800" dirty="0">
                <a:solidFill>
                  <a:srgbClr val="70ACE8"/>
                </a:solidFill>
                <a:latin typeface="Arial"/>
              </a:rPr>
              <a:t>U means background factors not explicitly represented as nodes in our simple DAG</a:t>
            </a:r>
            <a:r>
              <a:rPr lang="en-US" sz="1800" dirty="0">
                <a:solidFill>
                  <a:srgbClr val="70ACE8"/>
                </a:solidFill>
                <a:latin typeface="Arial"/>
              </a:rPr>
              <a:t>.</a:t>
            </a:r>
            <a:endParaRPr sz="1800" dirty="0">
              <a:solidFill>
                <a:srgbClr val="70ACE8"/>
              </a:solidFill>
              <a:latin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ounded Rectangle 3">
                <a:extLst>
                  <a:ext uri="{FF2B5EF4-FFF2-40B4-BE49-F238E27FC236}">
                    <a16:creationId xmlns:a16="http://schemas.microsoft.com/office/drawing/2014/main" id="{C6B96338-9CB7-6DBD-3EC0-69850660083D}"/>
                  </a:ext>
                </a:extLst>
              </p:cNvPr>
              <p:cNvSpPr/>
              <p:nvPr/>
            </p:nvSpPr>
            <p:spPr>
              <a:xfrm>
                <a:off x="169188" y="1660121"/>
                <a:ext cx="2880456" cy="1304752"/>
              </a:xfrm>
              <a:prstGeom prst="roundRect">
                <a:avLst/>
              </a:prstGeom>
              <a:solidFill>
                <a:srgbClr val="2D2F32"/>
              </a:solidFill>
              <a:ln w="15240">
                <a:solidFill>
                  <a:srgbClr val="78C28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09728" tIns="73152" rIns="109728" bIns="73152"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ar-AE" sz="1800" b="1" i="1" dirty="0" smtClean="0">
                              <a:solidFill>
                                <a:srgbClr val="78C28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b="1" i="1" dirty="0" smtClean="0">
                              <a:solidFill>
                                <a:srgbClr val="78C28C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ar-AE" sz="1800" b="1" i="1" dirty="0" smtClean="0">
                              <a:solidFill>
                                <a:srgbClr val="78C28C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</m:oMath>
                  </m:oMathPara>
                </a14:m>
                <a:endParaRPr lang="ar-AE" sz="1800" b="1" dirty="0">
                  <a:solidFill>
                    <a:srgbClr val="78C28C"/>
                  </a:solidFill>
                  <a:latin typeface="Arial"/>
                </a:endParaRPr>
              </a:p>
              <a:p>
                <a:pPr algn="ctr"/>
                <a:r>
                  <a:rPr lang="en-US" sz="1600" dirty="0">
                    <a:solidFill>
                      <a:srgbClr val="F5F5F5"/>
                    </a:solidFill>
                    <a:latin typeface="Arial"/>
                  </a:rPr>
                  <a:t>genetics, long-term history, measurement noise</a:t>
                </a:r>
                <a:endParaRPr sz="1600" dirty="0">
                  <a:solidFill>
                    <a:srgbClr val="F5F5F5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8" name="Rounded Rectangle 3">
                <a:extLst>
                  <a:ext uri="{FF2B5EF4-FFF2-40B4-BE49-F238E27FC236}">
                    <a16:creationId xmlns:a16="http://schemas.microsoft.com/office/drawing/2014/main" id="{C6B96338-9CB7-6DBD-3EC0-6985066008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88" y="1660121"/>
                <a:ext cx="2880456" cy="130475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5240">
                <a:solidFill>
                  <a:srgbClr val="78C28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ounded Rectangle 4">
                <a:extLst>
                  <a:ext uri="{FF2B5EF4-FFF2-40B4-BE49-F238E27FC236}">
                    <a16:creationId xmlns:a16="http://schemas.microsoft.com/office/drawing/2014/main" id="{7BD77882-41AE-BF18-D4F9-D1648665A92E}"/>
                  </a:ext>
                </a:extLst>
              </p:cNvPr>
              <p:cNvSpPr/>
              <p:nvPr/>
            </p:nvSpPr>
            <p:spPr>
              <a:xfrm>
                <a:off x="3171386" y="1660121"/>
                <a:ext cx="2880456" cy="1304752"/>
              </a:xfrm>
              <a:prstGeom prst="roundRect">
                <a:avLst/>
              </a:prstGeom>
              <a:solidFill>
                <a:srgbClr val="2D2F32"/>
              </a:solidFill>
              <a:ln w="15240">
                <a:solidFill>
                  <a:srgbClr val="70ACE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09728" tIns="73152" rIns="109728" bIns="73152"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ar-AE" sz="1800" b="1" i="1" dirty="0" smtClean="0">
                              <a:solidFill>
                                <a:srgbClr val="70ACE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b="1" i="1" dirty="0" smtClean="0">
                              <a:solidFill>
                                <a:srgbClr val="70ACE8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ar-AE" sz="1800" b="1" i="1" dirty="0" smtClean="0">
                              <a:solidFill>
                                <a:srgbClr val="70ACE8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b>
                      </m:sSub>
                    </m:oMath>
                  </m:oMathPara>
                </a14:m>
                <a:endParaRPr lang="ar-AE" sz="1800" b="1" dirty="0">
                  <a:solidFill>
                    <a:srgbClr val="70ACE8"/>
                  </a:solidFill>
                  <a:latin typeface="Arial"/>
                </a:endParaRPr>
              </a:p>
              <a:p>
                <a:pPr algn="ctr"/>
                <a:r>
                  <a:rPr lang="en-US" sz="1600" dirty="0">
                    <a:solidFill>
                      <a:srgbClr val="F5F5F5"/>
                    </a:solidFill>
                    <a:latin typeface="Arial"/>
                  </a:rPr>
                  <a:t>clinician preference, logistics, patient choice</a:t>
                </a:r>
                <a:endParaRPr sz="1600" dirty="0">
                  <a:solidFill>
                    <a:srgbClr val="F5F5F5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9" name="Rounded Rectangle 4">
                <a:extLst>
                  <a:ext uri="{FF2B5EF4-FFF2-40B4-BE49-F238E27FC236}">
                    <a16:creationId xmlns:a16="http://schemas.microsoft.com/office/drawing/2014/main" id="{7BD77882-41AE-BF18-D4F9-D1648665A9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1386" y="1660121"/>
                <a:ext cx="2880456" cy="130475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5240">
                <a:solidFill>
                  <a:srgbClr val="70ACE8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ounded Rectangle 5">
                <a:extLst>
                  <a:ext uri="{FF2B5EF4-FFF2-40B4-BE49-F238E27FC236}">
                    <a16:creationId xmlns:a16="http://schemas.microsoft.com/office/drawing/2014/main" id="{192CE70E-E915-756B-C2C6-729EF2BCE3F9}"/>
                  </a:ext>
                </a:extLst>
              </p:cNvPr>
              <p:cNvSpPr/>
              <p:nvPr/>
            </p:nvSpPr>
            <p:spPr>
              <a:xfrm>
                <a:off x="6173585" y="1660121"/>
                <a:ext cx="2880456" cy="1304752"/>
              </a:xfrm>
              <a:prstGeom prst="roundRect">
                <a:avLst/>
              </a:prstGeom>
              <a:solidFill>
                <a:srgbClr val="2D2F32"/>
              </a:solidFill>
              <a:ln w="15240">
                <a:solidFill>
                  <a:srgbClr val="F6B62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09728" tIns="73152" rIns="109728" bIns="73152"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ar-AE" sz="1800" b="1" i="1" dirty="0" smtClean="0">
                              <a:solidFill>
                                <a:srgbClr val="F6B6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b="1" i="1" dirty="0" smtClean="0">
                              <a:solidFill>
                                <a:srgbClr val="F6B62F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ar-AE" sz="1800" b="1" i="1" dirty="0" smtClean="0">
                              <a:solidFill>
                                <a:srgbClr val="F6B62F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sub>
                      </m:sSub>
                    </m:oMath>
                  </m:oMathPara>
                </a14:m>
                <a:endParaRPr lang="ar-AE" sz="1800" b="1" dirty="0">
                  <a:solidFill>
                    <a:srgbClr val="F6B62F"/>
                  </a:solidFill>
                  <a:latin typeface="Arial"/>
                </a:endParaRPr>
              </a:p>
              <a:p>
                <a:pPr algn="ctr"/>
                <a:r>
                  <a:rPr lang="en-US" sz="1600" dirty="0">
                    <a:solidFill>
                      <a:srgbClr val="F5F5F5"/>
                    </a:solidFill>
                    <a:latin typeface="Arial"/>
                  </a:rPr>
                  <a:t>other causes of the outcome</a:t>
                </a:r>
                <a:endParaRPr sz="1600" dirty="0">
                  <a:solidFill>
                    <a:srgbClr val="F5F5F5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10" name="Rounded Rectangle 5">
                <a:extLst>
                  <a:ext uri="{FF2B5EF4-FFF2-40B4-BE49-F238E27FC236}">
                    <a16:creationId xmlns:a16="http://schemas.microsoft.com/office/drawing/2014/main" id="{192CE70E-E915-756B-C2C6-729EF2BCE3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3585" y="1660121"/>
                <a:ext cx="2880456" cy="1304752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5240">
                <a:solidFill>
                  <a:srgbClr val="F6B62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6">
            <a:extLst>
              <a:ext uri="{FF2B5EF4-FFF2-40B4-BE49-F238E27FC236}">
                <a16:creationId xmlns:a16="http://schemas.microsoft.com/office/drawing/2014/main" id="{8DB50717-971F-0FDA-35B0-6089895B50F3}"/>
              </a:ext>
            </a:extLst>
          </p:cNvPr>
          <p:cNvSpPr txBox="1"/>
          <p:nvPr/>
        </p:nvSpPr>
        <p:spPr>
          <a:xfrm>
            <a:off x="169188" y="3502899"/>
            <a:ext cx="8803178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2000" b="1">
                <a:solidFill>
                  <a:srgbClr val="F5F5F5"/>
                </a:solidFill>
                <a:latin typeface="Arial"/>
              </a:rPr>
              <a:t>We use U because no model includes every cause in the universe.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00E780C8-F66A-C86C-36ED-B6C21E5E2C63}"/>
              </a:ext>
            </a:extLst>
          </p:cNvPr>
          <p:cNvSpPr txBox="1"/>
          <p:nvPr/>
        </p:nvSpPr>
        <p:spPr>
          <a:xfrm>
            <a:off x="228502" y="4268449"/>
            <a:ext cx="8686993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2000" b="0" dirty="0">
                <a:solidFill>
                  <a:srgbClr val="C8CDD2"/>
                </a:solidFill>
                <a:latin typeface="Arial"/>
              </a:rPr>
              <a:t>Important: a U variable can be measured or unmeasured in reality. Here it simply means “outside the simplified system we drew.”</a:t>
            </a:r>
          </a:p>
        </p:txBody>
      </p:sp>
    </p:spTree>
    <p:extLst>
      <p:ext uri="{BB962C8B-B14F-4D97-AF65-F5344CB8AC3E}">
        <p14:creationId xmlns:p14="http://schemas.microsoft.com/office/powerpoint/2010/main" val="253106703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73E88-A9DC-9870-EFBE-2E6330435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FD56C5-8546-7917-FCCA-7EBDD2796CB9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Treatment Assignment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6157CF0-D615-B950-C898-870105CC1FEF}"/>
                  </a:ext>
                </a:extLst>
              </p:cNvPr>
              <p:cNvSpPr txBox="1"/>
              <p:nvPr/>
            </p:nvSpPr>
            <p:spPr>
              <a:xfrm>
                <a:off x="1717964" y="1274908"/>
                <a:ext cx="5029200" cy="58477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200" b="0" i="1" dirty="0" smtClean="0">
                          <a:solidFill>
                            <a:srgbClr val="70ACE8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3200" b="0" i="1" dirty="0" smtClean="0">
                          <a:solidFill>
                            <a:srgbClr val="70ACE8"/>
                          </a:solidFill>
                          <a:latin typeface="Cambria Math" panose="02040503050406030204" pitchFamily="18" charset="0"/>
                        </a:rPr>
                        <m:t> := </m:t>
                      </m:r>
                      <m:sSub>
                        <m:sSubPr>
                          <m:ctrlPr>
                            <a:rPr lang="en-US" sz="3200" b="0" i="1" dirty="0" smtClean="0">
                              <a:solidFill>
                                <a:srgbClr val="70ACE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solidFill>
                                <a:srgbClr val="70ACE8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3200" b="0" i="1" dirty="0" smtClean="0">
                              <a:solidFill>
                                <a:srgbClr val="70ACE8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3200" b="0" i="1" dirty="0" smtClean="0">
                          <a:solidFill>
                            <a:srgbClr val="70ACE8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0" i="1" dirty="0" smtClean="0">
                          <a:solidFill>
                            <a:srgbClr val="70ACE8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3200" b="0" i="1" dirty="0" smtClean="0">
                          <a:solidFill>
                            <a:srgbClr val="70ACE8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3200" b="0" i="1" dirty="0" smtClean="0">
                              <a:solidFill>
                                <a:srgbClr val="70ACE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dirty="0" smtClean="0">
                              <a:solidFill>
                                <a:srgbClr val="70ACE8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3200" b="0" i="1" dirty="0" smtClean="0">
                              <a:solidFill>
                                <a:srgbClr val="70ACE8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3200" b="0" i="1" dirty="0" smtClean="0">
                          <a:solidFill>
                            <a:srgbClr val="70ACE8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3200" b="0" dirty="0">
                  <a:solidFill>
                    <a:srgbClr val="70ACE8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6157CF0-D615-B950-C898-870105CC1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7964" y="1274908"/>
                <a:ext cx="5029200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0377766-11DC-1A4D-0454-B454698045A9}"/>
              </a:ext>
            </a:extLst>
          </p:cNvPr>
          <p:cNvSpPr txBox="1"/>
          <p:nvPr/>
        </p:nvSpPr>
        <p:spPr>
          <a:xfrm>
            <a:off x="505691" y="2187702"/>
            <a:ext cx="7315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2100" b="1" dirty="0">
                <a:solidFill>
                  <a:srgbClr val="F6B62F"/>
                </a:solidFill>
                <a:latin typeface="Arial"/>
              </a:rPr>
              <a:t>This does NOT mean treatment is random.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4">
                <a:extLst>
                  <a:ext uri="{FF2B5EF4-FFF2-40B4-BE49-F238E27FC236}">
                    <a16:creationId xmlns:a16="http://schemas.microsoft.com/office/drawing/2014/main" id="{9419E634-892F-9874-4557-B0BF8EB7AFBB}"/>
                  </a:ext>
                </a:extLst>
              </p:cNvPr>
              <p:cNvSpPr txBox="1"/>
              <p:nvPr/>
            </p:nvSpPr>
            <p:spPr>
              <a:xfrm>
                <a:off x="374071" y="2954192"/>
                <a:ext cx="8285019" cy="70788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:r>
                  <a:rPr lang="en-US" sz="2000" b="0" dirty="0">
                    <a:solidFill>
                      <a:srgbClr val="F5F5F5"/>
                    </a:solidFill>
                    <a:latin typeface="Arial"/>
                  </a:rPr>
                  <a:t>It says treatment is produced by some rule that can depend on baseline severity C and other treatment-related factors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b="0" i="1" dirty="0" smtClean="0">
                            <a:solidFill>
                              <a:srgbClr val="F5F5F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b="0" i="1" dirty="0" smtClean="0">
                            <a:solidFill>
                              <a:srgbClr val="F5F5F5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ar-AE" sz="2000" b="0" i="1" dirty="0" smtClean="0">
                            <a:solidFill>
                              <a:srgbClr val="F5F5F5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ar-AE" sz="2000" b="0" dirty="0">
                    <a:solidFill>
                      <a:srgbClr val="F5F5F5"/>
                    </a:solidFill>
                    <a:latin typeface="Arial"/>
                  </a:rPr>
                  <a:t>.</a:t>
                </a:r>
                <a:endParaRPr sz="2000" b="0" dirty="0">
                  <a:solidFill>
                    <a:srgbClr val="F5F5F5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6" name="TextBox 4">
                <a:extLst>
                  <a:ext uri="{FF2B5EF4-FFF2-40B4-BE49-F238E27FC236}">
                    <a16:creationId xmlns:a16="http://schemas.microsoft.com/office/drawing/2014/main" id="{9419E634-892F-9874-4557-B0BF8EB7A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071" y="2954192"/>
                <a:ext cx="8285019" cy="707886"/>
              </a:xfrm>
              <a:prstGeom prst="rect">
                <a:avLst/>
              </a:prstGeom>
              <a:blipFill>
                <a:blip r:embed="rId3"/>
                <a:stretch>
                  <a:fillRect l="-368" t="-4310" r="-1251" b="-1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ounded Rectangle 5">
                <a:extLst>
                  <a:ext uri="{FF2B5EF4-FFF2-40B4-BE49-F238E27FC236}">
                    <a16:creationId xmlns:a16="http://schemas.microsoft.com/office/drawing/2014/main" id="{7D6F62E5-EEE1-7088-8813-320D713B6297}"/>
                  </a:ext>
                </a:extLst>
              </p:cNvPr>
              <p:cNvSpPr/>
              <p:nvPr/>
            </p:nvSpPr>
            <p:spPr>
              <a:xfrm>
                <a:off x="1717965" y="4044519"/>
                <a:ext cx="5590308" cy="707886"/>
              </a:xfrm>
              <a:prstGeom prst="roundRect">
                <a:avLst/>
              </a:prstGeom>
              <a:solidFill>
                <a:srgbClr val="222427"/>
              </a:solidFill>
              <a:ln w="19050">
                <a:solidFill>
                  <a:srgbClr val="70ACE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09728" rIns="109728"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ar-AE" sz="2400" b="1" i="1" dirty="0" smtClean="0">
                            <a:solidFill>
                              <a:srgbClr val="70ACE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b="1" i="1" dirty="0" smtClean="0">
                            <a:solidFill>
                              <a:srgbClr val="70ACE8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ar-AE" sz="2400" b="1" i="1" dirty="0" smtClean="0">
                            <a:solidFill>
                              <a:srgbClr val="70ACE8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rgbClr val="70ACE8"/>
                    </a:solidFill>
                    <a:latin typeface="Arial"/>
                  </a:rPr>
                  <a:t> = Treatment Decision Rule</a:t>
                </a:r>
                <a:endParaRPr sz="2400" b="1" dirty="0">
                  <a:solidFill>
                    <a:srgbClr val="70ACE8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7" name="Rounded Rectangle 5">
                <a:extLst>
                  <a:ext uri="{FF2B5EF4-FFF2-40B4-BE49-F238E27FC236}">
                    <a16:creationId xmlns:a16="http://schemas.microsoft.com/office/drawing/2014/main" id="{7D6F62E5-EEE1-7088-8813-320D713B62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7965" y="4044519"/>
                <a:ext cx="5590308" cy="70788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70ACE8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920545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ADAD3-0CD4-266A-35EA-67C317154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39F56D-59AE-2AFC-B8A9-F043AB7545B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Outcome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2">
                <a:extLst>
                  <a:ext uri="{FF2B5EF4-FFF2-40B4-BE49-F238E27FC236}">
                    <a16:creationId xmlns:a16="http://schemas.microsoft.com/office/drawing/2014/main" id="{95AEAB73-D5BB-2996-BBAD-28C76526C54D}"/>
                  </a:ext>
                </a:extLst>
              </p:cNvPr>
              <p:cNvSpPr txBox="1"/>
              <p:nvPr/>
            </p:nvSpPr>
            <p:spPr>
              <a:xfrm>
                <a:off x="1404825" y="1110187"/>
                <a:ext cx="6217920" cy="553998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000" b="0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3000" b="0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 = 120 + 10</m:t>
                      </m:r>
                      <m:r>
                        <a:rPr lang="en-US" sz="3000" b="0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3000" b="0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 − 6</m:t>
                      </m:r>
                      <m:r>
                        <a:rPr lang="en-US" sz="3000" b="0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3000" b="0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US" sz="3000" b="0" i="1" dirty="0" smtClean="0">
                              <a:solidFill>
                                <a:srgbClr val="F6B62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0" i="1" dirty="0" smtClean="0">
                              <a:solidFill>
                                <a:srgbClr val="F6B62F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3000" b="0" i="1" dirty="0" smtClean="0">
                              <a:solidFill>
                                <a:srgbClr val="F6B62F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m:oMathPara>
                </a14:m>
                <a:endParaRPr sz="3000" b="0" dirty="0">
                  <a:solidFill>
                    <a:srgbClr val="F6B62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5" name="TextBox 2">
                <a:extLst>
                  <a:ext uri="{FF2B5EF4-FFF2-40B4-BE49-F238E27FC236}">
                    <a16:creationId xmlns:a16="http://schemas.microsoft.com/office/drawing/2014/main" id="{95AEAB73-D5BB-2996-BBAD-28C76526C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825" y="1110187"/>
                <a:ext cx="6217920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3">
            <a:extLst>
              <a:ext uri="{FF2B5EF4-FFF2-40B4-BE49-F238E27FC236}">
                <a16:creationId xmlns:a16="http://schemas.microsoft.com/office/drawing/2014/main" id="{99FC62BC-F49F-9814-1D68-503772F8959E}"/>
              </a:ext>
            </a:extLst>
          </p:cNvPr>
          <p:cNvSpPr txBox="1"/>
          <p:nvPr/>
        </p:nvSpPr>
        <p:spPr>
          <a:xfrm>
            <a:off x="2947025" y="2469809"/>
            <a:ext cx="3640812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1800" b="1" dirty="0">
                <a:solidFill>
                  <a:srgbClr val="70ACE8"/>
                </a:solidFill>
                <a:latin typeface="Arial"/>
              </a:rPr>
              <a:t>One possible numerical rule: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4">
                <a:extLst>
                  <a:ext uri="{FF2B5EF4-FFF2-40B4-BE49-F238E27FC236}">
                    <a16:creationId xmlns:a16="http://schemas.microsoft.com/office/drawing/2014/main" id="{358C9EFA-F3B8-9DEA-9711-E77E9FD50873}"/>
                  </a:ext>
                </a:extLst>
              </p:cNvPr>
              <p:cNvSpPr txBox="1"/>
              <p:nvPr/>
            </p:nvSpPr>
            <p:spPr>
              <a:xfrm>
                <a:off x="256310" y="3193816"/>
                <a:ext cx="8797636" cy="1107996"/>
              </a:xfrm>
              <a:prstGeom prst="rect">
                <a:avLst/>
              </a:prstGeom>
              <a:noFill/>
            </p:spPr>
            <p:txBody>
              <a:bodyPr wrap="square" lIns="73152" rIns="4572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342900" indent="-342900">
                  <a:buClr>
                    <a:schemeClr val="bg1"/>
                  </a:buClr>
                  <a:buFont typeface="Arial" panose="020B0604020202020204" pitchFamily="34" charset="0"/>
                  <a:buChar char="•"/>
                  <a:defRPr sz="1800">
                    <a:solidFill>
                      <a:srgbClr val="F5F5F5"/>
                    </a:solidFill>
                    <a:latin typeface="Arial"/>
                  </a:defRPr>
                </a:pPr>
                <a:r>
                  <a:rPr lang="en-US" sz="2200" dirty="0"/>
                  <a:t>Every 1-unit increase in baseline severity raises Y by 10 units.</a:t>
                </a:r>
              </a:p>
              <a:p>
                <a:pPr marL="342900" indent="-342900">
                  <a:buClr>
                    <a:schemeClr val="bg1"/>
                  </a:buClr>
                  <a:buFont typeface="Arial" panose="020B0604020202020204" pitchFamily="34" charset="0"/>
                  <a:buChar char="•"/>
                  <a:defRPr sz="1800">
                    <a:solidFill>
                      <a:srgbClr val="F5F5F5"/>
                    </a:solidFill>
                    <a:latin typeface="Arial"/>
                  </a:defRPr>
                </a:pPr>
                <a:r>
                  <a:rPr lang="en-US" sz="2200" dirty="0"/>
                  <a:t>Treatment lowers Y by 6 units, holding the other causes fixed.</a:t>
                </a:r>
              </a:p>
              <a:p>
                <a:pPr marL="342900" indent="-342900">
                  <a:buClr>
                    <a:schemeClr val="bg1"/>
                  </a:buClr>
                  <a:buFont typeface="Arial" panose="020B0604020202020204" pitchFamily="34" charset="0"/>
                  <a:buChar char="•"/>
                  <a:defRPr sz="1800">
                    <a:solidFill>
                      <a:srgbClr val="F5F5F5"/>
                    </a:solidFill>
                    <a:latin typeface="Arial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200" i="1" dirty="0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ar-AE" sz="22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ar-AE" sz="22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represents other causes of Y not shown explicitly.</a:t>
                </a:r>
                <a:endParaRPr sz="2200" dirty="0"/>
              </a:p>
            </p:txBody>
          </p:sp>
        </mc:Choice>
        <mc:Fallback>
          <p:sp>
            <p:nvSpPr>
              <p:cNvPr id="9" name="TextBox 4">
                <a:extLst>
                  <a:ext uri="{FF2B5EF4-FFF2-40B4-BE49-F238E27FC236}">
                    <a16:creationId xmlns:a16="http://schemas.microsoft.com/office/drawing/2014/main" id="{358C9EFA-F3B8-9DEA-9711-E77E9FD50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10" y="3193816"/>
                <a:ext cx="8797636" cy="1107996"/>
              </a:xfrm>
              <a:prstGeom prst="rect">
                <a:avLst/>
              </a:prstGeom>
              <a:blipFill>
                <a:blip r:embed="rId3"/>
                <a:stretch>
                  <a:fillRect l="-970" t="-3297" b="-104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206333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0A90D-3B28-6299-CD18-2C3B87E04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20A24C-78DD-703B-000B-9F4C8E7086EF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What makes an SCM causal</a:t>
            </a:r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35E07EFA-AE34-7DFB-1584-F9EA08A28E29}"/>
              </a:ext>
            </a:extLst>
          </p:cNvPr>
          <p:cNvSpPr txBox="1"/>
          <p:nvPr/>
        </p:nvSpPr>
        <p:spPr>
          <a:xfrm>
            <a:off x="642959" y="1113279"/>
            <a:ext cx="7858081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2400" b="1" dirty="0">
                <a:solidFill>
                  <a:srgbClr val="70ACE8"/>
                </a:solidFill>
                <a:latin typeface="Arial"/>
              </a:rPr>
              <a:t>A regression can describe association.</a:t>
            </a: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209C31C3-16B7-A87F-A637-FA8EB14C9777}"/>
              </a:ext>
            </a:extLst>
          </p:cNvPr>
          <p:cNvSpPr txBox="1"/>
          <p:nvPr/>
        </p:nvSpPr>
        <p:spPr>
          <a:xfrm>
            <a:off x="584744" y="1790639"/>
            <a:ext cx="7858081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2400" b="1" dirty="0">
                <a:solidFill>
                  <a:srgbClr val="F6B62F"/>
                </a:solidFill>
                <a:latin typeface="Arial"/>
              </a:rPr>
              <a:t>An SCM makes an additional scientific claim:</a:t>
            </a:r>
          </a:p>
        </p:txBody>
      </p:sp>
      <p:sp>
        <p:nvSpPr>
          <p:cNvPr id="15" name="Rounded Rectangle 4">
            <a:extLst>
              <a:ext uri="{FF2B5EF4-FFF2-40B4-BE49-F238E27FC236}">
                <a16:creationId xmlns:a16="http://schemas.microsoft.com/office/drawing/2014/main" id="{72396AAE-6B3A-C9FC-A1ED-E8E44EA3FEC8}"/>
              </a:ext>
            </a:extLst>
          </p:cNvPr>
          <p:cNvSpPr/>
          <p:nvPr/>
        </p:nvSpPr>
        <p:spPr>
          <a:xfrm>
            <a:off x="512618" y="2598007"/>
            <a:ext cx="8118764" cy="1432214"/>
          </a:xfrm>
          <a:prstGeom prst="roundRect">
            <a:avLst/>
          </a:prstGeom>
          <a:solidFill>
            <a:srgbClr val="222427"/>
          </a:solidFill>
          <a:ln w="19050">
            <a:solidFill>
              <a:srgbClr val="78C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2400" b="1" dirty="0">
                <a:solidFill>
                  <a:srgbClr val="78C28C"/>
                </a:solidFill>
                <a:latin typeface="Arial"/>
              </a:rPr>
              <a:t>If we externally change one variable, the other generating rules remain the rules of the system.</a:t>
            </a:r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C8B8B680-1B7C-EA3D-21BD-8F547F550272}"/>
              </a:ext>
            </a:extLst>
          </p:cNvPr>
          <p:cNvSpPr txBox="1"/>
          <p:nvPr/>
        </p:nvSpPr>
        <p:spPr>
          <a:xfrm>
            <a:off x="512618" y="4327433"/>
            <a:ext cx="8291946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2000" b="1" dirty="0">
                <a:solidFill>
                  <a:srgbClr val="F5F5F5"/>
                </a:solidFill>
                <a:latin typeface="Arial"/>
              </a:rPr>
              <a:t>That is what allows the model to answer intervention questions.</a:t>
            </a:r>
          </a:p>
        </p:txBody>
      </p:sp>
    </p:spTree>
    <p:extLst>
      <p:ext uri="{BB962C8B-B14F-4D97-AF65-F5344CB8AC3E}">
        <p14:creationId xmlns:p14="http://schemas.microsoft.com/office/powerpoint/2010/main" val="241711160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31FF1-D539-9143-8402-C925E9275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C4C738-2A5A-3342-CA95-34E2061D1057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Key Operation: Intervention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F66AF610-5D0D-B63B-78FA-022698497A2A}"/>
              </a:ext>
            </a:extLst>
          </p:cNvPr>
          <p:cNvSpPr txBox="1"/>
          <p:nvPr/>
        </p:nvSpPr>
        <p:spPr>
          <a:xfrm>
            <a:off x="731521" y="11525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2000" b="1" dirty="0">
                <a:solidFill>
                  <a:srgbClr val="70ACE8"/>
                </a:solidFill>
                <a:latin typeface="Arial"/>
              </a:rPr>
              <a:t>Normal observational world: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3">
                <a:extLst>
                  <a:ext uri="{FF2B5EF4-FFF2-40B4-BE49-F238E27FC236}">
                    <a16:creationId xmlns:a16="http://schemas.microsoft.com/office/drawing/2014/main" id="{A4390FF1-30D5-743B-26DE-DD46BC8BBC91}"/>
                  </a:ext>
                </a:extLst>
              </p:cNvPr>
              <p:cNvSpPr txBox="1"/>
              <p:nvPr/>
            </p:nvSpPr>
            <p:spPr>
              <a:xfrm>
                <a:off x="731520" y="1695141"/>
                <a:ext cx="3474720" cy="507831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700" b="0" i="1" dirty="0" smtClean="0">
                          <a:solidFill>
                            <a:srgbClr val="70ACE8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700" b="0" i="1" dirty="0" smtClean="0">
                          <a:solidFill>
                            <a:srgbClr val="70ACE8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sz="2700" b="0" i="1" dirty="0" smtClean="0">
                              <a:solidFill>
                                <a:srgbClr val="70ACE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700" b="0" i="1" dirty="0" smtClean="0">
                              <a:solidFill>
                                <a:srgbClr val="70ACE8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700" b="0" i="1" dirty="0" smtClean="0">
                              <a:solidFill>
                                <a:srgbClr val="70ACE8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700" b="0" i="1" dirty="0" smtClean="0">
                          <a:solidFill>
                            <a:srgbClr val="70ACE8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700" b="0" i="1" dirty="0" smtClean="0">
                          <a:solidFill>
                            <a:srgbClr val="70ACE8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700" b="0" i="1" dirty="0" smtClean="0">
                          <a:solidFill>
                            <a:srgbClr val="70ACE8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700" b="0" i="1" dirty="0" smtClean="0">
                              <a:solidFill>
                                <a:srgbClr val="70ACE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700" b="0" i="1" dirty="0" smtClean="0">
                              <a:solidFill>
                                <a:srgbClr val="70ACE8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2700" b="0" i="1" dirty="0" smtClean="0">
                              <a:solidFill>
                                <a:srgbClr val="70ACE8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700" b="0" i="1" dirty="0" smtClean="0">
                          <a:solidFill>
                            <a:srgbClr val="70ACE8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700" b="0" dirty="0">
                  <a:solidFill>
                    <a:srgbClr val="70ACE8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9" name="TextBox 3">
                <a:extLst>
                  <a:ext uri="{FF2B5EF4-FFF2-40B4-BE49-F238E27FC236}">
                    <a16:creationId xmlns:a16="http://schemas.microsoft.com/office/drawing/2014/main" id="{A4390FF1-30D5-743B-26DE-DD46BC8BB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695141"/>
                <a:ext cx="3474720" cy="5078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4">
            <a:extLst>
              <a:ext uri="{FF2B5EF4-FFF2-40B4-BE49-F238E27FC236}">
                <a16:creationId xmlns:a16="http://schemas.microsoft.com/office/drawing/2014/main" id="{E78861E9-E84D-C799-6E1F-AF04A7073166}"/>
              </a:ext>
            </a:extLst>
          </p:cNvPr>
          <p:cNvSpPr txBox="1"/>
          <p:nvPr/>
        </p:nvSpPr>
        <p:spPr>
          <a:xfrm>
            <a:off x="731520" y="2419697"/>
            <a:ext cx="3566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800" b="0" dirty="0">
                <a:solidFill>
                  <a:srgbClr val="F5F5F5"/>
                </a:solidFill>
                <a:latin typeface="Arial"/>
              </a:rPr>
              <a:t>Treatment follows the usual decision process.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7ECB8CFB-5EB3-3AAA-C015-CD7407E57C5A}"/>
              </a:ext>
            </a:extLst>
          </p:cNvPr>
          <p:cNvSpPr txBox="1"/>
          <p:nvPr/>
        </p:nvSpPr>
        <p:spPr>
          <a:xfrm>
            <a:off x="4937761" y="115256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2000" b="1" dirty="0">
                <a:solidFill>
                  <a:srgbClr val="78C28C"/>
                </a:solidFill>
                <a:latin typeface="Arial"/>
              </a:rPr>
              <a:t>Intervention world: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6">
                <a:extLst>
                  <a:ext uri="{FF2B5EF4-FFF2-40B4-BE49-F238E27FC236}">
                    <a16:creationId xmlns:a16="http://schemas.microsoft.com/office/drawing/2014/main" id="{D3B597D7-A2CD-D548-9C56-7D85285EEA74}"/>
                  </a:ext>
                </a:extLst>
              </p:cNvPr>
              <p:cNvSpPr txBox="1"/>
              <p:nvPr/>
            </p:nvSpPr>
            <p:spPr>
              <a:xfrm>
                <a:off x="4754880" y="1719436"/>
                <a:ext cx="3474720" cy="569387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3100" b="0" i="1" dirty="0" smtClean="0">
                          <a:solidFill>
                            <a:srgbClr val="78C28C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3100" b="0" i="1" dirty="0" smtClean="0">
                          <a:solidFill>
                            <a:srgbClr val="78C28C"/>
                          </a:solidFill>
                          <a:latin typeface="Cambria Math" panose="02040503050406030204" pitchFamily="18" charset="0"/>
                        </a:rPr>
                        <m:t> := 1</m:t>
                      </m:r>
                    </m:oMath>
                  </m:oMathPara>
                </a14:m>
                <a:endParaRPr sz="3100" b="0" dirty="0">
                  <a:solidFill>
                    <a:srgbClr val="78C28C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2" name="TextBox 6">
                <a:extLst>
                  <a:ext uri="{FF2B5EF4-FFF2-40B4-BE49-F238E27FC236}">
                    <a16:creationId xmlns:a16="http://schemas.microsoft.com/office/drawing/2014/main" id="{D3B597D7-A2CD-D548-9C56-7D85285EE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1719436"/>
                <a:ext cx="3474720" cy="5693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7">
            <a:extLst>
              <a:ext uri="{FF2B5EF4-FFF2-40B4-BE49-F238E27FC236}">
                <a16:creationId xmlns:a16="http://schemas.microsoft.com/office/drawing/2014/main" id="{ACEDCA5F-1AB9-E0E8-9E0E-86A85F0FB066}"/>
              </a:ext>
            </a:extLst>
          </p:cNvPr>
          <p:cNvSpPr txBox="1"/>
          <p:nvPr/>
        </p:nvSpPr>
        <p:spPr>
          <a:xfrm>
            <a:off x="4754880" y="2419697"/>
            <a:ext cx="3566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800" b="0" dirty="0">
                <a:solidFill>
                  <a:srgbClr val="F5F5F5"/>
                </a:solidFill>
                <a:latin typeface="Arial"/>
              </a:rPr>
              <a:t>We replace the treatment rule and force treatment to 1.</a:t>
            </a:r>
          </a:p>
        </p:txBody>
      </p:sp>
      <p:sp>
        <p:nvSpPr>
          <p:cNvPr id="18" name="Rounded Rectangle 8">
            <a:extLst>
              <a:ext uri="{FF2B5EF4-FFF2-40B4-BE49-F238E27FC236}">
                <a16:creationId xmlns:a16="http://schemas.microsoft.com/office/drawing/2014/main" id="{5B35BB3D-FC62-5D7E-14B5-36E2AE0FD1D5}"/>
              </a:ext>
            </a:extLst>
          </p:cNvPr>
          <p:cNvSpPr/>
          <p:nvPr/>
        </p:nvSpPr>
        <p:spPr>
          <a:xfrm>
            <a:off x="1112521" y="3748765"/>
            <a:ext cx="6553199" cy="685801"/>
          </a:xfrm>
          <a:prstGeom prst="roundRect">
            <a:avLst/>
          </a:prstGeom>
          <a:solidFill>
            <a:srgbClr val="222427"/>
          </a:solidFill>
          <a:ln w="19050">
            <a:solidFill>
              <a:srgbClr val="FDB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2400" b="1" dirty="0">
                <a:solidFill>
                  <a:srgbClr val="FDBB30"/>
                </a:solidFill>
                <a:latin typeface="Arial"/>
              </a:rPr>
              <a:t>Everything else in the SCM stays the same.</a:t>
            </a:r>
          </a:p>
        </p:txBody>
      </p:sp>
    </p:spTree>
    <p:extLst>
      <p:ext uri="{BB962C8B-B14F-4D97-AF65-F5344CB8AC3E}">
        <p14:creationId xmlns:p14="http://schemas.microsoft.com/office/powerpoint/2010/main" val="281413355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A6A83-451C-0F8B-47E0-4BA797FA0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DA858E-F9A8-5CDD-17EB-3EC2CFCACB54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Do Calculus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FE0DED-F407-22BF-8F1C-10B425FA58B5}"/>
              </a:ext>
            </a:extLst>
          </p:cNvPr>
          <p:cNvSpPr txBox="1"/>
          <p:nvPr/>
        </p:nvSpPr>
        <p:spPr>
          <a:xfrm>
            <a:off x="169188" y="1526843"/>
            <a:ext cx="3007822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3400" b="0">
                <a:solidFill>
                  <a:srgbClr val="78C28C"/>
                </a:solidFill>
                <a:latin typeface="Cambria Math"/>
              </a:rPr>
              <a:t>do(T = 1)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CD3687E-856C-F63C-63BE-B854EA246120}"/>
              </a:ext>
            </a:extLst>
          </p:cNvPr>
          <p:cNvSpPr txBox="1"/>
          <p:nvPr/>
        </p:nvSpPr>
        <p:spPr>
          <a:xfrm>
            <a:off x="2426091" y="1057894"/>
            <a:ext cx="6350765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2000" b="1" dirty="0">
                <a:solidFill>
                  <a:srgbClr val="F5F5F5"/>
                </a:solidFill>
                <a:latin typeface="Arial"/>
              </a:rPr>
              <a:t>“Set treatment to 1 from outside the system.”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2E0067B-1D43-5A72-EABB-6E05EA22A14F}"/>
              </a:ext>
            </a:extLst>
          </p:cNvPr>
          <p:cNvSpPr txBox="1"/>
          <p:nvPr/>
        </p:nvSpPr>
        <p:spPr>
          <a:xfrm>
            <a:off x="2927467" y="1558203"/>
            <a:ext cx="5849389" cy="877163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 sz="1700">
                <a:solidFill>
                  <a:srgbClr val="F5F5F5"/>
                </a:solidFill>
                <a:latin typeface="Arial"/>
              </a:defRPr>
            </a:pPr>
            <a:r>
              <a:rPr dirty="0"/>
              <a:t>Do not let baseline severity decide T.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 sz="1700">
                <a:solidFill>
                  <a:srgbClr val="F5F5F5"/>
                </a:solidFill>
                <a:latin typeface="Arial"/>
              </a:defRPr>
            </a:pPr>
            <a:r>
              <a:rPr dirty="0"/>
              <a:t>Do not let clinician preference decide T.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  <a:defRPr sz="1700">
                <a:solidFill>
                  <a:srgbClr val="F5F5F5"/>
                </a:solidFill>
                <a:latin typeface="Arial"/>
              </a:defRPr>
            </a:pPr>
            <a:r>
              <a:rPr dirty="0"/>
              <a:t>Simply assign T = 1, then let the rest of the model run.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2F5E4DE6-7354-E883-D959-EEEEA1D22B04}"/>
              </a:ext>
            </a:extLst>
          </p:cNvPr>
          <p:cNvSpPr txBox="1"/>
          <p:nvPr/>
        </p:nvSpPr>
        <p:spPr>
          <a:xfrm>
            <a:off x="440574" y="2708135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900" b="1">
                <a:solidFill>
                  <a:srgbClr val="70ACE8"/>
                </a:solidFill>
                <a:latin typeface="Arial"/>
              </a:rPr>
              <a:t>Before intervention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7D8524C8-8347-E803-AEEC-58CA6B175816}"/>
              </a:ext>
            </a:extLst>
          </p:cNvPr>
          <p:cNvSpPr/>
          <p:nvPr/>
        </p:nvSpPr>
        <p:spPr>
          <a:xfrm>
            <a:off x="783474" y="3247631"/>
            <a:ext cx="914400" cy="566928"/>
          </a:xfrm>
          <a:prstGeom prst="roundRect">
            <a:avLst/>
          </a:prstGeom>
          <a:solidFill>
            <a:srgbClr val="191B1D"/>
          </a:solidFill>
          <a:ln w="21590">
            <a:solidFill>
              <a:srgbClr val="78C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2000" b="1">
                <a:solidFill>
                  <a:srgbClr val="F5F5F5"/>
                </a:solidFill>
                <a:latin typeface="Arial"/>
              </a:rPr>
              <a:t>C</a:t>
            </a:r>
          </a:p>
        </p:txBody>
      </p:sp>
      <p:sp>
        <p:nvSpPr>
          <p:cNvPr id="13" name="Rounded Rectangle 4">
            <a:extLst>
              <a:ext uri="{FF2B5EF4-FFF2-40B4-BE49-F238E27FC236}">
                <a16:creationId xmlns:a16="http://schemas.microsoft.com/office/drawing/2014/main" id="{F813F5A1-8899-8051-EEF9-2028C70AF21A}"/>
              </a:ext>
            </a:extLst>
          </p:cNvPr>
          <p:cNvSpPr/>
          <p:nvPr/>
        </p:nvSpPr>
        <p:spPr>
          <a:xfrm>
            <a:off x="2795154" y="3247631"/>
            <a:ext cx="914400" cy="566928"/>
          </a:xfrm>
          <a:prstGeom prst="roundRect">
            <a:avLst/>
          </a:prstGeom>
          <a:solidFill>
            <a:srgbClr val="191B1D"/>
          </a:solidFill>
          <a:ln w="21590">
            <a:solidFill>
              <a:srgbClr val="70A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2000" b="1">
                <a:solidFill>
                  <a:srgbClr val="F5F5F5"/>
                </a:solidFill>
                <a:latin typeface="Arial"/>
              </a:rPr>
              <a:t>T</a:t>
            </a:r>
          </a:p>
        </p:txBody>
      </p:sp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0BEEF42C-7AF6-6AFF-03F1-E2904498919B}"/>
              </a:ext>
            </a:extLst>
          </p:cNvPr>
          <p:cNvSpPr/>
          <p:nvPr/>
        </p:nvSpPr>
        <p:spPr>
          <a:xfrm>
            <a:off x="1743594" y="4511870"/>
            <a:ext cx="914400" cy="566928"/>
          </a:xfrm>
          <a:prstGeom prst="roundRect">
            <a:avLst/>
          </a:prstGeom>
          <a:solidFill>
            <a:srgbClr val="191B1D"/>
          </a:solidFill>
          <a:ln w="21590">
            <a:solidFill>
              <a:srgbClr val="F6B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2000" b="1">
                <a:solidFill>
                  <a:srgbClr val="F5F5F5"/>
                </a:solidFill>
                <a:latin typeface="Arial"/>
              </a:rPr>
              <a:t>Y</a:t>
            </a:r>
          </a:p>
        </p:txBody>
      </p:sp>
      <p:cxnSp>
        <p:nvCxnSpPr>
          <p:cNvPr id="15" name="Connector 6">
            <a:extLst>
              <a:ext uri="{FF2B5EF4-FFF2-40B4-BE49-F238E27FC236}">
                <a16:creationId xmlns:a16="http://schemas.microsoft.com/office/drawing/2014/main" id="{F0AB5B7A-59FE-0F27-C0C9-CD9F00C70294}"/>
              </a:ext>
            </a:extLst>
          </p:cNvPr>
          <p:cNvCxnSpPr/>
          <p:nvPr/>
        </p:nvCxnSpPr>
        <p:spPr>
          <a:xfrm>
            <a:off x="1697874" y="3521951"/>
            <a:ext cx="1051560" cy="0"/>
          </a:xfrm>
          <a:prstGeom prst="line">
            <a:avLst/>
          </a:prstGeom>
          <a:ln w="27940">
            <a:solidFill>
              <a:srgbClr val="78C28C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7">
            <a:extLst>
              <a:ext uri="{FF2B5EF4-FFF2-40B4-BE49-F238E27FC236}">
                <a16:creationId xmlns:a16="http://schemas.microsoft.com/office/drawing/2014/main" id="{633394EC-4868-8308-4755-4656AD3AF5E3}"/>
              </a:ext>
            </a:extLst>
          </p:cNvPr>
          <p:cNvCxnSpPr>
            <a:cxnSpLocks/>
          </p:cNvCxnSpPr>
          <p:nvPr/>
        </p:nvCxnSpPr>
        <p:spPr>
          <a:xfrm flipH="1">
            <a:off x="2383674" y="3814559"/>
            <a:ext cx="731520" cy="697311"/>
          </a:xfrm>
          <a:prstGeom prst="line">
            <a:avLst/>
          </a:prstGeom>
          <a:ln w="27940">
            <a:solidFill>
              <a:srgbClr val="70ACE8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8">
            <a:extLst>
              <a:ext uri="{FF2B5EF4-FFF2-40B4-BE49-F238E27FC236}">
                <a16:creationId xmlns:a16="http://schemas.microsoft.com/office/drawing/2014/main" id="{2D554381-A50F-C8C6-E1FE-62AD77F26C45}"/>
              </a:ext>
            </a:extLst>
          </p:cNvPr>
          <p:cNvCxnSpPr>
            <a:cxnSpLocks/>
          </p:cNvCxnSpPr>
          <p:nvPr/>
        </p:nvCxnSpPr>
        <p:spPr>
          <a:xfrm>
            <a:off x="1286394" y="3814559"/>
            <a:ext cx="731520" cy="688168"/>
          </a:xfrm>
          <a:prstGeom prst="line">
            <a:avLst/>
          </a:prstGeom>
          <a:ln w="27940">
            <a:solidFill>
              <a:srgbClr val="78C28C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9">
            <a:extLst>
              <a:ext uri="{FF2B5EF4-FFF2-40B4-BE49-F238E27FC236}">
                <a16:creationId xmlns:a16="http://schemas.microsoft.com/office/drawing/2014/main" id="{8AB5D725-9A77-2C51-C428-2A06BA3F14E5}"/>
              </a:ext>
            </a:extLst>
          </p:cNvPr>
          <p:cNvSpPr txBox="1"/>
          <p:nvPr/>
        </p:nvSpPr>
        <p:spPr>
          <a:xfrm>
            <a:off x="4646814" y="2708135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900" b="1">
                <a:solidFill>
                  <a:srgbClr val="78C28C"/>
                </a:solidFill>
                <a:latin typeface="Arial"/>
              </a:rPr>
              <a:t>After do(T = 1)</a:t>
            </a:r>
          </a:p>
        </p:txBody>
      </p:sp>
      <p:sp>
        <p:nvSpPr>
          <p:cNvPr id="21" name="Rounded Rectangle 10">
            <a:extLst>
              <a:ext uri="{FF2B5EF4-FFF2-40B4-BE49-F238E27FC236}">
                <a16:creationId xmlns:a16="http://schemas.microsoft.com/office/drawing/2014/main" id="{92757974-30C3-4714-09FB-4A09589ED422}"/>
              </a:ext>
            </a:extLst>
          </p:cNvPr>
          <p:cNvSpPr/>
          <p:nvPr/>
        </p:nvSpPr>
        <p:spPr>
          <a:xfrm>
            <a:off x="5022966" y="3247631"/>
            <a:ext cx="914400" cy="566928"/>
          </a:xfrm>
          <a:prstGeom prst="roundRect">
            <a:avLst/>
          </a:prstGeom>
          <a:solidFill>
            <a:srgbClr val="191B1D"/>
          </a:solidFill>
          <a:ln w="21590">
            <a:solidFill>
              <a:srgbClr val="78C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2000" b="1">
                <a:solidFill>
                  <a:srgbClr val="F5F5F5"/>
                </a:solidFill>
                <a:latin typeface="Arial"/>
              </a:rPr>
              <a:t>C</a:t>
            </a:r>
          </a:p>
        </p:txBody>
      </p:sp>
      <p:sp>
        <p:nvSpPr>
          <p:cNvPr id="22" name="Rounded Rectangle 11">
            <a:extLst>
              <a:ext uri="{FF2B5EF4-FFF2-40B4-BE49-F238E27FC236}">
                <a16:creationId xmlns:a16="http://schemas.microsoft.com/office/drawing/2014/main" id="{6585AEBD-EA3B-0262-2BF8-B7E71D15973A}"/>
              </a:ext>
            </a:extLst>
          </p:cNvPr>
          <p:cNvSpPr/>
          <p:nvPr/>
        </p:nvSpPr>
        <p:spPr>
          <a:xfrm>
            <a:off x="6943206" y="3247631"/>
            <a:ext cx="1005840" cy="566928"/>
          </a:xfrm>
          <a:prstGeom prst="roundRect">
            <a:avLst/>
          </a:prstGeom>
          <a:solidFill>
            <a:srgbClr val="191B1D"/>
          </a:solidFill>
          <a:ln w="21590">
            <a:solidFill>
              <a:srgbClr val="78C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2000" b="1">
                <a:solidFill>
                  <a:srgbClr val="F5F5F5"/>
                </a:solidFill>
                <a:latin typeface="Arial"/>
              </a:rPr>
              <a:t>T=1</a:t>
            </a:r>
          </a:p>
        </p:txBody>
      </p:sp>
      <p:sp>
        <p:nvSpPr>
          <p:cNvPr id="23" name="Rounded Rectangle 12">
            <a:extLst>
              <a:ext uri="{FF2B5EF4-FFF2-40B4-BE49-F238E27FC236}">
                <a16:creationId xmlns:a16="http://schemas.microsoft.com/office/drawing/2014/main" id="{7D86E13B-D912-B96C-1B76-18F0C43A4AA5}"/>
              </a:ext>
            </a:extLst>
          </p:cNvPr>
          <p:cNvSpPr/>
          <p:nvPr/>
        </p:nvSpPr>
        <p:spPr>
          <a:xfrm>
            <a:off x="5937366" y="4511870"/>
            <a:ext cx="914400" cy="566928"/>
          </a:xfrm>
          <a:prstGeom prst="roundRect">
            <a:avLst/>
          </a:prstGeom>
          <a:solidFill>
            <a:srgbClr val="191B1D"/>
          </a:solidFill>
          <a:ln w="21590">
            <a:solidFill>
              <a:srgbClr val="F6B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2000" b="1">
                <a:solidFill>
                  <a:srgbClr val="F5F5F5"/>
                </a:solidFill>
                <a:latin typeface="Arial"/>
              </a:rPr>
              <a:t>Y</a:t>
            </a:r>
          </a:p>
        </p:txBody>
      </p:sp>
      <p:cxnSp>
        <p:nvCxnSpPr>
          <p:cNvPr id="24" name="Connector 13">
            <a:extLst>
              <a:ext uri="{FF2B5EF4-FFF2-40B4-BE49-F238E27FC236}">
                <a16:creationId xmlns:a16="http://schemas.microsoft.com/office/drawing/2014/main" id="{88D4492F-4981-B715-4DD9-68BFE0C103F7}"/>
              </a:ext>
            </a:extLst>
          </p:cNvPr>
          <p:cNvCxnSpPr>
            <a:cxnSpLocks/>
          </p:cNvCxnSpPr>
          <p:nvPr/>
        </p:nvCxnSpPr>
        <p:spPr>
          <a:xfrm flipH="1">
            <a:off x="6623166" y="3814559"/>
            <a:ext cx="731519" cy="675472"/>
          </a:xfrm>
          <a:prstGeom prst="line">
            <a:avLst/>
          </a:prstGeom>
          <a:ln w="27940">
            <a:solidFill>
              <a:srgbClr val="78C28C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14">
            <a:extLst>
              <a:ext uri="{FF2B5EF4-FFF2-40B4-BE49-F238E27FC236}">
                <a16:creationId xmlns:a16="http://schemas.microsoft.com/office/drawing/2014/main" id="{809A3985-B6E9-06D0-31B4-C96B7646FF49}"/>
              </a:ext>
            </a:extLst>
          </p:cNvPr>
          <p:cNvCxnSpPr>
            <a:cxnSpLocks/>
          </p:cNvCxnSpPr>
          <p:nvPr/>
        </p:nvCxnSpPr>
        <p:spPr>
          <a:xfrm>
            <a:off x="5525886" y="3814559"/>
            <a:ext cx="731520" cy="669063"/>
          </a:xfrm>
          <a:prstGeom prst="line">
            <a:avLst/>
          </a:prstGeom>
          <a:ln w="27940">
            <a:solidFill>
              <a:srgbClr val="78C28C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14823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4315C-4721-416B-6B05-39193DD08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A3E72B-325F-9788-30E6-D4E4AA3DF9BD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Intervention vs Conditioning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52BB6575-23BF-4B11-1523-C6E88F89409B}"/>
              </a:ext>
            </a:extLst>
          </p:cNvPr>
          <p:cNvSpPr/>
          <p:nvPr/>
        </p:nvSpPr>
        <p:spPr>
          <a:xfrm>
            <a:off x="277091" y="1428750"/>
            <a:ext cx="4157749" cy="2286000"/>
          </a:xfrm>
          <a:prstGeom prst="roundRect">
            <a:avLst/>
          </a:prstGeom>
          <a:solidFill>
            <a:srgbClr val="2D2F32"/>
          </a:solidFill>
          <a:ln w="15240">
            <a:solidFill>
              <a:srgbClr val="70A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1800" b="1" dirty="0">
                <a:solidFill>
                  <a:srgbClr val="70ACE8"/>
                </a:solidFill>
                <a:latin typeface="Arial"/>
              </a:rPr>
              <a:t>Conditioning: T = 1</a:t>
            </a:r>
          </a:p>
          <a:p>
            <a:pPr algn="ctr"/>
            <a:r>
              <a:rPr sz="1800" dirty="0">
                <a:solidFill>
                  <a:srgbClr val="F5F5F5"/>
                </a:solidFill>
                <a:latin typeface="Arial"/>
              </a:rPr>
              <a:t>Look at the people who happened to receive treatment.
Their baseline characteristics may differ from untreated people.</a:t>
            </a:r>
          </a:p>
        </p:txBody>
      </p: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E0E7DBE8-1B0F-1E99-F0AB-D9CAAD48059B}"/>
              </a:ext>
            </a:extLst>
          </p:cNvPr>
          <p:cNvSpPr/>
          <p:nvPr/>
        </p:nvSpPr>
        <p:spPr>
          <a:xfrm>
            <a:off x="4709160" y="1428750"/>
            <a:ext cx="4247804" cy="2286000"/>
          </a:xfrm>
          <a:prstGeom prst="roundRect">
            <a:avLst/>
          </a:prstGeom>
          <a:solidFill>
            <a:srgbClr val="2D2F32"/>
          </a:solidFill>
          <a:ln w="15240">
            <a:solidFill>
              <a:srgbClr val="78C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sz="1800" b="1">
                <a:solidFill>
                  <a:srgbClr val="78C28C"/>
                </a:solidFill>
                <a:latin typeface="Arial"/>
              </a:rPr>
              <a:t>Intervention: do(T = 1)</a:t>
            </a:r>
          </a:p>
          <a:p>
            <a:pPr algn="ctr"/>
            <a:r>
              <a:rPr sz="1800">
                <a:solidFill>
                  <a:srgbClr val="F5F5F5"/>
                </a:solidFill>
                <a:latin typeface="Arial"/>
              </a:rPr>
              <a:t>Force treatment to 1 for the target population.
The usual treatment-selection process is bypassed.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ounded Rectangle 4">
                <a:extLst>
                  <a:ext uri="{FF2B5EF4-FFF2-40B4-BE49-F238E27FC236}">
                    <a16:creationId xmlns:a16="http://schemas.microsoft.com/office/drawing/2014/main" id="{15834B74-D22E-E8FC-FF93-371A1EF3236F}"/>
                  </a:ext>
                </a:extLst>
              </p:cNvPr>
              <p:cNvSpPr/>
              <p:nvPr/>
            </p:nvSpPr>
            <p:spPr>
              <a:xfrm>
                <a:off x="941416" y="4072369"/>
                <a:ext cx="7410796" cy="655667"/>
              </a:xfrm>
              <a:prstGeom prst="roundRect">
                <a:avLst/>
              </a:prstGeom>
              <a:solidFill>
                <a:srgbClr val="222427"/>
              </a:solidFill>
              <a:ln w="19050">
                <a:solidFill>
                  <a:srgbClr val="FDBB3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109728" rIns="109728" rtlCol="0" anchor="ctr"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chemeClr val="lt1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algn="ctr"/>
                <a14:m>
                  <m:oMath xmlns:m="http://schemas.openxmlformats.org/officeDocument/2006/math">
                    <m:r>
                      <a:rPr lang="en-US" sz="19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19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sz="19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19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19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9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19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sz="1900" b="1" dirty="0">
                    <a:solidFill>
                      <a:srgbClr val="FDBB30"/>
                    </a:solidFill>
                    <a:latin typeface="Arial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9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19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sz="19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19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𝒅𝒐</m:t>
                    </m:r>
                    <m:r>
                      <a:rPr lang="en-US" sz="19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19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9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1900" b="1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sz="1900" b="1" dirty="0">
                    <a:solidFill>
                      <a:srgbClr val="FDBB30"/>
                    </a:solidFill>
                    <a:latin typeface="Arial"/>
                  </a:rPr>
                  <a:t> answer different questions.</a:t>
                </a:r>
              </a:p>
            </p:txBody>
          </p:sp>
        </mc:Choice>
        <mc:Fallback>
          <p:sp>
            <p:nvSpPr>
              <p:cNvPr id="10" name="Rounded Rectangle 4">
                <a:extLst>
                  <a:ext uri="{FF2B5EF4-FFF2-40B4-BE49-F238E27FC236}">
                    <a16:creationId xmlns:a16="http://schemas.microsoft.com/office/drawing/2014/main" id="{15834B74-D22E-E8FC-FF93-371A1EF323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416" y="4072369"/>
                <a:ext cx="7410796" cy="65566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rgbClr val="FDBB3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882544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CACE3-295F-1093-DAAF-20568CB2D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2A16D0-F08E-AF5C-9EBA-391C9406D367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Numerical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4D7A3C-9F2D-CD98-74D1-A8D627C9113B}"/>
              </a:ext>
            </a:extLst>
          </p:cNvPr>
          <p:cNvSpPr txBox="1"/>
          <p:nvPr/>
        </p:nvSpPr>
        <p:spPr>
          <a:xfrm>
            <a:off x="731520" y="109728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70ACE8"/>
                </a:solidFill>
                <a:latin typeface="Arial"/>
              </a:rPr>
              <a:t>Outcome rule: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C20325-D1B2-E14C-F292-743D878FC95B}"/>
                  </a:ext>
                </a:extLst>
              </p:cNvPr>
              <p:cNvSpPr txBox="1"/>
              <p:nvPr/>
            </p:nvSpPr>
            <p:spPr>
              <a:xfrm>
                <a:off x="2194560" y="1003384"/>
                <a:ext cx="5029200" cy="507831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700" b="0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700" b="0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 = 120 + 10</m:t>
                      </m:r>
                      <m:r>
                        <a:rPr lang="en-US" sz="2700" b="0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700" b="0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 − 6</m:t>
                      </m:r>
                      <m:r>
                        <a:rPr lang="en-US" sz="2700" b="0" i="1" dirty="0" smtClean="0">
                          <a:solidFill>
                            <a:srgbClr val="F6B62F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sz="2700" b="0" dirty="0">
                  <a:solidFill>
                    <a:srgbClr val="F6B62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C20325-D1B2-E14C-F292-743D878FC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560" y="1003384"/>
                <a:ext cx="5029200" cy="5078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ounded Rectangle 4">
                <a:extLst>
                  <a:ext uri="{FF2B5EF4-FFF2-40B4-BE49-F238E27FC236}">
                    <a16:creationId xmlns:a16="http://schemas.microsoft.com/office/drawing/2014/main" id="{E16BB86D-A835-2147-DE8B-2057FB4F23FD}"/>
                  </a:ext>
                </a:extLst>
              </p:cNvPr>
              <p:cNvSpPr/>
              <p:nvPr/>
            </p:nvSpPr>
            <p:spPr>
              <a:xfrm>
                <a:off x="822960" y="1874519"/>
                <a:ext cx="3749040" cy="1714502"/>
              </a:xfrm>
              <a:prstGeom prst="roundRect">
                <a:avLst/>
              </a:prstGeom>
              <a:solidFill>
                <a:srgbClr val="2D2F32"/>
              </a:solidFill>
              <a:ln w="15240">
                <a:solidFill>
                  <a:srgbClr val="78C28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09728" tIns="73152" rIns="109728" bIns="73152" rtlCol="0" anchor="ctr"/>
              <a:lstStyle/>
              <a:p>
                <a:pPr algn="ctr"/>
                <a:r>
                  <a:rPr sz="1800" b="1" dirty="0">
                    <a:solidFill>
                      <a:srgbClr val="78C28C"/>
                    </a:solidFill>
                    <a:latin typeface="Arial"/>
                  </a:rPr>
                  <a:t>Patient A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9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9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 = +1 (</m:t>
                      </m:r>
                      <m:r>
                        <a:rPr lang="en-US" sz="19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𝑠𝑖𝑐𝑘𝑒𝑟</m:t>
                      </m:r>
                      <m:r>
                        <a:rPr lang="en-US" sz="19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1900" dirty="0">
                  <a:solidFill>
                    <a:srgbClr val="F5F5F5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11" name="Rounded Rectangle 4">
                <a:extLst>
                  <a:ext uri="{FF2B5EF4-FFF2-40B4-BE49-F238E27FC236}">
                    <a16:creationId xmlns:a16="http://schemas.microsoft.com/office/drawing/2014/main" id="{E16BB86D-A835-2147-DE8B-2057FB4F23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1874519"/>
                <a:ext cx="3749040" cy="171450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5240">
                <a:solidFill>
                  <a:srgbClr val="78C28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ounded Rectangle 5">
                <a:extLst>
                  <a:ext uri="{FF2B5EF4-FFF2-40B4-BE49-F238E27FC236}">
                    <a16:creationId xmlns:a16="http://schemas.microsoft.com/office/drawing/2014/main" id="{53B10536-3941-4E85-FCBE-7729A45C0819}"/>
                  </a:ext>
                </a:extLst>
              </p:cNvPr>
              <p:cNvSpPr/>
              <p:nvPr/>
            </p:nvSpPr>
            <p:spPr>
              <a:xfrm>
                <a:off x="4937760" y="1874519"/>
                <a:ext cx="3652058" cy="1714502"/>
              </a:xfrm>
              <a:prstGeom prst="roundRect">
                <a:avLst/>
              </a:prstGeom>
              <a:solidFill>
                <a:srgbClr val="2D2F32"/>
              </a:solidFill>
              <a:ln w="15240">
                <a:solidFill>
                  <a:srgbClr val="70ACE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09728" tIns="73152" rIns="109728" bIns="73152" rtlCol="0" anchor="ctr"/>
              <a:lstStyle/>
              <a:p>
                <a:pPr algn="ctr"/>
                <a:r>
                  <a:rPr sz="1800" b="1" dirty="0">
                    <a:solidFill>
                      <a:srgbClr val="70ACE8"/>
                    </a:solidFill>
                    <a:latin typeface="Arial"/>
                  </a:rPr>
                  <a:t>Patient B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9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9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 = −1 (</m:t>
                      </m:r>
                      <m:r>
                        <a:rPr lang="en-US" sz="19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ℎ𝑒𝑎𝑙𝑡ℎ𝑖𝑒𝑟</m:t>
                      </m:r>
                      <m:r>
                        <a:rPr lang="en-US" sz="19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1900" dirty="0">
                  <a:solidFill>
                    <a:srgbClr val="F5F5F5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13" name="Rounded Rectangle 5">
                <a:extLst>
                  <a:ext uri="{FF2B5EF4-FFF2-40B4-BE49-F238E27FC236}">
                    <a16:creationId xmlns:a16="http://schemas.microsoft.com/office/drawing/2014/main" id="{53B10536-3941-4E85-FCBE-7729A45C08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760" y="1874519"/>
                <a:ext cx="3652058" cy="1714502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5240">
                <a:solidFill>
                  <a:srgbClr val="70ACE8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A46118B2-B861-0676-7D53-879B791AD927}"/>
              </a:ext>
            </a:extLst>
          </p:cNvPr>
          <p:cNvSpPr txBox="1"/>
          <p:nvPr/>
        </p:nvSpPr>
        <p:spPr>
          <a:xfrm>
            <a:off x="976745" y="38862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F5F5F5"/>
                </a:solidFill>
                <a:latin typeface="Arial"/>
              </a:rPr>
              <a:t>Observed comparison: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397385-0E54-208B-E6EF-9524E0310282}"/>
                  </a:ext>
                </a:extLst>
              </p:cNvPr>
              <p:cNvSpPr txBox="1"/>
              <p:nvPr/>
            </p:nvSpPr>
            <p:spPr>
              <a:xfrm>
                <a:off x="3427614" y="3815387"/>
                <a:ext cx="3222568" cy="46166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400" b="0" i="1" dirty="0" smtClean="0">
                          <a:solidFill>
                            <a:srgbClr val="F26C63"/>
                          </a:solidFill>
                          <a:latin typeface="Cambria Math" panose="02040503050406030204" pitchFamily="18" charset="0"/>
                        </a:rPr>
                        <m:t>124 − 110 = +14</m:t>
                      </m:r>
                    </m:oMath>
                  </m:oMathPara>
                </a14:m>
                <a:endParaRPr sz="2400" b="0" dirty="0">
                  <a:solidFill>
                    <a:srgbClr val="F26C63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397385-0E54-208B-E6EF-9524E0310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7614" y="3815387"/>
                <a:ext cx="322256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7BFA47D5-1927-6D32-9C7E-4EE4659E653F}"/>
              </a:ext>
            </a:extLst>
          </p:cNvPr>
          <p:cNvSpPr txBox="1"/>
          <p:nvPr/>
        </p:nvSpPr>
        <p:spPr>
          <a:xfrm>
            <a:off x="301868" y="4328469"/>
            <a:ext cx="8622854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dirty="0">
                <a:solidFill>
                  <a:srgbClr val="FDBB30"/>
                </a:solidFill>
                <a:latin typeface="Arial"/>
              </a:rPr>
              <a:t>But treatment itself lowers Y by 6. Baseline severity created the misleading observed difference.</a:t>
            </a:r>
          </a:p>
        </p:txBody>
      </p:sp>
    </p:spTree>
    <p:extLst>
      <p:ext uri="{BB962C8B-B14F-4D97-AF65-F5344CB8AC3E}">
        <p14:creationId xmlns:p14="http://schemas.microsoft.com/office/powerpoint/2010/main" val="129407549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4F851-19FA-17C6-06CC-1F7C9B483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1F6CF4-9B24-36C3-9E58-809C05BE1DD1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Three Different Questions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ounded Rectangle 2">
                <a:extLst>
                  <a:ext uri="{FF2B5EF4-FFF2-40B4-BE49-F238E27FC236}">
                    <a16:creationId xmlns:a16="http://schemas.microsoft.com/office/drawing/2014/main" id="{9D6182D1-3ABB-EBFA-D4C9-AEC36A12F416}"/>
                  </a:ext>
                </a:extLst>
              </p:cNvPr>
              <p:cNvSpPr/>
              <p:nvPr/>
            </p:nvSpPr>
            <p:spPr>
              <a:xfrm>
                <a:off x="169188" y="1325880"/>
                <a:ext cx="2751513" cy="2468880"/>
              </a:xfrm>
              <a:prstGeom prst="roundRect">
                <a:avLst/>
              </a:prstGeom>
              <a:solidFill>
                <a:srgbClr val="2D2F32"/>
              </a:solidFill>
              <a:ln w="15240">
                <a:solidFill>
                  <a:srgbClr val="70ACE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09728" tIns="73152" rIns="109728" bIns="73152" rtlCol="0" anchor="ctr"/>
              <a:lstStyle/>
              <a:p>
                <a:pPr algn="ctr"/>
                <a:r>
                  <a:rPr sz="1800" b="1" dirty="0">
                    <a:solidFill>
                      <a:srgbClr val="70ACE8"/>
                    </a:solidFill>
                    <a:latin typeface="Arial"/>
                  </a:rPr>
                  <a:t>1. Association</a:t>
                </a:r>
              </a:p>
              <a:p>
                <a:pPr algn="ctr"/>
                <a:r>
                  <a:rPr sz="1700" dirty="0">
                    <a:solidFill>
                      <a:srgbClr val="F5F5F5"/>
                    </a:solidFill>
                    <a:latin typeface="Arial"/>
                  </a:rPr>
                  <a:t>What is Y among people we observe with T=1 versus T=0?
</a:t>
                </a:r>
                <a14:m>
                  <m:oMath xmlns:m="http://schemas.openxmlformats.org/officeDocument/2006/math"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1700" dirty="0">
                  <a:solidFill>
                    <a:srgbClr val="F5F5F5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5" name="Rounded Rectangle 2">
                <a:extLst>
                  <a:ext uri="{FF2B5EF4-FFF2-40B4-BE49-F238E27FC236}">
                    <a16:creationId xmlns:a16="http://schemas.microsoft.com/office/drawing/2014/main" id="{9D6182D1-3ABB-EBFA-D4C9-AEC36A12F4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88" y="1325880"/>
                <a:ext cx="2751513" cy="246888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5240">
                <a:solidFill>
                  <a:srgbClr val="70ACE8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ounded Rectangle 3">
                <a:extLst>
                  <a:ext uri="{FF2B5EF4-FFF2-40B4-BE49-F238E27FC236}">
                    <a16:creationId xmlns:a16="http://schemas.microsoft.com/office/drawing/2014/main" id="{85DB022F-3104-6A80-2499-D768BC142849}"/>
                  </a:ext>
                </a:extLst>
              </p:cNvPr>
              <p:cNvSpPr/>
              <p:nvPr/>
            </p:nvSpPr>
            <p:spPr>
              <a:xfrm>
                <a:off x="3063241" y="1325880"/>
                <a:ext cx="2834639" cy="2468880"/>
              </a:xfrm>
              <a:prstGeom prst="roundRect">
                <a:avLst/>
              </a:prstGeom>
              <a:solidFill>
                <a:srgbClr val="2D2F32"/>
              </a:solidFill>
              <a:ln w="15240">
                <a:solidFill>
                  <a:srgbClr val="78C28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09728" tIns="73152" rIns="109728" bIns="73152" rtlCol="0" anchor="ctr"/>
              <a:lstStyle/>
              <a:p>
                <a:pPr algn="ctr"/>
                <a:r>
                  <a:rPr sz="1800" b="1" dirty="0">
                    <a:solidFill>
                      <a:srgbClr val="78C28C"/>
                    </a:solidFill>
                    <a:latin typeface="Arial"/>
                  </a:rPr>
                  <a:t>2. Intervention</a:t>
                </a:r>
              </a:p>
              <a:p>
                <a:pPr algn="ctr"/>
                <a:r>
                  <a:rPr sz="1700" dirty="0">
                    <a:solidFill>
                      <a:srgbClr val="F5F5F5"/>
                    </a:solidFill>
                    <a:latin typeface="Arial"/>
                  </a:rPr>
                  <a:t>What would Y be if we forced T=t for the target population?
</a:t>
                </a:r>
                <a14:m>
                  <m:oMath xmlns:m="http://schemas.openxmlformats.org/officeDocument/2006/math"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𝑑𝑜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sz="1700" dirty="0">
                  <a:solidFill>
                    <a:srgbClr val="F5F5F5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8" name="Rounded Rectangle 3">
                <a:extLst>
                  <a:ext uri="{FF2B5EF4-FFF2-40B4-BE49-F238E27FC236}">
                    <a16:creationId xmlns:a16="http://schemas.microsoft.com/office/drawing/2014/main" id="{85DB022F-3104-6A80-2499-D768BC1428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3241" y="1325880"/>
                <a:ext cx="2834639" cy="246888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5240">
                <a:solidFill>
                  <a:srgbClr val="78C28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ounded Rectangle 4">
                <a:extLst>
                  <a:ext uri="{FF2B5EF4-FFF2-40B4-BE49-F238E27FC236}">
                    <a16:creationId xmlns:a16="http://schemas.microsoft.com/office/drawing/2014/main" id="{56298649-4A61-45D0-A46B-7582AB9CA13D}"/>
                  </a:ext>
                </a:extLst>
              </p:cNvPr>
              <p:cNvSpPr/>
              <p:nvPr/>
            </p:nvSpPr>
            <p:spPr>
              <a:xfrm>
                <a:off x="6080759" y="1325880"/>
                <a:ext cx="2945477" cy="2468880"/>
              </a:xfrm>
              <a:prstGeom prst="roundRect">
                <a:avLst/>
              </a:prstGeom>
              <a:solidFill>
                <a:srgbClr val="2D2F32"/>
              </a:solidFill>
              <a:ln w="15240">
                <a:solidFill>
                  <a:srgbClr val="CAA3E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09728" tIns="73152" rIns="109728" bIns="73152" rtlCol="0" anchor="ctr"/>
              <a:lstStyle/>
              <a:p>
                <a:pPr algn="ctr"/>
                <a:r>
                  <a:rPr sz="1800" b="1" dirty="0">
                    <a:solidFill>
                      <a:srgbClr val="CAA3E5"/>
                    </a:solidFill>
                    <a:latin typeface="Arial"/>
                  </a:rPr>
                  <a:t>3. Counterfactual</a:t>
                </a:r>
              </a:p>
              <a:p>
                <a:pPr algn="ctr"/>
                <a:r>
                  <a:rPr sz="1700" dirty="0">
                    <a:solidFill>
                      <a:srgbClr val="F5F5F5"/>
                    </a:solidFill>
                    <a:latin typeface="Arial"/>
                  </a:rPr>
                  <a:t>For this same person, what would Y have been under another treatment?
</a:t>
                </a:r>
                <a14:m>
                  <m:oMath xmlns:m="http://schemas.openxmlformats.org/officeDocument/2006/math"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7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1700" dirty="0">
                  <a:solidFill>
                    <a:srgbClr val="F5F5F5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10" name="Rounded Rectangle 4">
                <a:extLst>
                  <a:ext uri="{FF2B5EF4-FFF2-40B4-BE49-F238E27FC236}">
                    <a16:creationId xmlns:a16="http://schemas.microsoft.com/office/drawing/2014/main" id="{56298649-4A61-45D0-A46B-7582AB9CA1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759" y="1325880"/>
                <a:ext cx="2945477" cy="246888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5240">
                <a:solidFill>
                  <a:srgbClr val="CAA3E5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066407F5-1A86-EDDB-0DF4-06FDD28DC0A8}"/>
              </a:ext>
            </a:extLst>
          </p:cNvPr>
          <p:cNvSpPr txBox="1"/>
          <p:nvPr/>
        </p:nvSpPr>
        <p:spPr>
          <a:xfrm>
            <a:off x="290892" y="4360127"/>
            <a:ext cx="8524539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FDBB30"/>
                </a:solidFill>
                <a:latin typeface="Arial"/>
              </a:rPr>
              <a:t>SCM gives one framework for all three</a:t>
            </a:r>
            <a:r>
              <a:rPr lang="en-US" sz="1800" b="1" dirty="0">
                <a:solidFill>
                  <a:srgbClr val="FDBB30"/>
                </a:solidFill>
                <a:latin typeface="Arial"/>
              </a:rPr>
              <a:t>,</a:t>
            </a:r>
            <a:r>
              <a:rPr sz="1800" b="1" dirty="0">
                <a:solidFill>
                  <a:srgbClr val="FDBB30"/>
                </a:solidFill>
                <a:latin typeface="Arial"/>
              </a:rPr>
              <a:t> but they are not the same question.</a:t>
            </a:r>
          </a:p>
        </p:txBody>
      </p:sp>
    </p:spTree>
    <p:extLst>
      <p:ext uri="{BB962C8B-B14F-4D97-AF65-F5344CB8AC3E}">
        <p14:creationId xmlns:p14="http://schemas.microsoft.com/office/powerpoint/2010/main" val="316756956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FBFF7-A710-064D-920B-1BA6E89C8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FD9340-9A9B-116D-BD04-971D3652B9E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Counterfactual: Same person, Different treatment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8D182C-3EEE-1919-7549-689D1C63775A}"/>
              </a:ext>
            </a:extLst>
          </p:cNvPr>
          <p:cNvSpPr txBox="1"/>
          <p:nvPr/>
        </p:nvSpPr>
        <p:spPr>
          <a:xfrm>
            <a:off x="665017" y="1191463"/>
            <a:ext cx="3640975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70ACE8"/>
                </a:solidFill>
                <a:latin typeface="Arial"/>
              </a:rPr>
              <a:t>Suppose one person has: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2EB9E4-000D-D42B-8151-71557A43F88E}"/>
                  </a:ext>
                </a:extLst>
              </p:cNvPr>
              <p:cNvSpPr txBox="1"/>
              <p:nvPr/>
            </p:nvSpPr>
            <p:spPr>
              <a:xfrm>
                <a:off x="3632661" y="1099130"/>
                <a:ext cx="4389120" cy="477054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500" b="0" i="1" dirty="0" smtClean="0">
                          <a:solidFill>
                            <a:srgbClr val="78C28C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500" b="0" i="1" dirty="0" smtClean="0">
                          <a:solidFill>
                            <a:srgbClr val="78C28C"/>
                          </a:solidFill>
                          <a:latin typeface="Cambria Math" panose="02040503050406030204" pitchFamily="18" charset="0"/>
                        </a:rPr>
                        <m:t> = 1.5      </m:t>
                      </m:r>
                      <m:sSub>
                        <m:sSubPr>
                          <m:ctrlPr>
                            <a:rPr lang="en-US" sz="2500" b="0" i="1" dirty="0" smtClean="0">
                              <a:solidFill>
                                <a:srgbClr val="78C28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b="0" i="1" dirty="0" smtClean="0">
                              <a:solidFill>
                                <a:srgbClr val="78C28C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2500" b="0" i="1" dirty="0" smtClean="0">
                              <a:solidFill>
                                <a:srgbClr val="78C28C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sz="2500" b="0" i="1" dirty="0" smtClean="0">
                          <a:solidFill>
                            <a:srgbClr val="78C28C"/>
                          </a:solidFill>
                          <a:latin typeface="Cambria Math" panose="02040503050406030204" pitchFamily="18" charset="0"/>
                        </a:rPr>
                        <m:t> = 2</m:t>
                      </m:r>
                    </m:oMath>
                  </m:oMathPara>
                </a14:m>
                <a:endParaRPr sz="2500" b="0" dirty="0">
                  <a:solidFill>
                    <a:srgbClr val="78C28C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2EB9E4-000D-D42B-8151-71557A43F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2661" y="1099130"/>
                <a:ext cx="4389120" cy="4770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1448D3C-EF7F-BCCE-FFD6-E9832B419523}"/>
              </a:ext>
            </a:extLst>
          </p:cNvPr>
          <p:cNvSpPr txBox="1"/>
          <p:nvPr/>
        </p:nvSpPr>
        <p:spPr>
          <a:xfrm>
            <a:off x="796637" y="2008563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F5F5F5"/>
                </a:solidFill>
                <a:latin typeface="Arial"/>
              </a:rPr>
              <a:t>Keep these person-specific background factors fixed.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ounded Rectangle 5">
                <a:extLst>
                  <a:ext uri="{FF2B5EF4-FFF2-40B4-BE49-F238E27FC236}">
                    <a16:creationId xmlns:a16="http://schemas.microsoft.com/office/drawing/2014/main" id="{ACAABD7A-013D-017E-D6ED-42119EC14E57}"/>
                  </a:ext>
                </a:extLst>
              </p:cNvPr>
              <p:cNvSpPr/>
              <p:nvPr/>
            </p:nvSpPr>
            <p:spPr>
              <a:xfrm>
                <a:off x="235527" y="2606040"/>
                <a:ext cx="4287982" cy="1619594"/>
              </a:xfrm>
              <a:prstGeom prst="roundRect">
                <a:avLst/>
              </a:prstGeom>
              <a:solidFill>
                <a:srgbClr val="2D2F32"/>
              </a:solidFill>
              <a:ln w="15240">
                <a:solidFill>
                  <a:srgbClr val="78C28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09728" tIns="73152" rIns="109728" bIns="73152" rtlCol="0" anchor="ctr"/>
              <a:lstStyle/>
              <a:p>
                <a:pPr algn="ctr"/>
                <a:r>
                  <a:rPr sz="1800" b="1" dirty="0">
                    <a:solidFill>
                      <a:srgbClr val="78C28C"/>
                    </a:solidFill>
                    <a:latin typeface="Arial"/>
                  </a:rPr>
                  <a:t>World 1: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78C28C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1800" b="1" i="1" dirty="0" smtClean="0">
                        <a:solidFill>
                          <a:srgbClr val="78C28C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800" b="1" i="1" dirty="0" smtClean="0">
                        <a:solidFill>
                          <a:srgbClr val="78C28C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sz="1800" b="1" dirty="0">
                  <a:solidFill>
                    <a:srgbClr val="78C28C"/>
                  </a:solidFill>
                  <a:latin typeface="Arial"/>
                </a:endParaRPr>
              </a:p>
              <a:p>
                <a:pPr algn="ctr"/>
                <a:endParaRPr sz="1800" b="1" dirty="0">
                  <a:solidFill>
                    <a:srgbClr val="78C28C"/>
                  </a:solidFill>
                  <a:latin typeface="Arial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7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7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(1) = 120 + 10(1.5) − 6 + 2 = 131</m:t>
                      </m:r>
                    </m:oMath>
                  </m:oMathPara>
                </a14:m>
                <a:endParaRPr sz="1700" dirty="0">
                  <a:solidFill>
                    <a:srgbClr val="F5F5F5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13" name="Rounded Rectangle 5">
                <a:extLst>
                  <a:ext uri="{FF2B5EF4-FFF2-40B4-BE49-F238E27FC236}">
                    <a16:creationId xmlns:a16="http://schemas.microsoft.com/office/drawing/2014/main" id="{ACAABD7A-013D-017E-D6ED-42119EC14E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27" y="2606040"/>
                <a:ext cx="4287982" cy="161959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5240">
                <a:solidFill>
                  <a:srgbClr val="78C28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ounded Rectangle 6">
                <a:extLst>
                  <a:ext uri="{FF2B5EF4-FFF2-40B4-BE49-F238E27FC236}">
                    <a16:creationId xmlns:a16="http://schemas.microsoft.com/office/drawing/2014/main" id="{AE130FE1-C25C-BBCB-F34F-BE367744CA25}"/>
                  </a:ext>
                </a:extLst>
              </p:cNvPr>
              <p:cNvSpPr/>
              <p:nvPr/>
            </p:nvSpPr>
            <p:spPr>
              <a:xfrm>
                <a:off x="4846320" y="2606039"/>
                <a:ext cx="4012062" cy="1619595"/>
              </a:xfrm>
              <a:prstGeom prst="roundRect">
                <a:avLst/>
              </a:prstGeom>
              <a:solidFill>
                <a:srgbClr val="2D2F32"/>
              </a:solidFill>
              <a:ln w="15240">
                <a:solidFill>
                  <a:srgbClr val="CAA3E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09728" tIns="73152" rIns="109728" bIns="73152" rtlCol="0" anchor="ctr"/>
              <a:lstStyle/>
              <a:p>
                <a:pPr algn="ctr"/>
                <a:r>
                  <a:rPr sz="1800" b="1" dirty="0">
                    <a:solidFill>
                      <a:srgbClr val="CAA3E5"/>
                    </a:solidFill>
                    <a:latin typeface="Arial"/>
                  </a:rPr>
                  <a:t>World 0: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CAA3E5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1800" b="1" i="1" dirty="0" smtClean="0">
                        <a:solidFill>
                          <a:srgbClr val="CAA3E5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800" b="1" i="1" dirty="0" smtClean="0">
                        <a:solidFill>
                          <a:srgbClr val="CAA3E5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1800" b="1" dirty="0">
                  <a:solidFill>
                    <a:srgbClr val="CAA3E5"/>
                  </a:solidFill>
                  <a:latin typeface="Arial"/>
                </a:endParaRPr>
              </a:p>
              <a:p>
                <a:pPr algn="ctr"/>
                <a:endParaRPr sz="1800" b="1" dirty="0">
                  <a:solidFill>
                    <a:srgbClr val="CAA3E5"/>
                  </a:solidFill>
                  <a:latin typeface="Arial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7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700" i="1" dirty="0" smtClean="0">
                          <a:solidFill>
                            <a:srgbClr val="F5F5F5"/>
                          </a:solidFill>
                          <a:latin typeface="Cambria Math" panose="02040503050406030204" pitchFamily="18" charset="0"/>
                        </a:rPr>
                        <m:t>(0) = 120 + 10(1.5) + 2 = 137</m:t>
                      </m:r>
                    </m:oMath>
                  </m:oMathPara>
                </a14:m>
                <a:endParaRPr sz="1700" dirty="0">
                  <a:solidFill>
                    <a:srgbClr val="F5F5F5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16" name="Rounded Rectangle 6">
                <a:extLst>
                  <a:ext uri="{FF2B5EF4-FFF2-40B4-BE49-F238E27FC236}">
                    <a16:creationId xmlns:a16="http://schemas.microsoft.com/office/drawing/2014/main" id="{AE130FE1-C25C-BBCB-F34F-BE367744CA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320" y="2606039"/>
                <a:ext cx="4012062" cy="161959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5240">
                <a:solidFill>
                  <a:srgbClr val="CAA3E5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3373F485-1F34-0C7B-7C06-89BDC4AA66D4}"/>
              </a:ext>
            </a:extLst>
          </p:cNvPr>
          <p:cNvSpPr txBox="1"/>
          <p:nvPr/>
        </p:nvSpPr>
        <p:spPr>
          <a:xfrm>
            <a:off x="2294312" y="4535839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 dirty="0">
                <a:solidFill>
                  <a:srgbClr val="FDBB30"/>
                </a:solidFill>
                <a:latin typeface="Cambria Math"/>
              </a:rPr>
              <a:t>Y(1) − Y(0) = −6</a:t>
            </a:r>
          </a:p>
        </p:txBody>
      </p:sp>
    </p:spTree>
    <p:extLst>
      <p:ext uri="{BB962C8B-B14F-4D97-AF65-F5344CB8AC3E}">
        <p14:creationId xmlns:p14="http://schemas.microsoft.com/office/powerpoint/2010/main" val="90991237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FC591-7F66-BBF3-12CD-C592AE325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8E04FE-5954-DCAA-57DC-0BEE5A120032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g-Computation does the same thing</a:t>
            </a: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4F6D29F0-E5F6-C61D-DC0A-52F7F7CDE1B1}"/>
              </a:ext>
            </a:extLst>
          </p:cNvPr>
          <p:cNvSpPr/>
          <p:nvPr/>
        </p:nvSpPr>
        <p:spPr>
          <a:xfrm>
            <a:off x="242455" y="1712422"/>
            <a:ext cx="2500745" cy="962891"/>
          </a:xfrm>
          <a:prstGeom prst="roundRect">
            <a:avLst/>
          </a:prstGeom>
          <a:solidFill>
            <a:srgbClr val="24272A"/>
          </a:solidFill>
          <a:ln w="15240">
            <a:solidFill>
              <a:srgbClr val="78C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800" b="1" dirty="0">
                <a:solidFill>
                  <a:srgbClr val="78C28C"/>
                </a:solidFill>
                <a:latin typeface="Arial"/>
              </a:rPr>
              <a:t>1</a:t>
            </a:r>
          </a:p>
          <a:p>
            <a:pPr algn="ctr"/>
            <a:r>
              <a:rPr sz="1700" dirty="0">
                <a:solidFill>
                  <a:srgbClr val="F5F5F5"/>
                </a:solidFill>
                <a:latin typeface="Arial"/>
              </a:rPr>
              <a:t>set T = 1 and predict Y</a:t>
            </a: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20245FCB-D0B7-960B-87DF-06021C53B1F8}"/>
              </a:ext>
            </a:extLst>
          </p:cNvPr>
          <p:cNvSpPr/>
          <p:nvPr/>
        </p:nvSpPr>
        <p:spPr>
          <a:xfrm>
            <a:off x="3266209" y="1712422"/>
            <a:ext cx="2611581" cy="962891"/>
          </a:xfrm>
          <a:prstGeom prst="roundRect">
            <a:avLst/>
          </a:prstGeom>
          <a:solidFill>
            <a:srgbClr val="24272A"/>
          </a:solidFill>
          <a:ln w="15240">
            <a:solidFill>
              <a:srgbClr val="CAA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800" b="1" dirty="0">
                <a:solidFill>
                  <a:srgbClr val="CAA3E5"/>
                </a:solidFill>
                <a:latin typeface="Arial"/>
              </a:rPr>
              <a:t>2</a:t>
            </a:r>
          </a:p>
          <a:p>
            <a:pPr algn="ctr"/>
            <a:r>
              <a:rPr sz="1700" dirty="0">
                <a:solidFill>
                  <a:srgbClr val="F5F5F5"/>
                </a:solidFill>
                <a:latin typeface="Arial"/>
              </a:rPr>
              <a:t>set T = 0 and predict Y</a:t>
            </a: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56C7E692-F183-C48C-B901-A4B2EE637121}"/>
              </a:ext>
            </a:extLst>
          </p:cNvPr>
          <p:cNvSpPr/>
          <p:nvPr/>
        </p:nvSpPr>
        <p:spPr>
          <a:xfrm>
            <a:off x="6289964" y="1712421"/>
            <a:ext cx="2611581" cy="962891"/>
          </a:xfrm>
          <a:prstGeom prst="roundRect">
            <a:avLst/>
          </a:prstGeom>
          <a:solidFill>
            <a:srgbClr val="24272A"/>
          </a:solidFill>
          <a:ln w="15240">
            <a:solidFill>
              <a:srgbClr val="F6B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800" b="1" dirty="0">
                <a:solidFill>
                  <a:srgbClr val="F6B62F"/>
                </a:solidFill>
                <a:latin typeface="Arial"/>
              </a:rPr>
              <a:t>3</a:t>
            </a:r>
          </a:p>
          <a:p>
            <a:pPr algn="ctr"/>
            <a:r>
              <a:rPr sz="1700" dirty="0">
                <a:solidFill>
                  <a:srgbClr val="F5F5F5"/>
                </a:solidFill>
                <a:latin typeface="Arial"/>
              </a:rPr>
              <a:t>average the difference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652F5C-EE48-1DBF-9E7E-A561CC1F2180}"/>
              </a:ext>
            </a:extLst>
          </p:cNvPr>
          <p:cNvSpPr txBox="1"/>
          <p:nvPr/>
        </p:nvSpPr>
        <p:spPr>
          <a:xfrm>
            <a:off x="735676" y="3236420"/>
            <a:ext cx="7852542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F5F5F5"/>
                </a:solidFill>
                <a:latin typeface="Arial"/>
              </a:rPr>
              <a:t>That procedure is trying to emulate the two intervention worlds described by the SCM.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E3B5F3-57AF-37E3-B119-9798BB29D0ED}"/>
              </a:ext>
            </a:extLst>
          </p:cNvPr>
          <p:cNvSpPr txBox="1"/>
          <p:nvPr/>
        </p:nvSpPr>
        <p:spPr>
          <a:xfrm>
            <a:off x="665018" y="4434839"/>
            <a:ext cx="7514705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dirty="0">
                <a:solidFill>
                  <a:srgbClr val="C8CDD2"/>
                </a:solidFill>
                <a:latin typeface="Arial"/>
              </a:rPr>
              <a:t>The estimation model is not the SCM itself</a:t>
            </a:r>
            <a:r>
              <a:rPr lang="en-US" sz="1500" b="0" dirty="0">
                <a:solidFill>
                  <a:srgbClr val="C8CDD2"/>
                </a:solidFill>
                <a:latin typeface="Arial"/>
              </a:rPr>
              <a:t>,</a:t>
            </a:r>
            <a:r>
              <a:rPr sz="1500" b="0" dirty="0">
                <a:solidFill>
                  <a:srgbClr val="C8CDD2"/>
                </a:solidFill>
                <a:latin typeface="Arial"/>
              </a:rPr>
              <a:t> but the intervention logic is the same.</a:t>
            </a:r>
          </a:p>
        </p:txBody>
      </p:sp>
    </p:spTree>
    <p:extLst>
      <p:ext uri="{BB962C8B-B14F-4D97-AF65-F5344CB8AC3E}">
        <p14:creationId xmlns:p14="http://schemas.microsoft.com/office/powerpoint/2010/main" val="268096060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F8713-6FCB-9C71-170C-0C12826D3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334868-03A7-898D-0EB9-7E2D559810C0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Simulation: Build Data from SCM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092713-F30E-3E87-44D8-F5C4B32EB168}"/>
              </a:ext>
            </a:extLst>
          </p:cNvPr>
          <p:cNvSpPr txBox="1"/>
          <p:nvPr/>
        </p:nvSpPr>
        <p:spPr>
          <a:xfrm>
            <a:off x="418570" y="141322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0" dirty="0">
                <a:solidFill>
                  <a:srgbClr val="78C28C"/>
                </a:solidFill>
                <a:latin typeface="Cambria Math"/>
              </a:rPr>
              <a:t>C ~ Normal(0,1)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E48C2A-00FA-40BE-97AD-1ADB4B60F972}"/>
              </a:ext>
            </a:extLst>
          </p:cNvPr>
          <p:cNvSpPr txBox="1"/>
          <p:nvPr/>
        </p:nvSpPr>
        <p:spPr>
          <a:xfrm>
            <a:off x="2826328" y="1257100"/>
            <a:ext cx="3269673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 dirty="0">
                <a:solidFill>
                  <a:srgbClr val="70ACE8"/>
                </a:solidFill>
                <a:latin typeface="Cambria Math"/>
              </a:rPr>
              <a:t>P(T=1 | C) = logistic(1.2C)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75587F-07BE-9338-41AD-6BCF77D20EE7}"/>
              </a:ext>
            </a:extLst>
          </p:cNvPr>
          <p:cNvSpPr txBox="1"/>
          <p:nvPr/>
        </p:nvSpPr>
        <p:spPr>
          <a:xfrm>
            <a:off x="6407729" y="1319189"/>
            <a:ext cx="2096030" cy="738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0" dirty="0">
                <a:solidFill>
                  <a:srgbClr val="F6B62F"/>
                </a:solidFill>
                <a:latin typeface="Cambria Math"/>
              </a:rPr>
              <a:t>Y = 120 + 10C − 6T + 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FD24D4-85FA-F7BB-4AA8-5D979CD19613}"/>
              </a:ext>
            </a:extLst>
          </p:cNvPr>
          <p:cNvSpPr txBox="1"/>
          <p:nvPr/>
        </p:nvSpPr>
        <p:spPr>
          <a:xfrm>
            <a:off x="731520" y="21945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F5F5F5"/>
                </a:solidFill>
                <a:latin typeface="Arial"/>
              </a:rPr>
              <a:t>Interpretation: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4AB102-F66B-EED0-2782-7FBF99F12911}"/>
              </a:ext>
            </a:extLst>
          </p:cNvPr>
          <p:cNvSpPr txBox="1"/>
          <p:nvPr/>
        </p:nvSpPr>
        <p:spPr>
          <a:xfrm>
            <a:off x="803564" y="2616889"/>
            <a:ext cx="7315200" cy="969496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  <a:defRPr sz="1900">
                <a:solidFill>
                  <a:srgbClr val="F5F5F5"/>
                </a:solidFill>
                <a:latin typeface="Arial"/>
              </a:defRPr>
            </a:pPr>
            <a:r>
              <a:rPr dirty="0"/>
              <a:t>Sicker patients (larger C) are more likely to receive treatment.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  <a:defRPr sz="1900">
                <a:solidFill>
                  <a:srgbClr val="F5F5F5"/>
                </a:solidFill>
                <a:latin typeface="Arial"/>
              </a:defRPr>
            </a:pPr>
            <a:r>
              <a:rPr dirty="0"/>
              <a:t>Sicker patients also have higher Y.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  <a:defRPr sz="1900">
                <a:solidFill>
                  <a:srgbClr val="F5F5F5"/>
                </a:solidFill>
                <a:latin typeface="Arial"/>
              </a:defRPr>
            </a:pPr>
            <a:r>
              <a:rPr dirty="0"/>
              <a:t>Treatment truly lowers Y by 6 units.</a:t>
            </a:r>
          </a:p>
        </p:txBody>
      </p:sp>
      <p:sp>
        <p:nvSpPr>
          <p:cNvPr id="19" name="Rounded Rectangle 8">
            <a:extLst>
              <a:ext uri="{FF2B5EF4-FFF2-40B4-BE49-F238E27FC236}">
                <a16:creationId xmlns:a16="http://schemas.microsoft.com/office/drawing/2014/main" id="{60DE7C23-6473-9700-69EA-254DC11A5209}"/>
              </a:ext>
            </a:extLst>
          </p:cNvPr>
          <p:cNvSpPr/>
          <p:nvPr/>
        </p:nvSpPr>
        <p:spPr>
          <a:xfrm>
            <a:off x="2826328" y="3884898"/>
            <a:ext cx="4191000" cy="895912"/>
          </a:xfrm>
          <a:prstGeom prst="roundRect">
            <a:avLst/>
          </a:prstGeom>
          <a:solidFill>
            <a:srgbClr val="222427"/>
          </a:solidFill>
          <a:ln w="19050">
            <a:solidFill>
              <a:srgbClr val="FDB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2000" b="1" dirty="0">
                <a:solidFill>
                  <a:srgbClr val="FDBB30"/>
                </a:solidFill>
                <a:latin typeface="Arial"/>
              </a:rPr>
              <a:t>True intervention effect = −6</a:t>
            </a:r>
          </a:p>
        </p:txBody>
      </p:sp>
    </p:spTree>
    <p:extLst>
      <p:ext uri="{BB962C8B-B14F-4D97-AF65-F5344CB8AC3E}">
        <p14:creationId xmlns:p14="http://schemas.microsoft.com/office/powerpoint/2010/main" val="20157101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C5E68-8E61-451D-EF7E-18097A639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025F21-487C-98E7-92B7-D3B320A5D92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Simulation: Build Data from SCM</a:t>
            </a: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DC753403-7D21-B5D0-43C5-42EAA56E5B07}"/>
              </a:ext>
            </a:extLst>
          </p:cNvPr>
          <p:cNvSpPr/>
          <p:nvPr/>
        </p:nvSpPr>
        <p:spPr>
          <a:xfrm>
            <a:off x="731520" y="1097280"/>
            <a:ext cx="4572000" cy="3383280"/>
          </a:xfrm>
          <a:prstGeom prst="roundRect">
            <a:avLst/>
          </a:prstGeom>
          <a:solidFill>
            <a:srgbClr val="141618"/>
          </a:solidFill>
          <a:ln w="12700">
            <a:solidFill>
              <a:srgbClr val="4B5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tlCol="0" anchor="ctr"/>
          <a:lstStyle/>
          <a:p>
            <a:pPr algn="ctr"/>
            <a:r>
              <a:rPr sz="1500" dirty="0">
                <a:solidFill>
                  <a:srgbClr val="DCE1E6"/>
                </a:solidFill>
                <a:latin typeface="Consolas" panose="020B0609020204030204" pitchFamily="49" charset="0"/>
              </a:rPr>
              <a:t>set.seed(7900)
n &lt;- 5000
C &lt;- rnorm(n)
p &lt;- plogis(1.2*C)
T &lt;- rbinom(n, 1, p)
eps &lt;- rnorm(n, sd = 5)
Y &lt;- 120 + 10*C - 6*T + eps
dat &lt;- data.frame(C, T, Y)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E6E160-DACE-71A1-A2F8-F09A1E984A53}"/>
              </a:ext>
            </a:extLst>
          </p:cNvPr>
          <p:cNvSpPr txBox="1"/>
          <p:nvPr/>
        </p:nvSpPr>
        <p:spPr>
          <a:xfrm>
            <a:off x="5577840" y="1299555"/>
            <a:ext cx="2582487" cy="677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70ACE8"/>
                </a:solidFill>
                <a:latin typeface="Arial"/>
              </a:rPr>
              <a:t>Before fitting anything, predict: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0580CD6-B5EB-E048-4C36-3989A4AC7F87}"/>
                  </a:ext>
                </a:extLst>
              </p:cNvPr>
              <p:cNvSpPr txBox="1"/>
              <p:nvPr/>
            </p:nvSpPr>
            <p:spPr>
              <a:xfrm>
                <a:off x="5669280" y="2248972"/>
                <a:ext cx="2743200" cy="1923604"/>
              </a:xfrm>
              <a:prstGeom prst="rect">
                <a:avLst/>
              </a:prstGeom>
              <a:noFill/>
            </p:spPr>
            <p:txBody>
              <a:bodyPr wrap="square" lIns="73152" rIns="45720">
                <a:spAutoFit/>
              </a:bodyPr>
              <a:lstStyle/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  <a:defRPr sz="1700">
                    <a:solidFill>
                      <a:srgbClr val="F5F5F5"/>
                    </a:solidFill>
                    <a:latin typeface="Arial"/>
                  </a:defRPr>
                </a:pPr>
                <a:r>
                  <a:rPr dirty="0"/>
                  <a:t>Will treated and untreated patients have the same average C?</a:t>
                </a:r>
              </a:p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  <a:defRPr sz="1700">
                    <a:solidFill>
                      <a:srgbClr val="F5F5F5"/>
                    </a:solidFill>
                    <a:latin typeface="Arial"/>
                  </a:defRPr>
                </a:pPr>
                <a:r>
                  <a:rPr dirty="0"/>
                  <a:t>Will the crude difference in Y recover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−6</m:t>
                    </m:r>
                  </m:oMath>
                </a14:m>
                <a:r>
                  <a:rPr dirty="0"/>
                  <a:t>?</a:t>
                </a:r>
              </a:p>
              <a:p>
                <a:pPr marL="285750" indent="-285750">
                  <a:buClr>
                    <a:schemeClr val="bg1"/>
                  </a:buClr>
                  <a:buFont typeface="Arial" panose="020B0604020202020204" pitchFamily="34" charset="0"/>
                  <a:buChar char="•"/>
                  <a:defRPr sz="1700">
                    <a:solidFill>
                      <a:srgbClr val="F5F5F5"/>
                    </a:solidFill>
                    <a:latin typeface="Arial"/>
                  </a:defRPr>
                </a:pPr>
                <a:r>
                  <a:rPr dirty="0"/>
                  <a:t>What should happen after we adjust for C?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0580CD6-B5EB-E048-4C36-3989A4AC7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80" y="2248972"/>
                <a:ext cx="2743200" cy="1923604"/>
              </a:xfrm>
              <a:prstGeom prst="rect">
                <a:avLst/>
              </a:prstGeom>
              <a:blipFill>
                <a:blip r:embed="rId2"/>
                <a:stretch>
                  <a:fillRect l="-1778" t="-1270" r="-4667" b="-34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152829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A3651-B0CA-D092-6DA4-A9E8AB8FA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7695F0-018E-7011-8A37-4BFF33723B3C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Simulation: Build Data from SCM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015775-4616-6DE8-84DE-D8A3AFB69BB1}"/>
              </a:ext>
            </a:extLst>
          </p:cNvPr>
          <p:cNvSpPr txBox="1"/>
          <p:nvPr/>
        </p:nvSpPr>
        <p:spPr>
          <a:xfrm>
            <a:off x="640080" y="10972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70ACE8"/>
                </a:solidFill>
                <a:latin typeface="Arial"/>
              </a:rPr>
              <a:t>Observed mean Y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AF34265C-A41F-A0ED-0244-57ADCE5D09F3}"/>
              </a:ext>
            </a:extLst>
          </p:cNvPr>
          <p:cNvCxnSpPr/>
          <p:nvPr/>
        </p:nvCxnSpPr>
        <p:spPr>
          <a:xfrm flipV="1">
            <a:off x="1097280" y="1645920"/>
            <a:ext cx="0" cy="2423160"/>
          </a:xfrm>
          <a:prstGeom prst="line">
            <a:avLst/>
          </a:prstGeom>
          <a:ln w="17780">
            <a:solidFill>
              <a:srgbClr val="C8CDD2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7724F663-B905-F1F0-B578-716A8C08D89C}"/>
              </a:ext>
            </a:extLst>
          </p:cNvPr>
          <p:cNvSpPr/>
          <p:nvPr/>
        </p:nvSpPr>
        <p:spPr>
          <a:xfrm>
            <a:off x="1920240" y="2698623"/>
            <a:ext cx="1097280" cy="1324737"/>
          </a:xfrm>
          <a:prstGeom prst="rect">
            <a:avLst/>
          </a:prstGeom>
          <a:solidFill>
            <a:srgbClr val="CAA3E5"/>
          </a:solidFill>
          <a:ln>
            <a:solidFill>
              <a:srgbClr val="CAA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B1F657-EDC1-F804-9715-18C185A8B797}"/>
              </a:ext>
            </a:extLst>
          </p:cNvPr>
          <p:cNvSpPr txBox="1"/>
          <p:nvPr/>
        </p:nvSpPr>
        <p:spPr>
          <a:xfrm>
            <a:off x="1920240" y="2314575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5F5F5"/>
                </a:solidFill>
                <a:latin typeface="Arial"/>
              </a:rPr>
              <a:t>115.25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1F554C-38C0-4518-D44A-4D90AD58E3F1}"/>
              </a:ext>
            </a:extLst>
          </p:cNvPr>
          <p:cNvSpPr txBox="1"/>
          <p:nvPr/>
        </p:nvSpPr>
        <p:spPr>
          <a:xfrm>
            <a:off x="1920240" y="4114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C8CDD2"/>
                </a:solidFill>
                <a:latin typeface="Arial"/>
              </a:rPr>
              <a:t>T = 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379565-6EF9-2793-3EDA-7434777F6463}"/>
              </a:ext>
            </a:extLst>
          </p:cNvPr>
          <p:cNvSpPr/>
          <p:nvPr/>
        </p:nvSpPr>
        <p:spPr>
          <a:xfrm>
            <a:off x="3657600" y="2392847"/>
            <a:ext cx="1097280" cy="1630512"/>
          </a:xfrm>
          <a:prstGeom prst="rect">
            <a:avLst/>
          </a:prstGeom>
          <a:solidFill>
            <a:srgbClr val="70ACE8"/>
          </a:solidFill>
          <a:ln>
            <a:solidFill>
              <a:srgbClr val="70A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46D10A-3F80-4AD7-DF07-A507A4BD413C}"/>
              </a:ext>
            </a:extLst>
          </p:cNvPr>
          <p:cNvSpPr txBox="1"/>
          <p:nvPr/>
        </p:nvSpPr>
        <p:spPr>
          <a:xfrm>
            <a:off x="3657600" y="2008799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5F5F5"/>
                </a:solidFill>
                <a:latin typeface="Arial"/>
              </a:rPr>
              <a:t>118.77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CD9E16-02D8-CDE0-5E7E-D9FD02C11D35}"/>
              </a:ext>
            </a:extLst>
          </p:cNvPr>
          <p:cNvSpPr txBox="1"/>
          <p:nvPr/>
        </p:nvSpPr>
        <p:spPr>
          <a:xfrm>
            <a:off x="3657600" y="41148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C8CDD2"/>
                </a:solidFill>
                <a:latin typeface="Arial"/>
              </a:rPr>
              <a:t>T =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481368-501C-9AE7-8C2B-536B51CA22B2}"/>
              </a:ext>
            </a:extLst>
          </p:cNvPr>
          <p:cNvSpPr txBox="1"/>
          <p:nvPr/>
        </p:nvSpPr>
        <p:spPr>
          <a:xfrm>
            <a:off x="5275810" y="1280160"/>
            <a:ext cx="3459479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F5F5F5"/>
                </a:solidFill>
                <a:latin typeface="Arial"/>
              </a:rPr>
              <a:t>Crude observed difference: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0A7A9F-4C61-DF93-C6FB-ECCAB338B572}"/>
              </a:ext>
            </a:extLst>
          </p:cNvPr>
          <p:cNvSpPr txBox="1"/>
          <p:nvPr/>
        </p:nvSpPr>
        <p:spPr>
          <a:xfrm>
            <a:off x="5275810" y="2032068"/>
            <a:ext cx="3722716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 dirty="0">
                <a:solidFill>
                  <a:srgbClr val="F26C63"/>
                </a:solidFill>
                <a:latin typeface="Cambria Math"/>
              </a:rPr>
              <a:t>118.77 − 115.25 = +3.52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D56353-0B1E-1E24-DA3F-FED32D62200F}"/>
              </a:ext>
            </a:extLst>
          </p:cNvPr>
          <p:cNvSpPr txBox="1"/>
          <p:nvPr/>
        </p:nvSpPr>
        <p:spPr>
          <a:xfrm>
            <a:off x="5394960" y="2829242"/>
            <a:ext cx="3463422" cy="677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dirty="0">
                <a:solidFill>
                  <a:srgbClr val="FDBB30"/>
                </a:solidFill>
                <a:latin typeface="Arial"/>
              </a:rPr>
              <a:t>But the true treatment effect is −6.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9BFE71-0F74-BF65-CA04-5793933F3C54}"/>
              </a:ext>
            </a:extLst>
          </p:cNvPr>
          <p:cNvSpPr txBox="1"/>
          <p:nvPr/>
        </p:nvSpPr>
        <p:spPr>
          <a:xfrm>
            <a:off x="6217920" y="3675888"/>
            <a:ext cx="2011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dirty="0">
                <a:solidFill>
                  <a:srgbClr val="F26C63"/>
                </a:solidFill>
                <a:latin typeface="Arial"/>
              </a:rPr>
              <a:t>Wrong sign!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DD1AF1-8EA1-C5EA-CEFC-A800A332E2C8}"/>
              </a:ext>
            </a:extLst>
          </p:cNvPr>
          <p:cNvSpPr txBox="1"/>
          <p:nvPr/>
        </p:nvSpPr>
        <p:spPr>
          <a:xfrm>
            <a:off x="800793" y="4806315"/>
            <a:ext cx="7680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dirty="0">
                <a:solidFill>
                  <a:srgbClr val="969BA0"/>
                </a:solidFill>
                <a:latin typeface="Arial"/>
              </a:rPr>
              <a:t>One simulated realization; exact sample numbers vary slightly with the random-number generator.</a:t>
            </a:r>
          </a:p>
        </p:txBody>
      </p:sp>
    </p:spTree>
    <p:extLst>
      <p:ext uri="{BB962C8B-B14F-4D97-AF65-F5344CB8AC3E}">
        <p14:creationId xmlns:p14="http://schemas.microsoft.com/office/powerpoint/2010/main" val="306556387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D4EC-8C1A-5ED5-1CD7-8DDCFE5B6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DDF623-9131-7B35-37F4-27866FB6B0A8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Simulation adjust for Common Cause C</a:t>
            </a:r>
          </a:p>
        </p:txBody>
      </p:sp>
      <p:sp>
        <p:nvSpPr>
          <p:cNvPr id="14" name="Rounded Rectangle 2">
            <a:extLst>
              <a:ext uri="{FF2B5EF4-FFF2-40B4-BE49-F238E27FC236}">
                <a16:creationId xmlns:a16="http://schemas.microsoft.com/office/drawing/2014/main" id="{AF5FC277-D517-F7BC-B89C-120B243233BA}"/>
              </a:ext>
            </a:extLst>
          </p:cNvPr>
          <p:cNvSpPr/>
          <p:nvPr/>
        </p:nvSpPr>
        <p:spPr>
          <a:xfrm>
            <a:off x="267391" y="1112520"/>
            <a:ext cx="5018117" cy="3085408"/>
          </a:xfrm>
          <a:prstGeom prst="roundRect">
            <a:avLst/>
          </a:prstGeom>
          <a:solidFill>
            <a:srgbClr val="141618"/>
          </a:solidFill>
          <a:ln w="12700">
            <a:solidFill>
              <a:srgbClr val="4B5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tlCol="0" anchor="ctr"/>
          <a:lstStyle/>
          <a:p>
            <a:pPr algn="ctr"/>
            <a:r>
              <a:rPr sz="1500" dirty="0">
                <a:solidFill>
                  <a:srgbClr val="DCE1E6"/>
                </a:solidFill>
                <a:latin typeface="Consolas" panose="020B0609020204030204" pitchFamily="49" charset="0"/>
              </a:rPr>
              <a:t>fit_crude &lt;- lm(Y ~ T, data = dat)
fit_adj   &lt;- lm(Y ~ T + C, data = dat)
coef(fit_crude)["T"]
# about +3.5
coef(fit_adj)["T"]
# about -6.0</a:t>
            </a:r>
          </a:p>
        </p:txBody>
      </p:sp>
      <p:sp>
        <p:nvSpPr>
          <p:cNvPr id="18" name="Rounded Rectangle 3">
            <a:extLst>
              <a:ext uri="{FF2B5EF4-FFF2-40B4-BE49-F238E27FC236}">
                <a16:creationId xmlns:a16="http://schemas.microsoft.com/office/drawing/2014/main" id="{188B5BCB-0452-F106-5D5E-13051056BD03}"/>
              </a:ext>
            </a:extLst>
          </p:cNvPr>
          <p:cNvSpPr/>
          <p:nvPr/>
        </p:nvSpPr>
        <p:spPr>
          <a:xfrm>
            <a:off x="5450378" y="1719349"/>
            <a:ext cx="3108960" cy="1051560"/>
          </a:xfrm>
          <a:prstGeom prst="roundRect">
            <a:avLst/>
          </a:prstGeom>
          <a:solidFill>
            <a:srgbClr val="2D2F32"/>
          </a:solidFill>
          <a:ln w="15240">
            <a:solidFill>
              <a:srgbClr val="F26C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800" b="1" dirty="0">
                <a:solidFill>
                  <a:srgbClr val="F26C63"/>
                </a:solidFill>
                <a:latin typeface="Arial"/>
              </a:rPr>
              <a:t>Crude model</a:t>
            </a:r>
          </a:p>
          <a:p>
            <a:pPr algn="ctr"/>
            <a:r>
              <a:rPr sz="1800" dirty="0">
                <a:solidFill>
                  <a:srgbClr val="F5F5F5"/>
                </a:solidFill>
                <a:latin typeface="Arial"/>
              </a:rPr>
              <a:t>T coefficient ≈ +3.5</a:t>
            </a:r>
          </a:p>
        </p:txBody>
      </p:sp>
      <p:sp>
        <p:nvSpPr>
          <p:cNvPr id="22" name="Rounded Rectangle 4">
            <a:extLst>
              <a:ext uri="{FF2B5EF4-FFF2-40B4-BE49-F238E27FC236}">
                <a16:creationId xmlns:a16="http://schemas.microsoft.com/office/drawing/2014/main" id="{DB53B933-0103-75A7-537E-84D714FFF705}"/>
              </a:ext>
            </a:extLst>
          </p:cNvPr>
          <p:cNvSpPr/>
          <p:nvPr/>
        </p:nvSpPr>
        <p:spPr>
          <a:xfrm>
            <a:off x="5450378" y="3045229"/>
            <a:ext cx="3108960" cy="1051560"/>
          </a:xfrm>
          <a:prstGeom prst="roundRect">
            <a:avLst/>
          </a:prstGeom>
          <a:solidFill>
            <a:srgbClr val="2D2F32"/>
          </a:solidFill>
          <a:ln w="15240">
            <a:solidFill>
              <a:srgbClr val="78C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800" b="1">
                <a:solidFill>
                  <a:srgbClr val="78C28C"/>
                </a:solidFill>
                <a:latin typeface="Arial"/>
              </a:rPr>
              <a:t>Adjusted model</a:t>
            </a:r>
          </a:p>
          <a:p>
            <a:pPr algn="ctr"/>
            <a:r>
              <a:rPr sz="1800">
                <a:solidFill>
                  <a:srgbClr val="F5F5F5"/>
                </a:solidFill>
                <a:latin typeface="Arial"/>
              </a:rPr>
              <a:t>T coefficient ≈ −6.0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AA81B6-2607-094B-7DDD-B5440A461155}"/>
              </a:ext>
            </a:extLst>
          </p:cNvPr>
          <p:cNvSpPr txBox="1"/>
          <p:nvPr/>
        </p:nvSpPr>
        <p:spPr>
          <a:xfrm>
            <a:off x="822960" y="4336473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dirty="0">
                <a:solidFill>
                  <a:srgbClr val="C8CDD2"/>
                </a:solidFill>
                <a:latin typeface="Arial"/>
              </a:rPr>
              <a:t>The adjusted model recovers the truth here because the simulation satisfies the required assumptions and the outcome rule is correctly represented.</a:t>
            </a:r>
          </a:p>
        </p:txBody>
      </p:sp>
    </p:spTree>
    <p:extLst>
      <p:ext uri="{BB962C8B-B14F-4D97-AF65-F5344CB8AC3E}">
        <p14:creationId xmlns:p14="http://schemas.microsoft.com/office/powerpoint/2010/main" val="312378711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14B35-5B0C-98DF-CDF6-96581A43B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77B9D9-B3F5-E718-C4D0-199B758F6592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+mn-lt"/>
              </a:rPr>
              <a:t>Simulation creates two interventions</a:t>
            </a:r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9C41CA24-DD0E-9C47-6A37-03DB475FE758}"/>
              </a:ext>
            </a:extLst>
          </p:cNvPr>
          <p:cNvSpPr/>
          <p:nvPr/>
        </p:nvSpPr>
        <p:spPr>
          <a:xfrm>
            <a:off x="320040" y="1226127"/>
            <a:ext cx="4251960" cy="3383280"/>
          </a:xfrm>
          <a:prstGeom prst="roundRect">
            <a:avLst/>
          </a:prstGeom>
          <a:solidFill>
            <a:srgbClr val="141618"/>
          </a:solidFill>
          <a:ln w="12700">
            <a:solidFill>
              <a:srgbClr val="4B5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7160" tIns="91440" rtlCol="0" anchor="ctr"/>
          <a:lstStyle/>
          <a:p>
            <a:pPr algn="ctr"/>
            <a:r>
              <a:rPr sz="1500" dirty="0">
                <a:solidFill>
                  <a:srgbClr val="DCE1E6"/>
                </a:solidFill>
                <a:latin typeface="Consolas" panose="020B0609020204030204" pitchFamily="49" charset="0"/>
              </a:rPr>
              <a:t># keep each person's C and eps fixed
Y1 &lt;- 120 + 10*C - 6*1 + eps
Y0 &lt;- 120 + 10*C - 6*0 + eps
mean(Y1)      # about 114.0
mean(Y0)      # about 120.0
mean(Y1 - Y0) # exactly -6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ounded Rectangle 3">
                <a:extLst>
                  <a:ext uri="{FF2B5EF4-FFF2-40B4-BE49-F238E27FC236}">
                    <a16:creationId xmlns:a16="http://schemas.microsoft.com/office/drawing/2014/main" id="{151E299A-EC45-9266-70DD-21C4E7DF6AF1}"/>
                  </a:ext>
                </a:extLst>
              </p:cNvPr>
              <p:cNvSpPr/>
              <p:nvPr/>
            </p:nvSpPr>
            <p:spPr>
              <a:xfrm>
                <a:off x="5303520" y="1325880"/>
                <a:ext cx="2834640" cy="914400"/>
              </a:xfrm>
              <a:prstGeom prst="roundRect">
                <a:avLst/>
              </a:prstGeom>
              <a:solidFill>
                <a:srgbClr val="2D2F32"/>
              </a:solidFill>
              <a:ln w="15240">
                <a:solidFill>
                  <a:srgbClr val="78C28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09728" tIns="73152" rIns="109728" bIns="73152" rtlCol="0" anchor="ctr"/>
              <a:lstStyle/>
              <a:p>
                <a:pPr algn="ctr"/>
                <a:r>
                  <a:rPr sz="1800" b="1" dirty="0">
                    <a:solidFill>
                      <a:srgbClr val="78C28C"/>
                    </a:solidFill>
                    <a:latin typeface="Arial"/>
                  </a:rPr>
                  <a:t>do(T = 1)</a:t>
                </a:r>
              </a:p>
              <a:p>
                <a:pPr algn="ctr"/>
                <a:r>
                  <a:rPr sz="1800" dirty="0">
                    <a:solidFill>
                      <a:srgbClr val="F5F5F5"/>
                    </a:solidFill>
                    <a:latin typeface="Arial"/>
                  </a:rPr>
                  <a:t>mean Y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≈ 114.0</m:t>
                    </m:r>
                  </m:oMath>
                </a14:m>
                <a:endParaRPr sz="1800" dirty="0">
                  <a:solidFill>
                    <a:srgbClr val="F5F5F5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8" name="Rounded Rectangle 3">
                <a:extLst>
                  <a:ext uri="{FF2B5EF4-FFF2-40B4-BE49-F238E27FC236}">
                    <a16:creationId xmlns:a16="http://schemas.microsoft.com/office/drawing/2014/main" id="{151E299A-EC45-9266-70DD-21C4E7DF6A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20" y="1325880"/>
                <a:ext cx="2834640" cy="9144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5240">
                <a:solidFill>
                  <a:srgbClr val="78C28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ounded Rectangle 4">
                <a:extLst>
                  <a:ext uri="{FF2B5EF4-FFF2-40B4-BE49-F238E27FC236}">
                    <a16:creationId xmlns:a16="http://schemas.microsoft.com/office/drawing/2014/main" id="{59314860-6F3B-0771-9808-4E100B50F778}"/>
                  </a:ext>
                </a:extLst>
              </p:cNvPr>
              <p:cNvSpPr/>
              <p:nvPr/>
            </p:nvSpPr>
            <p:spPr>
              <a:xfrm>
                <a:off x="5303520" y="2560320"/>
                <a:ext cx="2834640" cy="914400"/>
              </a:xfrm>
              <a:prstGeom prst="roundRect">
                <a:avLst/>
              </a:prstGeom>
              <a:solidFill>
                <a:srgbClr val="2D2F32"/>
              </a:solidFill>
              <a:ln w="15240">
                <a:solidFill>
                  <a:srgbClr val="CAA3E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09728" tIns="73152" rIns="109728" bIns="73152" rtlCol="0" anchor="ctr"/>
              <a:lstStyle/>
              <a:p>
                <a:pPr algn="ctr"/>
                <a:r>
                  <a:rPr sz="1800" b="1" dirty="0">
                    <a:solidFill>
                      <a:srgbClr val="CAA3E5"/>
                    </a:solidFill>
                    <a:latin typeface="Arial"/>
                  </a:rPr>
                  <a:t>do(T = 0)</a:t>
                </a:r>
              </a:p>
              <a:p>
                <a:pPr algn="ctr"/>
                <a:r>
                  <a:rPr sz="1800" dirty="0">
                    <a:solidFill>
                      <a:srgbClr val="F5F5F5"/>
                    </a:solidFill>
                    <a:latin typeface="Arial"/>
                  </a:rPr>
                  <a:t>mean Y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solidFill>
                          <a:srgbClr val="F5F5F5"/>
                        </a:solidFill>
                        <a:latin typeface="Cambria Math" panose="02040503050406030204" pitchFamily="18" charset="0"/>
                      </a:rPr>
                      <m:t>≈ 120.0</m:t>
                    </m:r>
                  </m:oMath>
                </a14:m>
                <a:endParaRPr sz="1800" dirty="0">
                  <a:solidFill>
                    <a:srgbClr val="F5F5F5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10" name="Rounded Rectangle 4">
                <a:extLst>
                  <a:ext uri="{FF2B5EF4-FFF2-40B4-BE49-F238E27FC236}">
                    <a16:creationId xmlns:a16="http://schemas.microsoft.com/office/drawing/2014/main" id="{59314860-6F3B-0771-9808-4E100B50F7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20" y="2560320"/>
                <a:ext cx="2834640" cy="9144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5240">
                <a:solidFill>
                  <a:srgbClr val="CAA3E5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25ACFD-EC08-2FE1-C9EA-789A63A625A9}"/>
                  </a:ext>
                </a:extLst>
              </p:cNvPr>
              <p:cNvSpPr txBox="1"/>
              <p:nvPr/>
            </p:nvSpPr>
            <p:spPr>
              <a:xfrm>
                <a:off x="4983480" y="3914522"/>
                <a:ext cx="3474720" cy="446276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sz="2300" b="0" dirty="0">
                    <a:solidFill>
                      <a:srgbClr val="FDBB30"/>
                    </a:solidFill>
                    <a:latin typeface="Cambria Math"/>
                  </a:rPr>
                  <a:t>ATE = </a:t>
                </a:r>
                <a14:m>
                  <m:oMath xmlns:m="http://schemas.openxmlformats.org/officeDocument/2006/math">
                    <m:r>
                      <a:rPr lang="en-US" sz="2300" b="0" i="1" dirty="0" smtClean="0">
                        <a:solidFill>
                          <a:srgbClr val="FDBB30"/>
                        </a:solidFill>
                        <a:latin typeface="Cambria Math" panose="02040503050406030204" pitchFamily="18" charset="0"/>
                      </a:rPr>
                      <m:t>114 − 120 = −6</m:t>
                    </m:r>
                  </m:oMath>
                </a14:m>
                <a:endParaRPr sz="2300" b="0" dirty="0">
                  <a:solidFill>
                    <a:srgbClr val="FDBB3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25ACFD-EC08-2FE1-C9EA-789A63A62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3480" y="3914522"/>
                <a:ext cx="3474720" cy="446276"/>
              </a:xfrm>
              <a:prstGeom prst="rect">
                <a:avLst/>
              </a:prstGeom>
              <a:blipFill>
                <a:blip r:embed="rId4"/>
                <a:stretch>
                  <a:fillRect l="-1579" t="-9589" b="-301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28988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645C9-BE6B-72C8-EA86-C428FBA3E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A6CE2E-8D1E-7005-747F-90FBA29C1CA1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Georgia"/>
              </a:rPr>
              <a:t>Real data example: job training and later earnings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DD0B2A-0804-8023-6015-ABB075EE3954}"/>
              </a:ext>
            </a:extLst>
          </p:cNvPr>
          <p:cNvSpPr txBox="1"/>
          <p:nvPr/>
        </p:nvSpPr>
        <p:spPr>
          <a:xfrm>
            <a:off x="360218" y="950183"/>
            <a:ext cx="8498164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800" b="1">
                <a:solidFill>
                  <a:srgbClr val="F0C35A"/>
                </a:solidFill>
                <a:latin typeface="Arial"/>
              </a:rPr>
              <a:t>Causal question: Does participation in the National Supported Work job-training program increase earnings in 1978?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794BCFA-9B3A-46C6-FA62-ACA8F6F742F7}"/>
              </a:ext>
            </a:extLst>
          </p:cNvPr>
          <p:cNvSpPr/>
          <p:nvPr/>
        </p:nvSpPr>
        <p:spPr>
          <a:xfrm>
            <a:off x="724593" y="1778578"/>
            <a:ext cx="3397135" cy="2971800"/>
          </a:xfrm>
          <a:prstGeom prst="roundRect">
            <a:avLst/>
          </a:prstGeom>
          <a:solidFill>
            <a:srgbClr val="1C1C1C"/>
          </a:solidFill>
          <a:ln w="17780">
            <a:solidFill>
              <a:srgbClr val="8ED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422AA4-6DA7-7F97-3B73-07E79E3BA3CA}"/>
              </a:ext>
            </a:extLst>
          </p:cNvPr>
          <p:cNvSpPr txBox="1"/>
          <p:nvPr/>
        </p:nvSpPr>
        <p:spPr>
          <a:xfrm>
            <a:off x="967048" y="1961458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900" b="1">
                <a:solidFill>
                  <a:srgbClr val="8ED1A0"/>
                </a:solidFill>
                <a:latin typeface="Arial"/>
              </a:rPr>
              <a:t>LaLonde / MatchIt data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BBC569B9-F1F2-6F3D-4EB0-B5893A37568C}"/>
              </a:ext>
            </a:extLst>
          </p:cNvPr>
          <p:cNvSpPr txBox="1"/>
          <p:nvPr/>
        </p:nvSpPr>
        <p:spPr>
          <a:xfrm>
            <a:off x="1058488" y="2418658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3000" b="1">
                <a:solidFill>
                  <a:srgbClr val="F4F1EA"/>
                </a:solidFill>
                <a:latin typeface="Arial"/>
              </a:rPr>
              <a:t>614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58CE71BC-9098-2148-EECA-372FA6A0C51D}"/>
              </a:ext>
            </a:extLst>
          </p:cNvPr>
          <p:cNvSpPr txBox="1"/>
          <p:nvPr/>
        </p:nvSpPr>
        <p:spPr>
          <a:xfrm>
            <a:off x="1058488" y="2875858"/>
            <a:ext cx="1005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300" b="0">
                <a:solidFill>
                  <a:srgbClr val="BEBEB9"/>
                </a:solidFill>
                <a:latin typeface="Arial"/>
              </a:rPr>
              <a:t>people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E7DC5F5A-B34A-6E13-DBF5-B0D935362783}"/>
              </a:ext>
            </a:extLst>
          </p:cNvPr>
          <p:cNvSpPr txBox="1"/>
          <p:nvPr/>
        </p:nvSpPr>
        <p:spPr>
          <a:xfrm>
            <a:off x="2247208" y="2418658"/>
            <a:ext cx="822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2800" b="1">
                <a:solidFill>
                  <a:srgbClr val="70ACE8"/>
                </a:solidFill>
                <a:latin typeface="Arial"/>
              </a:rPr>
              <a:t>185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8E5B1455-EA6C-00F1-D56B-872CE8A52C4E}"/>
              </a:ext>
            </a:extLst>
          </p:cNvPr>
          <p:cNvSpPr txBox="1"/>
          <p:nvPr/>
        </p:nvSpPr>
        <p:spPr>
          <a:xfrm>
            <a:off x="2155768" y="2875858"/>
            <a:ext cx="1005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300" b="0">
                <a:solidFill>
                  <a:srgbClr val="BEBEB9"/>
                </a:solidFill>
                <a:latin typeface="Arial"/>
              </a:rPr>
              <a:t>treated</a:t>
            </a: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98CC8BCC-F9CB-B0DC-46B0-528F80466DF0}"/>
              </a:ext>
            </a:extLst>
          </p:cNvPr>
          <p:cNvSpPr txBox="1"/>
          <p:nvPr/>
        </p:nvSpPr>
        <p:spPr>
          <a:xfrm>
            <a:off x="3070168" y="2418658"/>
            <a:ext cx="822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2800" b="1">
                <a:solidFill>
                  <a:srgbClr val="F6B62F"/>
                </a:solidFill>
                <a:latin typeface="Arial"/>
              </a:rPr>
              <a:t>429</a:t>
            </a: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2D9F2D57-C136-AF74-45BF-2E55C1693C88}"/>
              </a:ext>
            </a:extLst>
          </p:cNvPr>
          <p:cNvSpPr txBox="1"/>
          <p:nvPr/>
        </p:nvSpPr>
        <p:spPr>
          <a:xfrm>
            <a:off x="2978728" y="2875858"/>
            <a:ext cx="1005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300" b="0">
                <a:solidFill>
                  <a:srgbClr val="BEBEB9"/>
                </a:solidFill>
                <a:latin typeface="Arial"/>
              </a:rPr>
              <a:t>controls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7D2590DF-D260-41D9-7131-2B227661BF18}"/>
              </a:ext>
            </a:extLst>
          </p:cNvPr>
          <p:cNvSpPr txBox="1"/>
          <p:nvPr/>
        </p:nvSpPr>
        <p:spPr>
          <a:xfrm>
            <a:off x="948760" y="3345084"/>
            <a:ext cx="2926080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sz="1500" b="0" dirty="0">
                <a:solidFill>
                  <a:srgbClr val="F6F4F0"/>
                </a:solidFill>
                <a:latin typeface="Arial"/>
              </a:rPr>
              <a:t>Treatment T: job-training participation
Outcome Y: 1978 earnings (re78)</a:t>
            </a:r>
          </a:p>
        </p:txBody>
      </p:sp>
      <p:sp>
        <p:nvSpPr>
          <p:cNvPr id="17" name="Rounded Rectangle 12">
            <a:extLst>
              <a:ext uri="{FF2B5EF4-FFF2-40B4-BE49-F238E27FC236}">
                <a16:creationId xmlns:a16="http://schemas.microsoft.com/office/drawing/2014/main" id="{C3208529-5A0C-41D6-7EAF-4A24566BC536}"/>
              </a:ext>
            </a:extLst>
          </p:cNvPr>
          <p:cNvSpPr/>
          <p:nvPr/>
        </p:nvSpPr>
        <p:spPr>
          <a:xfrm>
            <a:off x="4441768" y="1778578"/>
            <a:ext cx="3977639" cy="2971800"/>
          </a:xfrm>
          <a:prstGeom prst="roundRect">
            <a:avLst/>
          </a:prstGeom>
          <a:solidFill>
            <a:srgbClr val="1C1C1C"/>
          </a:solidFill>
          <a:ln w="17780">
            <a:solidFill>
              <a:srgbClr val="70A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0CF91243-D74C-96B5-5E07-5005C4D306C0}"/>
              </a:ext>
            </a:extLst>
          </p:cNvPr>
          <p:cNvSpPr txBox="1"/>
          <p:nvPr/>
        </p:nvSpPr>
        <p:spPr>
          <a:xfrm>
            <a:off x="4716088" y="1988890"/>
            <a:ext cx="34290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800" b="1">
                <a:solidFill>
                  <a:srgbClr val="70ACE8"/>
                </a:solidFill>
                <a:latin typeface="Arial"/>
              </a:rPr>
              <a:t>What was known before treatment?</a:t>
            </a: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A9A9EF2E-59AD-AB59-AD6F-D7816A4C46FE}"/>
              </a:ext>
            </a:extLst>
          </p:cNvPr>
          <p:cNvSpPr txBox="1"/>
          <p:nvPr/>
        </p:nvSpPr>
        <p:spPr>
          <a:xfrm>
            <a:off x="4743520" y="2510098"/>
            <a:ext cx="3337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600" b="0">
                <a:solidFill>
                  <a:srgbClr val="F6F4F0"/>
                </a:solidFill>
                <a:latin typeface="Arial"/>
              </a:rPr>
              <a:t>Age • education • race • marital status
No high-school degree • earnings in 1974 • earnings in 1975</a:t>
            </a:r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69F38D6E-4061-3BFF-F503-0D999A333F6C}"/>
              </a:ext>
            </a:extLst>
          </p:cNvPr>
          <p:cNvSpPr txBox="1"/>
          <p:nvPr/>
        </p:nvSpPr>
        <p:spPr>
          <a:xfrm>
            <a:off x="4716088" y="3515938"/>
            <a:ext cx="3429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700" b="1">
                <a:solidFill>
                  <a:srgbClr val="F6B62F"/>
                </a:solidFill>
                <a:latin typeface="Arial"/>
              </a:rPr>
              <a:t>Call these baseline variables  X</a:t>
            </a:r>
          </a:p>
        </p:txBody>
      </p:sp>
      <p:sp>
        <p:nvSpPr>
          <p:cNvPr id="21" name="TextBox 16">
            <a:extLst>
              <a:ext uri="{FF2B5EF4-FFF2-40B4-BE49-F238E27FC236}">
                <a16:creationId xmlns:a16="http://schemas.microsoft.com/office/drawing/2014/main" id="{1A39DF07-087C-A3C1-BBA6-7744E503757C}"/>
              </a:ext>
            </a:extLst>
          </p:cNvPr>
          <p:cNvSpPr txBox="1"/>
          <p:nvPr/>
        </p:nvSpPr>
        <p:spPr>
          <a:xfrm>
            <a:off x="4743520" y="3945705"/>
            <a:ext cx="3337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400" b="0">
                <a:solidFill>
                  <a:srgbClr val="BEBEB9"/>
                </a:solidFill>
                <a:latin typeface="Arial"/>
              </a:rPr>
              <a:t>These variables may affect both program participation and later earnings.</a:t>
            </a:r>
          </a:p>
        </p:txBody>
      </p:sp>
    </p:spTree>
    <p:extLst>
      <p:ext uri="{BB962C8B-B14F-4D97-AF65-F5344CB8AC3E}">
        <p14:creationId xmlns:p14="http://schemas.microsoft.com/office/powerpoint/2010/main" val="346739354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39625-5DD1-81AC-74D3-0118E7CDB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592316-5AC8-CFF5-3F01-7735ABCE3EE6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Georgia"/>
              </a:rPr>
              <a:t>What does SCM add?</a:t>
            </a:r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3B70F8EB-9C58-AB42-FAFF-8C5542950DA6}"/>
              </a:ext>
            </a:extLst>
          </p:cNvPr>
          <p:cNvSpPr/>
          <p:nvPr/>
        </p:nvSpPr>
        <p:spPr>
          <a:xfrm>
            <a:off x="588125" y="968225"/>
            <a:ext cx="2587336" cy="1179230"/>
          </a:xfrm>
          <a:prstGeom prst="roundRect">
            <a:avLst/>
          </a:prstGeom>
          <a:solidFill>
            <a:srgbClr val="1C1C1C"/>
          </a:solidFill>
          <a:ln w="17780">
            <a:solidFill>
              <a:srgbClr val="70A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6791D81E-0E42-97E4-D966-C63C0B37A6DE}"/>
              </a:ext>
            </a:extLst>
          </p:cNvPr>
          <p:cNvSpPr txBox="1"/>
          <p:nvPr/>
        </p:nvSpPr>
        <p:spPr>
          <a:xfrm>
            <a:off x="725285" y="1062186"/>
            <a:ext cx="2282944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400" b="1">
                <a:solidFill>
                  <a:srgbClr val="70ACE8"/>
                </a:solidFill>
                <a:latin typeface="Arial"/>
              </a:rPr>
              <a:t>Treated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C2E84E12-9D36-DD56-6BB3-9104013AD814}"/>
              </a:ext>
            </a:extLst>
          </p:cNvPr>
          <p:cNvSpPr txBox="1"/>
          <p:nvPr/>
        </p:nvSpPr>
        <p:spPr>
          <a:xfrm>
            <a:off x="725285" y="1373015"/>
            <a:ext cx="2282944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2600" b="1">
                <a:solidFill>
                  <a:srgbClr val="F4F1EA"/>
                </a:solidFill>
                <a:latin typeface="Arial"/>
              </a:rPr>
              <a:t>$6,349</a:t>
            </a:r>
          </a:p>
        </p:txBody>
      </p:sp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03932CEB-7619-A6EE-605C-7A12AF3CFB43}"/>
              </a:ext>
            </a:extLst>
          </p:cNvPr>
          <p:cNvSpPr/>
          <p:nvPr/>
        </p:nvSpPr>
        <p:spPr>
          <a:xfrm>
            <a:off x="3239885" y="968225"/>
            <a:ext cx="2587336" cy="1179230"/>
          </a:xfrm>
          <a:prstGeom prst="roundRect">
            <a:avLst/>
          </a:prstGeom>
          <a:solidFill>
            <a:srgbClr val="1C1C1C"/>
          </a:solidFill>
          <a:ln w="17780">
            <a:solidFill>
              <a:srgbClr val="F6B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22" name="TextBox 6">
            <a:extLst>
              <a:ext uri="{FF2B5EF4-FFF2-40B4-BE49-F238E27FC236}">
                <a16:creationId xmlns:a16="http://schemas.microsoft.com/office/drawing/2014/main" id="{277E260E-9F50-0D30-1E9C-6042C30B19AB}"/>
              </a:ext>
            </a:extLst>
          </p:cNvPr>
          <p:cNvSpPr txBox="1"/>
          <p:nvPr/>
        </p:nvSpPr>
        <p:spPr>
          <a:xfrm>
            <a:off x="3377045" y="1062186"/>
            <a:ext cx="2282944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400" b="1">
                <a:solidFill>
                  <a:srgbClr val="F6B62F"/>
                </a:solidFill>
                <a:latin typeface="Arial"/>
              </a:rPr>
              <a:t>Control</a:t>
            </a:r>
          </a:p>
        </p:txBody>
      </p:sp>
      <p:sp>
        <p:nvSpPr>
          <p:cNvPr id="23" name="TextBox 7">
            <a:extLst>
              <a:ext uri="{FF2B5EF4-FFF2-40B4-BE49-F238E27FC236}">
                <a16:creationId xmlns:a16="http://schemas.microsoft.com/office/drawing/2014/main" id="{48BD2C9C-BCD0-4A03-257D-29197869DB4E}"/>
              </a:ext>
            </a:extLst>
          </p:cNvPr>
          <p:cNvSpPr txBox="1"/>
          <p:nvPr/>
        </p:nvSpPr>
        <p:spPr>
          <a:xfrm>
            <a:off x="3377045" y="1373015"/>
            <a:ext cx="2282944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2600" b="1">
                <a:solidFill>
                  <a:srgbClr val="F4F1EA"/>
                </a:solidFill>
                <a:latin typeface="Arial"/>
              </a:rPr>
              <a:t>$6,984</a:t>
            </a:r>
          </a:p>
        </p:txBody>
      </p:sp>
      <p:sp>
        <p:nvSpPr>
          <p:cNvPr id="24" name="Rounded Rectangle 8">
            <a:extLst>
              <a:ext uri="{FF2B5EF4-FFF2-40B4-BE49-F238E27FC236}">
                <a16:creationId xmlns:a16="http://schemas.microsoft.com/office/drawing/2014/main" id="{7C14355E-B782-C4E4-EAB2-91FC004714F0}"/>
              </a:ext>
            </a:extLst>
          </p:cNvPr>
          <p:cNvSpPr/>
          <p:nvPr/>
        </p:nvSpPr>
        <p:spPr>
          <a:xfrm>
            <a:off x="5891645" y="968225"/>
            <a:ext cx="2587336" cy="1179230"/>
          </a:xfrm>
          <a:prstGeom prst="roundRect">
            <a:avLst/>
          </a:prstGeom>
          <a:solidFill>
            <a:srgbClr val="1C1C1C"/>
          </a:solidFill>
          <a:ln w="17780">
            <a:solidFill>
              <a:srgbClr val="E3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25" name="TextBox 9">
            <a:extLst>
              <a:ext uri="{FF2B5EF4-FFF2-40B4-BE49-F238E27FC236}">
                <a16:creationId xmlns:a16="http://schemas.microsoft.com/office/drawing/2014/main" id="{F54DEF33-182C-7AEC-A6DA-D131F7635D5B}"/>
              </a:ext>
            </a:extLst>
          </p:cNvPr>
          <p:cNvSpPr txBox="1"/>
          <p:nvPr/>
        </p:nvSpPr>
        <p:spPr>
          <a:xfrm>
            <a:off x="6028805" y="1062186"/>
            <a:ext cx="2282944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400" b="1">
                <a:solidFill>
                  <a:srgbClr val="E36D6D"/>
                </a:solidFill>
                <a:latin typeface="Arial"/>
              </a:rPr>
              <a:t>Crude difference</a:t>
            </a: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C61AE0D5-4504-0AB8-5132-62A34CA186A3}"/>
              </a:ext>
            </a:extLst>
          </p:cNvPr>
          <p:cNvSpPr txBox="1"/>
          <p:nvPr/>
        </p:nvSpPr>
        <p:spPr>
          <a:xfrm>
            <a:off x="6028805" y="1373015"/>
            <a:ext cx="2282944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2600" b="1">
                <a:solidFill>
                  <a:srgbClr val="E36D6D"/>
                </a:solidFill>
                <a:latin typeface="Arial"/>
              </a:rPr>
              <a:t>−$635</a:t>
            </a:r>
          </a:p>
        </p:txBody>
      </p:sp>
      <p:sp>
        <p:nvSpPr>
          <p:cNvPr id="27" name="TextBox 12">
            <a:extLst>
              <a:ext uri="{FF2B5EF4-FFF2-40B4-BE49-F238E27FC236}">
                <a16:creationId xmlns:a16="http://schemas.microsoft.com/office/drawing/2014/main" id="{4D5D7B94-2172-ABDA-E5D3-2CE8EEECF1FD}"/>
              </a:ext>
            </a:extLst>
          </p:cNvPr>
          <p:cNvSpPr txBox="1"/>
          <p:nvPr/>
        </p:nvSpPr>
        <p:spPr>
          <a:xfrm>
            <a:off x="800100" y="2398014"/>
            <a:ext cx="7543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900" b="1">
                <a:solidFill>
                  <a:srgbClr val="F0C35A"/>
                </a:solidFill>
                <a:latin typeface="Arial"/>
              </a:rPr>
              <a:t>But the groups were already different before treatment</a:t>
            </a:r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437FF872-0488-A560-0F33-9B9D8F24A90A}"/>
              </a:ext>
            </a:extLst>
          </p:cNvPr>
          <p:cNvSpPr txBox="1"/>
          <p:nvPr/>
        </p:nvSpPr>
        <p:spPr>
          <a:xfrm>
            <a:off x="228600" y="2836025"/>
            <a:ext cx="23386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400" b="1" dirty="0">
                <a:solidFill>
                  <a:srgbClr val="8ED1A0"/>
                </a:solidFill>
                <a:latin typeface="Arial"/>
              </a:rPr>
              <a:t>Baseline variable</a:t>
            </a:r>
          </a:p>
        </p:txBody>
      </p:sp>
      <p:sp>
        <p:nvSpPr>
          <p:cNvPr id="29" name="TextBox 14">
            <a:extLst>
              <a:ext uri="{FF2B5EF4-FFF2-40B4-BE49-F238E27FC236}">
                <a16:creationId xmlns:a16="http://schemas.microsoft.com/office/drawing/2014/main" id="{89A3C027-7999-7774-9A75-101A5D018178}"/>
              </a:ext>
            </a:extLst>
          </p:cNvPr>
          <p:cNvSpPr txBox="1"/>
          <p:nvPr/>
        </p:nvSpPr>
        <p:spPr>
          <a:xfrm>
            <a:off x="2567247" y="2836025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400" b="1" dirty="0">
                <a:solidFill>
                  <a:srgbClr val="70ACE8"/>
                </a:solidFill>
                <a:latin typeface="Arial"/>
              </a:rPr>
              <a:t>Treated</a:t>
            </a:r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396739F7-4EA8-F560-B982-4686A48BBF79}"/>
              </a:ext>
            </a:extLst>
          </p:cNvPr>
          <p:cNvSpPr txBox="1"/>
          <p:nvPr/>
        </p:nvSpPr>
        <p:spPr>
          <a:xfrm>
            <a:off x="4333701" y="2838989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400" b="1" dirty="0">
                <a:solidFill>
                  <a:srgbClr val="F6B62F"/>
                </a:solidFill>
                <a:latin typeface="Arial"/>
              </a:rPr>
              <a:t>Control</a:t>
            </a:r>
          </a:p>
        </p:txBody>
      </p:sp>
      <p:sp>
        <p:nvSpPr>
          <p:cNvPr id="31" name="TextBox 16">
            <a:extLst>
              <a:ext uri="{FF2B5EF4-FFF2-40B4-BE49-F238E27FC236}">
                <a16:creationId xmlns:a16="http://schemas.microsoft.com/office/drawing/2014/main" id="{10D7556B-5904-785A-6CF3-13A726D4D26C}"/>
              </a:ext>
            </a:extLst>
          </p:cNvPr>
          <p:cNvSpPr txBox="1"/>
          <p:nvPr/>
        </p:nvSpPr>
        <p:spPr>
          <a:xfrm>
            <a:off x="346364" y="3206466"/>
            <a:ext cx="222088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300" b="0">
                <a:solidFill>
                  <a:srgbClr val="F6F4F0"/>
                </a:solidFill>
                <a:latin typeface="Arial"/>
              </a:rPr>
              <a:t>Age</a:t>
            </a:r>
          </a:p>
        </p:txBody>
      </p:sp>
      <p:sp>
        <p:nvSpPr>
          <p:cNvPr id="32" name="TextBox 17">
            <a:extLst>
              <a:ext uri="{FF2B5EF4-FFF2-40B4-BE49-F238E27FC236}">
                <a16:creationId xmlns:a16="http://schemas.microsoft.com/office/drawing/2014/main" id="{A6F16E0E-64E4-3C2D-EFE9-47612051041F}"/>
              </a:ext>
            </a:extLst>
          </p:cNvPr>
          <p:cNvSpPr txBox="1"/>
          <p:nvPr/>
        </p:nvSpPr>
        <p:spPr>
          <a:xfrm>
            <a:off x="2567248" y="3220073"/>
            <a:ext cx="182880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300" b="0">
                <a:solidFill>
                  <a:srgbClr val="F6F4F0"/>
                </a:solidFill>
                <a:latin typeface="Arial"/>
              </a:rPr>
              <a:t>25.8</a:t>
            </a:r>
          </a:p>
        </p:txBody>
      </p:sp>
      <p:sp>
        <p:nvSpPr>
          <p:cNvPr id="33" name="TextBox 18">
            <a:extLst>
              <a:ext uri="{FF2B5EF4-FFF2-40B4-BE49-F238E27FC236}">
                <a16:creationId xmlns:a16="http://schemas.microsoft.com/office/drawing/2014/main" id="{9CEA0F27-32BA-1E69-9625-4B802583200D}"/>
              </a:ext>
            </a:extLst>
          </p:cNvPr>
          <p:cNvSpPr txBox="1"/>
          <p:nvPr/>
        </p:nvSpPr>
        <p:spPr>
          <a:xfrm>
            <a:off x="4396047" y="3220073"/>
            <a:ext cx="182880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300" b="0">
                <a:solidFill>
                  <a:srgbClr val="F6F4F0"/>
                </a:solidFill>
                <a:latin typeface="Arial"/>
              </a:rPr>
              <a:t>28.0</a:t>
            </a:r>
          </a:p>
        </p:txBody>
      </p:sp>
      <p:sp>
        <p:nvSpPr>
          <p:cNvPr id="34" name="TextBox 19">
            <a:extLst>
              <a:ext uri="{FF2B5EF4-FFF2-40B4-BE49-F238E27FC236}">
                <a16:creationId xmlns:a16="http://schemas.microsoft.com/office/drawing/2014/main" id="{A1D32E5F-F151-242C-CB48-84CE995661C0}"/>
              </a:ext>
            </a:extLst>
          </p:cNvPr>
          <p:cNvSpPr txBox="1"/>
          <p:nvPr/>
        </p:nvSpPr>
        <p:spPr>
          <a:xfrm>
            <a:off x="498764" y="3544794"/>
            <a:ext cx="2068484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300" b="0" dirty="0">
                <a:solidFill>
                  <a:srgbClr val="F6F4F0"/>
                </a:solidFill>
                <a:latin typeface="Arial"/>
              </a:rPr>
              <a:t>Married</a:t>
            </a:r>
          </a:p>
        </p:txBody>
      </p:sp>
      <p:sp>
        <p:nvSpPr>
          <p:cNvPr id="35" name="TextBox 20">
            <a:extLst>
              <a:ext uri="{FF2B5EF4-FFF2-40B4-BE49-F238E27FC236}">
                <a16:creationId xmlns:a16="http://schemas.microsoft.com/office/drawing/2014/main" id="{BEC1CF74-AF56-9C60-B619-FFDFB13D93FF}"/>
              </a:ext>
            </a:extLst>
          </p:cNvPr>
          <p:cNvSpPr txBox="1"/>
          <p:nvPr/>
        </p:nvSpPr>
        <p:spPr>
          <a:xfrm>
            <a:off x="2567248" y="3558400"/>
            <a:ext cx="182880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300" b="0">
                <a:solidFill>
                  <a:srgbClr val="F6F4F0"/>
                </a:solidFill>
                <a:latin typeface="Arial"/>
              </a:rPr>
              <a:t>18.9%</a:t>
            </a:r>
          </a:p>
        </p:txBody>
      </p:sp>
      <p:sp>
        <p:nvSpPr>
          <p:cNvPr id="36" name="TextBox 21">
            <a:extLst>
              <a:ext uri="{FF2B5EF4-FFF2-40B4-BE49-F238E27FC236}">
                <a16:creationId xmlns:a16="http://schemas.microsoft.com/office/drawing/2014/main" id="{E7E90191-2316-6C53-30FB-39639904A338}"/>
              </a:ext>
            </a:extLst>
          </p:cNvPr>
          <p:cNvSpPr txBox="1"/>
          <p:nvPr/>
        </p:nvSpPr>
        <p:spPr>
          <a:xfrm>
            <a:off x="4396047" y="3558400"/>
            <a:ext cx="182880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300" b="0">
                <a:solidFill>
                  <a:srgbClr val="F6F4F0"/>
                </a:solidFill>
                <a:latin typeface="Arial"/>
              </a:rPr>
              <a:t>51.3%</a:t>
            </a:r>
          </a:p>
        </p:txBody>
      </p:sp>
      <p:sp>
        <p:nvSpPr>
          <p:cNvPr id="37" name="TextBox 22">
            <a:extLst>
              <a:ext uri="{FF2B5EF4-FFF2-40B4-BE49-F238E27FC236}">
                <a16:creationId xmlns:a16="http://schemas.microsoft.com/office/drawing/2014/main" id="{4D84ED5E-2331-9DB8-4EE6-920284986E0C}"/>
              </a:ext>
            </a:extLst>
          </p:cNvPr>
          <p:cNvSpPr txBox="1"/>
          <p:nvPr/>
        </p:nvSpPr>
        <p:spPr>
          <a:xfrm>
            <a:off x="410096" y="3896728"/>
            <a:ext cx="2157152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300" b="0">
                <a:solidFill>
                  <a:srgbClr val="F6F4F0"/>
                </a:solidFill>
                <a:latin typeface="Arial"/>
              </a:rPr>
              <a:t>Black</a:t>
            </a:r>
          </a:p>
        </p:txBody>
      </p:sp>
      <p:sp>
        <p:nvSpPr>
          <p:cNvPr id="38" name="TextBox 23">
            <a:extLst>
              <a:ext uri="{FF2B5EF4-FFF2-40B4-BE49-F238E27FC236}">
                <a16:creationId xmlns:a16="http://schemas.microsoft.com/office/drawing/2014/main" id="{3FEA7205-20FB-B708-21BD-3858BC7F5C6C}"/>
              </a:ext>
            </a:extLst>
          </p:cNvPr>
          <p:cNvSpPr txBox="1"/>
          <p:nvPr/>
        </p:nvSpPr>
        <p:spPr>
          <a:xfrm>
            <a:off x="2567248" y="3896728"/>
            <a:ext cx="182880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300" b="0">
                <a:solidFill>
                  <a:srgbClr val="F6F4F0"/>
                </a:solidFill>
                <a:latin typeface="Arial"/>
              </a:rPr>
              <a:t>84.3%</a:t>
            </a:r>
          </a:p>
        </p:txBody>
      </p:sp>
      <p:sp>
        <p:nvSpPr>
          <p:cNvPr id="39" name="TextBox 24">
            <a:extLst>
              <a:ext uri="{FF2B5EF4-FFF2-40B4-BE49-F238E27FC236}">
                <a16:creationId xmlns:a16="http://schemas.microsoft.com/office/drawing/2014/main" id="{8CA9A204-FF42-3CA8-A4F1-A454BC7E1C9D}"/>
              </a:ext>
            </a:extLst>
          </p:cNvPr>
          <p:cNvSpPr txBox="1"/>
          <p:nvPr/>
        </p:nvSpPr>
        <p:spPr>
          <a:xfrm>
            <a:off x="4396047" y="3896728"/>
            <a:ext cx="182880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300" b="0">
                <a:solidFill>
                  <a:srgbClr val="F6F4F0"/>
                </a:solidFill>
                <a:latin typeface="Arial"/>
              </a:rPr>
              <a:t>20.3%</a:t>
            </a:r>
          </a:p>
        </p:txBody>
      </p:sp>
      <p:sp>
        <p:nvSpPr>
          <p:cNvPr id="40" name="TextBox 25">
            <a:extLst>
              <a:ext uri="{FF2B5EF4-FFF2-40B4-BE49-F238E27FC236}">
                <a16:creationId xmlns:a16="http://schemas.microsoft.com/office/drawing/2014/main" id="{DDAB2A1C-09CF-55CB-61CE-A80708536EFA}"/>
              </a:ext>
            </a:extLst>
          </p:cNvPr>
          <p:cNvSpPr txBox="1"/>
          <p:nvPr/>
        </p:nvSpPr>
        <p:spPr>
          <a:xfrm>
            <a:off x="410096" y="4235057"/>
            <a:ext cx="2157152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300" b="0" dirty="0">
                <a:solidFill>
                  <a:srgbClr val="F6F4F0"/>
                </a:solidFill>
                <a:latin typeface="Arial"/>
              </a:rPr>
              <a:t>1974 earnings</a:t>
            </a:r>
          </a:p>
        </p:txBody>
      </p:sp>
      <p:sp>
        <p:nvSpPr>
          <p:cNvPr id="41" name="TextBox 26">
            <a:extLst>
              <a:ext uri="{FF2B5EF4-FFF2-40B4-BE49-F238E27FC236}">
                <a16:creationId xmlns:a16="http://schemas.microsoft.com/office/drawing/2014/main" id="{A6A9BC35-E1AD-598E-171A-F6B79E46FAE0}"/>
              </a:ext>
            </a:extLst>
          </p:cNvPr>
          <p:cNvSpPr txBox="1"/>
          <p:nvPr/>
        </p:nvSpPr>
        <p:spPr>
          <a:xfrm>
            <a:off x="2567248" y="4235057"/>
            <a:ext cx="182880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300" b="0">
                <a:solidFill>
                  <a:srgbClr val="F6F4F0"/>
                </a:solidFill>
                <a:latin typeface="Arial"/>
              </a:rPr>
              <a:t>$2,096</a:t>
            </a:r>
          </a:p>
        </p:txBody>
      </p:sp>
      <p:sp>
        <p:nvSpPr>
          <p:cNvPr id="42" name="TextBox 27">
            <a:extLst>
              <a:ext uri="{FF2B5EF4-FFF2-40B4-BE49-F238E27FC236}">
                <a16:creationId xmlns:a16="http://schemas.microsoft.com/office/drawing/2014/main" id="{65B33F31-D55D-2BDC-7CBD-4467DD92000C}"/>
              </a:ext>
            </a:extLst>
          </p:cNvPr>
          <p:cNvSpPr txBox="1"/>
          <p:nvPr/>
        </p:nvSpPr>
        <p:spPr>
          <a:xfrm>
            <a:off x="4396047" y="4235057"/>
            <a:ext cx="182880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300" b="0">
                <a:solidFill>
                  <a:srgbClr val="F6F4F0"/>
                </a:solidFill>
                <a:latin typeface="Arial"/>
              </a:rPr>
              <a:t>$5,619</a:t>
            </a:r>
          </a:p>
        </p:txBody>
      </p:sp>
      <p:sp>
        <p:nvSpPr>
          <p:cNvPr id="43" name="TextBox 28">
            <a:extLst>
              <a:ext uri="{FF2B5EF4-FFF2-40B4-BE49-F238E27FC236}">
                <a16:creationId xmlns:a16="http://schemas.microsoft.com/office/drawing/2014/main" id="{19B2D19E-16FA-2AB6-C84E-FF4E1762D968}"/>
              </a:ext>
            </a:extLst>
          </p:cNvPr>
          <p:cNvSpPr txBox="1"/>
          <p:nvPr/>
        </p:nvSpPr>
        <p:spPr>
          <a:xfrm>
            <a:off x="410096" y="4559779"/>
            <a:ext cx="2157152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300" b="0">
                <a:solidFill>
                  <a:srgbClr val="F6F4F0"/>
                </a:solidFill>
                <a:latin typeface="Arial"/>
              </a:rPr>
              <a:t>1975 earnings</a:t>
            </a:r>
          </a:p>
        </p:txBody>
      </p:sp>
      <p:sp>
        <p:nvSpPr>
          <p:cNvPr id="44" name="TextBox 29">
            <a:extLst>
              <a:ext uri="{FF2B5EF4-FFF2-40B4-BE49-F238E27FC236}">
                <a16:creationId xmlns:a16="http://schemas.microsoft.com/office/drawing/2014/main" id="{8CF64B73-0FBF-55A2-D5F2-CFD63A5AC75B}"/>
              </a:ext>
            </a:extLst>
          </p:cNvPr>
          <p:cNvSpPr txBox="1"/>
          <p:nvPr/>
        </p:nvSpPr>
        <p:spPr>
          <a:xfrm>
            <a:off x="2567248" y="4573385"/>
            <a:ext cx="182880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300" b="0">
                <a:solidFill>
                  <a:srgbClr val="F6F4F0"/>
                </a:solidFill>
                <a:latin typeface="Arial"/>
              </a:rPr>
              <a:t>$1,532</a:t>
            </a:r>
          </a:p>
        </p:txBody>
      </p:sp>
      <p:sp>
        <p:nvSpPr>
          <p:cNvPr id="45" name="TextBox 30">
            <a:extLst>
              <a:ext uri="{FF2B5EF4-FFF2-40B4-BE49-F238E27FC236}">
                <a16:creationId xmlns:a16="http://schemas.microsoft.com/office/drawing/2014/main" id="{1519614B-9F59-08A9-D080-B5E6B3A0B4A1}"/>
              </a:ext>
            </a:extLst>
          </p:cNvPr>
          <p:cNvSpPr txBox="1"/>
          <p:nvPr/>
        </p:nvSpPr>
        <p:spPr>
          <a:xfrm>
            <a:off x="4396047" y="4573385"/>
            <a:ext cx="1828800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300" b="0">
                <a:solidFill>
                  <a:srgbClr val="F6F4F0"/>
                </a:solidFill>
                <a:latin typeface="Arial"/>
              </a:rPr>
              <a:t>$2,466</a:t>
            </a:r>
          </a:p>
        </p:txBody>
      </p:sp>
      <p:sp>
        <p:nvSpPr>
          <p:cNvPr id="46" name="TextBox 31">
            <a:extLst>
              <a:ext uri="{FF2B5EF4-FFF2-40B4-BE49-F238E27FC236}">
                <a16:creationId xmlns:a16="http://schemas.microsoft.com/office/drawing/2014/main" id="{454B08AD-1D79-3CF4-1E98-65E447CC4C30}"/>
              </a:ext>
            </a:extLst>
          </p:cNvPr>
          <p:cNvSpPr txBox="1"/>
          <p:nvPr/>
        </p:nvSpPr>
        <p:spPr>
          <a:xfrm>
            <a:off x="6007329" y="3452004"/>
            <a:ext cx="2726575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500" b="1" dirty="0">
                <a:solidFill>
                  <a:srgbClr val="E36D6D"/>
                </a:solidFill>
                <a:latin typeface="Arial"/>
              </a:rPr>
              <a:t>So −$635 is an observed association, not automatically the causal effect of training.</a:t>
            </a:r>
          </a:p>
        </p:txBody>
      </p:sp>
    </p:spTree>
    <p:extLst>
      <p:ext uri="{BB962C8B-B14F-4D97-AF65-F5344CB8AC3E}">
        <p14:creationId xmlns:p14="http://schemas.microsoft.com/office/powerpoint/2010/main" val="281811053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3F4C4-ECCF-069A-9E68-AC3F4182A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663B71-F549-E1C0-5B28-FB14CBBA9C67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Georgia"/>
              </a:rPr>
              <a:t>What do observed data say?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F807D4-73B8-2707-AF79-9B62CC6C4541}"/>
              </a:ext>
            </a:extLst>
          </p:cNvPr>
          <p:cNvSpPr txBox="1"/>
          <p:nvPr/>
        </p:nvSpPr>
        <p:spPr>
          <a:xfrm>
            <a:off x="182880" y="1195716"/>
            <a:ext cx="4389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800" b="1">
                <a:solidFill>
                  <a:srgbClr val="8ED1A0"/>
                </a:solidFill>
                <a:latin typeface="Arial"/>
              </a:rPr>
              <a:t>A plausible causal story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874355F-0479-FA27-69E6-9F2502A48773}"/>
              </a:ext>
            </a:extLst>
          </p:cNvPr>
          <p:cNvSpPr/>
          <p:nvPr/>
        </p:nvSpPr>
        <p:spPr>
          <a:xfrm>
            <a:off x="457200" y="1726068"/>
            <a:ext cx="1600200" cy="566928"/>
          </a:xfrm>
          <a:prstGeom prst="roundRect">
            <a:avLst/>
          </a:prstGeom>
          <a:solidFill>
            <a:srgbClr val="191919"/>
          </a:solidFill>
          <a:ln w="17780">
            <a:solidFill>
              <a:srgbClr val="8ED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4618D5-A5EF-14E5-944B-C9AA15E886D9}"/>
              </a:ext>
            </a:extLst>
          </p:cNvPr>
          <p:cNvSpPr txBox="1"/>
          <p:nvPr/>
        </p:nvSpPr>
        <p:spPr>
          <a:xfrm>
            <a:off x="457200" y="1744356"/>
            <a:ext cx="16002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600" b="1">
                <a:solidFill>
                  <a:srgbClr val="F6F4F0"/>
                </a:solidFill>
                <a:latin typeface="Arial"/>
              </a:rPr>
              <a:t>Baseline X</a:t>
            </a: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BFD17B46-6B36-1793-74C6-79516BE03664}"/>
              </a:ext>
            </a:extLst>
          </p:cNvPr>
          <p:cNvSpPr/>
          <p:nvPr/>
        </p:nvSpPr>
        <p:spPr>
          <a:xfrm>
            <a:off x="457200" y="2951364"/>
            <a:ext cx="1600200" cy="566928"/>
          </a:xfrm>
          <a:prstGeom prst="roundRect">
            <a:avLst/>
          </a:prstGeom>
          <a:solidFill>
            <a:srgbClr val="191919"/>
          </a:solidFill>
          <a:ln w="17780">
            <a:solidFill>
              <a:srgbClr val="70A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E6CB5D90-5121-9410-FA54-0F40A7D9AC3B}"/>
              </a:ext>
            </a:extLst>
          </p:cNvPr>
          <p:cNvSpPr txBox="1"/>
          <p:nvPr/>
        </p:nvSpPr>
        <p:spPr>
          <a:xfrm>
            <a:off x="457200" y="2969652"/>
            <a:ext cx="16002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600" b="1">
                <a:solidFill>
                  <a:srgbClr val="F6F4F0"/>
                </a:solidFill>
                <a:latin typeface="Arial"/>
              </a:rPr>
              <a:t>Training T</a:t>
            </a:r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24373EDE-1FE7-7677-8DCF-E83E4A8F6432}"/>
              </a:ext>
            </a:extLst>
          </p:cNvPr>
          <p:cNvSpPr/>
          <p:nvPr/>
        </p:nvSpPr>
        <p:spPr>
          <a:xfrm>
            <a:off x="3154680" y="2338716"/>
            <a:ext cx="1600200" cy="566928"/>
          </a:xfrm>
          <a:prstGeom prst="roundRect">
            <a:avLst/>
          </a:prstGeom>
          <a:solidFill>
            <a:srgbClr val="191919"/>
          </a:solidFill>
          <a:ln w="17780">
            <a:solidFill>
              <a:srgbClr val="F6B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BEC6A5CB-7488-5263-AFCB-6643EE9BE7EF}"/>
              </a:ext>
            </a:extLst>
          </p:cNvPr>
          <p:cNvSpPr txBox="1"/>
          <p:nvPr/>
        </p:nvSpPr>
        <p:spPr>
          <a:xfrm>
            <a:off x="3154680" y="2357004"/>
            <a:ext cx="16002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600" b="1">
                <a:solidFill>
                  <a:srgbClr val="F6F4F0"/>
                </a:solidFill>
                <a:latin typeface="Arial"/>
              </a:rPr>
              <a:t>Earnings Y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5643E42-01F3-5D02-1560-A91619DC6EA0}"/>
              </a:ext>
            </a:extLst>
          </p:cNvPr>
          <p:cNvCxnSpPr>
            <a:stCxn id="4" idx="3"/>
          </p:cNvCxnSpPr>
          <p:nvPr/>
        </p:nvCxnSpPr>
        <p:spPr>
          <a:xfrm>
            <a:off x="2057400" y="2009532"/>
            <a:ext cx="1097280" cy="484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DEBD6E1-5AD1-A5C8-A0B8-69969FD1E84C}"/>
              </a:ext>
            </a:extLst>
          </p:cNvPr>
          <p:cNvCxnSpPr>
            <a:cxnSpLocks/>
          </p:cNvCxnSpPr>
          <p:nvPr/>
        </p:nvCxnSpPr>
        <p:spPr>
          <a:xfrm>
            <a:off x="1177636" y="2292996"/>
            <a:ext cx="0" cy="658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60F6627-AAF1-4826-5E75-3D5183D6D318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 flipV="1">
            <a:off x="2057400" y="2622180"/>
            <a:ext cx="1097280" cy="6126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16">
            <a:extLst>
              <a:ext uri="{FF2B5EF4-FFF2-40B4-BE49-F238E27FC236}">
                <a16:creationId xmlns:a16="http://schemas.microsoft.com/office/drawing/2014/main" id="{94849E01-4DCB-7DB5-D8D1-56D3BB43334D}"/>
              </a:ext>
            </a:extLst>
          </p:cNvPr>
          <p:cNvSpPr/>
          <p:nvPr/>
        </p:nvSpPr>
        <p:spPr>
          <a:xfrm>
            <a:off x="5131722" y="1167938"/>
            <a:ext cx="3726659" cy="1316736"/>
          </a:xfrm>
          <a:prstGeom prst="roundRect">
            <a:avLst/>
          </a:prstGeom>
          <a:solidFill>
            <a:srgbClr val="1C1C1C"/>
          </a:solidFill>
          <a:ln w="17780">
            <a:solidFill>
              <a:srgbClr val="E3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53" name="TextBox 17">
            <a:extLst>
              <a:ext uri="{FF2B5EF4-FFF2-40B4-BE49-F238E27FC236}">
                <a16:creationId xmlns:a16="http://schemas.microsoft.com/office/drawing/2014/main" id="{11D7B1ED-DF31-E2D1-8DD4-56E08507133A}"/>
              </a:ext>
            </a:extLst>
          </p:cNvPr>
          <p:cNvSpPr txBox="1"/>
          <p:nvPr/>
        </p:nvSpPr>
        <p:spPr>
          <a:xfrm>
            <a:off x="5131722" y="1327958"/>
            <a:ext cx="2514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600" b="1" dirty="0">
                <a:solidFill>
                  <a:srgbClr val="E36D6D"/>
                </a:solidFill>
                <a:latin typeface="Arial"/>
              </a:rPr>
              <a:t>What we observed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18">
                <a:extLst>
                  <a:ext uri="{FF2B5EF4-FFF2-40B4-BE49-F238E27FC236}">
                    <a16:creationId xmlns:a16="http://schemas.microsoft.com/office/drawing/2014/main" id="{0242C634-7067-9DF1-9F59-BC57636D9663}"/>
                  </a:ext>
                </a:extLst>
              </p:cNvPr>
              <p:cNvSpPr txBox="1"/>
              <p:nvPr/>
            </p:nvSpPr>
            <p:spPr>
              <a:xfrm>
                <a:off x="5270268" y="1670858"/>
                <a:ext cx="3416532" cy="646331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8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sz="18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8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18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sz="18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18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8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] − </m:t>
                      </m:r>
                      <m:r>
                        <a:rPr lang="en-US" sz="18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sz="18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8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18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sz="18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18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8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sz="1800" b="1" dirty="0">
                  <a:solidFill>
                    <a:srgbClr val="F6F4F0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54" name="TextBox 18">
                <a:extLst>
                  <a:ext uri="{FF2B5EF4-FFF2-40B4-BE49-F238E27FC236}">
                    <a16:creationId xmlns:a16="http://schemas.microsoft.com/office/drawing/2014/main" id="{0242C634-7067-9DF1-9F59-BC57636D9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0268" y="1670858"/>
                <a:ext cx="3416532" cy="646331"/>
              </a:xfrm>
              <a:prstGeom prst="rect">
                <a:avLst/>
              </a:prstGeom>
              <a:blipFill>
                <a:blip r:embed="rId2"/>
                <a:stretch>
                  <a:fillRect b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ounded Rectangle 19">
            <a:extLst>
              <a:ext uri="{FF2B5EF4-FFF2-40B4-BE49-F238E27FC236}">
                <a16:creationId xmlns:a16="http://schemas.microsoft.com/office/drawing/2014/main" id="{D51BA928-F99A-34CF-5DBF-9D94B5B3BECE}"/>
              </a:ext>
            </a:extLst>
          </p:cNvPr>
          <p:cNvSpPr/>
          <p:nvPr/>
        </p:nvSpPr>
        <p:spPr>
          <a:xfrm>
            <a:off x="5131723" y="2749850"/>
            <a:ext cx="3726658" cy="1316736"/>
          </a:xfrm>
          <a:prstGeom prst="roundRect">
            <a:avLst/>
          </a:prstGeom>
          <a:solidFill>
            <a:srgbClr val="1C1C1C"/>
          </a:solidFill>
          <a:ln w="17780">
            <a:solidFill>
              <a:srgbClr val="F0C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/>
          </a:p>
        </p:txBody>
      </p:sp>
      <p:sp>
        <p:nvSpPr>
          <p:cNvPr id="56" name="TextBox 20">
            <a:extLst>
              <a:ext uri="{FF2B5EF4-FFF2-40B4-BE49-F238E27FC236}">
                <a16:creationId xmlns:a16="http://schemas.microsoft.com/office/drawing/2014/main" id="{22FFE5CD-DEF3-828C-3D45-5353C461520B}"/>
              </a:ext>
            </a:extLst>
          </p:cNvPr>
          <p:cNvSpPr txBox="1"/>
          <p:nvPr/>
        </p:nvSpPr>
        <p:spPr>
          <a:xfrm>
            <a:off x="5360323" y="2887010"/>
            <a:ext cx="2514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600" b="1" dirty="0">
                <a:solidFill>
                  <a:srgbClr val="F0C35A"/>
                </a:solidFill>
                <a:latin typeface="Arial"/>
              </a:rPr>
              <a:t>What we want causally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21">
                <a:extLst>
                  <a:ext uri="{FF2B5EF4-FFF2-40B4-BE49-F238E27FC236}">
                    <a16:creationId xmlns:a16="http://schemas.microsoft.com/office/drawing/2014/main" id="{F4696BF5-0F07-5B36-C565-18AFC137F05B}"/>
                  </a:ext>
                </a:extLst>
              </p:cNvPr>
              <p:cNvSpPr txBox="1"/>
              <p:nvPr/>
            </p:nvSpPr>
            <p:spPr>
              <a:xfrm>
                <a:off x="5190188" y="3408218"/>
                <a:ext cx="3726658" cy="353943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𝒅𝒐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)] − 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𝒅𝒐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700" b="1" i="1" dirty="0" smtClean="0">
                          <a:solidFill>
                            <a:srgbClr val="F6F4F0"/>
                          </a:solidFill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sz="1700" b="1" dirty="0">
                  <a:solidFill>
                    <a:srgbClr val="F6F4F0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57" name="TextBox 21">
                <a:extLst>
                  <a:ext uri="{FF2B5EF4-FFF2-40B4-BE49-F238E27FC236}">
                    <a16:creationId xmlns:a16="http://schemas.microsoft.com/office/drawing/2014/main" id="{F4696BF5-0F07-5B36-C565-18AFC137F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0188" y="3408218"/>
                <a:ext cx="3726658" cy="353943"/>
              </a:xfrm>
              <a:prstGeom prst="rect">
                <a:avLst/>
              </a:prstGeom>
              <a:blipFill>
                <a:blip r:embed="rId3"/>
                <a:stretch>
                  <a:fillRect b="-1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22">
            <a:extLst>
              <a:ext uri="{FF2B5EF4-FFF2-40B4-BE49-F238E27FC236}">
                <a16:creationId xmlns:a16="http://schemas.microsoft.com/office/drawing/2014/main" id="{E418D4E3-9ED1-17F6-DD44-63B934B4E811}"/>
              </a:ext>
            </a:extLst>
          </p:cNvPr>
          <p:cNvSpPr txBox="1"/>
          <p:nvPr/>
        </p:nvSpPr>
        <p:spPr>
          <a:xfrm>
            <a:off x="457200" y="4257223"/>
            <a:ext cx="7818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sz="1500" b="1">
                <a:solidFill>
                  <a:srgbClr val="F6B62F"/>
                </a:solidFill>
                <a:latin typeface="Arial"/>
              </a:rPr>
              <a:t>SCM tells us what “force training” versus “force no training” means. It does not make −$635 causal; assumptions and appropriate adjustment are still needed.</a:t>
            </a:r>
          </a:p>
        </p:txBody>
      </p:sp>
    </p:spTree>
    <p:extLst>
      <p:ext uri="{BB962C8B-B14F-4D97-AF65-F5344CB8AC3E}">
        <p14:creationId xmlns:p14="http://schemas.microsoft.com/office/powerpoint/2010/main" val="360953876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8EF31-8D0E-8EF0-220B-812365D5B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84A4AE-08D7-862D-A79D-C2D44EF82244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4F1EA"/>
                </a:solidFill>
                <a:latin typeface="Georgia"/>
              </a:rPr>
              <a:t>Next Lesson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04FFBA-5857-61CC-B5C0-DB8FD2D9E848}"/>
              </a:ext>
            </a:extLst>
          </p:cNvPr>
          <p:cNvSpPr txBox="1"/>
          <p:nvPr/>
        </p:nvSpPr>
        <p:spPr>
          <a:xfrm>
            <a:off x="787791" y="946052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F5F5F5"/>
                </a:solidFill>
                <a:latin typeface="Arial"/>
              </a:rPr>
              <a:t>SCM gave us a precise target: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A652B3-C185-189D-5FD7-25A14CA83C0B}"/>
              </a:ext>
            </a:extLst>
          </p:cNvPr>
          <p:cNvSpPr txBox="1"/>
          <p:nvPr/>
        </p:nvSpPr>
        <p:spPr>
          <a:xfrm>
            <a:off x="1519311" y="1494692"/>
            <a:ext cx="6217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0">
                <a:solidFill>
                  <a:srgbClr val="FDBB30"/>
                </a:solidFill>
                <a:latin typeface="Cambria Math"/>
              </a:rPr>
              <a:t>E[Y | do(T=1)] − E[Y | do(T=0)]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2C55B8-ECB7-E2B6-4E14-E201235DD87D}"/>
              </a:ext>
            </a:extLst>
          </p:cNvPr>
          <p:cNvSpPr txBox="1"/>
          <p:nvPr/>
        </p:nvSpPr>
        <p:spPr>
          <a:xfrm>
            <a:off x="731520" y="2465363"/>
            <a:ext cx="7680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70ACE8"/>
                </a:solidFill>
                <a:latin typeface="Arial"/>
              </a:rPr>
              <a:t>Next question: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856C86-026A-175F-BDFC-ED66290F7BDD}"/>
              </a:ext>
            </a:extLst>
          </p:cNvPr>
          <p:cNvSpPr txBox="1"/>
          <p:nvPr/>
        </p:nvSpPr>
        <p:spPr>
          <a:xfrm>
            <a:off x="626011" y="3003451"/>
            <a:ext cx="7624689" cy="8018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 dirty="0">
                <a:solidFill>
                  <a:srgbClr val="F5F5F5"/>
                </a:solidFill>
                <a:latin typeface="Arial"/>
              </a:rPr>
              <a:t>When can we learn that intervention effect from the data we actually observe?</a:t>
            </a:r>
          </a:p>
        </p:txBody>
      </p:sp>
      <p:sp>
        <p:nvSpPr>
          <p:cNvPr id="19" name="Rounded Rectangle 6">
            <a:extLst>
              <a:ext uri="{FF2B5EF4-FFF2-40B4-BE49-F238E27FC236}">
                <a16:creationId xmlns:a16="http://schemas.microsoft.com/office/drawing/2014/main" id="{96553006-F33D-96C3-36D1-3EECC7BB4459}"/>
              </a:ext>
            </a:extLst>
          </p:cNvPr>
          <p:cNvSpPr/>
          <p:nvPr/>
        </p:nvSpPr>
        <p:spPr>
          <a:xfrm>
            <a:off x="1828800" y="3928403"/>
            <a:ext cx="5486400" cy="594360"/>
          </a:xfrm>
          <a:prstGeom prst="roundRect">
            <a:avLst/>
          </a:prstGeom>
          <a:solidFill>
            <a:srgbClr val="222427"/>
          </a:solidFill>
          <a:ln w="19050">
            <a:solidFill>
              <a:srgbClr val="78C2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2000" b="1">
                <a:solidFill>
                  <a:srgbClr val="78C28C"/>
                </a:solidFill>
                <a:latin typeface="Arial"/>
              </a:rPr>
              <a:t>Next: randomized experiments and identification</a:t>
            </a:r>
          </a:p>
        </p:txBody>
      </p:sp>
    </p:spTree>
    <p:extLst>
      <p:ext uri="{BB962C8B-B14F-4D97-AF65-F5344CB8AC3E}">
        <p14:creationId xmlns:p14="http://schemas.microsoft.com/office/powerpoint/2010/main" val="3955650079"/>
      </p:ext>
    </p:extLst>
  </p:cSld>
  <p:clrMapOvr>
    <a:masterClrMapping/>
  </p:clrMapOvr>
</p:sld>
</file>

<file path=ppt/theme/theme1.xml><?xml version="1.0" encoding="utf-8"?>
<a:theme xmlns:a="http://schemas.openxmlformats.org/drawingml/2006/main" name="Ursula template">
  <a:themeElements>
    <a:clrScheme name="Custom 347">
      <a:dk1>
        <a:srgbClr val="000000"/>
      </a:dk1>
      <a:lt1>
        <a:srgbClr val="FFFFFF"/>
      </a:lt1>
      <a:dk2>
        <a:srgbClr val="D1D8DF"/>
      </a:dk2>
      <a:lt2>
        <a:srgbClr val="4F565C"/>
      </a:lt2>
      <a:accent1>
        <a:srgbClr val="71AEF0"/>
      </a:accent1>
      <a:accent2>
        <a:srgbClr val="88E6DC"/>
      </a:accent2>
      <a:accent3>
        <a:srgbClr val="A6D145"/>
      </a:accent3>
      <a:accent4>
        <a:srgbClr val="FFE000"/>
      </a:accent4>
      <a:accent5>
        <a:srgbClr val="FC765C"/>
      </a:accent5>
      <a:accent6>
        <a:srgbClr val="A693C9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5325</TotalTime>
  <Words>6712</Words>
  <Application>Microsoft Office PowerPoint</Application>
  <PresentationFormat>On-screen Show (16:9)</PresentationFormat>
  <Paragraphs>912</Paragraphs>
  <Slides>100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11" baseType="lpstr">
      <vt:lpstr>Consolas</vt:lpstr>
      <vt:lpstr>Arial</vt:lpstr>
      <vt:lpstr>Walter Turncoat</vt:lpstr>
      <vt:lpstr>Aptos</vt:lpstr>
      <vt:lpstr>Georgia</vt:lpstr>
      <vt:lpstr>Cambria Math</vt:lpstr>
      <vt:lpstr>Walbaum Text</vt:lpstr>
      <vt:lpstr>Aptos Display</vt:lpstr>
      <vt:lpstr>Sniglet</vt:lpstr>
      <vt:lpstr>Roboto Condensed</vt:lpstr>
      <vt:lpstr>Ursula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Samhita Pal</dc:creator>
  <cp:lastModifiedBy>Dhrubajyoti Ghosh</cp:lastModifiedBy>
  <cp:revision>170</cp:revision>
  <dcterms:modified xsi:type="dcterms:W3CDTF">2026-09-21T16:15:41Z</dcterms:modified>
</cp:coreProperties>
</file>