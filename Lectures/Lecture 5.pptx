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82"/>
  </p:notesMasterIdLst>
  <p:sldIdLst>
    <p:sldId id="297" r:id="rId2"/>
    <p:sldId id="461" r:id="rId3"/>
    <p:sldId id="510" r:id="rId4"/>
    <p:sldId id="511" r:id="rId5"/>
    <p:sldId id="512" r:id="rId6"/>
    <p:sldId id="514" r:id="rId7"/>
    <p:sldId id="513" r:id="rId8"/>
    <p:sldId id="370" r:id="rId9"/>
    <p:sldId id="417" r:id="rId10"/>
    <p:sldId id="515" r:id="rId11"/>
    <p:sldId id="516" r:id="rId12"/>
    <p:sldId id="509" r:id="rId13"/>
    <p:sldId id="460" r:id="rId14"/>
    <p:sldId id="462" r:id="rId15"/>
    <p:sldId id="463" r:id="rId16"/>
    <p:sldId id="464" r:id="rId17"/>
    <p:sldId id="465" r:id="rId18"/>
    <p:sldId id="466" r:id="rId19"/>
    <p:sldId id="467" r:id="rId20"/>
    <p:sldId id="468" r:id="rId21"/>
    <p:sldId id="469" r:id="rId22"/>
    <p:sldId id="470" r:id="rId23"/>
    <p:sldId id="471" r:id="rId24"/>
    <p:sldId id="472" r:id="rId25"/>
    <p:sldId id="473" r:id="rId26"/>
    <p:sldId id="474" r:id="rId27"/>
    <p:sldId id="475" r:id="rId28"/>
    <p:sldId id="476" r:id="rId29"/>
    <p:sldId id="477" r:id="rId30"/>
    <p:sldId id="478" r:id="rId31"/>
    <p:sldId id="479" r:id="rId32"/>
    <p:sldId id="480" r:id="rId33"/>
    <p:sldId id="481" r:id="rId34"/>
    <p:sldId id="482" r:id="rId35"/>
    <p:sldId id="483" r:id="rId36"/>
    <p:sldId id="484" r:id="rId37"/>
    <p:sldId id="485" r:id="rId38"/>
    <p:sldId id="486" r:id="rId39"/>
    <p:sldId id="487" r:id="rId40"/>
    <p:sldId id="488" r:id="rId41"/>
    <p:sldId id="489" r:id="rId42"/>
    <p:sldId id="490" r:id="rId43"/>
    <p:sldId id="491" r:id="rId44"/>
    <p:sldId id="492" r:id="rId45"/>
    <p:sldId id="493" r:id="rId46"/>
    <p:sldId id="494" r:id="rId47"/>
    <p:sldId id="495" r:id="rId48"/>
    <p:sldId id="496" r:id="rId49"/>
    <p:sldId id="497" r:id="rId50"/>
    <p:sldId id="498" r:id="rId51"/>
    <p:sldId id="499" r:id="rId52"/>
    <p:sldId id="500" r:id="rId53"/>
    <p:sldId id="501" r:id="rId54"/>
    <p:sldId id="502" r:id="rId55"/>
    <p:sldId id="503" r:id="rId56"/>
    <p:sldId id="504" r:id="rId57"/>
    <p:sldId id="505" r:id="rId58"/>
    <p:sldId id="506" r:id="rId59"/>
    <p:sldId id="507" r:id="rId60"/>
    <p:sldId id="508" r:id="rId61"/>
    <p:sldId id="517" r:id="rId62"/>
    <p:sldId id="518" r:id="rId63"/>
    <p:sldId id="519" r:id="rId64"/>
    <p:sldId id="520" r:id="rId65"/>
    <p:sldId id="521" r:id="rId66"/>
    <p:sldId id="522" r:id="rId67"/>
    <p:sldId id="523" r:id="rId68"/>
    <p:sldId id="524" r:id="rId69"/>
    <p:sldId id="525" r:id="rId70"/>
    <p:sldId id="526" r:id="rId71"/>
    <p:sldId id="527" r:id="rId72"/>
    <p:sldId id="528" r:id="rId73"/>
    <p:sldId id="529" r:id="rId74"/>
    <p:sldId id="530" r:id="rId75"/>
    <p:sldId id="531" r:id="rId76"/>
    <p:sldId id="532" r:id="rId77"/>
    <p:sldId id="533" r:id="rId78"/>
    <p:sldId id="534" r:id="rId79"/>
    <p:sldId id="535" r:id="rId80"/>
    <p:sldId id="536" r:id="rId8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83"/>
    </p:embeddedFont>
    <p:embeddedFont>
      <p:font typeface="Consolas" panose="020B0609020204030204" pitchFamily="49" charset="0"/>
      <p:regular r:id="rId84"/>
      <p:bold r:id="rId85"/>
      <p:italic r:id="rId86"/>
      <p:boldItalic r:id="rId87"/>
    </p:embeddedFont>
    <p:embeddedFont>
      <p:font typeface="Georgia" panose="02040502050405020303" pitchFamily="18" charset="0"/>
      <p:regular r:id="rId88"/>
      <p:bold r:id="rId89"/>
      <p:italic r:id="rId90"/>
      <p:boldItalic r:id="rId91"/>
    </p:embeddedFont>
    <p:embeddedFont>
      <p:font typeface="Roboto Condensed" panose="02000000000000000000" pitchFamily="2" charset="0"/>
      <p:regular r:id="rId92"/>
      <p:bold r:id="rId93"/>
      <p:italic r:id="rId94"/>
      <p:boldItalic r:id="rId95"/>
    </p:embeddedFont>
    <p:embeddedFont>
      <p:font typeface="Sniglet" panose="020B0604020202020204" charset="0"/>
      <p:regular r:id="rId96"/>
    </p:embeddedFont>
    <p:embeddedFont>
      <p:font typeface="Walbaum Text" panose="02070503080703020303" pitchFamily="18" charset="0"/>
      <p:regular r:id="rId97"/>
      <p:bold r:id="rId98"/>
      <p:italic r:id="rId99"/>
      <p:boldItalic r:id="rId100"/>
    </p:embeddedFont>
    <p:embeddedFont>
      <p:font typeface="Walter Turncoat" panose="020B0604020202020204" charset="0"/>
      <p:regular r:id="rId10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0B942B-5FDC-419F-A31C-88048C057ADA}">
  <a:tblStyle styleId="{3D0B942B-5FDC-419F-A31C-88048C057A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F752B63-FEDA-48D4-B3B7-9A5BAED3138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3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2.fntdata"/><Relationship Id="rId89" Type="http://schemas.openxmlformats.org/officeDocument/2006/relationships/font" Target="fonts/font7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font" Target="fonts/font8.fntdata"/><Relationship Id="rId95" Type="http://schemas.openxmlformats.org/officeDocument/2006/relationships/font" Target="fonts/font13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3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1.fntdata"/><Relationship Id="rId88" Type="http://schemas.openxmlformats.org/officeDocument/2006/relationships/font" Target="fonts/font6.fntdata"/><Relationship Id="rId91" Type="http://schemas.openxmlformats.org/officeDocument/2006/relationships/font" Target="fonts/font9.fntdata"/><Relationship Id="rId96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4.fntdata"/><Relationship Id="rId94" Type="http://schemas.openxmlformats.org/officeDocument/2006/relationships/font" Target="fonts/font12.fntdata"/><Relationship Id="rId99" Type="http://schemas.openxmlformats.org/officeDocument/2006/relationships/font" Target="fonts/font17.fntdata"/><Relationship Id="rId10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5.fntdata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0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5.fntdata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8.fntdata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1.fntdata"/><Relationship Id="rId98" Type="http://schemas.openxmlformats.org/officeDocument/2006/relationships/font" Target="fonts/font16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✘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A9790-8FD3-3CFF-298C-8576CD7777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134EF000-1360-AEF0-B6CC-E38FC7950DC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69955" y="294994"/>
            <a:ext cx="8229600" cy="19050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STAT 7900: Special Topic: </a:t>
            </a:r>
          </a:p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Causal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FDCB5-F084-8EE3-64F9-3FEEE886EC0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738512" y="235668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KENNESAW STATE UNIVERSITY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Walter Turncoat" panose="020B0604020202020204" charset="0"/>
              </a:rPr>
              <a:t>STAT 7900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58E625-98C4-4A42-C24D-4A91B5CF561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-51800" y="229760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Instructor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Walter Turncoat" panose="020B0604020202020204" charset="0"/>
              </a:rPr>
              <a:t> Dhrubajyoti Ghosh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93739B6-31BF-A8C0-52D4-A784612214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895" y="2171700"/>
            <a:ext cx="8477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1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DAC7D-CE69-4797-9141-D38D8467B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AF0F5C-1CEF-DB34-D54C-C9135694EC2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Recap Slides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AC89DA2-242A-BDF4-438B-8AD3FA9D3C1C}"/>
              </a:ext>
            </a:extLst>
          </p:cNvPr>
          <p:cNvSpPr/>
          <p:nvPr/>
        </p:nvSpPr>
        <p:spPr>
          <a:xfrm>
            <a:off x="77724" y="808455"/>
            <a:ext cx="1993392" cy="1934745"/>
          </a:xfrm>
          <a:prstGeom prst="roundRect">
            <a:avLst>
              <a:gd name="adj" fmla="val 3137"/>
            </a:avLst>
          </a:prstGeom>
          <a:solidFill>
            <a:srgbClr val="242424"/>
          </a:solidFill>
          <a:ln w="25400">
            <a:solidFill>
              <a:srgbClr val="70A9E6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1C4D39-FD0C-DCBD-84D6-626E5C8434CF}"/>
              </a:ext>
            </a:extLst>
          </p:cNvPr>
          <p:cNvSpPr/>
          <p:nvPr/>
        </p:nvSpPr>
        <p:spPr>
          <a:xfrm>
            <a:off x="150877" y="945615"/>
            <a:ext cx="1868316" cy="349013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70A9E6"/>
                </a:solidFill>
                <a:ea typeface="Roboto Condensed" pitchFamily="34" charset="-122"/>
                <a:cs typeface="Roboto Condensed" pitchFamily="34" charset="-120"/>
              </a:rPr>
              <a:t>1  QUESTION</a:t>
            </a:r>
            <a:endParaRPr lang="en-US" sz="1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147498A-1CE6-037F-07B3-58287A18351C}"/>
              </a:ext>
            </a:extLst>
          </p:cNvPr>
          <p:cNvSpPr/>
          <p:nvPr/>
        </p:nvSpPr>
        <p:spPr>
          <a:xfrm>
            <a:off x="233172" y="1585695"/>
            <a:ext cx="1719790" cy="9484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What would happen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if we intervened?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E2491EC-A3F7-6F1E-FD1B-41EA4410B64B}"/>
              </a:ext>
            </a:extLst>
          </p:cNvPr>
          <p:cNvSpPr/>
          <p:nvPr/>
        </p:nvSpPr>
        <p:spPr>
          <a:xfrm>
            <a:off x="2181562" y="808455"/>
            <a:ext cx="2212130" cy="1933756"/>
          </a:xfrm>
          <a:prstGeom prst="roundRect">
            <a:avLst>
              <a:gd name="adj" fmla="val 3137"/>
            </a:avLst>
          </a:prstGeom>
          <a:solidFill>
            <a:srgbClr val="242424"/>
          </a:solidFill>
          <a:ln w="2540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F1B3988-19F7-D98B-C8FE-2CDBA3C1C801}"/>
              </a:ext>
            </a:extLst>
          </p:cNvPr>
          <p:cNvSpPr/>
          <p:nvPr/>
        </p:nvSpPr>
        <p:spPr>
          <a:xfrm>
            <a:off x="2254713" y="945616"/>
            <a:ext cx="2059710" cy="34883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7B733"/>
                </a:solidFill>
                <a:ea typeface="Roboto Condensed" pitchFamily="34" charset="-122"/>
                <a:cs typeface="Roboto Condensed" pitchFamily="34" charset="-120"/>
              </a:rPr>
              <a:t>2  COUNTERFACTUALS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B012787-137E-C257-BDBA-9E056FDF12AF}"/>
              </a:ext>
            </a:extLst>
          </p:cNvPr>
          <p:cNvSpPr/>
          <p:nvPr/>
        </p:nvSpPr>
        <p:spPr>
          <a:xfrm>
            <a:off x="2337010" y="1585696"/>
            <a:ext cx="1908504" cy="947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Define Y(1), Y(0)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and the causal estimand</a:t>
            </a:r>
            <a:endParaRPr lang="en-US" sz="2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859CDC0-AAD5-D936-2A55-A40C7AC4842A}"/>
              </a:ext>
            </a:extLst>
          </p:cNvPr>
          <p:cNvSpPr/>
          <p:nvPr/>
        </p:nvSpPr>
        <p:spPr>
          <a:xfrm>
            <a:off x="4583204" y="808454"/>
            <a:ext cx="2102402" cy="1933758"/>
          </a:xfrm>
          <a:prstGeom prst="roundRect">
            <a:avLst>
              <a:gd name="adj" fmla="val 3137"/>
            </a:avLst>
          </a:prstGeom>
          <a:solidFill>
            <a:srgbClr val="242424"/>
          </a:solidFill>
          <a:ln w="25400">
            <a:solidFill>
              <a:srgbClr val="7BC58C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2F8DCE5-51A9-6D4D-A455-4C671BF9FC91}"/>
              </a:ext>
            </a:extLst>
          </p:cNvPr>
          <p:cNvSpPr/>
          <p:nvPr/>
        </p:nvSpPr>
        <p:spPr>
          <a:xfrm>
            <a:off x="4647176" y="945615"/>
            <a:ext cx="1970487" cy="34883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7BC58C"/>
                </a:solidFill>
                <a:ea typeface="Roboto Condensed" pitchFamily="34" charset="-122"/>
                <a:cs typeface="Roboto Condensed" pitchFamily="34" charset="-120"/>
              </a:rPr>
              <a:t>3  GRAPHS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8C665FF-3AE1-DA3D-39F2-215D7C03B756}"/>
              </a:ext>
            </a:extLst>
          </p:cNvPr>
          <p:cNvSpPr/>
          <p:nvPr/>
        </p:nvSpPr>
        <p:spPr>
          <a:xfrm>
            <a:off x="4718570" y="1585694"/>
            <a:ext cx="1813837" cy="94792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2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Use a DAG to decide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what must be adjusted for</a:t>
            </a:r>
            <a:endParaRPr lang="en-US" sz="2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532DCD7-3354-D851-D9D5-35DBBE686BC0}"/>
              </a:ext>
            </a:extLst>
          </p:cNvPr>
          <p:cNvSpPr/>
          <p:nvPr/>
        </p:nvSpPr>
        <p:spPr>
          <a:xfrm>
            <a:off x="7210044" y="1831086"/>
            <a:ext cx="347472" cy="0"/>
          </a:xfrm>
          <a:prstGeom prst="line">
            <a:avLst/>
          </a:prstGeom>
          <a:noFill/>
          <a:ln w="26670">
            <a:solidFill>
              <a:srgbClr val="8D8D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C413FA0-0B7D-47B7-F090-BEC387AC0D76}"/>
              </a:ext>
            </a:extLst>
          </p:cNvPr>
          <p:cNvSpPr/>
          <p:nvPr/>
        </p:nvSpPr>
        <p:spPr>
          <a:xfrm>
            <a:off x="6875118" y="808454"/>
            <a:ext cx="2157700" cy="1933758"/>
          </a:xfrm>
          <a:prstGeom prst="roundRect">
            <a:avLst>
              <a:gd name="adj" fmla="val 3137"/>
            </a:avLst>
          </a:prstGeom>
          <a:solidFill>
            <a:srgbClr val="242424"/>
          </a:solidFill>
          <a:ln w="25400">
            <a:solidFill>
              <a:srgbClr val="B58AD9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FC881ED-F0BC-4F4E-ACF3-5FF16315ABF3}"/>
              </a:ext>
            </a:extLst>
          </p:cNvPr>
          <p:cNvSpPr/>
          <p:nvPr/>
        </p:nvSpPr>
        <p:spPr>
          <a:xfrm>
            <a:off x="6948270" y="945614"/>
            <a:ext cx="2022315" cy="34883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B58AD9"/>
                </a:solidFill>
                <a:ea typeface="Roboto Condensed" pitchFamily="34" charset="-122"/>
                <a:cs typeface="Roboto Condensed" pitchFamily="34" charset="-120"/>
              </a:rPr>
              <a:t>4  INTERVENTIONS</a:t>
            </a:r>
            <a:endParaRPr lang="en-US" sz="17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7767617-E624-AE33-884A-5BA28B7BD4B6}"/>
              </a:ext>
            </a:extLst>
          </p:cNvPr>
          <p:cNvSpPr/>
          <p:nvPr/>
        </p:nvSpPr>
        <p:spPr>
          <a:xfrm>
            <a:off x="7030566" y="1585694"/>
            <a:ext cx="1861545" cy="94792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850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Use an SCM and do(·)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to define intervention worlds</a:t>
            </a:r>
            <a:endParaRPr lang="en-US" sz="2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A337FAD-63C7-A1CC-A94D-7D81C5F4CE52}"/>
              </a:ext>
            </a:extLst>
          </p:cNvPr>
          <p:cNvSpPr/>
          <p:nvPr/>
        </p:nvSpPr>
        <p:spPr>
          <a:xfrm>
            <a:off x="155748" y="3503620"/>
            <a:ext cx="8854911" cy="957155"/>
          </a:xfrm>
          <a:prstGeom prst="roundRect">
            <a:avLst>
              <a:gd name="adj" fmla="val 7843"/>
            </a:avLst>
          </a:prstGeom>
          <a:solidFill>
            <a:srgbClr val="2B2B2B"/>
          </a:solidFill>
          <a:ln w="19050">
            <a:solidFill>
              <a:srgbClr val="F29D49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F6FB09B-30C7-F810-8518-C6E43ED065CB}"/>
              </a:ext>
            </a:extLst>
          </p:cNvPr>
          <p:cNvSpPr/>
          <p:nvPr/>
        </p:nvSpPr>
        <p:spPr>
          <a:xfrm>
            <a:off x="328407" y="3670326"/>
            <a:ext cx="4254796" cy="66471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00" b="1" dirty="0">
                <a:solidFill>
                  <a:srgbClr val="F29D49"/>
                </a:solidFill>
                <a:ea typeface="Roboto Condensed" pitchFamily="34" charset="-122"/>
                <a:cs typeface="Roboto Condensed" pitchFamily="34" charset="-120"/>
              </a:rPr>
              <a:t>Identification comes before estimation.</a:t>
            </a:r>
            <a:endParaRPr lang="en-US" sz="2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17E90A9-7337-24DE-8995-398933E18A15}"/>
              </a:ext>
            </a:extLst>
          </p:cNvPr>
          <p:cNvSpPr/>
          <p:nvPr/>
        </p:nvSpPr>
        <p:spPr>
          <a:xfrm>
            <a:off x="4245514" y="3756984"/>
            <a:ext cx="4384884" cy="45042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Today: SCM and why randomization makes the identification step unusually transparent.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1A6FC9B-2151-0CEA-DBCA-54BBB87FF0DB}"/>
              </a:ext>
            </a:extLst>
          </p:cNvPr>
          <p:cNvSpPr/>
          <p:nvPr/>
        </p:nvSpPr>
        <p:spPr>
          <a:xfrm>
            <a:off x="2046831" y="1780745"/>
            <a:ext cx="347472" cy="0"/>
          </a:xfrm>
          <a:prstGeom prst="line">
            <a:avLst/>
          </a:prstGeom>
          <a:noFill/>
          <a:ln w="26670">
            <a:solidFill>
              <a:srgbClr val="8D8D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A68C985-7709-BC33-A1EC-6E43E14E7BA2}"/>
              </a:ext>
            </a:extLst>
          </p:cNvPr>
          <p:cNvSpPr/>
          <p:nvPr/>
        </p:nvSpPr>
        <p:spPr>
          <a:xfrm>
            <a:off x="4371098" y="1793902"/>
            <a:ext cx="347472" cy="0"/>
          </a:xfrm>
          <a:prstGeom prst="line">
            <a:avLst/>
          </a:prstGeom>
          <a:noFill/>
          <a:ln w="26670">
            <a:solidFill>
              <a:srgbClr val="8D8D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6DC14586-EC50-5FA6-719B-3C0B36276C85}"/>
              </a:ext>
            </a:extLst>
          </p:cNvPr>
          <p:cNvSpPr/>
          <p:nvPr/>
        </p:nvSpPr>
        <p:spPr>
          <a:xfrm>
            <a:off x="6617663" y="1778459"/>
            <a:ext cx="347472" cy="0"/>
          </a:xfrm>
          <a:prstGeom prst="line">
            <a:avLst/>
          </a:prstGeom>
          <a:noFill/>
          <a:ln w="26670">
            <a:solidFill>
              <a:srgbClr val="8D8D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0160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B14D-C2DA-4C86-557A-4BEAFF92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BA6EF9-5938-8AA0-475D-760E981939F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Recap Slides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FBCF3B9-7AA0-9050-26F7-6F26F3CABED0}"/>
              </a:ext>
            </a:extLst>
          </p:cNvPr>
          <p:cNvSpPr/>
          <p:nvPr/>
        </p:nvSpPr>
        <p:spPr>
          <a:xfrm>
            <a:off x="169188" y="94869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252525"/>
          </a:solidFill>
          <a:ln w="19050">
            <a:solidFill>
              <a:srgbClr val="70A9E6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5880254D-77B5-322D-567A-29F69C94739F}"/>
              </a:ext>
            </a:extLst>
          </p:cNvPr>
          <p:cNvSpPr/>
          <p:nvPr/>
        </p:nvSpPr>
        <p:spPr>
          <a:xfrm>
            <a:off x="278916" y="1159002"/>
            <a:ext cx="2615184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70A9E6"/>
                </a:solidFill>
                <a:ea typeface="Roboto Condensed" pitchFamily="34" charset="-122"/>
                <a:cs typeface="Roboto Condensed" pitchFamily="34" charset="-120"/>
              </a:rPr>
              <a:t>DESCRIPTIVE</a:t>
            </a:r>
            <a:endParaRPr lang="en-US" sz="20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D1203F03-0D3F-F8B1-F28C-7A0590C1108E}"/>
              </a:ext>
            </a:extLst>
          </p:cNvPr>
          <p:cNvSpPr/>
          <p:nvPr/>
        </p:nvSpPr>
        <p:spPr>
          <a:xfrm>
            <a:off x="388644" y="1863090"/>
            <a:ext cx="2395728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What is happening?</a:t>
            </a:r>
            <a:endParaRPr lang="en-US" sz="21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2708A4C8-2334-A2BA-F9A9-347E7C4B6E24}"/>
              </a:ext>
            </a:extLst>
          </p:cNvPr>
          <p:cNvSpPr/>
          <p:nvPr/>
        </p:nvSpPr>
        <p:spPr>
          <a:xfrm>
            <a:off x="370356" y="2823210"/>
            <a:ext cx="2432304" cy="9326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B9B9B9"/>
                </a:solidFill>
                <a:ea typeface="Roboto Condensed" pitchFamily="34" charset="-122"/>
                <a:cs typeface="Roboto Condensed" pitchFamily="34" charset="-120"/>
              </a:rPr>
              <a:t>How does blood pressure differ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B9B9B9"/>
                </a:solidFill>
                <a:ea typeface="Roboto Condensed" pitchFamily="34" charset="-122"/>
                <a:cs typeface="Roboto Condensed" pitchFamily="34" charset="-120"/>
              </a:rPr>
              <a:t>between smokers and non-smokers?</a:t>
            </a:r>
            <a:endParaRPr lang="en-US" sz="160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40F554F3-FE86-4BE5-92F9-F1E22D4CDBE1}"/>
              </a:ext>
            </a:extLst>
          </p:cNvPr>
          <p:cNvSpPr/>
          <p:nvPr/>
        </p:nvSpPr>
        <p:spPr>
          <a:xfrm>
            <a:off x="3095268" y="94869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252525"/>
          </a:solidFill>
          <a:ln w="19050">
            <a:solidFill>
              <a:srgbClr val="B58AD9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02034DC8-7649-C502-30DA-10DC0AB6FC06}"/>
              </a:ext>
            </a:extLst>
          </p:cNvPr>
          <p:cNvSpPr/>
          <p:nvPr/>
        </p:nvSpPr>
        <p:spPr>
          <a:xfrm>
            <a:off x="3204996" y="1159002"/>
            <a:ext cx="2615184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B58AD9"/>
                </a:solidFill>
                <a:ea typeface="Roboto Condensed" pitchFamily="34" charset="-122"/>
                <a:cs typeface="Roboto Condensed" pitchFamily="34" charset="-120"/>
              </a:rPr>
              <a:t>PREDICTIVE</a:t>
            </a:r>
            <a:endParaRPr lang="en-US" sz="20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3C2C5B51-5068-B487-2E97-1DAE2DFC65B0}"/>
              </a:ext>
            </a:extLst>
          </p:cNvPr>
          <p:cNvSpPr/>
          <p:nvPr/>
        </p:nvSpPr>
        <p:spPr>
          <a:xfrm>
            <a:off x="3314724" y="1863090"/>
            <a:ext cx="2395728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What will happen?</a:t>
            </a:r>
            <a:endParaRPr lang="en-US" sz="21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07C4B721-4569-E57C-E272-E5920C226B49}"/>
              </a:ext>
            </a:extLst>
          </p:cNvPr>
          <p:cNvSpPr/>
          <p:nvPr/>
        </p:nvSpPr>
        <p:spPr>
          <a:xfrm>
            <a:off x="3296436" y="2823210"/>
            <a:ext cx="2432304" cy="9326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B9B9B9"/>
                </a:solidFill>
                <a:ea typeface="Roboto Condensed" pitchFamily="34" charset="-122"/>
                <a:cs typeface="Roboto Condensed" pitchFamily="34" charset="-120"/>
              </a:rPr>
              <a:t>Can age, BMI, and smoking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B9B9B9"/>
                </a:solidFill>
                <a:ea typeface="Roboto Condensed" pitchFamily="34" charset="-122"/>
                <a:cs typeface="Roboto Condensed" pitchFamily="34" charset="-120"/>
              </a:rPr>
              <a:t>predict future blood pressure?</a:t>
            </a:r>
            <a:endParaRPr lang="en-US" sz="1600" dirty="0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59072CFD-3FD4-BBEF-3862-0C0BC40DF6E4}"/>
              </a:ext>
            </a:extLst>
          </p:cNvPr>
          <p:cNvSpPr/>
          <p:nvPr/>
        </p:nvSpPr>
        <p:spPr>
          <a:xfrm>
            <a:off x="6131076" y="948690"/>
            <a:ext cx="2834640" cy="3246120"/>
          </a:xfrm>
          <a:prstGeom prst="roundRect">
            <a:avLst>
              <a:gd name="adj" fmla="val 2581"/>
            </a:avLst>
          </a:prstGeom>
          <a:solidFill>
            <a:srgbClr val="252525"/>
          </a:solidFill>
          <a:ln w="3175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46C8143E-DEAE-7E56-2F45-FDC87F97D63E}"/>
              </a:ext>
            </a:extLst>
          </p:cNvPr>
          <p:cNvSpPr/>
          <p:nvPr/>
        </p:nvSpPr>
        <p:spPr>
          <a:xfrm>
            <a:off x="6240804" y="1159002"/>
            <a:ext cx="2615184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7B733"/>
                </a:solidFill>
                <a:ea typeface="Roboto Condensed" pitchFamily="34" charset="-122"/>
                <a:cs typeface="Roboto Condensed" pitchFamily="34" charset="-120"/>
              </a:rPr>
              <a:t>CAUSAL</a:t>
            </a:r>
            <a:endParaRPr lang="en-US" sz="20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3117960A-3A3F-B393-37B0-DA0B479E7D2E}"/>
              </a:ext>
            </a:extLst>
          </p:cNvPr>
          <p:cNvSpPr/>
          <p:nvPr/>
        </p:nvSpPr>
        <p:spPr>
          <a:xfrm>
            <a:off x="6350532" y="1863090"/>
            <a:ext cx="2395728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What would happen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if we intervened?</a:t>
            </a:r>
            <a:endParaRPr lang="en-US" sz="21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3695F288-1A4B-9513-640B-483D5C05B0F2}"/>
              </a:ext>
            </a:extLst>
          </p:cNvPr>
          <p:cNvSpPr/>
          <p:nvPr/>
        </p:nvSpPr>
        <p:spPr>
          <a:xfrm>
            <a:off x="6332244" y="2823210"/>
            <a:ext cx="2432304" cy="9326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B9B9B9"/>
                </a:solidFill>
                <a:ea typeface="Roboto Condensed" pitchFamily="34" charset="-122"/>
                <a:cs typeface="Roboto Condensed" pitchFamily="34" charset="-120"/>
              </a:rPr>
              <a:t>Would smoking cessation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B9B9B9"/>
                </a:solidFill>
                <a:ea typeface="Roboto Condensed" pitchFamily="34" charset="-122"/>
                <a:cs typeface="Roboto Condensed" pitchFamily="34" charset="-120"/>
              </a:rPr>
              <a:t>lower blood pressure?</a:t>
            </a:r>
            <a:endParaRPr lang="en-US" sz="16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CFF04C98-B8E5-4E64-8631-009F5011834D}"/>
              </a:ext>
            </a:extLst>
          </p:cNvPr>
          <p:cNvSpPr/>
          <p:nvPr/>
        </p:nvSpPr>
        <p:spPr>
          <a:xfrm>
            <a:off x="411480" y="4576411"/>
            <a:ext cx="83210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F7B733"/>
                </a:solidFill>
                <a:ea typeface="Roboto Condensed" pitchFamily="34" charset="-122"/>
                <a:cs typeface="Roboto Condensed" pitchFamily="34" charset="-120"/>
              </a:rPr>
              <a:t>The scientific question determines the analysis.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50852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C6FD1-3EBD-F812-5914-86BC98DC1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D41328-F37F-A897-6530-87029F0EF12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Recap Slides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20210EAF-7989-2A2F-9478-D2356F9E576C}"/>
              </a:ext>
            </a:extLst>
          </p:cNvPr>
          <p:cNvSpPr/>
          <p:nvPr/>
        </p:nvSpPr>
        <p:spPr>
          <a:xfrm>
            <a:off x="36444" y="1012402"/>
            <a:ext cx="3627734" cy="1394453"/>
          </a:xfrm>
          <a:prstGeom prst="roundRect">
            <a:avLst>
              <a:gd name="adj" fmla="val 5161"/>
            </a:avLst>
          </a:prstGeom>
          <a:solidFill>
            <a:srgbClr val="252525"/>
          </a:solidFill>
          <a:ln w="25400">
            <a:solidFill>
              <a:srgbClr val="70A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63D0DCA-9027-222B-5182-F39715C7EE39}"/>
              </a:ext>
            </a:extLst>
          </p:cNvPr>
          <p:cNvSpPr/>
          <p:nvPr/>
        </p:nvSpPr>
        <p:spPr>
          <a:xfrm>
            <a:off x="-54996" y="1183394"/>
            <a:ext cx="391363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70A9E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OBSERVED ASSOCIATION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F3EFA5D9-7513-524C-7D61-39C95B17A559}"/>
                  </a:ext>
                </a:extLst>
              </p:cNvPr>
              <p:cNvSpPr/>
              <p:nvPr/>
            </p:nvSpPr>
            <p:spPr>
              <a:xfrm>
                <a:off x="-26314" y="1631449"/>
                <a:ext cx="3690492" cy="475484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 fontScale="85000" lnSpcReduction="10000"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| 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1] − 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| 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0]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F3EFA5D9-7513-524C-7D61-39C95B17A5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314" y="1631449"/>
                <a:ext cx="3690492" cy="475484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FA147543-B0A3-89AD-7A5B-B6D4369750C6}"/>
              </a:ext>
            </a:extLst>
          </p:cNvPr>
          <p:cNvSpPr/>
          <p:nvPr/>
        </p:nvSpPr>
        <p:spPr>
          <a:xfrm>
            <a:off x="5211948" y="1000967"/>
            <a:ext cx="3826797" cy="1437887"/>
          </a:xfrm>
          <a:prstGeom prst="roundRect">
            <a:avLst>
              <a:gd name="adj" fmla="val 5161"/>
            </a:avLst>
          </a:prstGeom>
          <a:solidFill>
            <a:srgbClr val="252525"/>
          </a:solidFill>
          <a:ln w="2540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0CDE86-1D86-1A47-3F78-9618A8F2D528}"/>
              </a:ext>
            </a:extLst>
          </p:cNvPr>
          <p:cNvSpPr/>
          <p:nvPr/>
        </p:nvSpPr>
        <p:spPr>
          <a:xfrm>
            <a:off x="5394828" y="1138127"/>
            <a:ext cx="3484828" cy="31540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7B7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CAUSAL EFFECT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>
                <a:extLst>
                  <a:ext uri="{FF2B5EF4-FFF2-40B4-BE49-F238E27FC236}">
                    <a16:creationId xmlns:a16="http://schemas.microsoft.com/office/drawing/2014/main" id="{E02EC22E-8C20-0D28-152B-A04872BD72F7}"/>
                  </a:ext>
                </a:extLst>
              </p:cNvPr>
              <p:cNvSpPr/>
              <p:nvPr/>
            </p:nvSpPr>
            <p:spPr>
              <a:xfrm>
                <a:off x="5403972" y="1595328"/>
                <a:ext cx="3484828" cy="482388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(1)] − 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24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(0)]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 7">
                <a:extLst>
                  <a:ext uri="{FF2B5EF4-FFF2-40B4-BE49-F238E27FC236}">
                    <a16:creationId xmlns:a16="http://schemas.microsoft.com/office/drawing/2014/main" id="{E02EC22E-8C20-0D28-152B-A04872BD72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972" y="1595328"/>
                <a:ext cx="3484828" cy="482388"/>
              </a:xfrm>
              <a:prstGeom prst="rect">
                <a:avLst/>
              </a:prstGeom>
              <a:blipFill>
                <a:blip r:embed="rId3"/>
                <a:stretch>
                  <a:fillRect b="-1772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C58A38EF-1B19-CC32-CD85-F5994D1717EE}"/>
                  </a:ext>
                </a:extLst>
              </p:cNvPr>
              <p:cNvSpPr/>
              <p:nvPr/>
            </p:nvSpPr>
            <p:spPr>
              <a:xfrm>
                <a:off x="3538596" y="1502516"/>
                <a:ext cx="1737360" cy="457200"/>
              </a:xfrm>
              <a:prstGeom prst="rect">
                <a:avLst/>
              </a:prstGeom>
              <a:noFill/>
              <a:ln/>
            </p:spPr>
            <p:txBody>
              <a:bodyPr wrap="square" lIns="762" tIns="762" rIns="762" bIns="762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300" b="1" i="1" dirty="0" smtClean="0">
                        <a:solidFill>
                          <a:srgbClr val="E06C75"/>
                        </a:solidFill>
                        <a:latin typeface="Cambria Math" panose="02040503050406030204" pitchFamily="18" charset="0"/>
                        <a:ea typeface="Roboto Condensed" pitchFamily="34" charset="-122"/>
                        <a:cs typeface="Roboto Condensed" pitchFamily="34" charset="-120"/>
                      </a:rPr>
                      <m:t>≠</m:t>
                    </m:r>
                  </m:oMath>
                </a14:m>
                <a:r>
                  <a:rPr lang="en-US" sz="2300" b="1" dirty="0">
                    <a:solidFill>
                      <a:srgbClr val="E06C75"/>
                    </a:solidFill>
                    <a:latin typeface="Roboto Condensed" pitchFamily="34" charset="0"/>
                    <a:ea typeface="Roboto Condensed" pitchFamily="34" charset="-122"/>
                    <a:cs typeface="Roboto Condensed" pitchFamily="34" charset="-120"/>
                  </a:rPr>
                  <a:t> in general</a:t>
                </a:r>
                <a:endParaRPr lang="en-US" sz="2300" dirty="0"/>
              </a:p>
            </p:txBody>
          </p:sp>
        </mc:Choice>
        <mc:Fallback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C58A38EF-1B19-CC32-CD85-F5994D171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596" y="1502516"/>
                <a:ext cx="1737360" cy="457200"/>
              </a:xfrm>
              <a:prstGeom prst="rect">
                <a:avLst/>
              </a:prstGeom>
              <a:blipFill>
                <a:blip r:embed="rId4"/>
                <a:stretch>
                  <a:fillRect t="-8000" r="-2456" b="-293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>
            <a:extLst>
              <a:ext uri="{FF2B5EF4-FFF2-40B4-BE49-F238E27FC236}">
                <a16:creationId xmlns:a16="http://schemas.microsoft.com/office/drawing/2014/main" id="{F2ED545D-8AD0-1E13-EADE-A152345944C4}"/>
              </a:ext>
            </a:extLst>
          </p:cNvPr>
          <p:cNvSpPr/>
          <p:nvPr/>
        </p:nvSpPr>
        <p:spPr>
          <a:xfrm>
            <a:off x="1446988" y="2833891"/>
            <a:ext cx="960120" cy="676656"/>
          </a:xfrm>
          <a:prstGeom prst="roundRect">
            <a:avLst>
              <a:gd name="adj" fmla="val 10811"/>
            </a:avLst>
          </a:prstGeom>
          <a:solidFill>
            <a:srgbClr val="B2722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4068E03-972A-6FC8-C81D-E170E9FBC4C2}"/>
              </a:ext>
            </a:extLst>
          </p:cNvPr>
          <p:cNvSpPr/>
          <p:nvPr/>
        </p:nvSpPr>
        <p:spPr>
          <a:xfrm>
            <a:off x="1446988" y="2833891"/>
            <a:ext cx="96012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F4F4F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</a:t>
            </a:r>
            <a:endParaRPr lang="en-US" sz="17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D776D5D-018E-40E4-F35E-AEC10805D1A6}"/>
              </a:ext>
            </a:extLst>
          </p:cNvPr>
          <p:cNvSpPr/>
          <p:nvPr/>
        </p:nvSpPr>
        <p:spPr>
          <a:xfrm>
            <a:off x="3961588" y="2833891"/>
            <a:ext cx="960120" cy="676656"/>
          </a:xfrm>
          <a:prstGeom prst="roundRect">
            <a:avLst>
              <a:gd name="adj" fmla="val 10811"/>
            </a:avLst>
          </a:prstGeom>
          <a:solidFill>
            <a:srgbClr val="3E6F9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B371B4B-D0A0-A5D7-4B1D-48D3FB735617}"/>
              </a:ext>
            </a:extLst>
          </p:cNvPr>
          <p:cNvSpPr/>
          <p:nvPr/>
        </p:nvSpPr>
        <p:spPr>
          <a:xfrm>
            <a:off x="3961588" y="2833891"/>
            <a:ext cx="96012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F4F4F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</a:t>
            </a:r>
            <a:endParaRPr lang="en-US" sz="17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272A1B4-9A90-17EC-BF93-377F528B3264}"/>
              </a:ext>
            </a:extLst>
          </p:cNvPr>
          <p:cNvSpPr/>
          <p:nvPr/>
        </p:nvSpPr>
        <p:spPr>
          <a:xfrm>
            <a:off x="6476188" y="2833891"/>
            <a:ext cx="960120" cy="676656"/>
          </a:xfrm>
          <a:prstGeom prst="roundRect">
            <a:avLst>
              <a:gd name="adj" fmla="val 10811"/>
            </a:avLst>
          </a:prstGeom>
          <a:solidFill>
            <a:srgbClr val="477C57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DED0172-3A14-6981-1E98-06C6DBDD9235}"/>
              </a:ext>
            </a:extLst>
          </p:cNvPr>
          <p:cNvSpPr/>
          <p:nvPr/>
        </p:nvSpPr>
        <p:spPr>
          <a:xfrm>
            <a:off x="6476188" y="2833891"/>
            <a:ext cx="96012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F4F4F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Y</a:t>
            </a:r>
            <a:endParaRPr lang="en-US" sz="17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154556C-BD7A-C912-C767-3F4528D977F5}"/>
              </a:ext>
            </a:extLst>
          </p:cNvPr>
          <p:cNvSpPr/>
          <p:nvPr/>
        </p:nvSpPr>
        <p:spPr>
          <a:xfrm>
            <a:off x="2407108" y="3153931"/>
            <a:ext cx="1527048" cy="0"/>
          </a:xfrm>
          <a:prstGeom prst="line">
            <a:avLst/>
          </a:prstGeom>
          <a:noFill/>
          <a:ln w="27940">
            <a:solidFill>
              <a:srgbClr val="F29D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33E7055-EA7B-2357-F62B-751D37E92291}"/>
              </a:ext>
            </a:extLst>
          </p:cNvPr>
          <p:cNvSpPr/>
          <p:nvPr/>
        </p:nvSpPr>
        <p:spPr>
          <a:xfrm>
            <a:off x="4921708" y="3153931"/>
            <a:ext cx="1527048" cy="0"/>
          </a:xfrm>
          <a:prstGeom prst="line">
            <a:avLst/>
          </a:prstGeom>
          <a:noFill/>
          <a:ln w="27940">
            <a:solidFill>
              <a:srgbClr val="70A9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 18">
                <a:extLst>
                  <a:ext uri="{FF2B5EF4-FFF2-40B4-BE49-F238E27FC236}">
                    <a16:creationId xmlns:a16="http://schemas.microsoft.com/office/drawing/2014/main" id="{07DA2665-ECE6-05BA-CFC1-63261D68F978}"/>
                  </a:ext>
                </a:extLst>
              </p:cNvPr>
              <p:cNvSpPr/>
              <p:nvPr/>
            </p:nvSpPr>
            <p:spPr>
              <a:xfrm>
                <a:off x="444705" y="4033601"/>
                <a:ext cx="8138160" cy="438912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t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900" dirty="0">
                    <a:solidFill>
                      <a:srgbClr val="F4F4F4"/>
                    </a:solidFill>
                    <a:latin typeface="Roboto Condensed" pitchFamily="34" charset="0"/>
                    <a:ea typeface="Roboto Condensed" pitchFamily="34" charset="-122"/>
                    <a:cs typeface="Roboto Condensed" pitchFamily="34" charset="-120"/>
                  </a:rPr>
                  <a:t>A common cause C creates the backdoor path  </a:t>
                </a:r>
                <a14:m>
                  <m:oMath xmlns:m="http://schemas.openxmlformats.org/officeDocument/2006/math">
                    <m:r>
                      <a:rPr lang="en-US" sz="1900" i="1" dirty="0" smtClean="0">
                        <a:solidFill>
                          <a:srgbClr val="F4F4F4"/>
                        </a:solidFill>
                        <a:latin typeface="Cambria Math" panose="02040503050406030204" pitchFamily="18" charset="0"/>
                        <a:ea typeface="Roboto Condensed" pitchFamily="34" charset="-122"/>
                        <a:cs typeface="Roboto Condensed" pitchFamily="34" charset="-120"/>
                      </a:rPr>
                      <m:t>𝑇</m:t>
                    </m:r>
                    <m:r>
                      <a:rPr lang="en-US" sz="1900" i="1" dirty="0" smtClean="0">
                        <a:solidFill>
                          <a:srgbClr val="F4F4F4"/>
                        </a:solidFill>
                        <a:latin typeface="Cambria Math" panose="02040503050406030204" pitchFamily="18" charset="0"/>
                        <a:ea typeface="Roboto Condensed" pitchFamily="34" charset="-122"/>
                        <a:cs typeface="Roboto Condensed" pitchFamily="34" charset="-120"/>
                      </a:rPr>
                      <m:t> ← </m:t>
                    </m:r>
                    <m:r>
                      <a:rPr lang="en-US" sz="1900" i="1" dirty="0" smtClean="0">
                        <a:solidFill>
                          <a:srgbClr val="F4F4F4"/>
                        </a:solidFill>
                        <a:latin typeface="Cambria Math" panose="02040503050406030204" pitchFamily="18" charset="0"/>
                        <a:ea typeface="Roboto Condensed" pitchFamily="34" charset="-122"/>
                        <a:cs typeface="Roboto Condensed" pitchFamily="34" charset="-120"/>
                      </a:rPr>
                      <m:t>𝐶</m:t>
                    </m:r>
                    <m:r>
                      <a:rPr lang="en-US" sz="1900" i="1" dirty="0" smtClean="0">
                        <a:solidFill>
                          <a:srgbClr val="F4F4F4"/>
                        </a:solidFill>
                        <a:latin typeface="Cambria Math" panose="02040503050406030204" pitchFamily="18" charset="0"/>
                        <a:ea typeface="Roboto Condensed" pitchFamily="34" charset="-122"/>
                        <a:cs typeface="Roboto Condensed" pitchFamily="34" charset="-120"/>
                      </a:rPr>
                      <m:t> → </m:t>
                    </m:r>
                    <m:r>
                      <a:rPr lang="en-US" sz="1900" i="1" dirty="0" smtClean="0">
                        <a:solidFill>
                          <a:srgbClr val="F4F4F4"/>
                        </a:solidFill>
                        <a:latin typeface="Cambria Math" panose="02040503050406030204" pitchFamily="18" charset="0"/>
                        <a:ea typeface="Roboto Condensed" pitchFamily="34" charset="-122"/>
                        <a:cs typeface="Roboto Condensed" pitchFamily="34" charset="-120"/>
                      </a:rPr>
                      <m:t>𝑌</m:t>
                    </m:r>
                  </m:oMath>
                </a14:m>
                <a:r>
                  <a:rPr lang="en-US" sz="1900" dirty="0">
                    <a:solidFill>
                      <a:srgbClr val="F4F4F4"/>
                    </a:solidFill>
                    <a:latin typeface="Roboto Condensed" pitchFamily="34" charset="0"/>
                    <a:ea typeface="Roboto Condensed" pitchFamily="34" charset="-122"/>
                    <a:cs typeface="Roboto Condensed" pitchFamily="34" charset="-120"/>
                  </a:rPr>
                  <a:t>.</a:t>
                </a:r>
                <a:endParaRPr lang="en-US" sz="1900" dirty="0"/>
              </a:p>
            </p:txBody>
          </p:sp>
        </mc:Choice>
        <mc:Fallback>
          <p:sp>
            <p:nvSpPr>
              <p:cNvPr id="20" name="Text 18">
                <a:extLst>
                  <a:ext uri="{FF2B5EF4-FFF2-40B4-BE49-F238E27FC236}">
                    <a16:creationId xmlns:a16="http://schemas.microsoft.com/office/drawing/2014/main" id="{07DA2665-ECE6-05BA-CFC1-63261D68F9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05" y="4033601"/>
                <a:ext cx="8138160" cy="438912"/>
              </a:xfrm>
              <a:prstGeom prst="rect">
                <a:avLst/>
              </a:prstGeom>
              <a:blipFill>
                <a:blip r:embed="rId5"/>
                <a:stretch>
                  <a:fillRect t="-1805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19">
            <a:extLst>
              <a:ext uri="{FF2B5EF4-FFF2-40B4-BE49-F238E27FC236}">
                <a16:creationId xmlns:a16="http://schemas.microsoft.com/office/drawing/2014/main" id="{A04DB26E-AD89-AA75-B339-78260C3225C0}"/>
              </a:ext>
            </a:extLst>
          </p:cNvPr>
          <p:cNvSpPr/>
          <p:nvPr/>
        </p:nvSpPr>
        <p:spPr>
          <a:xfrm>
            <a:off x="303906" y="4512739"/>
            <a:ext cx="8536188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 dirty="0">
                <a:solidFill>
                  <a:srgbClr val="F7B7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Correlation can be a mixture of causal and noncausal association.</a:t>
            </a:r>
            <a:endParaRPr lang="en-US" sz="2100" dirty="0"/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9324FC40-ABA3-EDBF-F4BC-ED5885630A12}"/>
              </a:ext>
            </a:extLst>
          </p:cNvPr>
          <p:cNvCxnSpPr>
            <a:stCxn id="11" idx="2"/>
            <a:endCxn id="16" idx="2"/>
          </p:cNvCxnSpPr>
          <p:nvPr/>
        </p:nvCxnSpPr>
        <p:spPr>
          <a:xfrm rot="16200000" flipH="1">
            <a:off x="4441648" y="995947"/>
            <a:ext cx="12700" cy="502920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4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CCDFC-6664-758A-59E2-133FDABF7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4">
            <a:extLst>
              <a:ext uri="{FF2B5EF4-FFF2-40B4-BE49-F238E27FC236}">
                <a16:creationId xmlns:a16="http://schemas.microsoft.com/office/drawing/2014/main" id="{C4977828-24F9-928C-43F8-C7344DF927AB}"/>
              </a:ext>
            </a:extLst>
          </p:cNvPr>
          <p:cNvSpPr/>
          <p:nvPr/>
        </p:nvSpPr>
        <p:spPr>
          <a:xfrm>
            <a:off x="169188" y="1711300"/>
            <a:ext cx="4251960" cy="2057400"/>
          </a:xfrm>
          <a:prstGeom prst="roundRect">
            <a:avLst>
              <a:gd name="adj" fmla="val 3556"/>
            </a:avLst>
          </a:prstGeom>
          <a:solidFill>
            <a:srgbClr val="252525"/>
          </a:solidFill>
          <a:ln w="25400">
            <a:solidFill>
              <a:srgbClr val="7BC58C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69CDB2-56D8-0C71-B5D2-8EC63EE9668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Recap Slides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9E7F03-2AC7-11C6-8AB3-2602E040D8B6}"/>
              </a:ext>
            </a:extLst>
          </p:cNvPr>
          <p:cNvSpPr/>
          <p:nvPr/>
        </p:nvSpPr>
        <p:spPr>
          <a:xfrm>
            <a:off x="132517" y="907524"/>
            <a:ext cx="8823958" cy="604678"/>
          </a:xfrm>
          <a:prstGeom prst="roundRect">
            <a:avLst>
              <a:gd name="adj" fmla="val 16667"/>
            </a:avLst>
          </a:prstGeom>
          <a:solidFill>
            <a:srgbClr val="302525"/>
          </a:solidFill>
          <a:ln w="15240">
            <a:solidFill>
              <a:srgbClr val="E06C75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EAC629BD-E5F4-CF38-4FB8-232BCDBC7D21}"/>
              </a:ext>
            </a:extLst>
          </p:cNvPr>
          <p:cNvSpPr/>
          <p:nvPr/>
        </p:nvSpPr>
        <p:spPr>
          <a:xfrm>
            <a:off x="150852" y="855316"/>
            <a:ext cx="8974812" cy="6362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E06C75"/>
                </a:solidFill>
                <a:ea typeface="Roboto Condensed" pitchFamily="34" charset="-122"/>
                <a:cs typeface="Roboto Condensed" pitchFamily="34" charset="-120"/>
              </a:rPr>
              <a:t>Fundamental problem: only one world is observed; the other is counterfactual.</a:t>
            </a:r>
            <a:endParaRPr lang="en-US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FCF5A7A4-504F-91AB-D8DE-DF28F4D8B9BA}"/>
              </a:ext>
            </a:extLst>
          </p:cNvPr>
          <p:cNvSpPr/>
          <p:nvPr/>
        </p:nvSpPr>
        <p:spPr>
          <a:xfrm>
            <a:off x="235666" y="1969989"/>
            <a:ext cx="37947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7BC58C"/>
                </a:solidFill>
                <a:ea typeface="Roboto Condensed" pitchFamily="34" charset="-122"/>
                <a:cs typeface="Roboto Condensed" pitchFamily="34" charset="-120"/>
              </a:rPr>
              <a:t>WORLD 1</a:t>
            </a:r>
            <a:endParaRPr lang="en-US" sz="20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D6446CAB-140F-21AF-A24F-A7971E00E7EA}"/>
              </a:ext>
            </a:extLst>
          </p:cNvPr>
          <p:cNvSpPr/>
          <p:nvPr/>
        </p:nvSpPr>
        <p:spPr>
          <a:xfrm>
            <a:off x="189946" y="2445477"/>
            <a:ext cx="38404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T = 1</a:t>
            </a:r>
            <a:endParaRPr lang="en-US" sz="20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09B4D2B4-D480-B547-6429-9FE508429BAC}"/>
              </a:ext>
            </a:extLst>
          </p:cNvPr>
          <p:cNvSpPr/>
          <p:nvPr/>
        </p:nvSpPr>
        <p:spPr>
          <a:xfrm>
            <a:off x="169188" y="2994117"/>
            <a:ext cx="384048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F4F4F4"/>
                </a:solidFill>
                <a:ea typeface="Cambria Math" pitchFamily="34" charset="-122"/>
                <a:cs typeface="Cambria Math" pitchFamily="34" charset="-120"/>
              </a:rPr>
              <a:t>Potential outcome:  Y(1)</a:t>
            </a:r>
            <a:endParaRPr lang="en-US" sz="20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DCBD41C4-0613-FBFE-22D6-7D3202440F37}"/>
              </a:ext>
            </a:extLst>
          </p:cNvPr>
          <p:cNvSpPr/>
          <p:nvPr/>
        </p:nvSpPr>
        <p:spPr>
          <a:xfrm>
            <a:off x="4677132" y="1711300"/>
            <a:ext cx="4117186" cy="2057400"/>
          </a:xfrm>
          <a:prstGeom prst="roundRect">
            <a:avLst>
              <a:gd name="adj" fmla="val 3556"/>
            </a:avLst>
          </a:prstGeom>
          <a:solidFill>
            <a:srgbClr val="252525"/>
          </a:solidFill>
          <a:ln w="25400">
            <a:solidFill>
              <a:srgbClr val="B58AD9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B7A92930-1AC8-E997-1314-499C7A489598}"/>
              </a:ext>
            </a:extLst>
          </p:cNvPr>
          <p:cNvSpPr/>
          <p:nvPr/>
        </p:nvSpPr>
        <p:spPr>
          <a:xfrm>
            <a:off x="4905731" y="1875892"/>
            <a:ext cx="3888587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B58AD9"/>
                </a:solidFill>
                <a:ea typeface="Roboto Condensed" pitchFamily="34" charset="-122"/>
                <a:cs typeface="Roboto Condensed" pitchFamily="34" charset="-120"/>
              </a:rPr>
              <a:t>WORLD 0</a:t>
            </a:r>
            <a:endParaRPr lang="en-US" sz="20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2526AE6D-8FBB-4DFB-2BBA-26F14BEC248B}"/>
              </a:ext>
            </a:extLst>
          </p:cNvPr>
          <p:cNvSpPr/>
          <p:nvPr/>
        </p:nvSpPr>
        <p:spPr>
          <a:xfrm>
            <a:off x="4860012" y="2351380"/>
            <a:ext cx="3935438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T = 0</a:t>
            </a:r>
            <a:endParaRPr lang="en-US" sz="20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46858916-3C09-9C5C-6225-4E075E35CE00}"/>
              </a:ext>
            </a:extLst>
          </p:cNvPr>
          <p:cNvSpPr/>
          <p:nvPr/>
        </p:nvSpPr>
        <p:spPr>
          <a:xfrm>
            <a:off x="4860012" y="2900020"/>
            <a:ext cx="393543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F4F4F4"/>
                </a:solidFill>
                <a:ea typeface="Cambria Math" pitchFamily="34" charset="-122"/>
                <a:cs typeface="Cambria Math" pitchFamily="34" charset="-120"/>
              </a:rPr>
              <a:t>Potential outcome:  Y(0)</a:t>
            </a:r>
            <a:endParaRPr lang="en-US" sz="2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254C2837-4987-A514-7DAF-A4441DCA6916}"/>
              </a:ext>
            </a:extLst>
          </p:cNvPr>
          <p:cNvSpPr/>
          <p:nvPr/>
        </p:nvSpPr>
        <p:spPr>
          <a:xfrm>
            <a:off x="150852" y="3908517"/>
            <a:ext cx="8868158" cy="713232"/>
          </a:xfrm>
          <a:prstGeom prst="roundRect">
            <a:avLst>
              <a:gd name="adj" fmla="val 6557"/>
            </a:avLst>
          </a:prstGeom>
          <a:solidFill>
            <a:srgbClr val="2B2B2B"/>
          </a:solidFill>
          <a:ln w="1905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 13">
                <a:extLst>
                  <a:ext uri="{FF2B5EF4-FFF2-40B4-BE49-F238E27FC236}">
                    <a16:creationId xmlns:a16="http://schemas.microsoft.com/office/drawing/2014/main" id="{93263C03-04EA-D570-0D39-B4A17768561A}"/>
                  </a:ext>
                </a:extLst>
              </p:cNvPr>
              <p:cNvSpPr/>
              <p:nvPr/>
            </p:nvSpPr>
            <p:spPr>
              <a:xfrm>
                <a:off x="221329" y="4135296"/>
                <a:ext cx="3788339" cy="245539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t">
                <a:no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4F4F4"/>
                    </a:solidFill>
                    <a:ea typeface="Cambria Math" pitchFamily="34" charset="-122"/>
                    <a:cs typeface="Cambria Math" pitchFamily="34" charset="-120"/>
                  </a:rPr>
                  <a:t>Individual effect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:  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𝒀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ᵢ(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) − 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𝒀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ᵢ(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0" name="Text 13">
                <a:extLst>
                  <a:ext uri="{FF2B5EF4-FFF2-40B4-BE49-F238E27FC236}">
                    <a16:creationId xmlns:a16="http://schemas.microsoft.com/office/drawing/2014/main" id="{93263C03-04EA-D570-0D39-B4A1776856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29" y="4135296"/>
                <a:ext cx="3788339" cy="245539"/>
              </a:xfrm>
              <a:prstGeom prst="rect">
                <a:avLst/>
              </a:prstGeom>
              <a:blipFill>
                <a:blip r:embed="rId2"/>
                <a:stretch>
                  <a:fillRect l="-3215" t="-26829" r="-2251" b="-8780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 14">
                <a:extLst>
                  <a:ext uri="{FF2B5EF4-FFF2-40B4-BE49-F238E27FC236}">
                    <a16:creationId xmlns:a16="http://schemas.microsoft.com/office/drawing/2014/main" id="{41121FD7-C62C-BCB1-2345-4B73271DB702}"/>
                  </a:ext>
                </a:extLst>
              </p:cNvPr>
              <p:cNvSpPr/>
              <p:nvPr/>
            </p:nvSpPr>
            <p:spPr>
              <a:xfrm>
                <a:off x="4905731" y="4156230"/>
                <a:ext cx="3486994" cy="245539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t">
                <a:no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4F4F4"/>
                    </a:solidFill>
                    <a:ea typeface="Cambria Math" pitchFamily="34" charset="-122"/>
                    <a:cs typeface="Cambria Math" pitchFamily="34" charset="-120"/>
                  </a:rPr>
                  <a:t>ATE: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𝒀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) − 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𝒀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F4F4F4"/>
                        </a:solidFill>
                        <a:ea typeface="Cambria Math" pitchFamily="34" charset="-122"/>
                        <a:cs typeface="Cambria Math" pitchFamily="34" charset="-120"/>
                      </a:rPr>
                      <m:t>)]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1" name="Text 14">
                <a:extLst>
                  <a:ext uri="{FF2B5EF4-FFF2-40B4-BE49-F238E27FC236}">
                    <a16:creationId xmlns:a16="http://schemas.microsoft.com/office/drawing/2014/main" id="{41121FD7-C62C-BCB1-2345-4B73271DB7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731" y="4156230"/>
                <a:ext cx="3486994" cy="245539"/>
              </a:xfrm>
              <a:prstGeom prst="rect">
                <a:avLst/>
              </a:prstGeom>
              <a:blipFill>
                <a:blip r:embed="rId3"/>
                <a:stretch>
                  <a:fillRect t="-30000" b="-90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 15">
            <a:extLst>
              <a:ext uri="{FF2B5EF4-FFF2-40B4-BE49-F238E27FC236}">
                <a16:creationId xmlns:a16="http://schemas.microsoft.com/office/drawing/2014/main" id="{D55A92E3-898A-5935-A9A0-B1F16B1E81ED}"/>
              </a:ext>
            </a:extLst>
          </p:cNvPr>
          <p:cNvSpPr/>
          <p:nvPr/>
        </p:nvSpPr>
        <p:spPr>
          <a:xfrm>
            <a:off x="443508" y="5517861"/>
            <a:ext cx="93268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 dirty="0">
                <a:solidFill>
                  <a:srgbClr val="F7B7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Causal inference learns about missing counterfactuals.</a:t>
            </a:r>
            <a:endParaRPr lang="en-US" sz="210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CAC1B69F-E4F2-E121-DB06-69D3ED855183}"/>
              </a:ext>
            </a:extLst>
          </p:cNvPr>
          <p:cNvSpPr/>
          <p:nvPr/>
        </p:nvSpPr>
        <p:spPr>
          <a:xfrm>
            <a:off x="242291" y="4715846"/>
            <a:ext cx="93268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7B733"/>
                </a:solidFill>
                <a:ea typeface="Roboto Condensed" pitchFamily="34" charset="-122"/>
                <a:cs typeface="Roboto Condensed" pitchFamily="34" charset="-120"/>
              </a:rPr>
              <a:t>Causal inference learns about missing counterfactuals.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25079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F1CDF-184A-0118-22A2-66797CE54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01D9B0-EBE1-2075-2722-88D7DD3299E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Recap Slides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5060490B-F2A1-2652-397C-3207641A6261}"/>
              </a:ext>
            </a:extLst>
          </p:cNvPr>
          <p:cNvSpPr/>
          <p:nvPr/>
        </p:nvSpPr>
        <p:spPr>
          <a:xfrm>
            <a:off x="77090" y="1078875"/>
            <a:ext cx="2075171" cy="2740869"/>
          </a:xfrm>
          <a:prstGeom prst="roundRect">
            <a:avLst>
              <a:gd name="adj" fmla="val 3200"/>
            </a:avLst>
          </a:prstGeom>
          <a:solidFill>
            <a:srgbClr val="252525"/>
          </a:solidFill>
          <a:ln w="2286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EB69870-54E8-5F37-E9E6-30AD6AEB6087}"/>
              </a:ext>
            </a:extLst>
          </p:cNvPr>
          <p:cNvSpPr/>
          <p:nvPr/>
        </p:nvSpPr>
        <p:spPr>
          <a:xfrm>
            <a:off x="186818" y="1261755"/>
            <a:ext cx="1875955" cy="349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300" b="1" dirty="0">
                <a:solidFill>
                  <a:srgbClr val="F7B73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ATE</a:t>
            </a:r>
            <a:endParaRPr lang="en-US" sz="2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321E038E-3F80-109E-82D4-25C7AD33F8AA}"/>
                  </a:ext>
                </a:extLst>
              </p:cNvPr>
              <p:cNvSpPr/>
              <p:nvPr/>
            </p:nvSpPr>
            <p:spPr>
              <a:xfrm>
                <a:off x="223394" y="1947555"/>
                <a:ext cx="1809549" cy="572007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(1) − 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(0)]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321E038E-3F80-109E-82D4-25C7AD33F8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94" y="1947555"/>
                <a:ext cx="1809549" cy="5720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>
            <a:extLst>
              <a:ext uri="{FF2B5EF4-FFF2-40B4-BE49-F238E27FC236}">
                <a16:creationId xmlns:a16="http://schemas.microsoft.com/office/drawing/2014/main" id="{8C877CFA-1007-4805-9F1B-B311611A3E49}"/>
              </a:ext>
            </a:extLst>
          </p:cNvPr>
          <p:cNvSpPr/>
          <p:nvPr/>
        </p:nvSpPr>
        <p:spPr>
          <a:xfrm>
            <a:off x="232538" y="2925963"/>
            <a:ext cx="1792948" cy="71500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B9B9B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Average effect in the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B9B9B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target population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0259455-A81E-FBE5-F91B-EB20B4DE5DFB}"/>
              </a:ext>
            </a:extLst>
          </p:cNvPr>
          <p:cNvSpPr/>
          <p:nvPr/>
        </p:nvSpPr>
        <p:spPr>
          <a:xfrm>
            <a:off x="2218221" y="1078875"/>
            <a:ext cx="2286000" cy="2740869"/>
          </a:xfrm>
          <a:prstGeom prst="roundRect">
            <a:avLst>
              <a:gd name="adj" fmla="val 3200"/>
            </a:avLst>
          </a:prstGeom>
          <a:solidFill>
            <a:srgbClr val="252525"/>
          </a:solidFill>
          <a:ln w="22860">
            <a:solidFill>
              <a:srgbClr val="70A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3C8166B-3D7F-C847-B657-3B311F867B4F}"/>
              </a:ext>
            </a:extLst>
          </p:cNvPr>
          <p:cNvSpPr/>
          <p:nvPr/>
        </p:nvSpPr>
        <p:spPr>
          <a:xfrm>
            <a:off x="2327949" y="1261755"/>
            <a:ext cx="2066544" cy="349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300" b="1" dirty="0">
                <a:solidFill>
                  <a:srgbClr val="70A9E6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ATT</a:t>
            </a:r>
            <a:endParaRPr lang="en-US" sz="2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8A4CC140-9D50-2BBC-7683-4E0DDBF63906}"/>
                  </a:ext>
                </a:extLst>
              </p:cNvPr>
              <p:cNvSpPr/>
              <p:nvPr/>
            </p:nvSpPr>
            <p:spPr>
              <a:xfrm>
                <a:off x="2273218" y="1947555"/>
                <a:ext cx="2231003" cy="567759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 fontScale="92500"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(1) − 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(0) | 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=1]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10" name="Text 8">
                <a:extLst>
                  <a:ext uri="{FF2B5EF4-FFF2-40B4-BE49-F238E27FC236}">
                    <a16:creationId xmlns:a16="http://schemas.microsoft.com/office/drawing/2014/main" id="{8A4CC140-9D50-2BBC-7683-4E0DDBF639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218" y="1947555"/>
                <a:ext cx="2231003" cy="567759"/>
              </a:xfrm>
              <a:prstGeom prst="rect">
                <a:avLst/>
              </a:prstGeom>
              <a:blipFill>
                <a:blip r:embed="rId3"/>
                <a:stretch>
                  <a:fillRect l="-109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>
            <a:extLst>
              <a:ext uri="{FF2B5EF4-FFF2-40B4-BE49-F238E27FC236}">
                <a16:creationId xmlns:a16="http://schemas.microsoft.com/office/drawing/2014/main" id="{7A98F8FD-089E-8593-0A1B-B7B847DF2B21}"/>
              </a:ext>
            </a:extLst>
          </p:cNvPr>
          <p:cNvSpPr/>
          <p:nvPr/>
        </p:nvSpPr>
        <p:spPr>
          <a:xfrm>
            <a:off x="2373669" y="2925963"/>
            <a:ext cx="1975104" cy="71500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B9B9B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Effect among those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B9B9B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actually treated</a:t>
            </a:r>
            <a:endParaRPr lang="en-US" sz="1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32ABB52-6A0F-9E78-630C-CD348D8AD998}"/>
              </a:ext>
            </a:extLst>
          </p:cNvPr>
          <p:cNvSpPr/>
          <p:nvPr/>
        </p:nvSpPr>
        <p:spPr>
          <a:xfrm>
            <a:off x="4610650" y="1074627"/>
            <a:ext cx="2231004" cy="2740869"/>
          </a:xfrm>
          <a:prstGeom prst="roundRect">
            <a:avLst>
              <a:gd name="adj" fmla="val 3200"/>
            </a:avLst>
          </a:prstGeom>
          <a:solidFill>
            <a:srgbClr val="252525"/>
          </a:solidFill>
          <a:ln w="22860">
            <a:solidFill>
              <a:srgbClr val="7BC5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706B906-94E8-76AA-799B-159589F503BF}"/>
              </a:ext>
            </a:extLst>
          </p:cNvPr>
          <p:cNvSpPr/>
          <p:nvPr/>
        </p:nvSpPr>
        <p:spPr>
          <a:xfrm>
            <a:off x="4720378" y="1257507"/>
            <a:ext cx="2016828" cy="349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300" b="1" dirty="0">
                <a:solidFill>
                  <a:srgbClr val="7BC58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ATC</a:t>
            </a:r>
            <a:endParaRPr lang="en-US" sz="2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8FCB5CB2-A231-4DBE-71C7-DBDDC80F5457}"/>
                  </a:ext>
                </a:extLst>
              </p:cNvPr>
              <p:cNvSpPr/>
              <p:nvPr/>
            </p:nvSpPr>
            <p:spPr>
              <a:xfrm>
                <a:off x="4610650" y="1948297"/>
                <a:ext cx="2278553" cy="572007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(1) − 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(0) | 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=0]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8FCB5CB2-A231-4DBE-71C7-DBDDC80F54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650" y="1948297"/>
                <a:ext cx="2278553" cy="572007"/>
              </a:xfrm>
              <a:prstGeom prst="rect">
                <a:avLst/>
              </a:prstGeom>
              <a:blipFill>
                <a:blip r:embed="rId4"/>
                <a:stretch>
                  <a:fillRect l="-3209" r="-187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3">
            <a:extLst>
              <a:ext uri="{FF2B5EF4-FFF2-40B4-BE49-F238E27FC236}">
                <a16:creationId xmlns:a16="http://schemas.microsoft.com/office/drawing/2014/main" id="{C435C245-3908-15D0-3D10-E38631C66409}"/>
              </a:ext>
            </a:extLst>
          </p:cNvPr>
          <p:cNvSpPr/>
          <p:nvPr/>
        </p:nvSpPr>
        <p:spPr>
          <a:xfrm>
            <a:off x="4766098" y="2921715"/>
            <a:ext cx="1927587" cy="71500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B9B9B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Effect among those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B9B9B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actually untreated</a:t>
            </a:r>
            <a:endParaRPr lang="en-US" sz="16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536229A-6D78-ED15-53C1-629BDA34A0ED}"/>
              </a:ext>
            </a:extLst>
          </p:cNvPr>
          <p:cNvSpPr/>
          <p:nvPr/>
        </p:nvSpPr>
        <p:spPr>
          <a:xfrm>
            <a:off x="6925779" y="1074627"/>
            <a:ext cx="2126456" cy="2740869"/>
          </a:xfrm>
          <a:prstGeom prst="roundRect">
            <a:avLst>
              <a:gd name="adj" fmla="val 3200"/>
            </a:avLst>
          </a:prstGeom>
          <a:solidFill>
            <a:srgbClr val="252525"/>
          </a:solidFill>
          <a:ln w="22860">
            <a:solidFill>
              <a:srgbClr val="B58A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8CB8964-07B6-88D2-708F-C62E3F73B26C}"/>
              </a:ext>
            </a:extLst>
          </p:cNvPr>
          <p:cNvSpPr/>
          <p:nvPr/>
        </p:nvSpPr>
        <p:spPr>
          <a:xfrm>
            <a:off x="7035507" y="1257507"/>
            <a:ext cx="1922317" cy="349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300" b="1" dirty="0">
                <a:solidFill>
                  <a:srgbClr val="B58AD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CATE(x)</a:t>
            </a:r>
            <a:endParaRPr lang="en-US" sz="2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6">
                <a:extLst>
                  <a:ext uri="{FF2B5EF4-FFF2-40B4-BE49-F238E27FC236}">
                    <a16:creationId xmlns:a16="http://schemas.microsoft.com/office/drawing/2014/main" id="{AFB69C71-77BD-C866-F11F-B577072D6E69}"/>
                  </a:ext>
                </a:extLst>
              </p:cNvPr>
              <p:cNvSpPr/>
              <p:nvPr/>
            </p:nvSpPr>
            <p:spPr>
              <a:xfrm>
                <a:off x="6916041" y="1956793"/>
                <a:ext cx="2227959" cy="572007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 fontScale="92500"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(1) − 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(0) | 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𝑋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=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𝑥</m:t>
                      </m:r>
                      <m:r>
                        <a:rPr lang="en-US" sz="1700" i="1" dirty="0" smtClean="0">
                          <a:solidFill>
                            <a:srgbClr val="F4F4F4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]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19" name="Text 16">
                <a:extLst>
                  <a:ext uri="{FF2B5EF4-FFF2-40B4-BE49-F238E27FC236}">
                    <a16:creationId xmlns:a16="http://schemas.microsoft.com/office/drawing/2014/main" id="{AFB69C71-77BD-C866-F11F-B577072D6E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041" y="1956793"/>
                <a:ext cx="2227959" cy="572007"/>
              </a:xfrm>
              <a:prstGeom prst="rect">
                <a:avLst/>
              </a:prstGeom>
              <a:blipFill>
                <a:blip r:embed="rId5"/>
                <a:stretch>
                  <a:fillRect l="-1370" r="-27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7">
            <a:extLst>
              <a:ext uri="{FF2B5EF4-FFF2-40B4-BE49-F238E27FC236}">
                <a16:creationId xmlns:a16="http://schemas.microsoft.com/office/drawing/2014/main" id="{A90AF516-77C9-DD48-CFF0-9C2FD31D55B9}"/>
              </a:ext>
            </a:extLst>
          </p:cNvPr>
          <p:cNvSpPr/>
          <p:nvPr/>
        </p:nvSpPr>
        <p:spPr>
          <a:xfrm>
            <a:off x="7081227" y="2921715"/>
            <a:ext cx="1837258" cy="71500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B9B9B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Effect in a covariate-defined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B9B9B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subgroup</a:t>
            </a:r>
            <a:endParaRPr lang="en-US" sz="16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112E9379-5C1E-D424-E653-B72F22A58E24}"/>
              </a:ext>
            </a:extLst>
          </p:cNvPr>
          <p:cNvSpPr/>
          <p:nvPr/>
        </p:nvSpPr>
        <p:spPr>
          <a:xfrm>
            <a:off x="130476" y="4075530"/>
            <a:ext cx="8883047" cy="567759"/>
          </a:xfrm>
          <a:prstGeom prst="roundRect">
            <a:avLst>
              <a:gd name="adj" fmla="val 11111"/>
            </a:avLst>
          </a:prstGeom>
          <a:solidFill>
            <a:srgbClr val="2B2B2B"/>
          </a:solidFill>
          <a:ln w="16510">
            <a:solidFill>
              <a:srgbClr val="F29D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D489D9B4-6804-4261-E95F-E21910BC9B44}"/>
              </a:ext>
            </a:extLst>
          </p:cNvPr>
          <p:cNvSpPr/>
          <p:nvPr/>
        </p:nvSpPr>
        <p:spPr>
          <a:xfrm>
            <a:off x="359076" y="4221834"/>
            <a:ext cx="8466003" cy="283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4F4F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Same data + different estimand  →  different causal question.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92845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DDD20-ED73-D167-A6B1-2AD774DD0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4491F1-C04F-94D3-EEDB-4E724AD28D7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Four Assumptions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FA396976-802F-0E58-18A8-90B84F9FE598}"/>
              </a:ext>
            </a:extLst>
          </p:cNvPr>
          <p:cNvSpPr/>
          <p:nvPr/>
        </p:nvSpPr>
        <p:spPr>
          <a:xfrm>
            <a:off x="91670" y="853743"/>
            <a:ext cx="4210582" cy="1473977"/>
          </a:xfrm>
          <a:prstGeom prst="roundRect">
            <a:avLst>
              <a:gd name="adj" fmla="val 4167"/>
            </a:avLst>
          </a:prstGeom>
          <a:solidFill>
            <a:srgbClr val="252525"/>
          </a:solidFill>
          <a:ln w="22860">
            <a:solidFill>
              <a:srgbClr val="7BC58C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A50B890-7315-8E6C-5CD3-4F574888678B}"/>
              </a:ext>
            </a:extLst>
          </p:cNvPr>
          <p:cNvSpPr/>
          <p:nvPr/>
        </p:nvSpPr>
        <p:spPr>
          <a:xfrm>
            <a:off x="256263" y="990903"/>
            <a:ext cx="3917672" cy="26101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7BC58C"/>
                </a:solidFill>
                <a:ea typeface="Roboto Condensed" pitchFamily="34" charset="-122"/>
                <a:cs typeface="Roboto Condensed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709807A-1797-05EF-E6B9-763311C579B7}"/>
              </a:ext>
            </a:extLst>
          </p:cNvPr>
          <p:cNvSpPr/>
          <p:nvPr/>
        </p:nvSpPr>
        <p:spPr>
          <a:xfrm>
            <a:off x="256262" y="1384095"/>
            <a:ext cx="3903027" cy="52203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Observed Y equals the potential outcome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under the treatment actually received.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1688727-9B3A-C504-E673-36B364027B5C}"/>
              </a:ext>
            </a:extLst>
          </p:cNvPr>
          <p:cNvSpPr/>
          <p:nvPr/>
        </p:nvSpPr>
        <p:spPr>
          <a:xfrm>
            <a:off x="4411980" y="872360"/>
            <a:ext cx="4598445" cy="1455360"/>
          </a:xfrm>
          <a:prstGeom prst="roundRect">
            <a:avLst>
              <a:gd name="adj" fmla="val 4167"/>
            </a:avLst>
          </a:prstGeom>
          <a:solidFill>
            <a:srgbClr val="252525"/>
          </a:solidFill>
          <a:ln w="22860">
            <a:solidFill>
              <a:srgbClr val="70A9E6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6618C39-9567-0D40-BE72-B641268E330A}"/>
              </a:ext>
            </a:extLst>
          </p:cNvPr>
          <p:cNvSpPr/>
          <p:nvPr/>
        </p:nvSpPr>
        <p:spPr>
          <a:xfrm>
            <a:off x="4576572" y="1009520"/>
            <a:ext cx="4278553" cy="25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70A9E6"/>
                </a:solidFill>
                <a:ea typeface="Roboto Condensed" pitchFamily="34" charset="-122"/>
                <a:cs typeface="Roboto Condensed" pitchFamily="34" charset="-120"/>
              </a:rPr>
              <a:t>EXCHANGEABILITY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723F96C-711B-CC9C-C234-EF87AD585366}"/>
              </a:ext>
            </a:extLst>
          </p:cNvPr>
          <p:cNvSpPr/>
          <p:nvPr/>
        </p:nvSpPr>
        <p:spPr>
          <a:xfrm>
            <a:off x="4576572" y="1402712"/>
            <a:ext cx="4262559" cy="515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After conditioning on the right X, treatment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carries no extra information about Y(t).</a:t>
            </a:r>
            <a:endParaRPr lang="en-US" sz="1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69EE3CB-A91B-87AD-1A34-3DAA7B2267F2}"/>
              </a:ext>
            </a:extLst>
          </p:cNvPr>
          <p:cNvSpPr/>
          <p:nvPr/>
        </p:nvSpPr>
        <p:spPr>
          <a:xfrm>
            <a:off x="91670" y="2436830"/>
            <a:ext cx="4261236" cy="1755648"/>
          </a:xfrm>
          <a:prstGeom prst="roundRect">
            <a:avLst>
              <a:gd name="adj" fmla="val 4167"/>
            </a:avLst>
          </a:prstGeom>
          <a:solidFill>
            <a:srgbClr val="252525"/>
          </a:solidFill>
          <a:ln w="22860">
            <a:solidFill>
              <a:srgbClr val="F7B733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2F1CBB8-0B1C-E709-B3FE-8549B13B98BC}"/>
              </a:ext>
            </a:extLst>
          </p:cNvPr>
          <p:cNvSpPr/>
          <p:nvPr/>
        </p:nvSpPr>
        <p:spPr>
          <a:xfrm>
            <a:off x="256262" y="2551439"/>
            <a:ext cx="396480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F7B733"/>
                </a:solidFill>
                <a:ea typeface="Roboto Condensed" pitchFamily="34" charset="-122"/>
                <a:cs typeface="Roboto Condensed" pitchFamily="34" charset="-120"/>
              </a:rPr>
              <a:t>POSITIVITY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D5784A6-7F08-18F1-A33B-B66F7BCADA45}"/>
              </a:ext>
            </a:extLst>
          </p:cNvPr>
          <p:cNvSpPr/>
          <p:nvPr/>
        </p:nvSpPr>
        <p:spPr>
          <a:xfrm>
            <a:off x="247297" y="2905614"/>
            <a:ext cx="3949981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Within relevant X strata, both treatment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options have positive probability.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6551FD2-C75D-03E5-4BB5-17B9ACC41659}"/>
              </a:ext>
            </a:extLst>
          </p:cNvPr>
          <p:cNvSpPr/>
          <p:nvPr/>
        </p:nvSpPr>
        <p:spPr>
          <a:xfrm>
            <a:off x="290705" y="3567434"/>
            <a:ext cx="3949981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B9B9B9"/>
                </a:solidFill>
                <a:ea typeface="Roboto Condensed" pitchFamily="34" charset="-122"/>
                <a:cs typeface="Roboto Condensed" pitchFamily="34" charset="-120"/>
              </a:rPr>
              <a:t>Failure: no overlap / unsupported counterfactual.</a:t>
            </a:r>
            <a:endParaRPr lang="en-US" sz="16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0DD6A36-AAF5-D644-BFCC-80DA4A858E21}"/>
              </a:ext>
            </a:extLst>
          </p:cNvPr>
          <p:cNvSpPr/>
          <p:nvPr/>
        </p:nvSpPr>
        <p:spPr>
          <a:xfrm>
            <a:off x="4411980" y="2436830"/>
            <a:ext cx="4598445" cy="1755648"/>
          </a:xfrm>
          <a:prstGeom prst="roundRect">
            <a:avLst>
              <a:gd name="adj" fmla="val 4167"/>
            </a:avLst>
          </a:prstGeom>
          <a:solidFill>
            <a:srgbClr val="252525"/>
          </a:solidFill>
          <a:ln w="22860">
            <a:solidFill>
              <a:srgbClr val="F29D49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A3F27A5-872A-98CB-2F7C-2C21AA5D7795}"/>
              </a:ext>
            </a:extLst>
          </p:cNvPr>
          <p:cNvSpPr/>
          <p:nvPr/>
        </p:nvSpPr>
        <p:spPr>
          <a:xfrm>
            <a:off x="4576572" y="2573990"/>
            <a:ext cx="4278553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F29D49"/>
                </a:solidFill>
                <a:ea typeface="Roboto Condensed" pitchFamily="34" charset="-122"/>
                <a:cs typeface="Roboto Condensed" pitchFamily="34" charset="-120"/>
              </a:rPr>
              <a:t>SUTVA / NO INTERFERENCE</a:t>
            </a:r>
            <a:endParaRPr lang="en-US" sz="1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BC4A934-B374-6575-5E7A-3FDBBABED681}"/>
              </a:ext>
            </a:extLst>
          </p:cNvPr>
          <p:cNvSpPr/>
          <p:nvPr/>
        </p:nvSpPr>
        <p:spPr>
          <a:xfrm>
            <a:off x="4576572" y="2967182"/>
            <a:ext cx="4262559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Treatment is well defined and one unit’s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4F4F4"/>
                </a:solidFill>
                <a:ea typeface="Roboto Condensed" pitchFamily="34" charset="-122"/>
                <a:cs typeface="Roboto Condensed" pitchFamily="34" charset="-120"/>
              </a:rPr>
              <a:t>treatment does not alter another’s outcome.</a:t>
            </a:r>
            <a:endParaRPr lang="en-US" sz="16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BF4917A-D85B-5052-DBA5-DFDFC14BFF17}"/>
              </a:ext>
            </a:extLst>
          </p:cNvPr>
          <p:cNvSpPr/>
          <p:nvPr/>
        </p:nvSpPr>
        <p:spPr>
          <a:xfrm>
            <a:off x="4576572" y="3735278"/>
            <a:ext cx="4262559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B9B9B9"/>
                </a:solidFill>
                <a:ea typeface="Roboto Condensed" pitchFamily="34" charset="-122"/>
                <a:cs typeface="Roboto Condensed" pitchFamily="34" charset="-120"/>
              </a:rPr>
              <a:t>Failure: hidden versions or spillovers.</a:t>
            </a:r>
            <a:endParaRPr lang="en-US" sz="16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E40685D-F986-2951-1A7B-826B02A0B097}"/>
              </a:ext>
            </a:extLst>
          </p:cNvPr>
          <p:cNvSpPr/>
          <p:nvPr/>
        </p:nvSpPr>
        <p:spPr>
          <a:xfrm>
            <a:off x="-342900" y="4528566"/>
            <a:ext cx="982980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E06C75"/>
                </a:solidFill>
                <a:ea typeface="Roboto Condensed" pitchFamily="34" charset="-122"/>
                <a:cs typeface="Roboto Condensed" pitchFamily="34" charset="-120"/>
              </a:rPr>
              <a:t>These assumptions are not fully testable from the observed data alone.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51386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7F209-9D66-42CF-43D2-483EAA001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BA6DBE-DA3A-CD55-8B37-B4F549F4329A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Three Building Blocks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68B60D2-6427-15B9-33D7-8132C80C72AE}"/>
              </a:ext>
            </a:extLst>
          </p:cNvPr>
          <p:cNvSpPr/>
          <p:nvPr/>
        </p:nvSpPr>
        <p:spPr>
          <a:xfrm>
            <a:off x="303530" y="1004570"/>
            <a:ext cx="2744470" cy="2945130"/>
          </a:xfrm>
          <a:prstGeom prst="roundRect">
            <a:avLst>
              <a:gd name="adj" fmla="val 3636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087C425-4A28-9EEB-E2EC-0D914A60BABF}"/>
              </a:ext>
            </a:extLst>
          </p:cNvPr>
          <p:cNvSpPr/>
          <p:nvPr/>
        </p:nvSpPr>
        <p:spPr>
          <a:xfrm>
            <a:off x="303530" y="1251458"/>
            <a:ext cx="2646180" cy="30206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EFEA5F9B-DBCD-583F-0729-C5BEEFEFCE8F}"/>
                  </a:ext>
                </a:extLst>
              </p:cNvPr>
              <p:cNvSpPr/>
              <p:nvPr/>
            </p:nvSpPr>
            <p:spPr>
              <a:xfrm>
                <a:off x="303530" y="2089917"/>
                <a:ext cx="2646180" cy="415339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171717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→</m:t>
                    </m:r>
                  </m:oMath>
                </a14:m>
                <a:r>
                  <a:rPr lang="en-US" sz="2400" b="1" dirty="0">
                    <a:solidFill>
                      <a:srgbClr val="171717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 Z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→</m:t>
                    </m:r>
                  </m:oMath>
                </a14:m>
                <a:r>
                  <a:rPr lang="en-US" sz="2400" b="1" dirty="0">
                    <a:solidFill>
                      <a:srgbClr val="171717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 Y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EFEA5F9B-DBCD-583F-0729-C5BEEFEFCE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30" y="2089917"/>
                <a:ext cx="2646180" cy="415339"/>
              </a:xfrm>
              <a:prstGeom prst="rect">
                <a:avLst/>
              </a:prstGeom>
              <a:blipFill>
                <a:blip r:embed="rId2"/>
                <a:stretch>
                  <a:fillRect t="-17647" b="-3823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4">
            <a:extLst>
              <a:ext uri="{FF2B5EF4-FFF2-40B4-BE49-F238E27FC236}">
                <a16:creationId xmlns:a16="http://schemas.microsoft.com/office/drawing/2014/main" id="{E80D8652-4F99-CDA5-C39B-E22F37FDF114}"/>
              </a:ext>
            </a:extLst>
          </p:cNvPr>
          <p:cNvSpPr/>
          <p:nvPr/>
        </p:nvSpPr>
        <p:spPr>
          <a:xfrm>
            <a:off x="352675" y="3009900"/>
            <a:ext cx="2646180" cy="71740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by default.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Blocked when conditioned on Z.</a:t>
            </a:r>
            <a:endParaRPr lang="en-US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DA7F0988-0E50-5383-6C9C-50A317884154}"/>
              </a:ext>
            </a:extLst>
          </p:cNvPr>
          <p:cNvSpPr/>
          <p:nvPr/>
        </p:nvSpPr>
        <p:spPr>
          <a:xfrm>
            <a:off x="3263899" y="1004570"/>
            <a:ext cx="2743200" cy="2945130"/>
          </a:xfrm>
          <a:prstGeom prst="roundRect">
            <a:avLst>
              <a:gd name="adj" fmla="val 3636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EF80010-A4D1-186F-14CF-D2385C737306}"/>
              </a:ext>
            </a:extLst>
          </p:cNvPr>
          <p:cNvSpPr/>
          <p:nvPr/>
        </p:nvSpPr>
        <p:spPr>
          <a:xfrm>
            <a:off x="3368768" y="1206407"/>
            <a:ext cx="2533457" cy="30206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17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F440EE1A-0B5D-C692-EB2B-4EF78865802B}"/>
              </a:ext>
            </a:extLst>
          </p:cNvPr>
          <p:cNvSpPr/>
          <p:nvPr/>
        </p:nvSpPr>
        <p:spPr>
          <a:xfrm>
            <a:off x="3368770" y="2061796"/>
            <a:ext cx="2533457" cy="41533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171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← Z → Y</a:t>
            </a:r>
            <a:endParaRPr lang="en-US" sz="24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0154CC05-A5BD-3F0A-536A-7C909A53157A}"/>
              </a:ext>
            </a:extLst>
          </p:cNvPr>
          <p:cNvSpPr/>
          <p:nvPr/>
        </p:nvSpPr>
        <p:spPr>
          <a:xfrm>
            <a:off x="3368769" y="2962729"/>
            <a:ext cx="2533457" cy="7174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by default.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Blocked when conditioned on Z.</a:t>
            </a:r>
            <a:endParaRPr lang="en-US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642B33F2-85D2-52C7-079F-D949835B395E}"/>
              </a:ext>
            </a:extLst>
          </p:cNvPr>
          <p:cNvSpPr/>
          <p:nvPr/>
        </p:nvSpPr>
        <p:spPr>
          <a:xfrm>
            <a:off x="6123129" y="1004569"/>
            <a:ext cx="2743200" cy="2945130"/>
          </a:xfrm>
          <a:prstGeom prst="roundRect">
            <a:avLst>
              <a:gd name="adj" fmla="val 3636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84FD753E-262C-C0AC-137B-AFB47BAE0C1E}"/>
              </a:ext>
            </a:extLst>
          </p:cNvPr>
          <p:cNvSpPr/>
          <p:nvPr/>
        </p:nvSpPr>
        <p:spPr>
          <a:xfrm>
            <a:off x="6123129" y="1206915"/>
            <a:ext cx="2476062" cy="30206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COLLIDER</a:t>
            </a:r>
            <a:endParaRPr lang="en-US" sz="17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C78D398-E81D-91D7-BDBD-D7185E67222C}"/>
              </a:ext>
            </a:extLst>
          </p:cNvPr>
          <p:cNvSpPr/>
          <p:nvPr/>
        </p:nvSpPr>
        <p:spPr>
          <a:xfrm>
            <a:off x="6281775" y="2089917"/>
            <a:ext cx="2476062" cy="41533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171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→ Z ← Y</a:t>
            </a:r>
            <a:endParaRPr lang="en-US" sz="24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087BF879-94A0-D4EE-CB07-E3828E2EFE59}"/>
              </a:ext>
            </a:extLst>
          </p:cNvPr>
          <p:cNvSpPr/>
          <p:nvPr/>
        </p:nvSpPr>
        <p:spPr>
          <a:xfrm>
            <a:off x="6281775" y="3016249"/>
            <a:ext cx="2476062" cy="71740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by default.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Open when conditioned on Z.</a:t>
            </a:r>
            <a:endParaRPr lang="en-US" dirty="0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5264D1EE-E896-3180-A177-8E685B347016}"/>
              </a:ext>
            </a:extLst>
          </p:cNvPr>
          <p:cNvSpPr/>
          <p:nvPr/>
        </p:nvSpPr>
        <p:spPr>
          <a:xfrm>
            <a:off x="603250" y="4320540"/>
            <a:ext cx="8108950" cy="523220"/>
          </a:xfrm>
          <a:prstGeom prst="roundRect">
            <a:avLst>
              <a:gd name="adj" fmla="val 19355"/>
            </a:avLst>
          </a:prstGeom>
          <a:solidFill>
            <a:srgbClr val="E88A8A"/>
          </a:solidFill>
          <a:ln w="15240">
            <a:solidFill>
              <a:srgbClr val="E88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3E24336A-BADC-4FCB-17D5-9E6CF0A7813E}"/>
              </a:ext>
            </a:extLst>
          </p:cNvPr>
          <p:cNvSpPr/>
          <p:nvPr/>
        </p:nvSpPr>
        <p:spPr>
          <a:xfrm>
            <a:off x="724932" y="4375404"/>
            <a:ext cx="7804388" cy="4219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 behaves differently in the collider.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3207195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B70D0-25C1-447C-30FC-B2B134CB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046C19-3A85-B7C4-02D8-F680F8B50EF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0">
                <a:extLst>
                  <a:ext uri="{FF2B5EF4-FFF2-40B4-BE49-F238E27FC236}">
                    <a16:creationId xmlns:a16="http://schemas.microsoft.com/office/drawing/2014/main" id="{A6A7F147-061F-D46A-1BCD-5656B9402D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35783" y="928370"/>
              <a:ext cx="8735192" cy="3440430"/>
            </p:xfrm>
            <a:graphic>
              <a:graphicData uri="http://schemas.openxmlformats.org/drawingml/2006/table">
                <a:tbl>
                  <a:tblPr/>
                  <a:tblGrid>
                    <a:gridCol w="239936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993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364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8849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Variable adjusted for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Graph role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What adjustment does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064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Confounder C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𝑇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← 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𝐶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→ 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Removes bias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064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Mediator M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𝑇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→ 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𝑀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→ 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Blocks part of total effect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064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Collider C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𝑇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→ 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𝐶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← 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Creates association / bias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0">
                <a:extLst>
                  <a:ext uri="{FF2B5EF4-FFF2-40B4-BE49-F238E27FC236}">
                    <a16:creationId xmlns:a16="http://schemas.microsoft.com/office/drawing/2014/main" id="{A6A7F147-061F-D46A-1BCD-5656B9402D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2722075"/>
                  </p:ext>
                </p:extLst>
              </p:nvPr>
            </p:nvGraphicFramePr>
            <p:xfrm>
              <a:off x="335783" y="928370"/>
              <a:ext cx="8735192" cy="3440430"/>
            </p:xfrm>
            <a:graphic>
              <a:graphicData uri="http://schemas.openxmlformats.org/drawingml/2006/table">
                <a:tbl>
                  <a:tblPr/>
                  <a:tblGrid>
                    <a:gridCol w="239936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993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364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8849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Variable adjusted for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Graph role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What adjustment does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064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Confounder C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4" t="-62821" r="-164467" b="-2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Removes bias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064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Mediator M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4" t="-162821" r="-164467" b="-1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Blocks part of total effect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064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Collider C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4" t="-262821" r="-164467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Creates association / bias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Shape 1">
            <a:extLst>
              <a:ext uri="{FF2B5EF4-FFF2-40B4-BE49-F238E27FC236}">
                <a16:creationId xmlns:a16="http://schemas.microsoft.com/office/drawing/2014/main" id="{CD11548B-3188-A5F9-C8D4-30B1B7A8FB96}"/>
              </a:ext>
            </a:extLst>
          </p:cNvPr>
          <p:cNvSpPr/>
          <p:nvPr/>
        </p:nvSpPr>
        <p:spPr>
          <a:xfrm>
            <a:off x="169188" y="4533158"/>
            <a:ext cx="8809712" cy="523220"/>
          </a:xfrm>
          <a:prstGeom prst="roundRect">
            <a:avLst>
              <a:gd name="adj" fmla="val 19355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4B5D31FE-BBD3-5523-54EB-F92CCC3BC1AF}"/>
              </a:ext>
            </a:extLst>
          </p:cNvPr>
          <p:cNvSpPr/>
          <p:nvPr/>
        </p:nvSpPr>
        <p:spPr>
          <a:xfrm>
            <a:off x="352068" y="4579562"/>
            <a:ext cx="8478831" cy="4219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syntax cannot tell you which causal role a covariate has.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483933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17E8B-B2CD-A13F-5A63-A145E540A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3EC02A53-0E64-F510-6345-9E6AD4840E30}"/>
              </a:ext>
            </a:extLst>
          </p:cNvPr>
          <p:cNvSpPr/>
          <p:nvPr/>
        </p:nvSpPr>
        <p:spPr>
          <a:xfrm>
            <a:off x="181682" y="803911"/>
            <a:ext cx="5278484" cy="4147336"/>
          </a:xfrm>
          <a:prstGeom prst="roundRect">
            <a:avLst/>
          </a:prstGeom>
          <a:solidFill>
            <a:srgbClr val="26272A"/>
          </a:solidFill>
          <a:ln w="13970">
            <a:solidFill>
              <a:srgbClr val="545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B5D9C74-7A80-1577-306B-AF06F8287324}"/>
              </a:ext>
            </a:extLst>
          </p:cNvPr>
          <p:cNvSpPr txBox="1"/>
          <p:nvPr/>
        </p:nvSpPr>
        <p:spPr>
          <a:xfrm>
            <a:off x="428570" y="959358"/>
            <a:ext cx="612648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 dirty="0">
                <a:solidFill>
                  <a:srgbClr val="67AAE0"/>
                </a:solidFill>
                <a:latin typeface="Roboto Condensed"/>
              </a:rPr>
              <a:t>R with dagitty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1AA1AB8-E7A4-4858-0421-FF1F66C292F9}"/>
              </a:ext>
            </a:extLst>
          </p:cNvPr>
          <p:cNvSpPr txBox="1"/>
          <p:nvPr/>
        </p:nvSpPr>
        <p:spPr>
          <a:xfrm>
            <a:off x="428570" y="1325118"/>
            <a:ext cx="608076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dirty="0">
                <a:solidFill>
                  <a:srgbClr val="F4F4F0"/>
                </a:solidFill>
                <a:latin typeface="Consolas"/>
              </a:rPr>
              <a:t>library(dagitty)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70" dirty="0">
              <a:solidFill>
                <a:srgbClr val="F4F4F0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dirty="0">
                <a:solidFill>
                  <a:srgbClr val="F4F4F0"/>
                </a:solidFill>
                <a:latin typeface="Consolas"/>
              </a:rPr>
              <a:t>g &lt;- dagitty("</a:t>
            </a:r>
            <a:r>
              <a:rPr sz="1270" dirty="0" err="1">
                <a:solidFill>
                  <a:srgbClr val="F4F4F0"/>
                </a:solidFill>
                <a:latin typeface="Consolas"/>
              </a:rPr>
              <a:t>dag</a:t>
            </a:r>
            <a:r>
              <a:rPr sz="1270" dirty="0">
                <a:solidFill>
                  <a:srgbClr val="F4F4F0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dirty="0">
                <a:solidFill>
                  <a:srgbClr val="F4F4F0"/>
                </a:solidFill>
                <a:latin typeface="Consolas"/>
              </a:rPr>
              <a:t>  T [exposure]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dirty="0">
                <a:solidFill>
                  <a:srgbClr val="F4F4F0"/>
                </a:solidFill>
                <a:latin typeface="Consolas"/>
              </a:rPr>
              <a:t>  Y [outcome]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70" dirty="0">
              <a:solidFill>
                <a:srgbClr val="F4F4F0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dirty="0">
                <a:solidFill>
                  <a:srgbClr val="F4F4F0"/>
                </a:solidFill>
                <a:latin typeface="Consolas"/>
              </a:rPr>
              <a:t>  Age -&gt; BP;  Age -&gt; 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dirty="0">
                <a:solidFill>
                  <a:srgbClr val="F4F4F0"/>
                </a:solidFill>
                <a:latin typeface="Consolas"/>
              </a:rPr>
              <a:t>  BP  -&gt; DM;  BP  -&gt; T;  BP -&gt; 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dirty="0">
                <a:solidFill>
                  <a:srgbClr val="F4F4F0"/>
                </a:solidFill>
                <a:latin typeface="Consolas"/>
              </a:rPr>
              <a:t>  DM  -&gt; T;   DM  -&gt; BP3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dirty="0">
                <a:solidFill>
                  <a:srgbClr val="F4F4F0"/>
                </a:solidFill>
                <a:latin typeface="Consolas"/>
              </a:rPr>
              <a:t>  T   -&gt; BP3; T   -&gt; 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dirty="0">
                <a:solidFill>
                  <a:srgbClr val="F4F4F0"/>
                </a:solidFill>
                <a:latin typeface="Consolas"/>
              </a:rPr>
              <a:t>  BP3 -&gt; Adh; BP3 -&gt; 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dirty="0">
                <a:solidFill>
                  <a:srgbClr val="F4F4F0"/>
                </a:solidFill>
                <a:latin typeface="Consolas"/>
              </a:rPr>
              <a:t>  Pref -&gt; Adh; Adh -&gt; 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dirty="0">
                <a:solidFill>
                  <a:srgbClr val="F4F4F0"/>
                </a:solidFill>
                <a:latin typeface="Consolas"/>
              </a:rPr>
              <a:t>}")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70" dirty="0">
              <a:solidFill>
                <a:srgbClr val="F4F4F0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dirty="0">
                <a:solidFill>
                  <a:srgbClr val="F4F4F0"/>
                </a:solidFill>
                <a:latin typeface="Consolas"/>
              </a:rPr>
              <a:t>adjustmentSets(g, type = "minimal",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dirty="0">
                <a:solidFill>
                  <a:srgbClr val="F4F4F0"/>
                </a:solidFill>
                <a:latin typeface="Consolas"/>
              </a:rPr>
              <a:t>               effect = "total")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7D65502-A249-8135-6F77-37CCD4D2A5BC}"/>
              </a:ext>
            </a:extLst>
          </p:cNvPr>
          <p:cNvSpPr txBox="1"/>
          <p:nvPr/>
        </p:nvSpPr>
        <p:spPr>
          <a:xfrm>
            <a:off x="708427" y="4542282"/>
            <a:ext cx="57150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 dirty="0">
                <a:solidFill>
                  <a:srgbClr val="7EC897"/>
                </a:solidFill>
                <a:latin typeface="Consolas"/>
              </a:rPr>
              <a:t>Output:  { BP, DM }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AB7ACEDF-9A3B-52A9-4135-A71BDEBEFB55}"/>
              </a:ext>
            </a:extLst>
          </p:cNvPr>
          <p:cNvSpPr txBox="1"/>
          <p:nvPr/>
        </p:nvSpPr>
        <p:spPr>
          <a:xfrm>
            <a:off x="5649841" y="876145"/>
            <a:ext cx="3749039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F4B234"/>
                </a:solidFill>
                <a:latin typeface="Roboto Condensed"/>
              </a:rPr>
              <a:t>What R is checking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24FA8292-5D0C-369E-3B9A-E1EC2A11ADB6}"/>
              </a:ext>
            </a:extLst>
          </p:cNvPr>
          <p:cNvSpPr/>
          <p:nvPr/>
        </p:nvSpPr>
        <p:spPr>
          <a:xfrm>
            <a:off x="5632706" y="1334753"/>
            <a:ext cx="3383280" cy="764898"/>
          </a:xfrm>
          <a:prstGeom prst="roundRect">
            <a:avLst/>
          </a:prstGeom>
          <a:solidFill>
            <a:srgbClr val="234531"/>
          </a:solidFill>
          <a:ln w="19050">
            <a:solidFill>
              <a:srgbClr val="7EC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E3DC7CB-A088-E27D-DE94-E22470AB5C6A}"/>
              </a:ext>
            </a:extLst>
          </p:cNvPr>
          <p:cNvSpPr txBox="1"/>
          <p:nvPr/>
        </p:nvSpPr>
        <p:spPr>
          <a:xfrm>
            <a:off x="5779009" y="1531260"/>
            <a:ext cx="3100626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b="1" dirty="0">
                <a:solidFill>
                  <a:srgbClr val="7EC897"/>
                </a:solidFill>
              </a:rPr>
              <a:t>Minimal set = { BP, DM }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8E4120AF-0F9E-37B9-6992-5643A6745DC9}"/>
              </a:ext>
            </a:extLst>
          </p:cNvPr>
          <p:cNvSpPr txBox="1"/>
          <p:nvPr/>
        </p:nvSpPr>
        <p:spPr>
          <a:xfrm>
            <a:off x="5760720" y="2275545"/>
            <a:ext cx="3383280" cy="60939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0" dirty="0">
                <a:solidFill>
                  <a:srgbClr val="F4F4F0"/>
                </a:solidFill>
              </a:rPr>
              <a:t>BP is required to block
T ← BP → Y.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E707893E-7CF3-EAF4-7B1D-51C761689304}"/>
              </a:ext>
            </a:extLst>
          </p:cNvPr>
          <p:cNvSpPr txBox="1"/>
          <p:nvPr/>
        </p:nvSpPr>
        <p:spPr>
          <a:xfrm>
            <a:off x="5687569" y="2933913"/>
            <a:ext cx="3401568" cy="60939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0" dirty="0">
                <a:solidFill>
                  <a:srgbClr val="F4F4F0"/>
                </a:solidFill>
              </a:rPr>
              <a:t>DM blocks the remaining path
T ← DM → BP3 → Y.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7D6A2674-CE7F-073D-4514-45924BF5FA01}"/>
              </a:ext>
            </a:extLst>
          </p:cNvPr>
          <p:cNvSpPr txBox="1"/>
          <p:nvPr/>
        </p:nvSpPr>
        <p:spPr>
          <a:xfrm>
            <a:off x="5670432" y="3608055"/>
            <a:ext cx="3401568" cy="60939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0" dirty="0">
                <a:solidFill>
                  <a:srgbClr val="F4F4F0"/>
                </a:solidFill>
              </a:rPr>
              <a:t>Age is not needed once BP is
already in the set.</a:t>
            </a:r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7E9E3A38-1E6E-14B8-1133-F50CB0188C78}"/>
              </a:ext>
            </a:extLst>
          </p:cNvPr>
          <p:cNvSpPr txBox="1"/>
          <p:nvPr/>
        </p:nvSpPr>
        <p:spPr>
          <a:xfrm>
            <a:off x="5683882" y="4318772"/>
            <a:ext cx="3401568" cy="60939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0" dirty="0">
                <a:solidFill>
                  <a:srgbClr val="F4F4F0"/>
                </a:solidFill>
              </a:rPr>
              <a:t>Do not adjust for BP3 or Adh:
they are post-treatment.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69E67A-8414-2877-CE4B-28A9770E342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1187220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C34DAE-0B68-9988-09D4-B1846C0BD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94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98621-E388-2D3E-D0CF-0EA4AE758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AF4C7D-E6A8-A8A2-81C7-2452038615F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Structural Causal Models (SCM)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19EB6-33E7-C67A-C5BA-E9CB21D69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698" y="881736"/>
            <a:ext cx="6733194" cy="411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891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090EE-66E4-1BA9-5F69-F1B208934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7CB232-C451-C57F-EAE2-B60495A9C3B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Structural Causal Models (SCM)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134E01F2-6E5B-A917-3086-9302C9A523BE}"/>
              </a:ext>
            </a:extLst>
          </p:cNvPr>
          <p:cNvSpPr/>
          <p:nvPr/>
        </p:nvSpPr>
        <p:spPr>
          <a:xfrm>
            <a:off x="814648" y="2010641"/>
            <a:ext cx="3383280" cy="914400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300" b="1">
                <a:solidFill>
                  <a:srgbClr val="70ACE8"/>
                </a:solidFill>
                <a:latin typeface="Arial"/>
              </a:rPr>
              <a:t>DAG = causal map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EC6C95D9-DC7D-6262-4792-462E669AD533}"/>
              </a:ext>
            </a:extLst>
          </p:cNvPr>
          <p:cNvSpPr/>
          <p:nvPr/>
        </p:nvSpPr>
        <p:spPr>
          <a:xfrm>
            <a:off x="4655128" y="2010641"/>
            <a:ext cx="3749039" cy="914400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200" b="1">
                <a:solidFill>
                  <a:srgbClr val="78C28C"/>
                </a:solidFill>
                <a:latin typeface="Arial"/>
              </a:rPr>
              <a:t>SCM = causal map + generating rules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3EA70916-4519-325B-930D-1FEB086FAA27}"/>
              </a:ext>
            </a:extLst>
          </p:cNvPr>
          <p:cNvSpPr txBox="1"/>
          <p:nvPr/>
        </p:nvSpPr>
        <p:spPr>
          <a:xfrm>
            <a:off x="1009997" y="1312926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sz="1600" dirty="0">
                <a:solidFill>
                  <a:srgbClr val="70ACE8"/>
                </a:solidFill>
                <a:latin typeface="Arial"/>
              </a:rPr>
              <a:t>From a causal picture to a model of how the world generates variables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E135F326-C768-288B-5E0A-E5A929A9DAC2}"/>
              </a:ext>
            </a:extLst>
          </p:cNvPr>
          <p:cNvSpPr txBox="1"/>
          <p:nvPr/>
        </p:nvSpPr>
        <p:spPr>
          <a:xfrm>
            <a:off x="814648" y="3554037"/>
            <a:ext cx="73152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200" b="1" dirty="0">
                <a:solidFill>
                  <a:srgbClr val="F5F5F5"/>
                </a:solidFill>
                <a:latin typeface="Arial"/>
              </a:rPr>
              <a:t>We </a:t>
            </a:r>
            <a:r>
              <a:rPr sz="2200" b="1" dirty="0">
                <a:solidFill>
                  <a:srgbClr val="F5F5F5"/>
                </a:solidFill>
                <a:latin typeface="Arial"/>
              </a:rPr>
              <a:t>will learn how to represent an intervention such as “force treatment = 1.”</a:t>
            </a:r>
          </a:p>
        </p:txBody>
      </p:sp>
    </p:spTree>
    <p:extLst>
      <p:ext uri="{BB962C8B-B14F-4D97-AF65-F5344CB8AC3E}">
        <p14:creationId xmlns:p14="http://schemas.microsoft.com/office/powerpoint/2010/main" val="1378477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339C3-79DB-309B-577A-D15F2C8E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44120F-1792-A4C0-CE54-3FD09886414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Structural Causal Models (SCM)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14DE3-5E6F-67FC-27EB-16D0904254D2}"/>
              </a:ext>
            </a:extLst>
          </p:cNvPr>
          <p:cNvSpPr txBox="1"/>
          <p:nvPr/>
        </p:nvSpPr>
        <p:spPr>
          <a:xfrm>
            <a:off x="423949" y="1277042"/>
            <a:ext cx="3840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2000" b="1" dirty="0">
                <a:solidFill>
                  <a:srgbClr val="70ACE8"/>
                </a:solidFill>
                <a:latin typeface="Arial"/>
              </a:rPr>
              <a:t>A DAG already tells us: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C72BD-7999-6A86-D634-10D4B543E0D6}"/>
              </a:ext>
            </a:extLst>
          </p:cNvPr>
          <p:cNvSpPr txBox="1"/>
          <p:nvPr/>
        </p:nvSpPr>
        <p:spPr>
          <a:xfrm>
            <a:off x="515389" y="1688523"/>
            <a:ext cx="3840480" cy="1477328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5F5F5"/>
                </a:solidFill>
                <a:latin typeface="Arial"/>
              </a:defRPr>
            </a:pPr>
            <a:r>
              <a:rPr dirty="0"/>
              <a:t>which variables directly cause which</a:t>
            </a:r>
            <a:r>
              <a:rPr lang="en-US" dirty="0"/>
              <a:t>.</a:t>
            </a:r>
            <a:endParaRPr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5F5F5"/>
                </a:solidFill>
                <a:latin typeface="Arial"/>
              </a:defRPr>
            </a:pPr>
            <a:r>
              <a:rPr dirty="0"/>
              <a:t>which paths are causal or noncausal</a:t>
            </a:r>
            <a:r>
              <a:rPr lang="en-US" dirty="0"/>
              <a:t>.</a:t>
            </a:r>
            <a:endParaRPr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5F5F5"/>
                </a:solidFill>
                <a:latin typeface="Arial"/>
              </a:defRPr>
            </a:pPr>
            <a:r>
              <a:rPr dirty="0"/>
              <a:t>what we may need to adjust for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53FCE9-73BE-28DB-5155-B1BB2EF7150A}"/>
              </a:ext>
            </a:extLst>
          </p:cNvPr>
          <p:cNvSpPr txBox="1"/>
          <p:nvPr/>
        </p:nvSpPr>
        <p:spPr>
          <a:xfrm>
            <a:off x="4584469" y="1277042"/>
            <a:ext cx="402137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2000" b="1" dirty="0">
                <a:solidFill>
                  <a:srgbClr val="78C28C"/>
                </a:solidFill>
                <a:latin typeface="Arial"/>
              </a:rPr>
              <a:t>SCM adds something new: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75E5FD-2EF0-641E-BF2A-490DCE2454E4}"/>
              </a:ext>
            </a:extLst>
          </p:cNvPr>
          <p:cNvSpPr txBox="1"/>
          <p:nvPr/>
        </p:nvSpPr>
        <p:spPr>
          <a:xfrm>
            <a:off x="4675909" y="1688522"/>
            <a:ext cx="3920836" cy="1477328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5F5F5"/>
                </a:solidFill>
                <a:latin typeface="Arial"/>
              </a:defRPr>
            </a:pPr>
            <a:r>
              <a:rPr dirty="0"/>
              <a:t>a rule for how each variable is generated</a:t>
            </a:r>
            <a:r>
              <a:rPr lang="en-US" dirty="0"/>
              <a:t>.</a:t>
            </a:r>
            <a:endParaRPr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5F5F5"/>
                </a:solidFill>
                <a:latin typeface="Arial"/>
              </a:defRPr>
            </a:pPr>
            <a:r>
              <a:rPr dirty="0"/>
              <a:t>a precise meaning for “intervene”</a:t>
            </a:r>
            <a:r>
              <a:rPr lang="en-US" dirty="0"/>
              <a:t>.</a:t>
            </a:r>
            <a:endParaRPr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5F5F5"/>
                </a:solidFill>
                <a:latin typeface="Arial"/>
              </a:defRPr>
            </a:pPr>
            <a:r>
              <a:rPr dirty="0"/>
              <a:t>a way to define the same person under different treatment choices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942B7E6-D15A-77A9-2B90-33B173713105}"/>
              </a:ext>
            </a:extLst>
          </p:cNvPr>
          <p:cNvSpPr/>
          <p:nvPr/>
        </p:nvSpPr>
        <p:spPr>
          <a:xfrm>
            <a:off x="620657" y="3842470"/>
            <a:ext cx="7602015" cy="690303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900" b="1">
                <a:solidFill>
                  <a:srgbClr val="FDBB30"/>
                </a:solidFill>
                <a:latin typeface="Arial"/>
              </a:rPr>
              <a:t>SCM makes “what if we changed T?” mathematically precise.</a:t>
            </a:r>
          </a:p>
        </p:txBody>
      </p:sp>
    </p:spTree>
    <p:extLst>
      <p:ext uri="{BB962C8B-B14F-4D97-AF65-F5344CB8AC3E}">
        <p14:creationId xmlns:p14="http://schemas.microsoft.com/office/powerpoint/2010/main" val="2279759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0194B-E79F-87A6-188D-4F38FB09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4AA719-63F5-A12C-A386-2A249D3D329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Example 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6080FACE-595C-E595-8853-46FF292A448E}"/>
              </a:ext>
            </a:extLst>
          </p:cNvPr>
          <p:cNvSpPr txBox="1"/>
          <p:nvPr/>
        </p:nvSpPr>
        <p:spPr>
          <a:xfrm>
            <a:off x="116378" y="1141406"/>
            <a:ext cx="1733204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900" b="1" dirty="0">
                <a:solidFill>
                  <a:srgbClr val="F6B62F"/>
                </a:solidFill>
                <a:latin typeface="Arial"/>
              </a:rPr>
              <a:t>Clinical question: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C09A8974-C63E-1B1D-3F5F-0EB137568B31}"/>
              </a:ext>
            </a:extLst>
          </p:cNvPr>
          <p:cNvSpPr txBox="1"/>
          <p:nvPr/>
        </p:nvSpPr>
        <p:spPr>
          <a:xfrm>
            <a:off x="1432560" y="1112103"/>
            <a:ext cx="759506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2400" b="1" dirty="0">
                <a:solidFill>
                  <a:srgbClr val="F5F5F5"/>
                </a:solidFill>
                <a:latin typeface="Arial"/>
              </a:rPr>
              <a:t>Does an intensive blood-pressure treatment lower systolic BP after 3 months?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F494FFC0-A075-C36E-EB81-C11713AEC6BD}"/>
              </a:ext>
            </a:extLst>
          </p:cNvPr>
          <p:cNvSpPr/>
          <p:nvPr/>
        </p:nvSpPr>
        <p:spPr>
          <a:xfrm>
            <a:off x="3194858" y="2297984"/>
            <a:ext cx="1051560" cy="65836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C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FCAD6BFF-64E8-ECCD-4218-CCC2B45DFC81}"/>
              </a:ext>
            </a:extLst>
          </p:cNvPr>
          <p:cNvSpPr txBox="1"/>
          <p:nvPr/>
        </p:nvSpPr>
        <p:spPr>
          <a:xfrm>
            <a:off x="2783378" y="304779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0">
                <a:solidFill>
                  <a:srgbClr val="C8CDD2"/>
                </a:solidFill>
                <a:latin typeface="Arial"/>
              </a:rPr>
              <a:t>baseline severity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0CA98CCC-39D6-27FB-F1B2-4635CC8BB6CB}"/>
              </a:ext>
            </a:extLst>
          </p:cNvPr>
          <p:cNvSpPr/>
          <p:nvPr/>
        </p:nvSpPr>
        <p:spPr>
          <a:xfrm>
            <a:off x="1030085" y="3373029"/>
            <a:ext cx="1051560" cy="65836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T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4B46C2DD-B51B-7221-7228-8A6D7360B64A}"/>
              </a:ext>
            </a:extLst>
          </p:cNvPr>
          <p:cNvSpPr txBox="1"/>
          <p:nvPr/>
        </p:nvSpPr>
        <p:spPr>
          <a:xfrm>
            <a:off x="664325" y="4122837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0">
                <a:solidFill>
                  <a:srgbClr val="C8CDD2"/>
                </a:solidFill>
                <a:latin typeface="Arial"/>
              </a:rPr>
              <a:t>treatment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44D2911F-9071-360B-9BC5-DB0028AFA493}"/>
              </a:ext>
            </a:extLst>
          </p:cNvPr>
          <p:cNvSpPr/>
          <p:nvPr/>
        </p:nvSpPr>
        <p:spPr>
          <a:xfrm>
            <a:off x="5866707" y="3373029"/>
            <a:ext cx="1051560" cy="65836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F6B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Y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101D8F2D-FF95-15E0-CBF5-2A1B57E84434}"/>
              </a:ext>
            </a:extLst>
          </p:cNvPr>
          <p:cNvSpPr txBox="1"/>
          <p:nvPr/>
        </p:nvSpPr>
        <p:spPr>
          <a:xfrm>
            <a:off x="5500947" y="4122837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0">
                <a:solidFill>
                  <a:srgbClr val="C8CDD2"/>
                </a:solidFill>
                <a:latin typeface="Arial"/>
              </a:rPr>
              <a:t>3-month BP</a:t>
            </a:r>
          </a:p>
        </p:txBody>
      </p:sp>
      <p:cxnSp>
        <p:nvCxnSpPr>
          <p:cNvPr id="16" name="Connector 11">
            <a:extLst>
              <a:ext uri="{FF2B5EF4-FFF2-40B4-BE49-F238E27FC236}">
                <a16:creationId xmlns:a16="http://schemas.microsoft.com/office/drawing/2014/main" id="{E0FB54AB-5AD3-847D-881C-1C5C0A0B373E}"/>
              </a:ext>
            </a:extLst>
          </p:cNvPr>
          <p:cNvCxnSpPr>
            <a:cxnSpLocks/>
            <a:stCxn id="12" idx="3"/>
            <a:endCxn id="10" idx="1"/>
          </p:cNvCxnSpPr>
          <p:nvPr/>
        </p:nvCxnSpPr>
        <p:spPr>
          <a:xfrm flipV="1">
            <a:off x="2081645" y="2627168"/>
            <a:ext cx="1113213" cy="1075045"/>
          </a:xfrm>
          <a:prstGeom prst="line">
            <a:avLst/>
          </a:prstGeom>
          <a:ln w="27940">
            <a:solidFill>
              <a:srgbClr val="70ACE8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1">
            <a:extLst>
              <a:ext uri="{FF2B5EF4-FFF2-40B4-BE49-F238E27FC236}">
                <a16:creationId xmlns:a16="http://schemas.microsoft.com/office/drawing/2014/main" id="{5A2DECBB-B2F4-F98A-ADBE-F0BFE58FBF72}"/>
              </a:ext>
            </a:extLst>
          </p:cNvPr>
          <p:cNvCxnSpPr>
            <a:cxnSpLocks/>
            <a:stCxn id="14" idx="1"/>
            <a:endCxn id="10" idx="3"/>
          </p:cNvCxnSpPr>
          <p:nvPr/>
        </p:nvCxnSpPr>
        <p:spPr>
          <a:xfrm flipH="1" flipV="1">
            <a:off x="4246418" y="2627168"/>
            <a:ext cx="1620289" cy="1075045"/>
          </a:xfrm>
          <a:prstGeom prst="line">
            <a:avLst/>
          </a:prstGeom>
          <a:ln w="27940">
            <a:solidFill>
              <a:srgbClr val="70ACE8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11">
            <a:extLst>
              <a:ext uri="{FF2B5EF4-FFF2-40B4-BE49-F238E27FC236}">
                <a16:creationId xmlns:a16="http://schemas.microsoft.com/office/drawing/2014/main" id="{AC607359-F2CA-021B-18EA-E7C946EEAB75}"/>
              </a:ext>
            </a:extLst>
          </p:cNvPr>
          <p:cNvCxnSpPr>
            <a:cxnSpLocks/>
          </p:cNvCxnSpPr>
          <p:nvPr/>
        </p:nvCxnSpPr>
        <p:spPr>
          <a:xfrm flipH="1">
            <a:off x="2081645" y="3834176"/>
            <a:ext cx="3785062" cy="12367"/>
          </a:xfrm>
          <a:prstGeom prst="line">
            <a:avLst/>
          </a:prstGeom>
          <a:ln w="27940">
            <a:solidFill>
              <a:srgbClr val="70ACE8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323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20ABC-6599-C447-AAD0-99CA62656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D18BED-CB6D-C00D-C5EA-DCEB7D271B7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Example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14F1F-7A0B-C7F0-EEBA-AE19224A8E15}"/>
              </a:ext>
            </a:extLst>
          </p:cNvPr>
          <p:cNvSpPr txBox="1"/>
          <p:nvPr/>
        </p:nvSpPr>
        <p:spPr>
          <a:xfrm>
            <a:off x="971203" y="1258477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800" b="0">
                <a:solidFill>
                  <a:srgbClr val="78C28C"/>
                </a:solidFill>
                <a:latin typeface="Cambria Math"/>
              </a:rPr>
              <a:t>C  →  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81AEA-12FF-82AF-E4B3-E79923C1B023}"/>
              </a:ext>
            </a:extLst>
          </p:cNvPr>
          <p:cNvSpPr txBox="1"/>
          <p:nvPr/>
        </p:nvSpPr>
        <p:spPr>
          <a:xfrm>
            <a:off x="2982883" y="1258477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900" b="0">
                <a:solidFill>
                  <a:srgbClr val="F5F5F5"/>
                </a:solidFill>
                <a:latin typeface="Arial"/>
              </a:rPr>
              <a:t>Baseline severity can influence which treatment is chosen.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594AEB-9324-F2F3-C10E-8B9CA568B3F6}"/>
              </a:ext>
            </a:extLst>
          </p:cNvPr>
          <p:cNvSpPr txBox="1"/>
          <p:nvPr/>
        </p:nvSpPr>
        <p:spPr>
          <a:xfrm>
            <a:off x="971203" y="2218597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800" b="0">
                <a:solidFill>
                  <a:srgbClr val="78C28C"/>
                </a:solidFill>
                <a:latin typeface="Cambria Math"/>
              </a:rPr>
              <a:t>C  →  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A5C04-8A9A-ABF7-EC0F-A871B0E64512}"/>
              </a:ext>
            </a:extLst>
          </p:cNvPr>
          <p:cNvSpPr txBox="1"/>
          <p:nvPr/>
        </p:nvSpPr>
        <p:spPr>
          <a:xfrm>
            <a:off x="2982883" y="2218597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900" b="0">
                <a:solidFill>
                  <a:srgbClr val="F5F5F5"/>
                </a:solidFill>
                <a:latin typeface="Arial"/>
              </a:rPr>
              <a:t>Baseline severity can also influence the outcome.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1CB23-6F1B-0592-B20F-73B6774E02C4}"/>
              </a:ext>
            </a:extLst>
          </p:cNvPr>
          <p:cNvSpPr txBox="1"/>
          <p:nvPr/>
        </p:nvSpPr>
        <p:spPr>
          <a:xfrm>
            <a:off x="971203" y="3178717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800" b="0">
                <a:solidFill>
                  <a:srgbClr val="70ACE8"/>
                </a:solidFill>
                <a:latin typeface="Cambria Math"/>
              </a:rPr>
              <a:t>T  →  Y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AF3AC813-6426-B6E7-DB76-A5DD163A5DDB}"/>
              </a:ext>
            </a:extLst>
          </p:cNvPr>
          <p:cNvSpPr txBox="1"/>
          <p:nvPr/>
        </p:nvSpPr>
        <p:spPr>
          <a:xfrm>
            <a:off x="2982883" y="3178717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900" b="0">
                <a:solidFill>
                  <a:srgbClr val="F5F5F5"/>
                </a:solidFill>
                <a:latin typeface="Arial"/>
              </a:rPr>
              <a:t>Treatment can causally change the outcome.</a:t>
            </a: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AA88343F-2F47-647F-7951-179984BE220D}"/>
              </a:ext>
            </a:extLst>
          </p:cNvPr>
          <p:cNvSpPr/>
          <p:nvPr/>
        </p:nvSpPr>
        <p:spPr>
          <a:xfrm>
            <a:off x="654098" y="4061251"/>
            <a:ext cx="8025775" cy="711639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700" b="1" dirty="0">
                <a:solidFill>
                  <a:srgbClr val="FDBB30"/>
                </a:solidFill>
                <a:latin typeface="Arial"/>
              </a:rPr>
              <a:t>The DAG gives direction</a:t>
            </a:r>
            <a:r>
              <a:rPr lang="en-US" sz="1700" b="1" dirty="0">
                <a:solidFill>
                  <a:srgbClr val="FDBB30"/>
                </a:solidFill>
                <a:latin typeface="Arial"/>
              </a:rPr>
              <a:t>,</a:t>
            </a:r>
            <a:r>
              <a:rPr sz="1700" b="1" dirty="0">
                <a:solidFill>
                  <a:srgbClr val="FDBB30"/>
                </a:solidFill>
                <a:latin typeface="Arial"/>
              </a:rPr>
              <a:t> but not yet the actual rule for generating T or Y.</a:t>
            </a:r>
          </a:p>
        </p:txBody>
      </p:sp>
    </p:spTree>
    <p:extLst>
      <p:ext uri="{BB962C8B-B14F-4D97-AF65-F5344CB8AC3E}">
        <p14:creationId xmlns:p14="http://schemas.microsoft.com/office/powerpoint/2010/main" val="1254906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B6262-862F-0143-5881-7F913A91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F09E2B-93EE-905D-A6B5-5077BEE9EF6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Example 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E9DC0B84-D43B-6E50-7755-3FD89BE694BF}"/>
              </a:ext>
            </a:extLst>
          </p:cNvPr>
          <p:cNvSpPr txBox="1"/>
          <p:nvPr/>
        </p:nvSpPr>
        <p:spPr>
          <a:xfrm>
            <a:off x="750916" y="1188235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2100" b="1">
                <a:solidFill>
                  <a:srgbClr val="F6B62F"/>
                </a:solidFill>
                <a:latin typeface="Arial"/>
              </a:rPr>
              <a:t>The graph does not tell us: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5293618C-D68E-23B2-6AB0-2B4ABD381DF0}"/>
              </a:ext>
            </a:extLst>
          </p:cNvPr>
          <p:cNvSpPr txBox="1"/>
          <p:nvPr/>
        </p:nvSpPr>
        <p:spPr>
          <a:xfrm>
            <a:off x="613756" y="1958290"/>
            <a:ext cx="7315200" cy="1631216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900">
                <a:solidFill>
                  <a:srgbClr val="F5F5F5"/>
                </a:solidFill>
                <a:latin typeface="Arial"/>
              </a:defRPr>
            </a:pPr>
            <a:r>
              <a:rPr sz="2000" dirty="0"/>
              <a:t>How strongly does severity affect treatment choice?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900">
                <a:solidFill>
                  <a:srgbClr val="F5F5F5"/>
                </a:solidFill>
                <a:latin typeface="Arial"/>
              </a:defRPr>
            </a:pPr>
            <a:r>
              <a:rPr sz="2000" dirty="0"/>
              <a:t>How strongly does treatment change blood pressure?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900">
                <a:solidFill>
                  <a:srgbClr val="F5F5F5"/>
                </a:solidFill>
                <a:latin typeface="Arial"/>
              </a:defRPr>
            </a:pPr>
            <a:r>
              <a:rPr sz="2000" dirty="0"/>
              <a:t>What other background factors affect treatment or outcome?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900">
                <a:solidFill>
                  <a:srgbClr val="F5F5F5"/>
                </a:solidFill>
                <a:latin typeface="Arial"/>
              </a:defRPr>
            </a:pPr>
            <a:r>
              <a:rPr sz="2000" dirty="0"/>
              <a:t>Exactly what should we change when we say “give treatment to everyone”?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237E3816-DB4F-E25A-9EF2-454C9E3253AA}"/>
              </a:ext>
            </a:extLst>
          </p:cNvPr>
          <p:cNvSpPr/>
          <p:nvPr/>
        </p:nvSpPr>
        <p:spPr>
          <a:xfrm>
            <a:off x="1939636" y="4205755"/>
            <a:ext cx="5120640" cy="566928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78C28C"/>
                </a:solidFill>
                <a:latin typeface="Arial"/>
              </a:rPr>
              <a:t>SCM supplies those generating rules.</a:t>
            </a:r>
          </a:p>
        </p:txBody>
      </p:sp>
    </p:spTree>
    <p:extLst>
      <p:ext uri="{BB962C8B-B14F-4D97-AF65-F5344CB8AC3E}">
        <p14:creationId xmlns:p14="http://schemas.microsoft.com/office/powerpoint/2010/main" val="711257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AEF0F-5ADE-256D-C5C9-2A96BE21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C3753B-9C94-63A6-7B53-175BD57B24C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SCM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FCFF4BE-0595-F075-B450-4EE61AD2F9C4}"/>
              </a:ext>
            </a:extLst>
          </p:cNvPr>
          <p:cNvSpPr/>
          <p:nvPr/>
        </p:nvSpPr>
        <p:spPr>
          <a:xfrm>
            <a:off x="285618" y="1418359"/>
            <a:ext cx="2545080" cy="1474120"/>
          </a:xfrm>
          <a:prstGeom prst="roundRect">
            <a:avLst/>
          </a:prstGeom>
          <a:solidFill>
            <a:srgbClr val="24272A"/>
          </a:solidFill>
          <a:ln w="1524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800" b="1" dirty="0">
                <a:solidFill>
                  <a:srgbClr val="78C28C"/>
                </a:solidFill>
                <a:latin typeface="Arial"/>
              </a:rPr>
              <a:t>1</a:t>
            </a:r>
          </a:p>
          <a:p>
            <a:pPr algn="ctr"/>
            <a:r>
              <a:rPr sz="1700" dirty="0">
                <a:solidFill>
                  <a:srgbClr val="F5F5F5"/>
                </a:solidFill>
                <a:latin typeface="Arial"/>
              </a:rPr>
              <a:t>Generate baseline severity C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F0400A4B-0927-FFC3-D684-58B2C89F21E2}"/>
              </a:ext>
            </a:extLst>
          </p:cNvPr>
          <p:cNvSpPr/>
          <p:nvPr/>
        </p:nvSpPr>
        <p:spPr>
          <a:xfrm>
            <a:off x="3180895" y="1418359"/>
            <a:ext cx="2665780" cy="1474119"/>
          </a:xfrm>
          <a:prstGeom prst="roundRect">
            <a:avLst/>
          </a:prstGeom>
          <a:solidFill>
            <a:srgbClr val="24272A"/>
          </a:solidFill>
          <a:ln w="1524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800" b="1" dirty="0">
                <a:solidFill>
                  <a:srgbClr val="70ACE8"/>
                </a:solidFill>
                <a:latin typeface="Arial"/>
              </a:rPr>
              <a:t>2</a:t>
            </a:r>
          </a:p>
          <a:p>
            <a:pPr algn="ctr"/>
            <a:r>
              <a:rPr sz="1700" dirty="0">
                <a:solidFill>
                  <a:srgbClr val="F5F5F5"/>
                </a:solidFill>
                <a:latin typeface="Arial"/>
              </a:rPr>
              <a:t>Generate treatment T using C + other factors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6760354F-5560-A6C6-C826-544AF6880C19}"/>
              </a:ext>
            </a:extLst>
          </p:cNvPr>
          <p:cNvSpPr/>
          <p:nvPr/>
        </p:nvSpPr>
        <p:spPr>
          <a:xfrm>
            <a:off x="5999018" y="1418358"/>
            <a:ext cx="2859364" cy="1474119"/>
          </a:xfrm>
          <a:prstGeom prst="roundRect">
            <a:avLst/>
          </a:prstGeom>
          <a:solidFill>
            <a:srgbClr val="24272A"/>
          </a:solidFill>
          <a:ln w="15240">
            <a:solidFill>
              <a:srgbClr val="F6B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800" b="1" dirty="0">
                <a:solidFill>
                  <a:srgbClr val="F6B62F"/>
                </a:solidFill>
                <a:latin typeface="Arial"/>
              </a:rPr>
              <a:t>3</a:t>
            </a:r>
          </a:p>
          <a:p>
            <a:pPr algn="ctr"/>
            <a:r>
              <a:rPr sz="1700" dirty="0">
                <a:solidFill>
                  <a:srgbClr val="F5F5F5"/>
                </a:solidFill>
                <a:latin typeface="Arial"/>
              </a:rPr>
              <a:t>Generate outcome Y using T, C + other factors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03716F4-61D6-92A5-7389-825454DB7D9C}"/>
              </a:ext>
            </a:extLst>
          </p:cNvPr>
          <p:cNvSpPr txBox="1"/>
          <p:nvPr/>
        </p:nvSpPr>
        <p:spPr>
          <a:xfrm>
            <a:off x="412702" y="3957478"/>
            <a:ext cx="8567437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000" b="1" dirty="0">
                <a:solidFill>
                  <a:srgbClr val="F5F5F5"/>
                </a:solidFill>
                <a:latin typeface="Arial"/>
              </a:rPr>
              <a:t>Each recipe says: “given the direct causes of this variable, how is this variable produced?”</a:t>
            </a:r>
          </a:p>
        </p:txBody>
      </p:sp>
    </p:spTree>
    <p:extLst>
      <p:ext uri="{BB962C8B-B14F-4D97-AF65-F5344CB8AC3E}">
        <p14:creationId xmlns:p14="http://schemas.microsoft.com/office/powerpoint/2010/main" val="1086218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9492C-19DA-B920-9027-2C9930789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4D0CF-6A33-6C78-ABE1-5C3FBCC7F08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U Variables 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128C4B5E-3EBE-4240-2264-D75307519FD1}"/>
              </a:ext>
            </a:extLst>
          </p:cNvPr>
          <p:cNvSpPr txBox="1"/>
          <p:nvPr/>
        </p:nvSpPr>
        <p:spPr>
          <a:xfrm>
            <a:off x="228503" y="855726"/>
            <a:ext cx="86869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sz="1800" dirty="0">
                <a:solidFill>
                  <a:srgbClr val="70ACE8"/>
                </a:solidFill>
                <a:latin typeface="Arial"/>
              </a:rPr>
              <a:t>U means background factors not explicitly represented as nodes in our simple DAG</a:t>
            </a:r>
            <a:r>
              <a:rPr lang="en-US" sz="1800" dirty="0">
                <a:solidFill>
                  <a:srgbClr val="70ACE8"/>
                </a:solidFill>
                <a:latin typeface="Arial"/>
              </a:rPr>
              <a:t>.</a:t>
            </a:r>
            <a:endParaRPr sz="1800" dirty="0">
              <a:solidFill>
                <a:srgbClr val="70ACE8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3">
                <a:extLst>
                  <a:ext uri="{FF2B5EF4-FFF2-40B4-BE49-F238E27FC236}">
                    <a16:creationId xmlns:a16="http://schemas.microsoft.com/office/drawing/2014/main" id="{C6B96338-9CB7-6DBD-3EC0-69850660083D}"/>
                  </a:ext>
                </a:extLst>
              </p:cNvPr>
              <p:cNvSpPr/>
              <p:nvPr/>
            </p:nvSpPr>
            <p:spPr>
              <a:xfrm>
                <a:off x="169188" y="1660121"/>
                <a:ext cx="2880456" cy="1304752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8C2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1800" b="1" i="1" dirty="0" smtClean="0">
                              <a:solidFill>
                                <a:srgbClr val="78C28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1" i="1" dirty="0" smtClean="0">
                              <a:solidFill>
                                <a:srgbClr val="78C28C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ar-AE" sz="1800" b="1" i="1" dirty="0" smtClean="0">
                              <a:solidFill>
                                <a:srgbClr val="78C28C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ar-AE" sz="1800" b="1" dirty="0">
                  <a:solidFill>
                    <a:srgbClr val="78C28C"/>
                  </a:solidFill>
                  <a:latin typeface="Arial"/>
                </a:endParaRPr>
              </a:p>
              <a:p>
                <a:pPr algn="ctr"/>
                <a:r>
                  <a:rPr lang="en-US" sz="1600" dirty="0">
                    <a:solidFill>
                      <a:srgbClr val="F5F5F5"/>
                    </a:solidFill>
                    <a:latin typeface="Arial"/>
                  </a:rPr>
                  <a:t>genetics, long-term history, measurement noise</a:t>
                </a:r>
                <a:endParaRPr sz="16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8" name="Rounded Rectangle 3">
                <a:extLst>
                  <a:ext uri="{FF2B5EF4-FFF2-40B4-BE49-F238E27FC236}">
                    <a16:creationId xmlns:a16="http://schemas.microsoft.com/office/drawing/2014/main" id="{C6B96338-9CB7-6DBD-3EC0-6985066008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8" y="1660121"/>
                <a:ext cx="2880456" cy="130475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5240">
                <a:solidFill>
                  <a:srgbClr val="78C28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4">
                <a:extLst>
                  <a:ext uri="{FF2B5EF4-FFF2-40B4-BE49-F238E27FC236}">
                    <a16:creationId xmlns:a16="http://schemas.microsoft.com/office/drawing/2014/main" id="{7BD77882-41AE-BF18-D4F9-D1648665A92E}"/>
                  </a:ext>
                </a:extLst>
              </p:cNvPr>
              <p:cNvSpPr/>
              <p:nvPr/>
            </p:nvSpPr>
            <p:spPr>
              <a:xfrm>
                <a:off x="3171386" y="1660121"/>
                <a:ext cx="2880456" cy="1304752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0AC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1800" b="1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1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ar-AE" sz="1800" b="1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lang="ar-AE" sz="1800" b="1" dirty="0">
                  <a:solidFill>
                    <a:srgbClr val="70ACE8"/>
                  </a:solidFill>
                  <a:latin typeface="Arial"/>
                </a:endParaRPr>
              </a:p>
              <a:p>
                <a:pPr algn="ctr"/>
                <a:r>
                  <a:rPr lang="en-US" sz="1600" dirty="0">
                    <a:solidFill>
                      <a:srgbClr val="F5F5F5"/>
                    </a:solidFill>
                    <a:latin typeface="Arial"/>
                  </a:rPr>
                  <a:t>clinician preference, logistics, patient choice</a:t>
                </a:r>
                <a:endParaRPr sz="16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9" name="Rounded Rectangle 4">
                <a:extLst>
                  <a:ext uri="{FF2B5EF4-FFF2-40B4-BE49-F238E27FC236}">
                    <a16:creationId xmlns:a16="http://schemas.microsoft.com/office/drawing/2014/main" id="{7BD77882-41AE-BF18-D4F9-D1648665A9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386" y="1660121"/>
                <a:ext cx="2880456" cy="130475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5240">
                <a:solidFill>
                  <a:srgbClr val="70ACE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5">
                <a:extLst>
                  <a:ext uri="{FF2B5EF4-FFF2-40B4-BE49-F238E27FC236}">
                    <a16:creationId xmlns:a16="http://schemas.microsoft.com/office/drawing/2014/main" id="{192CE70E-E915-756B-C2C6-729EF2BCE3F9}"/>
                  </a:ext>
                </a:extLst>
              </p:cNvPr>
              <p:cNvSpPr/>
              <p:nvPr/>
            </p:nvSpPr>
            <p:spPr>
              <a:xfrm>
                <a:off x="6173585" y="1660121"/>
                <a:ext cx="2880456" cy="1304752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F6B62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1800" b="1" i="1" dirty="0" smtClean="0">
                              <a:solidFill>
                                <a:srgbClr val="F6B6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1" i="1" dirty="0" smtClean="0">
                              <a:solidFill>
                                <a:srgbClr val="F6B62F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ar-AE" sz="1800" b="1" i="1" dirty="0" smtClean="0">
                              <a:solidFill>
                                <a:srgbClr val="F6B62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</m:oMath>
                  </m:oMathPara>
                </a14:m>
                <a:endParaRPr lang="ar-AE" sz="1800" b="1" dirty="0">
                  <a:solidFill>
                    <a:srgbClr val="F6B62F"/>
                  </a:solidFill>
                  <a:latin typeface="Arial"/>
                </a:endParaRPr>
              </a:p>
              <a:p>
                <a:pPr algn="ctr"/>
                <a:r>
                  <a:rPr lang="en-US" sz="1600" dirty="0">
                    <a:solidFill>
                      <a:srgbClr val="F5F5F5"/>
                    </a:solidFill>
                    <a:latin typeface="Arial"/>
                  </a:rPr>
                  <a:t>other causes of the outcome</a:t>
                </a:r>
                <a:endParaRPr sz="16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0" name="Rounded Rectangle 5">
                <a:extLst>
                  <a:ext uri="{FF2B5EF4-FFF2-40B4-BE49-F238E27FC236}">
                    <a16:creationId xmlns:a16="http://schemas.microsoft.com/office/drawing/2014/main" id="{192CE70E-E915-756B-C2C6-729EF2BCE3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585" y="1660121"/>
                <a:ext cx="2880456" cy="130475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5240">
                <a:solidFill>
                  <a:srgbClr val="F6B62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6">
            <a:extLst>
              <a:ext uri="{FF2B5EF4-FFF2-40B4-BE49-F238E27FC236}">
                <a16:creationId xmlns:a16="http://schemas.microsoft.com/office/drawing/2014/main" id="{8DB50717-971F-0FDA-35B0-6089895B50F3}"/>
              </a:ext>
            </a:extLst>
          </p:cNvPr>
          <p:cNvSpPr txBox="1"/>
          <p:nvPr/>
        </p:nvSpPr>
        <p:spPr>
          <a:xfrm>
            <a:off x="169188" y="3502899"/>
            <a:ext cx="8803178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We use U because no model includes every cause in the universe.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00E780C8-F66A-C86C-36ED-B6C21E5E2C63}"/>
              </a:ext>
            </a:extLst>
          </p:cNvPr>
          <p:cNvSpPr txBox="1"/>
          <p:nvPr/>
        </p:nvSpPr>
        <p:spPr>
          <a:xfrm>
            <a:off x="228502" y="4268449"/>
            <a:ext cx="8686993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000" b="0" dirty="0">
                <a:solidFill>
                  <a:srgbClr val="C8CDD2"/>
                </a:solidFill>
                <a:latin typeface="Arial"/>
              </a:rPr>
              <a:t>Important: a U variable can be measured or unmeasured in reality. Here it simply means “outside the simplified system we drew.”</a:t>
            </a:r>
          </a:p>
        </p:txBody>
      </p:sp>
    </p:spTree>
    <p:extLst>
      <p:ext uri="{BB962C8B-B14F-4D97-AF65-F5344CB8AC3E}">
        <p14:creationId xmlns:p14="http://schemas.microsoft.com/office/powerpoint/2010/main" val="2531067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3E88-A9DC-9870-EFBE-2E6330435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FD56C5-8546-7917-FCCA-7EBDD2796CB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Treatment Assignment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157CF0-D615-B950-C898-870105CC1FEF}"/>
                  </a:ext>
                </a:extLst>
              </p:cNvPr>
              <p:cNvSpPr txBox="1"/>
              <p:nvPr/>
            </p:nvSpPr>
            <p:spPr>
              <a:xfrm>
                <a:off x="1717964" y="1274908"/>
                <a:ext cx="5029200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2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2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 := </m:t>
                      </m:r>
                      <m:sSub>
                        <m:sSubPr>
                          <m:ctrlPr>
                            <a:rPr lang="en-US" sz="32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2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32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2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32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32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200" b="0" dirty="0">
                  <a:solidFill>
                    <a:srgbClr val="70ACE8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157CF0-D615-B950-C898-870105CC1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964" y="1274908"/>
                <a:ext cx="5029200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0377766-11DC-1A4D-0454-B454698045A9}"/>
              </a:ext>
            </a:extLst>
          </p:cNvPr>
          <p:cNvSpPr txBox="1"/>
          <p:nvPr/>
        </p:nvSpPr>
        <p:spPr>
          <a:xfrm>
            <a:off x="505691" y="2187702"/>
            <a:ext cx="7315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100" b="1" dirty="0">
                <a:solidFill>
                  <a:srgbClr val="F6B62F"/>
                </a:solidFill>
                <a:latin typeface="Arial"/>
              </a:rPr>
              <a:t>This does NOT mean treatment is random.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9419E634-892F-9874-4557-B0BF8EB7AFBB}"/>
                  </a:ext>
                </a:extLst>
              </p:cNvPr>
              <p:cNvSpPr txBox="1"/>
              <p:nvPr/>
            </p:nvSpPr>
            <p:spPr>
              <a:xfrm>
                <a:off x="374071" y="2954192"/>
                <a:ext cx="8285019" cy="70788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:r>
                  <a:rPr lang="en-US" sz="2000" b="0" dirty="0">
                    <a:solidFill>
                      <a:srgbClr val="F5F5F5"/>
                    </a:solidFill>
                    <a:latin typeface="Arial"/>
                  </a:rPr>
                  <a:t>It says treatment is produced by some rule that can depend on baseline severity C and other treatment-related factors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0" i="1" dirty="0" smtClean="0">
                            <a:solidFill>
                              <a:srgbClr val="F5F5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0" i="1" dirty="0" smtClean="0">
                            <a:solidFill>
                              <a:srgbClr val="F5F5F5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sz="2000" b="0" i="1" dirty="0" smtClean="0">
                            <a:solidFill>
                              <a:srgbClr val="F5F5F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ar-AE" sz="2000" b="0" dirty="0">
                    <a:solidFill>
                      <a:srgbClr val="F5F5F5"/>
                    </a:solidFill>
                    <a:latin typeface="Arial"/>
                  </a:rPr>
                  <a:t>.</a:t>
                </a:r>
                <a:endParaRPr sz="2000" b="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9419E634-892F-9874-4557-B0BF8EB7A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71" y="2954192"/>
                <a:ext cx="8285019" cy="707886"/>
              </a:xfrm>
              <a:prstGeom prst="rect">
                <a:avLst/>
              </a:prstGeom>
              <a:blipFill>
                <a:blip r:embed="rId3"/>
                <a:stretch>
                  <a:fillRect l="-368" t="-4310" r="-1251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5">
                <a:extLst>
                  <a:ext uri="{FF2B5EF4-FFF2-40B4-BE49-F238E27FC236}">
                    <a16:creationId xmlns:a16="http://schemas.microsoft.com/office/drawing/2014/main" id="{7D6F62E5-EEE1-7088-8813-320D713B6297}"/>
                  </a:ext>
                </a:extLst>
              </p:cNvPr>
              <p:cNvSpPr/>
              <p:nvPr/>
            </p:nvSpPr>
            <p:spPr>
              <a:xfrm>
                <a:off x="1717965" y="4044519"/>
                <a:ext cx="5590308" cy="707886"/>
              </a:xfrm>
              <a:prstGeom prst="roundRect">
                <a:avLst/>
              </a:prstGeom>
              <a:solidFill>
                <a:srgbClr val="222427"/>
              </a:solidFill>
              <a:ln w="19050">
                <a:solidFill>
                  <a:srgbClr val="70AC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09728" rIns="109728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ar-AE" sz="2400" b="1" i="1" dirty="0" smtClean="0">
                            <a:solidFill>
                              <a:srgbClr val="70ACE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 dirty="0" smtClean="0">
                            <a:solidFill>
                              <a:srgbClr val="70ACE8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ar-AE" sz="2400" b="1" i="1" dirty="0" smtClean="0">
                            <a:solidFill>
                              <a:srgbClr val="70ACE8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70ACE8"/>
                    </a:solidFill>
                    <a:latin typeface="Arial"/>
                  </a:rPr>
                  <a:t> = Treatment Decision Rule</a:t>
                </a:r>
                <a:endParaRPr sz="2400" b="1" dirty="0">
                  <a:solidFill>
                    <a:srgbClr val="70ACE8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7" name="Rounded Rectangle 5">
                <a:extLst>
                  <a:ext uri="{FF2B5EF4-FFF2-40B4-BE49-F238E27FC236}">
                    <a16:creationId xmlns:a16="http://schemas.microsoft.com/office/drawing/2014/main" id="{7D6F62E5-EEE1-7088-8813-320D713B62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965" y="4044519"/>
                <a:ext cx="5590308" cy="70788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70ACE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205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ADAD3-0CD4-266A-35EA-67C31715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39F56D-59AE-2AFC-B8A9-F043AB7545B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Outcome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2">
                <a:extLst>
                  <a:ext uri="{FF2B5EF4-FFF2-40B4-BE49-F238E27FC236}">
                    <a16:creationId xmlns:a16="http://schemas.microsoft.com/office/drawing/2014/main" id="{95AEAB73-D5BB-2996-BBAD-28C76526C54D}"/>
                  </a:ext>
                </a:extLst>
              </p:cNvPr>
              <p:cNvSpPr txBox="1"/>
              <p:nvPr/>
            </p:nvSpPr>
            <p:spPr>
              <a:xfrm>
                <a:off x="1404825" y="1110187"/>
                <a:ext cx="6217920" cy="55399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0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30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 = 120 + 10</m:t>
                      </m:r>
                      <m:r>
                        <a:rPr lang="en-US" sz="30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0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 − 6</m:t>
                      </m:r>
                      <m:r>
                        <a:rPr lang="en-US" sz="30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0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3000" b="0" i="1" dirty="0" smtClean="0">
                              <a:solidFill>
                                <a:srgbClr val="F6B6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dirty="0" smtClean="0">
                              <a:solidFill>
                                <a:srgbClr val="F6B62F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000" b="0" i="1" dirty="0" smtClean="0">
                              <a:solidFill>
                                <a:srgbClr val="F6B62F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sz="3000" b="0" dirty="0">
                  <a:solidFill>
                    <a:srgbClr val="F6B62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5" name="TextBox 2">
                <a:extLst>
                  <a:ext uri="{FF2B5EF4-FFF2-40B4-BE49-F238E27FC236}">
                    <a16:creationId xmlns:a16="http://schemas.microsoft.com/office/drawing/2014/main" id="{95AEAB73-D5BB-2996-BBAD-28C76526C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825" y="1110187"/>
                <a:ext cx="6217920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3">
            <a:extLst>
              <a:ext uri="{FF2B5EF4-FFF2-40B4-BE49-F238E27FC236}">
                <a16:creationId xmlns:a16="http://schemas.microsoft.com/office/drawing/2014/main" id="{99FC62BC-F49F-9814-1D68-503772F8959E}"/>
              </a:ext>
            </a:extLst>
          </p:cNvPr>
          <p:cNvSpPr txBox="1"/>
          <p:nvPr/>
        </p:nvSpPr>
        <p:spPr>
          <a:xfrm>
            <a:off x="2947025" y="2469809"/>
            <a:ext cx="364081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800" b="1" dirty="0">
                <a:solidFill>
                  <a:srgbClr val="70ACE8"/>
                </a:solidFill>
                <a:latin typeface="Arial"/>
              </a:rPr>
              <a:t>One possible numerical rule: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4">
                <a:extLst>
                  <a:ext uri="{FF2B5EF4-FFF2-40B4-BE49-F238E27FC236}">
                    <a16:creationId xmlns:a16="http://schemas.microsoft.com/office/drawing/2014/main" id="{358C9EFA-F3B8-9DEA-9711-E77E9FD50873}"/>
                  </a:ext>
                </a:extLst>
              </p:cNvPr>
              <p:cNvSpPr txBox="1"/>
              <p:nvPr/>
            </p:nvSpPr>
            <p:spPr>
              <a:xfrm>
                <a:off x="256310" y="3193816"/>
                <a:ext cx="8797636" cy="1107996"/>
              </a:xfrm>
              <a:prstGeom prst="rect">
                <a:avLst/>
              </a:prstGeom>
              <a:noFill/>
            </p:spPr>
            <p:txBody>
              <a:bodyPr wrap="square" lIns="73152" rIns="4572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34290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800">
                    <a:solidFill>
                      <a:srgbClr val="F5F5F5"/>
                    </a:solidFill>
                    <a:latin typeface="Arial"/>
                  </a:defRPr>
                </a:pPr>
                <a:r>
                  <a:rPr lang="en-US" sz="2200" dirty="0"/>
                  <a:t>Every 1-unit increase in baseline severity raises Y by 10 units.</a:t>
                </a:r>
              </a:p>
              <a:p>
                <a:pPr marL="34290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800">
                    <a:solidFill>
                      <a:srgbClr val="F5F5F5"/>
                    </a:solidFill>
                    <a:latin typeface="Arial"/>
                  </a:defRPr>
                </a:pPr>
                <a:r>
                  <a:rPr lang="en-US" sz="2200" dirty="0"/>
                  <a:t>Treatment lowers Y by 6 units, holding the other causes fixed.</a:t>
                </a:r>
              </a:p>
              <a:p>
                <a:pPr marL="34290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800">
                    <a:solidFill>
                      <a:srgbClr val="F5F5F5"/>
                    </a:solidFill>
                    <a:latin typeface="Arial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sz="22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ar-AE" sz="2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represents other causes of Y not shown explicitly.</a:t>
                </a:r>
                <a:endParaRPr sz="2200" dirty="0"/>
              </a:p>
            </p:txBody>
          </p:sp>
        </mc:Choice>
        <mc:Fallback xmlns="">
          <p:sp>
            <p:nvSpPr>
              <p:cNvPr id="9" name="TextBox 4">
                <a:extLst>
                  <a:ext uri="{FF2B5EF4-FFF2-40B4-BE49-F238E27FC236}">
                    <a16:creationId xmlns:a16="http://schemas.microsoft.com/office/drawing/2014/main" id="{358C9EFA-F3B8-9DEA-9711-E77E9FD50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10" y="3193816"/>
                <a:ext cx="8797636" cy="1107996"/>
              </a:xfrm>
              <a:prstGeom prst="rect">
                <a:avLst/>
              </a:prstGeom>
              <a:blipFill>
                <a:blip r:embed="rId3"/>
                <a:stretch>
                  <a:fillRect l="-970" t="-3297" b="-10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2063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0A90D-3B28-6299-CD18-2C3B87E04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20A24C-78DD-703B-000B-9F4C8E7086E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What makes an SCM causal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35E07EFA-AE34-7DFB-1584-F9EA08A28E29}"/>
              </a:ext>
            </a:extLst>
          </p:cNvPr>
          <p:cNvSpPr txBox="1"/>
          <p:nvPr/>
        </p:nvSpPr>
        <p:spPr>
          <a:xfrm>
            <a:off x="642959" y="1113279"/>
            <a:ext cx="7858081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400" b="1" dirty="0">
                <a:solidFill>
                  <a:srgbClr val="70ACE8"/>
                </a:solidFill>
                <a:latin typeface="Arial"/>
              </a:rPr>
              <a:t>A regression can describe association.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209C31C3-16B7-A87F-A637-FA8EB14C9777}"/>
              </a:ext>
            </a:extLst>
          </p:cNvPr>
          <p:cNvSpPr txBox="1"/>
          <p:nvPr/>
        </p:nvSpPr>
        <p:spPr>
          <a:xfrm>
            <a:off x="584744" y="1790639"/>
            <a:ext cx="7858081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400" b="1" dirty="0">
                <a:solidFill>
                  <a:srgbClr val="F6B62F"/>
                </a:solidFill>
                <a:latin typeface="Arial"/>
              </a:rPr>
              <a:t>An SCM makes an additional scientific claim:</a:t>
            </a: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72396AAE-6B3A-C9FC-A1ED-E8E44EA3FEC8}"/>
              </a:ext>
            </a:extLst>
          </p:cNvPr>
          <p:cNvSpPr/>
          <p:nvPr/>
        </p:nvSpPr>
        <p:spPr>
          <a:xfrm>
            <a:off x="512618" y="2598007"/>
            <a:ext cx="8118764" cy="1432214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400" b="1" dirty="0">
                <a:solidFill>
                  <a:srgbClr val="78C28C"/>
                </a:solidFill>
                <a:latin typeface="Arial"/>
              </a:rPr>
              <a:t>If we externally change one variable, the other generating rules remain the rules of the system.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C8B8B680-1B7C-EA3D-21BD-8F547F550272}"/>
              </a:ext>
            </a:extLst>
          </p:cNvPr>
          <p:cNvSpPr txBox="1"/>
          <p:nvPr/>
        </p:nvSpPr>
        <p:spPr>
          <a:xfrm>
            <a:off x="512618" y="4327433"/>
            <a:ext cx="829194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000" b="1" dirty="0">
                <a:solidFill>
                  <a:srgbClr val="F5F5F5"/>
                </a:solidFill>
                <a:latin typeface="Arial"/>
              </a:rPr>
              <a:t>That is what allows the model to answer intervention questions.</a:t>
            </a:r>
          </a:p>
        </p:txBody>
      </p:sp>
    </p:spTree>
    <p:extLst>
      <p:ext uri="{BB962C8B-B14F-4D97-AF65-F5344CB8AC3E}">
        <p14:creationId xmlns:p14="http://schemas.microsoft.com/office/powerpoint/2010/main" val="2417111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31FF1-D539-9143-8402-C925E927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C4C738-2A5A-3342-CA95-34E2061D105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Key Operation: Intervention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F66AF610-5D0D-B63B-78FA-022698497A2A}"/>
              </a:ext>
            </a:extLst>
          </p:cNvPr>
          <p:cNvSpPr txBox="1"/>
          <p:nvPr/>
        </p:nvSpPr>
        <p:spPr>
          <a:xfrm>
            <a:off x="731521" y="11525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2000" b="1" dirty="0">
                <a:solidFill>
                  <a:srgbClr val="70ACE8"/>
                </a:solidFill>
                <a:latin typeface="Arial"/>
              </a:rPr>
              <a:t>Normal observational world: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3">
                <a:extLst>
                  <a:ext uri="{FF2B5EF4-FFF2-40B4-BE49-F238E27FC236}">
                    <a16:creationId xmlns:a16="http://schemas.microsoft.com/office/drawing/2014/main" id="{A4390FF1-30D5-743B-26DE-DD46BC8BBC91}"/>
                  </a:ext>
                </a:extLst>
              </p:cNvPr>
              <p:cNvSpPr txBox="1"/>
              <p:nvPr/>
            </p:nvSpPr>
            <p:spPr>
              <a:xfrm>
                <a:off x="731520" y="1695141"/>
                <a:ext cx="3474720" cy="5078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7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7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27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7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7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7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7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7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7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7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700" b="0" dirty="0">
                  <a:solidFill>
                    <a:srgbClr val="70ACE8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9" name="TextBox 3">
                <a:extLst>
                  <a:ext uri="{FF2B5EF4-FFF2-40B4-BE49-F238E27FC236}">
                    <a16:creationId xmlns:a16="http://schemas.microsoft.com/office/drawing/2014/main" id="{A4390FF1-30D5-743B-26DE-DD46BC8BB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695141"/>
                <a:ext cx="3474720" cy="5078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4">
            <a:extLst>
              <a:ext uri="{FF2B5EF4-FFF2-40B4-BE49-F238E27FC236}">
                <a16:creationId xmlns:a16="http://schemas.microsoft.com/office/drawing/2014/main" id="{E78861E9-E84D-C799-6E1F-AF04A7073166}"/>
              </a:ext>
            </a:extLst>
          </p:cNvPr>
          <p:cNvSpPr txBox="1"/>
          <p:nvPr/>
        </p:nvSpPr>
        <p:spPr>
          <a:xfrm>
            <a:off x="731520" y="2419697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800" b="0" dirty="0">
                <a:solidFill>
                  <a:srgbClr val="F5F5F5"/>
                </a:solidFill>
                <a:latin typeface="Arial"/>
              </a:rPr>
              <a:t>Treatment follows the usual decision process.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7ECB8CFB-5EB3-3AAA-C015-CD7407E57C5A}"/>
              </a:ext>
            </a:extLst>
          </p:cNvPr>
          <p:cNvSpPr txBox="1"/>
          <p:nvPr/>
        </p:nvSpPr>
        <p:spPr>
          <a:xfrm>
            <a:off x="4937761" y="11525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2000" b="1" dirty="0">
                <a:solidFill>
                  <a:srgbClr val="78C28C"/>
                </a:solidFill>
                <a:latin typeface="Arial"/>
              </a:rPr>
              <a:t>Intervention world: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6">
                <a:extLst>
                  <a:ext uri="{FF2B5EF4-FFF2-40B4-BE49-F238E27FC236}">
                    <a16:creationId xmlns:a16="http://schemas.microsoft.com/office/drawing/2014/main" id="{D3B597D7-A2CD-D548-9C56-7D85285EEA74}"/>
                  </a:ext>
                </a:extLst>
              </p:cNvPr>
              <p:cNvSpPr txBox="1"/>
              <p:nvPr/>
            </p:nvSpPr>
            <p:spPr>
              <a:xfrm>
                <a:off x="4754880" y="1719436"/>
                <a:ext cx="3474720" cy="569387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100" b="0" i="1" dirty="0" smtClean="0">
                          <a:solidFill>
                            <a:srgbClr val="78C28C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100" b="0" i="1" dirty="0" smtClean="0">
                          <a:solidFill>
                            <a:srgbClr val="78C28C"/>
                          </a:solidFill>
                          <a:latin typeface="Cambria Math" panose="02040503050406030204" pitchFamily="18" charset="0"/>
                        </a:rPr>
                        <m:t> := 1</m:t>
                      </m:r>
                    </m:oMath>
                  </m:oMathPara>
                </a14:m>
                <a:endParaRPr sz="3100" b="0" dirty="0">
                  <a:solidFill>
                    <a:srgbClr val="78C28C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2" name="TextBox 6">
                <a:extLst>
                  <a:ext uri="{FF2B5EF4-FFF2-40B4-BE49-F238E27FC236}">
                    <a16:creationId xmlns:a16="http://schemas.microsoft.com/office/drawing/2014/main" id="{D3B597D7-A2CD-D548-9C56-7D85285EE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1719436"/>
                <a:ext cx="3474720" cy="5693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7">
            <a:extLst>
              <a:ext uri="{FF2B5EF4-FFF2-40B4-BE49-F238E27FC236}">
                <a16:creationId xmlns:a16="http://schemas.microsoft.com/office/drawing/2014/main" id="{ACEDCA5F-1AB9-E0E8-9E0E-86A85F0FB066}"/>
              </a:ext>
            </a:extLst>
          </p:cNvPr>
          <p:cNvSpPr txBox="1"/>
          <p:nvPr/>
        </p:nvSpPr>
        <p:spPr>
          <a:xfrm>
            <a:off x="4754880" y="2419697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800" b="0" dirty="0">
                <a:solidFill>
                  <a:srgbClr val="F5F5F5"/>
                </a:solidFill>
                <a:latin typeface="Arial"/>
              </a:rPr>
              <a:t>We replace the treatment rule and force treatment to 1.</a:t>
            </a: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5B35BB3D-FC62-5D7E-14B5-36E2AE0FD1D5}"/>
              </a:ext>
            </a:extLst>
          </p:cNvPr>
          <p:cNvSpPr/>
          <p:nvPr/>
        </p:nvSpPr>
        <p:spPr>
          <a:xfrm>
            <a:off x="1112521" y="3748765"/>
            <a:ext cx="6553199" cy="685801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400" b="1" dirty="0">
                <a:solidFill>
                  <a:srgbClr val="FDBB30"/>
                </a:solidFill>
                <a:latin typeface="Arial"/>
              </a:rPr>
              <a:t>Everything else in the SCM stays the same.</a:t>
            </a:r>
          </a:p>
        </p:txBody>
      </p:sp>
    </p:spTree>
    <p:extLst>
      <p:ext uri="{BB962C8B-B14F-4D97-AF65-F5344CB8AC3E}">
        <p14:creationId xmlns:p14="http://schemas.microsoft.com/office/powerpoint/2010/main" val="2814133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6A83-451C-0F8B-47E0-4BA797FA0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DA858E-F9A8-5CDD-17EB-3EC2CFCACB5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Do Calculus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E0DED-F407-22BF-8F1C-10B425FA58B5}"/>
              </a:ext>
            </a:extLst>
          </p:cNvPr>
          <p:cNvSpPr txBox="1"/>
          <p:nvPr/>
        </p:nvSpPr>
        <p:spPr>
          <a:xfrm>
            <a:off x="169188" y="1526843"/>
            <a:ext cx="3007822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3400" b="0">
                <a:solidFill>
                  <a:srgbClr val="78C28C"/>
                </a:solidFill>
                <a:latin typeface="Cambria Math"/>
              </a:rPr>
              <a:t>do(T = 1)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CD3687E-856C-F63C-63BE-B854EA246120}"/>
              </a:ext>
            </a:extLst>
          </p:cNvPr>
          <p:cNvSpPr txBox="1"/>
          <p:nvPr/>
        </p:nvSpPr>
        <p:spPr>
          <a:xfrm>
            <a:off x="2426091" y="1057894"/>
            <a:ext cx="6350765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000" b="1" dirty="0">
                <a:solidFill>
                  <a:srgbClr val="F5F5F5"/>
                </a:solidFill>
                <a:latin typeface="Arial"/>
              </a:rPr>
              <a:t>“Set treatment to 1 from outside the system.”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2E0067B-1D43-5A72-EABB-6E05EA22A14F}"/>
              </a:ext>
            </a:extLst>
          </p:cNvPr>
          <p:cNvSpPr txBox="1"/>
          <p:nvPr/>
        </p:nvSpPr>
        <p:spPr>
          <a:xfrm>
            <a:off x="2927467" y="1558203"/>
            <a:ext cx="5849389" cy="877163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5F5F5"/>
                </a:solidFill>
                <a:latin typeface="Arial"/>
              </a:defRPr>
            </a:pPr>
            <a:r>
              <a:rPr dirty="0"/>
              <a:t>Do not let baseline severity decide T.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5F5F5"/>
                </a:solidFill>
                <a:latin typeface="Arial"/>
              </a:defRPr>
            </a:pPr>
            <a:r>
              <a:rPr dirty="0"/>
              <a:t>Do not let clinician preference decide T.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5F5F5"/>
                </a:solidFill>
                <a:latin typeface="Arial"/>
              </a:defRPr>
            </a:pPr>
            <a:r>
              <a:rPr dirty="0"/>
              <a:t>Simply assign T = 1, then let the rest of the model run.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2F5E4DE6-7354-E883-D959-EEEEA1D22B04}"/>
              </a:ext>
            </a:extLst>
          </p:cNvPr>
          <p:cNvSpPr txBox="1"/>
          <p:nvPr/>
        </p:nvSpPr>
        <p:spPr>
          <a:xfrm>
            <a:off x="440574" y="2708135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900" b="1">
                <a:solidFill>
                  <a:srgbClr val="70ACE8"/>
                </a:solidFill>
                <a:latin typeface="Arial"/>
              </a:rPr>
              <a:t>Before intervention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7D8524C8-8347-E803-AEEC-58CA6B175816}"/>
              </a:ext>
            </a:extLst>
          </p:cNvPr>
          <p:cNvSpPr/>
          <p:nvPr/>
        </p:nvSpPr>
        <p:spPr>
          <a:xfrm>
            <a:off x="783474" y="3247631"/>
            <a:ext cx="914400" cy="56692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C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F813F5A1-8899-8051-EEF9-2028C70AF21A}"/>
              </a:ext>
            </a:extLst>
          </p:cNvPr>
          <p:cNvSpPr/>
          <p:nvPr/>
        </p:nvSpPr>
        <p:spPr>
          <a:xfrm>
            <a:off x="2795154" y="3247631"/>
            <a:ext cx="914400" cy="56692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T</a:t>
            </a: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0BEEF42C-7AF6-6AFF-03F1-E2904498919B}"/>
              </a:ext>
            </a:extLst>
          </p:cNvPr>
          <p:cNvSpPr/>
          <p:nvPr/>
        </p:nvSpPr>
        <p:spPr>
          <a:xfrm>
            <a:off x="1743594" y="4511870"/>
            <a:ext cx="914400" cy="56692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F6B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Y</a:t>
            </a:r>
          </a:p>
        </p:txBody>
      </p:sp>
      <p:cxnSp>
        <p:nvCxnSpPr>
          <p:cNvPr id="15" name="Connector 6">
            <a:extLst>
              <a:ext uri="{FF2B5EF4-FFF2-40B4-BE49-F238E27FC236}">
                <a16:creationId xmlns:a16="http://schemas.microsoft.com/office/drawing/2014/main" id="{F0AB5B7A-59FE-0F27-C0C9-CD9F00C70294}"/>
              </a:ext>
            </a:extLst>
          </p:cNvPr>
          <p:cNvCxnSpPr/>
          <p:nvPr/>
        </p:nvCxnSpPr>
        <p:spPr>
          <a:xfrm>
            <a:off x="1697874" y="3521951"/>
            <a:ext cx="1051560" cy="0"/>
          </a:xfrm>
          <a:prstGeom prst="line">
            <a:avLst/>
          </a:prstGeom>
          <a:ln w="27940">
            <a:solidFill>
              <a:srgbClr val="78C28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7">
            <a:extLst>
              <a:ext uri="{FF2B5EF4-FFF2-40B4-BE49-F238E27FC236}">
                <a16:creationId xmlns:a16="http://schemas.microsoft.com/office/drawing/2014/main" id="{633394EC-4868-8308-4755-4656AD3AF5E3}"/>
              </a:ext>
            </a:extLst>
          </p:cNvPr>
          <p:cNvCxnSpPr>
            <a:cxnSpLocks/>
          </p:cNvCxnSpPr>
          <p:nvPr/>
        </p:nvCxnSpPr>
        <p:spPr>
          <a:xfrm flipV="1">
            <a:off x="2331076" y="3821418"/>
            <a:ext cx="784118" cy="690452"/>
          </a:xfrm>
          <a:prstGeom prst="line">
            <a:avLst/>
          </a:prstGeom>
          <a:ln w="27940">
            <a:solidFill>
              <a:srgbClr val="70ACE8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8">
            <a:extLst>
              <a:ext uri="{FF2B5EF4-FFF2-40B4-BE49-F238E27FC236}">
                <a16:creationId xmlns:a16="http://schemas.microsoft.com/office/drawing/2014/main" id="{2D554381-A50F-C8C6-E1FE-62AD77F26C45}"/>
              </a:ext>
            </a:extLst>
          </p:cNvPr>
          <p:cNvCxnSpPr>
            <a:cxnSpLocks/>
          </p:cNvCxnSpPr>
          <p:nvPr/>
        </p:nvCxnSpPr>
        <p:spPr>
          <a:xfrm flipH="1" flipV="1">
            <a:off x="1292628" y="3814559"/>
            <a:ext cx="771006" cy="697311"/>
          </a:xfrm>
          <a:prstGeom prst="line">
            <a:avLst/>
          </a:prstGeom>
          <a:ln w="27940">
            <a:solidFill>
              <a:srgbClr val="78C28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9">
            <a:extLst>
              <a:ext uri="{FF2B5EF4-FFF2-40B4-BE49-F238E27FC236}">
                <a16:creationId xmlns:a16="http://schemas.microsoft.com/office/drawing/2014/main" id="{8AB5D725-9A77-2C51-C428-2A06BA3F14E5}"/>
              </a:ext>
            </a:extLst>
          </p:cNvPr>
          <p:cNvSpPr txBox="1"/>
          <p:nvPr/>
        </p:nvSpPr>
        <p:spPr>
          <a:xfrm>
            <a:off x="4646814" y="2708135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900" b="1">
                <a:solidFill>
                  <a:srgbClr val="78C28C"/>
                </a:solidFill>
                <a:latin typeface="Arial"/>
              </a:rPr>
              <a:t>After do(T = 1)</a:t>
            </a:r>
          </a:p>
        </p:txBody>
      </p:sp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92757974-30C3-4714-09FB-4A09589ED422}"/>
              </a:ext>
            </a:extLst>
          </p:cNvPr>
          <p:cNvSpPr/>
          <p:nvPr/>
        </p:nvSpPr>
        <p:spPr>
          <a:xfrm>
            <a:off x="5022966" y="3247631"/>
            <a:ext cx="914400" cy="56692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C</a:t>
            </a:r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6585AEBD-EA3B-0262-2BF8-B7E71D15973A}"/>
              </a:ext>
            </a:extLst>
          </p:cNvPr>
          <p:cNvSpPr/>
          <p:nvPr/>
        </p:nvSpPr>
        <p:spPr>
          <a:xfrm>
            <a:off x="6943206" y="3247631"/>
            <a:ext cx="1005840" cy="56692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T=1</a:t>
            </a:r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7D86E13B-D912-B96C-1B76-18F0C43A4AA5}"/>
              </a:ext>
            </a:extLst>
          </p:cNvPr>
          <p:cNvSpPr/>
          <p:nvPr/>
        </p:nvSpPr>
        <p:spPr>
          <a:xfrm>
            <a:off x="5937366" y="4511870"/>
            <a:ext cx="914400" cy="56692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F6B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Y</a:t>
            </a:r>
          </a:p>
        </p:txBody>
      </p:sp>
      <p:cxnSp>
        <p:nvCxnSpPr>
          <p:cNvPr id="24" name="Connector 13">
            <a:extLst>
              <a:ext uri="{FF2B5EF4-FFF2-40B4-BE49-F238E27FC236}">
                <a16:creationId xmlns:a16="http://schemas.microsoft.com/office/drawing/2014/main" id="{88D4492F-4981-B715-4DD9-68BFE0C103F7}"/>
              </a:ext>
            </a:extLst>
          </p:cNvPr>
          <p:cNvCxnSpPr>
            <a:cxnSpLocks/>
          </p:cNvCxnSpPr>
          <p:nvPr/>
        </p:nvCxnSpPr>
        <p:spPr>
          <a:xfrm flipV="1">
            <a:off x="6593983" y="3830637"/>
            <a:ext cx="852143" cy="681233"/>
          </a:xfrm>
          <a:prstGeom prst="line">
            <a:avLst/>
          </a:prstGeom>
          <a:ln w="27940">
            <a:solidFill>
              <a:srgbClr val="78C28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4">
            <a:extLst>
              <a:ext uri="{FF2B5EF4-FFF2-40B4-BE49-F238E27FC236}">
                <a16:creationId xmlns:a16="http://schemas.microsoft.com/office/drawing/2014/main" id="{809A3985-B6E9-06D0-31B4-C96B7646FF49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5571606" y="3814559"/>
            <a:ext cx="822960" cy="697311"/>
          </a:xfrm>
          <a:prstGeom prst="line">
            <a:avLst/>
          </a:prstGeom>
          <a:ln w="27940">
            <a:solidFill>
              <a:srgbClr val="78C28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148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4315C-4721-416B-6B05-39193DD0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A3E72B-325F-9788-30E6-D4E4AA3DF9B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Intervention vs Conditioning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52BB6575-23BF-4B11-1523-C6E88F89409B}"/>
              </a:ext>
            </a:extLst>
          </p:cNvPr>
          <p:cNvSpPr/>
          <p:nvPr/>
        </p:nvSpPr>
        <p:spPr>
          <a:xfrm>
            <a:off x="277091" y="1428750"/>
            <a:ext cx="4157749" cy="2286000"/>
          </a:xfrm>
          <a:prstGeom prst="roundRect">
            <a:avLst/>
          </a:prstGeom>
          <a:solidFill>
            <a:srgbClr val="2D2F32"/>
          </a:solidFill>
          <a:ln w="1524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800" b="1" dirty="0">
                <a:solidFill>
                  <a:srgbClr val="70ACE8"/>
                </a:solidFill>
                <a:latin typeface="Arial"/>
              </a:rPr>
              <a:t>Conditioning: T = 1</a:t>
            </a:r>
          </a:p>
          <a:p>
            <a:pPr algn="ctr"/>
            <a:r>
              <a:rPr sz="1800" dirty="0">
                <a:solidFill>
                  <a:srgbClr val="F5F5F5"/>
                </a:solidFill>
                <a:latin typeface="Arial"/>
              </a:rPr>
              <a:t>Look at the people who happened to receive treatment.
Their baseline characteristics may differ from untreated people.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E0E7DBE8-1B0F-1E99-F0AB-D9CAAD48059B}"/>
              </a:ext>
            </a:extLst>
          </p:cNvPr>
          <p:cNvSpPr/>
          <p:nvPr/>
        </p:nvSpPr>
        <p:spPr>
          <a:xfrm>
            <a:off x="4709160" y="1428750"/>
            <a:ext cx="4247804" cy="2286000"/>
          </a:xfrm>
          <a:prstGeom prst="roundRect">
            <a:avLst/>
          </a:prstGeom>
          <a:solidFill>
            <a:srgbClr val="2D2F32"/>
          </a:solidFill>
          <a:ln w="1524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800" b="1">
                <a:solidFill>
                  <a:srgbClr val="78C28C"/>
                </a:solidFill>
                <a:latin typeface="Arial"/>
              </a:rPr>
              <a:t>Intervention: do(T = 1)</a:t>
            </a:r>
          </a:p>
          <a:p>
            <a:pPr algn="ctr"/>
            <a:r>
              <a:rPr sz="1800">
                <a:solidFill>
                  <a:srgbClr val="F5F5F5"/>
                </a:solidFill>
                <a:latin typeface="Arial"/>
              </a:rPr>
              <a:t>Force treatment to 1 for the target population.
The usual treatment-selection process is bypassed.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15834B74-D22E-E8FC-FF93-371A1EF3236F}"/>
                  </a:ext>
                </a:extLst>
              </p:cNvPr>
              <p:cNvSpPr/>
              <p:nvPr/>
            </p:nvSpPr>
            <p:spPr>
              <a:xfrm>
                <a:off x="941416" y="4072369"/>
                <a:ext cx="7410796" cy="655667"/>
              </a:xfrm>
              <a:prstGeom prst="roundRect">
                <a:avLst/>
              </a:prstGeom>
              <a:solidFill>
                <a:srgbClr val="222427"/>
              </a:solidFill>
              <a:ln w="19050">
                <a:solidFill>
                  <a:srgbClr val="FDBB3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09728" rIns="109728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sz="1900" b="1" dirty="0">
                    <a:solidFill>
                      <a:srgbClr val="FDBB30"/>
                    </a:solidFill>
                    <a:latin typeface="Arial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𝒅𝒐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sz="1900" b="1" dirty="0">
                    <a:solidFill>
                      <a:srgbClr val="FDBB30"/>
                    </a:solidFill>
                    <a:latin typeface="Arial"/>
                  </a:rPr>
                  <a:t> answer different questions.</a:t>
                </a:r>
              </a:p>
            </p:txBody>
          </p:sp>
        </mc:Choice>
        <mc:Fallback xmlns=""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15834B74-D22E-E8FC-FF93-371A1EF323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416" y="4072369"/>
                <a:ext cx="7410796" cy="65566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FDBB3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8825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CACE3-295F-1093-DAAF-20568CB2D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2A16D0-F08E-AF5C-9EBA-391C9406D36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Numerical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D7A3C-9F2D-CD98-74D1-A8D627C9113B}"/>
              </a:ext>
            </a:extLst>
          </p:cNvPr>
          <p:cNvSpPr txBox="1"/>
          <p:nvPr/>
        </p:nvSpPr>
        <p:spPr>
          <a:xfrm>
            <a:off x="731520" y="10972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70ACE8"/>
                </a:solidFill>
                <a:latin typeface="Arial"/>
              </a:rPr>
              <a:t>Outcome rule: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C20325-D1B2-E14C-F292-743D878FC95B}"/>
                  </a:ext>
                </a:extLst>
              </p:cNvPr>
              <p:cNvSpPr txBox="1"/>
              <p:nvPr/>
            </p:nvSpPr>
            <p:spPr>
              <a:xfrm>
                <a:off x="2194560" y="1003384"/>
                <a:ext cx="5029200" cy="5078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7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7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 = 120 + 10</m:t>
                      </m:r>
                      <m:r>
                        <a:rPr lang="en-US" sz="27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7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 − 6</m:t>
                      </m:r>
                      <m:r>
                        <a:rPr lang="en-US" sz="27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sz="2700" b="0" dirty="0">
                  <a:solidFill>
                    <a:srgbClr val="F6B62F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C20325-D1B2-E14C-F292-743D878FC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0" y="1003384"/>
                <a:ext cx="5029200" cy="5078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4">
                <a:extLst>
                  <a:ext uri="{FF2B5EF4-FFF2-40B4-BE49-F238E27FC236}">
                    <a16:creationId xmlns:a16="http://schemas.microsoft.com/office/drawing/2014/main" id="{E16BB86D-A835-2147-DE8B-2057FB4F23FD}"/>
                  </a:ext>
                </a:extLst>
              </p:cNvPr>
              <p:cNvSpPr/>
              <p:nvPr/>
            </p:nvSpPr>
            <p:spPr>
              <a:xfrm>
                <a:off x="822960" y="1874519"/>
                <a:ext cx="3749040" cy="1714502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8C2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78C28C"/>
                    </a:solidFill>
                    <a:latin typeface="Arial"/>
                  </a:rPr>
                  <a:t>Patient A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 = +1 (</m:t>
                      </m:r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𝑠𝑖𝑐𝑘𝑒𝑟</m:t>
                      </m:r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9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1" name="Rounded Rectangle 4">
                <a:extLst>
                  <a:ext uri="{FF2B5EF4-FFF2-40B4-BE49-F238E27FC236}">
                    <a16:creationId xmlns:a16="http://schemas.microsoft.com/office/drawing/2014/main" id="{E16BB86D-A835-2147-DE8B-2057FB4F23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874519"/>
                <a:ext cx="3749040" cy="171450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5240">
                <a:solidFill>
                  <a:srgbClr val="78C28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5">
                <a:extLst>
                  <a:ext uri="{FF2B5EF4-FFF2-40B4-BE49-F238E27FC236}">
                    <a16:creationId xmlns:a16="http://schemas.microsoft.com/office/drawing/2014/main" id="{53B10536-3941-4E85-FCBE-7729A45C0819}"/>
                  </a:ext>
                </a:extLst>
              </p:cNvPr>
              <p:cNvSpPr/>
              <p:nvPr/>
            </p:nvSpPr>
            <p:spPr>
              <a:xfrm>
                <a:off x="4937760" y="1874519"/>
                <a:ext cx="3652058" cy="1714502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0AC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70ACE8"/>
                    </a:solidFill>
                    <a:latin typeface="Arial"/>
                  </a:rPr>
                  <a:t>Patient B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 = −1 (</m:t>
                      </m:r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ℎ𝑒𝑎𝑙𝑡ℎ𝑖𝑒𝑟</m:t>
                      </m:r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9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3" name="Rounded Rectangle 5">
                <a:extLst>
                  <a:ext uri="{FF2B5EF4-FFF2-40B4-BE49-F238E27FC236}">
                    <a16:creationId xmlns:a16="http://schemas.microsoft.com/office/drawing/2014/main" id="{53B10536-3941-4E85-FCBE-7729A45C08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760" y="1874519"/>
                <a:ext cx="3652058" cy="171450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5240">
                <a:solidFill>
                  <a:srgbClr val="70ACE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46118B2-B861-0676-7D53-879B791AD927}"/>
              </a:ext>
            </a:extLst>
          </p:cNvPr>
          <p:cNvSpPr txBox="1"/>
          <p:nvPr/>
        </p:nvSpPr>
        <p:spPr>
          <a:xfrm>
            <a:off x="976745" y="3886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F5F5F5"/>
                </a:solidFill>
                <a:latin typeface="Arial"/>
              </a:rPr>
              <a:t>Observed comparison: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397385-0E54-208B-E6EF-9524E0310282}"/>
                  </a:ext>
                </a:extLst>
              </p:cNvPr>
              <p:cNvSpPr txBox="1"/>
              <p:nvPr/>
            </p:nvSpPr>
            <p:spPr>
              <a:xfrm>
                <a:off x="3427614" y="3815387"/>
                <a:ext cx="3222568" cy="46166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dirty="0" smtClean="0">
                          <a:solidFill>
                            <a:srgbClr val="F26C63"/>
                          </a:solidFill>
                          <a:latin typeface="Cambria Math" panose="02040503050406030204" pitchFamily="18" charset="0"/>
                        </a:rPr>
                        <m:t>124 − 110 = +14</m:t>
                      </m:r>
                    </m:oMath>
                  </m:oMathPara>
                </a14:m>
                <a:endParaRPr sz="2400" b="0" dirty="0">
                  <a:solidFill>
                    <a:srgbClr val="F26C63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397385-0E54-208B-E6EF-9524E0310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614" y="3815387"/>
                <a:ext cx="322256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7BFA47D5-1927-6D32-9C7E-4EE4659E653F}"/>
              </a:ext>
            </a:extLst>
          </p:cNvPr>
          <p:cNvSpPr txBox="1"/>
          <p:nvPr/>
        </p:nvSpPr>
        <p:spPr>
          <a:xfrm>
            <a:off x="301868" y="4328469"/>
            <a:ext cx="8622854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dirty="0">
                <a:solidFill>
                  <a:srgbClr val="FDBB30"/>
                </a:solidFill>
                <a:latin typeface="Arial"/>
              </a:rPr>
              <a:t>But treatment itself lowers Y by 6. Baseline severity created the misleading observed difference.</a:t>
            </a:r>
          </a:p>
        </p:txBody>
      </p:sp>
    </p:spTree>
    <p:extLst>
      <p:ext uri="{BB962C8B-B14F-4D97-AF65-F5344CB8AC3E}">
        <p14:creationId xmlns:p14="http://schemas.microsoft.com/office/powerpoint/2010/main" val="1294075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4F851-19FA-17C6-06CC-1F7C9B48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F6CF4-9B24-36C3-9E58-809C05BE1DD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Three Different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2">
                <a:extLst>
                  <a:ext uri="{FF2B5EF4-FFF2-40B4-BE49-F238E27FC236}">
                    <a16:creationId xmlns:a16="http://schemas.microsoft.com/office/drawing/2014/main" id="{9D6182D1-3ABB-EBFA-D4C9-AEC36A12F416}"/>
                  </a:ext>
                </a:extLst>
              </p:cNvPr>
              <p:cNvSpPr/>
              <p:nvPr/>
            </p:nvSpPr>
            <p:spPr>
              <a:xfrm>
                <a:off x="169188" y="1325880"/>
                <a:ext cx="2751513" cy="2468880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0AC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70ACE8"/>
                    </a:solidFill>
                    <a:latin typeface="Arial"/>
                  </a:rPr>
                  <a:t>1. Association</a:t>
                </a:r>
              </a:p>
              <a:p>
                <a:pPr algn="ctr"/>
                <a:r>
                  <a:rPr sz="1700" dirty="0">
                    <a:solidFill>
                      <a:srgbClr val="F5F5F5"/>
                    </a:solidFill>
                    <a:latin typeface="Arial"/>
                  </a:rPr>
                  <a:t>What is Y among people we observe with 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1700" dirty="0">
                    <a:solidFill>
                      <a:srgbClr val="F5F5F5"/>
                    </a:solidFill>
                    <a:latin typeface="Arial"/>
                  </a:rPr>
                  <a:t> versus 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700" dirty="0">
                    <a:solidFill>
                      <a:srgbClr val="F5F5F5"/>
                    </a:solidFill>
                    <a:latin typeface="Arial"/>
                  </a:rPr>
                  <a:t>?
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7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5" name="Rounded Rectangle 2">
                <a:extLst>
                  <a:ext uri="{FF2B5EF4-FFF2-40B4-BE49-F238E27FC236}">
                    <a16:creationId xmlns:a16="http://schemas.microsoft.com/office/drawing/2014/main" id="{9D6182D1-3ABB-EBFA-D4C9-AEC36A12F4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8" y="1325880"/>
                <a:ext cx="2751513" cy="246888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5240">
                <a:solidFill>
                  <a:srgbClr val="70ACE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3">
                <a:extLst>
                  <a:ext uri="{FF2B5EF4-FFF2-40B4-BE49-F238E27FC236}">
                    <a16:creationId xmlns:a16="http://schemas.microsoft.com/office/drawing/2014/main" id="{85DB022F-3104-6A80-2499-D768BC142849}"/>
                  </a:ext>
                </a:extLst>
              </p:cNvPr>
              <p:cNvSpPr/>
              <p:nvPr/>
            </p:nvSpPr>
            <p:spPr>
              <a:xfrm>
                <a:off x="3063241" y="1325880"/>
                <a:ext cx="2834639" cy="2468880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8C2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78C28C"/>
                    </a:solidFill>
                    <a:latin typeface="Arial"/>
                  </a:rPr>
                  <a:t>2. Intervention</a:t>
                </a:r>
              </a:p>
              <a:p>
                <a:pPr algn="ctr"/>
                <a:r>
                  <a:rPr sz="1700" dirty="0">
                    <a:solidFill>
                      <a:srgbClr val="F5F5F5"/>
                    </a:solidFill>
                    <a:latin typeface="Arial"/>
                  </a:rPr>
                  <a:t>What would Y be if we forced 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700" dirty="0">
                    <a:solidFill>
                      <a:srgbClr val="F5F5F5"/>
                    </a:solidFill>
                    <a:latin typeface="Arial"/>
                  </a:rPr>
                  <a:t> for the target population?
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sz="17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8" name="Rounded Rectangle 3">
                <a:extLst>
                  <a:ext uri="{FF2B5EF4-FFF2-40B4-BE49-F238E27FC236}">
                    <a16:creationId xmlns:a16="http://schemas.microsoft.com/office/drawing/2014/main" id="{85DB022F-3104-6A80-2499-D768BC142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241" y="1325880"/>
                <a:ext cx="2834639" cy="246888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5240">
                <a:solidFill>
                  <a:srgbClr val="78C28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56298649-4A61-45D0-A46B-7582AB9CA13D}"/>
                  </a:ext>
                </a:extLst>
              </p:cNvPr>
              <p:cNvSpPr/>
              <p:nvPr/>
            </p:nvSpPr>
            <p:spPr>
              <a:xfrm>
                <a:off x="6080759" y="1325880"/>
                <a:ext cx="2945477" cy="2468880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CAA3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CAA3E5"/>
                    </a:solidFill>
                    <a:latin typeface="Arial"/>
                  </a:rPr>
                  <a:t>3. Counterfactual</a:t>
                </a:r>
              </a:p>
              <a:p>
                <a:pPr algn="ctr"/>
                <a:r>
                  <a:rPr sz="1700" dirty="0">
                    <a:solidFill>
                      <a:srgbClr val="F5F5F5"/>
                    </a:solidFill>
                    <a:latin typeface="Arial"/>
                  </a:rPr>
                  <a:t>For this same person, what would Y have been under another treatment?
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7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56298649-4A61-45D0-A46B-7582AB9CA1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759" y="1325880"/>
                <a:ext cx="2945477" cy="246888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5240">
                <a:solidFill>
                  <a:srgbClr val="CAA3E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66407F5-1A86-EDDB-0DF4-06FDD28DC0A8}"/>
              </a:ext>
            </a:extLst>
          </p:cNvPr>
          <p:cNvSpPr txBox="1"/>
          <p:nvPr/>
        </p:nvSpPr>
        <p:spPr>
          <a:xfrm>
            <a:off x="290892" y="4360127"/>
            <a:ext cx="852453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FDBB30"/>
                </a:solidFill>
                <a:latin typeface="Arial"/>
              </a:rPr>
              <a:t>SCM gives one framework for all three</a:t>
            </a:r>
            <a:r>
              <a:rPr lang="en-US" sz="1800" b="1" dirty="0">
                <a:solidFill>
                  <a:srgbClr val="FDBB30"/>
                </a:solidFill>
                <a:latin typeface="Arial"/>
              </a:rPr>
              <a:t>,</a:t>
            </a:r>
            <a:r>
              <a:rPr sz="1800" b="1" dirty="0">
                <a:solidFill>
                  <a:srgbClr val="FDBB30"/>
                </a:solidFill>
                <a:latin typeface="Arial"/>
              </a:rPr>
              <a:t> but they are not the same question.</a:t>
            </a:r>
          </a:p>
        </p:txBody>
      </p:sp>
    </p:spTree>
    <p:extLst>
      <p:ext uri="{BB962C8B-B14F-4D97-AF65-F5344CB8AC3E}">
        <p14:creationId xmlns:p14="http://schemas.microsoft.com/office/powerpoint/2010/main" val="31675695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FBFF7-A710-064D-920B-1BA6E89C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FD9340-9A9B-116D-BD04-971D3652B9E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Counterfactual: Same person, Different treatment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8D182C-3EEE-1919-7549-689D1C63775A}"/>
              </a:ext>
            </a:extLst>
          </p:cNvPr>
          <p:cNvSpPr txBox="1"/>
          <p:nvPr/>
        </p:nvSpPr>
        <p:spPr>
          <a:xfrm>
            <a:off x="665017" y="1191463"/>
            <a:ext cx="3640975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70ACE8"/>
                </a:solidFill>
                <a:latin typeface="Arial"/>
              </a:rPr>
              <a:t>Suppose one person has: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2EB9E4-000D-D42B-8151-71557A43F88E}"/>
                  </a:ext>
                </a:extLst>
              </p:cNvPr>
              <p:cNvSpPr txBox="1"/>
              <p:nvPr/>
            </p:nvSpPr>
            <p:spPr>
              <a:xfrm>
                <a:off x="3632661" y="1099130"/>
                <a:ext cx="4389120" cy="47705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500" b="0" i="1" dirty="0" smtClean="0">
                          <a:solidFill>
                            <a:srgbClr val="78C28C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500" b="0" i="1" dirty="0" smtClean="0">
                          <a:solidFill>
                            <a:srgbClr val="78C28C"/>
                          </a:solidFill>
                          <a:latin typeface="Cambria Math" panose="02040503050406030204" pitchFamily="18" charset="0"/>
                        </a:rPr>
                        <m:t> = 1.5      </m:t>
                      </m:r>
                      <m:sSub>
                        <m:sSubPr>
                          <m:ctrlPr>
                            <a:rPr lang="en-US" sz="2500" b="0" i="1" dirty="0" smtClean="0">
                              <a:solidFill>
                                <a:srgbClr val="78C28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solidFill>
                                <a:srgbClr val="78C28C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500" b="0" i="1" dirty="0" smtClean="0">
                              <a:solidFill>
                                <a:srgbClr val="78C28C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2500" b="0" i="1" dirty="0" smtClean="0">
                          <a:solidFill>
                            <a:srgbClr val="78C28C"/>
                          </a:solidFill>
                          <a:latin typeface="Cambria Math" panose="02040503050406030204" pitchFamily="18" charset="0"/>
                        </a:rPr>
                        <m:t> = 2</m:t>
                      </m:r>
                    </m:oMath>
                  </m:oMathPara>
                </a14:m>
                <a:endParaRPr sz="2500" b="0" dirty="0">
                  <a:solidFill>
                    <a:srgbClr val="78C28C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2EB9E4-000D-D42B-8151-71557A43F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661" y="1099130"/>
                <a:ext cx="4389120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1448D3C-EF7F-BCCE-FFD6-E9832B419523}"/>
              </a:ext>
            </a:extLst>
          </p:cNvPr>
          <p:cNvSpPr txBox="1"/>
          <p:nvPr/>
        </p:nvSpPr>
        <p:spPr>
          <a:xfrm>
            <a:off x="796637" y="2008563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F5F5F5"/>
                </a:solidFill>
                <a:latin typeface="Arial"/>
              </a:rPr>
              <a:t>Keep these person-specific background factors fixed.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5">
                <a:extLst>
                  <a:ext uri="{FF2B5EF4-FFF2-40B4-BE49-F238E27FC236}">
                    <a16:creationId xmlns:a16="http://schemas.microsoft.com/office/drawing/2014/main" id="{ACAABD7A-013D-017E-D6ED-42119EC14E57}"/>
                  </a:ext>
                </a:extLst>
              </p:cNvPr>
              <p:cNvSpPr/>
              <p:nvPr/>
            </p:nvSpPr>
            <p:spPr>
              <a:xfrm>
                <a:off x="235527" y="2606040"/>
                <a:ext cx="4287982" cy="1619594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8C2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78C28C"/>
                    </a:solidFill>
                    <a:latin typeface="Arial"/>
                  </a:rPr>
                  <a:t>World 1: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78C28C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800" b="1" i="1" dirty="0" smtClean="0">
                        <a:solidFill>
                          <a:srgbClr val="78C28C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800" b="1" i="1" dirty="0" smtClean="0">
                        <a:solidFill>
                          <a:srgbClr val="78C28C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1800" b="1" dirty="0">
                  <a:solidFill>
                    <a:srgbClr val="78C28C"/>
                  </a:solidFill>
                  <a:latin typeface="Arial"/>
                </a:endParaRPr>
              </a:p>
              <a:p>
                <a:pPr algn="ctr"/>
                <a:endParaRPr sz="1800" b="1" dirty="0">
                  <a:solidFill>
                    <a:srgbClr val="78C28C"/>
                  </a:solidFill>
                  <a:latin typeface="Arial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7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7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(1) = 120 + 10(1.5) − 6 + 2 = 131</m:t>
                      </m:r>
                    </m:oMath>
                  </m:oMathPara>
                </a14:m>
                <a:endParaRPr sz="17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3" name="Rounded Rectangle 5">
                <a:extLst>
                  <a:ext uri="{FF2B5EF4-FFF2-40B4-BE49-F238E27FC236}">
                    <a16:creationId xmlns:a16="http://schemas.microsoft.com/office/drawing/2014/main" id="{ACAABD7A-013D-017E-D6ED-42119EC14E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27" y="2606040"/>
                <a:ext cx="4287982" cy="161959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5240">
                <a:solidFill>
                  <a:srgbClr val="78C28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6">
                <a:extLst>
                  <a:ext uri="{FF2B5EF4-FFF2-40B4-BE49-F238E27FC236}">
                    <a16:creationId xmlns:a16="http://schemas.microsoft.com/office/drawing/2014/main" id="{AE130FE1-C25C-BBCB-F34F-BE367744CA25}"/>
                  </a:ext>
                </a:extLst>
              </p:cNvPr>
              <p:cNvSpPr/>
              <p:nvPr/>
            </p:nvSpPr>
            <p:spPr>
              <a:xfrm>
                <a:off x="4846320" y="2606039"/>
                <a:ext cx="4012062" cy="1619595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CAA3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CAA3E5"/>
                    </a:solidFill>
                    <a:latin typeface="Arial"/>
                  </a:rPr>
                  <a:t>World 0: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CAA3E5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800" b="1" i="1" dirty="0" smtClean="0">
                        <a:solidFill>
                          <a:srgbClr val="CAA3E5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800" b="1" i="1" dirty="0" smtClean="0">
                        <a:solidFill>
                          <a:srgbClr val="CAA3E5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1800" b="1" dirty="0">
                  <a:solidFill>
                    <a:srgbClr val="CAA3E5"/>
                  </a:solidFill>
                  <a:latin typeface="Arial"/>
                </a:endParaRPr>
              </a:p>
              <a:p>
                <a:pPr algn="ctr"/>
                <a:endParaRPr sz="1800" b="1" dirty="0">
                  <a:solidFill>
                    <a:srgbClr val="CAA3E5"/>
                  </a:solidFill>
                  <a:latin typeface="Arial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7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7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(0) = 120 + 10(1.5) + 2 = 137</m:t>
                      </m:r>
                    </m:oMath>
                  </m:oMathPara>
                </a14:m>
                <a:endParaRPr sz="17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6" name="Rounded Rectangle 6">
                <a:extLst>
                  <a:ext uri="{FF2B5EF4-FFF2-40B4-BE49-F238E27FC236}">
                    <a16:creationId xmlns:a16="http://schemas.microsoft.com/office/drawing/2014/main" id="{AE130FE1-C25C-BBCB-F34F-BE367744CA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2606039"/>
                <a:ext cx="4012062" cy="161959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5240">
                <a:solidFill>
                  <a:srgbClr val="CAA3E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373F485-1F34-0C7B-7C06-89BDC4AA66D4}"/>
              </a:ext>
            </a:extLst>
          </p:cNvPr>
          <p:cNvSpPr txBox="1"/>
          <p:nvPr/>
        </p:nvSpPr>
        <p:spPr>
          <a:xfrm>
            <a:off x="2294312" y="4535839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 dirty="0">
                <a:solidFill>
                  <a:srgbClr val="FDBB30"/>
                </a:solidFill>
                <a:latin typeface="Cambria Math"/>
              </a:rPr>
              <a:t>Y(1) − Y(0) = −6</a:t>
            </a:r>
          </a:p>
        </p:txBody>
      </p:sp>
    </p:spTree>
    <p:extLst>
      <p:ext uri="{BB962C8B-B14F-4D97-AF65-F5344CB8AC3E}">
        <p14:creationId xmlns:p14="http://schemas.microsoft.com/office/powerpoint/2010/main" val="909912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FC591-7F66-BBF3-12CD-C592AE325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8E04FE-5954-DCAA-57DC-0BEE5A12003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g-Computation does the same thing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4F6D29F0-E5F6-C61D-DC0A-52F7F7CDE1B1}"/>
              </a:ext>
            </a:extLst>
          </p:cNvPr>
          <p:cNvSpPr/>
          <p:nvPr/>
        </p:nvSpPr>
        <p:spPr>
          <a:xfrm>
            <a:off x="242455" y="1712422"/>
            <a:ext cx="2500745" cy="962891"/>
          </a:xfrm>
          <a:prstGeom prst="roundRect">
            <a:avLst/>
          </a:prstGeom>
          <a:solidFill>
            <a:srgbClr val="24272A"/>
          </a:solidFill>
          <a:ln w="1524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800" b="1" dirty="0">
                <a:solidFill>
                  <a:srgbClr val="78C28C"/>
                </a:solidFill>
                <a:latin typeface="Arial"/>
              </a:rPr>
              <a:t>1</a:t>
            </a:r>
          </a:p>
          <a:p>
            <a:pPr algn="ctr"/>
            <a:r>
              <a:rPr sz="1700" dirty="0">
                <a:solidFill>
                  <a:srgbClr val="F5F5F5"/>
                </a:solidFill>
                <a:latin typeface="Arial"/>
              </a:rPr>
              <a:t>set T = 1 and predict Y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20245FCB-D0B7-960B-87DF-06021C53B1F8}"/>
              </a:ext>
            </a:extLst>
          </p:cNvPr>
          <p:cNvSpPr/>
          <p:nvPr/>
        </p:nvSpPr>
        <p:spPr>
          <a:xfrm>
            <a:off x="3266209" y="1712422"/>
            <a:ext cx="2611581" cy="962891"/>
          </a:xfrm>
          <a:prstGeom prst="roundRect">
            <a:avLst/>
          </a:prstGeom>
          <a:solidFill>
            <a:srgbClr val="24272A"/>
          </a:solidFill>
          <a:ln w="15240">
            <a:solidFill>
              <a:srgbClr val="CAA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800" b="1" dirty="0">
                <a:solidFill>
                  <a:srgbClr val="CAA3E5"/>
                </a:solidFill>
                <a:latin typeface="Arial"/>
              </a:rPr>
              <a:t>2</a:t>
            </a:r>
          </a:p>
          <a:p>
            <a:pPr algn="ctr"/>
            <a:r>
              <a:rPr sz="1700" dirty="0">
                <a:solidFill>
                  <a:srgbClr val="F5F5F5"/>
                </a:solidFill>
                <a:latin typeface="Arial"/>
              </a:rPr>
              <a:t>set T = 0 and predict Y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56C7E692-F183-C48C-B901-A4B2EE637121}"/>
              </a:ext>
            </a:extLst>
          </p:cNvPr>
          <p:cNvSpPr/>
          <p:nvPr/>
        </p:nvSpPr>
        <p:spPr>
          <a:xfrm>
            <a:off x="6289964" y="1712421"/>
            <a:ext cx="2611581" cy="962891"/>
          </a:xfrm>
          <a:prstGeom prst="roundRect">
            <a:avLst/>
          </a:prstGeom>
          <a:solidFill>
            <a:srgbClr val="24272A"/>
          </a:solidFill>
          <a:ln w="15240">
            <a:solidFill>
              <a:srgbClr val="F6B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800" b="1" dirty="0">
                <a:solidFill>
                  <a:srgbClr val="F6B62F"/>
                </a:solidFill>
                <a:latin typeface="Arial"/>
              </a:rPr>
              <a:t>3</a:t>
            </a:r>
          </a:p>
          <a:p>
            <a:pPr algn="ctr"/>
            <a:r>
              <a:rPr sz="1700" dirty="0">
                <a:solidFill>
                  <a:srgbClr val="F5F5F5"/>
                </a:solidFill>
                <a:latin typeface="Arial"/>
              </a:rPr>
              <a:t>average the difference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652F5C-EE48-1DBF-9E7E-A561CC1F2180}"/>
              </a:ext>
            </a:extLst>
          </p:cNvPr>
          <p:cNvSpPr txBox="1"/>
          <p:nvPr/>
        </p:nvSpPr>
        <p:spPr>
          <a:xfrm>
            <a:off x="735676" y="3236420"/>
            <a:ext cx="7852542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F5F5F5"/>
                </a:solidFill>
                <a:latin typeface="Arial"/>
              </a:rPr>
              <a:t>That procedure is trying to emulate the two intervention worlds described by the SCM.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E3B5F3-57AF-37E3-B119-9798BB29D0ED}"/>
              </a:ext>
            </a:extLst>
          </p:cNvPr>
          <p:cNvSpPr txBox="1"/>
          <p:nvPr/>
        </p:nvSpPr>
        <p:spPr>
          <a:xfrm>
            <a:off x="665018" y="4434839"/>
            <a:ext cx="7514705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dirty="0">
                <a:solidFill>
                  <a:srgbClr val="C8CDD2"/>
                </a:solidFill>
                <a:latin typeface="Arial"/>
              </a:rPr>
              <a:t>The estimation model is not the SCM itself</a:t>
            </a:r>
            <a:r>
              <a:rPr lang="en-US" sz="1500" b="0" dirty="0">
                <a:solidFill>
                  <a:srgbClr val="C8CDD2"/>
                </a:solidFill>
                <a:latin typeface="Arial"/>
              </a:rPr>
              <a:t>,</a:t>
            </a:r>
            <a:r>
              <a:rPr sz="1500" b="0" dirty="0">
                <a:solidFill>
                  <a:srgbClr val="C8CDD2"/>
                </a:solidFill>
                <a:latin typeface="Arial"/>
              </a:rPr>
              <a:t> but the intervention logic is the same.</a:t>
            </a:r>
          </a:p>
        </p:txBody>
      </p:sp>
    </p:spTree>
    <p:extLst>
      <p:ext uri="{BB962C8B-B14F-4D97-AF65-F5344CB8AC3E}">
        <p14:creationId xmlns:p14="http://schemas.microsoft.com/office/powerpoint/2010/main" val="2680960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F8713-6FCB-9C71-170C-0C12826D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334868-03A7-898D-0EB9-7E2D559810C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Simulation: Build Data from SCM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92713-F30E-3E87-44D8-F5C4B32EB168}"/>
              </a:ext>
            </a:extLst>
          </p:cNvPr>
          <p:cNvSpPr txBox="1"/>
          <p:nvPr/>
        </p:nvSpPr>
        <p:spPr>
          <a:xfrm>
            <a:off x="418570" y="141322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 dirty="0">
                <a:solidFill>
                  <a:srgbClr val="78C28C"/>
                </a:solidFill>
                <a:latin typeface="Cambria Math"/>
              </a:rPr>
              <a:t>C ~ Normal(0,1)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E48C2A-00FA-40BE-97AD-1ADB4B60F972}"/>
              </a:ext>
            </a:extLst>
          </p:cNvPr>
          <p:cNvSpPr txBox="1"/>
          <p:nvPr/>
        </p:nvSpPr>
        <p:spPr>
          <a:xfrm>
            <a:off x="2826328" y="1257100"/>
            <a:ext cx="3269673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dirty="0">
                <a:solidFill>
                  <a:srgbClr val="70ACE8"/>
                </a:solidFill>
                <a:latin typeface="Cambria Math"/>
              </a:rPr>
              <a:t>P(T=1 | C) = logistic(1.2C)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75587F-07BE-9338-41AD-6BCF77D20EE7}"/>
              </a:ext>
            </a:extLst>
          </p:cNvPr>
          <p:cNvSpPr txBox="1"/>
          <p:nvPr/>
        </p:nvSpPr>
        <p:spPr>
          <a:xfrm>
            <a:off x="6407729" y="1319189"/>
            <a:ext cx="209603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0" dirty="0">
                <a:solidFill>
                  <a:srgbClr val="F6B62F"/>
                </a:solidFill>
                <a:latin typeface="Cambria Math"/>
              </a:rPr>
              <a:t>Y = 120 + 10C − 6T + 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D24D4-85FA-F7BB-4AA8-5D979CD19613}"/>
              </a:ext>
            </a:extLst>
          </p:cNvPr>
          <p:cNvSpPr txBox="1"/>
          <p:nvPr/>
        </p:nvSpPr>
        <p:spPr>
          <a:xfrm>
            <a:off x="731520" y="21945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F5F5F5"/>
                </a:solidFill>
                <a:latin typeface="Arial"/>
              </a:rPr>
              <a:t>Interpretation: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4AB102-F66B-EED0-2782-7FBF99F12911}"/>
              </a:ext>
            </a:extLst>
          </p:cNvPr>
          <p:cNvSpPr txBox="1"/>
          <p:nvPr/>
        </p:nvSpPr>
        <p:spPr>
          <a:xfrm>
            <a:off x="803564" y="2616889"/>
            <a:ext cx="7315200" cy="969496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900">
                <a:solidFill>
                  <a:srgbClr val="F5F5F5"/>
                </a:solidFill>
                <a:latin typeface="Arial"/>
              </a:defRPr>
            </a:pPr>
            <a:r>
              <a:rPr dirty="0"/>
              <a:t>Sicker patients (larger C) are more likely to receive treatment.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900">
                <a:solidFill>
                  <a:srgbClr val="F5F5F5"/>
                </a:solidFill>
                <a:latin typeface="Arial"/>
              </a:defRPr>
            </a:pPr>
            <a:r>
              <a:rPr dirty="0"/>
              <a:t>Sicker patients also have higher Y.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900">
                <a:solidFill>
                  <a:srgbClr val="F5F5F5"/>
                </a:solidFill>
                <a:latin typeface="Arial"/>
              </a:defRPr>
            </a:pPr>
            <a:r>
              <a:rPr dirty="0"/>
              <a:t>Treatment truly lowers Y by 6 units.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60DE7C23-6473-9700-69EA-254DC11A5209}"/>
              </a:ext>
            </a:extLst>
          </p:cNvPr>
          <p:cNvSpPr/>
          <p:nvPr/>
        </p:nvSpPr>
        <p:spPr>
          <a:xfrm>
            <a:off x="2826328" y="3884898"/>
            <a:ext cx="4191000" cy="895912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2000" b="1" dirty="0">
                <a:solidFill>
                  <a:srgbClr val="FDBB30"/>
                </a:solidFill>
                <a:latin typeface="Arial"/>
              </a:rPr>
              <a:t>True intervention effect = −6</a:t>
            </a:r>
          </a:p>
        </p:txBody>
      </p:sp>
    </p:spTree>
    <p:extLst>
      <p:ext uri="{BB962C8B-B14F-4D97-AF65-F5344CB8AC3E}">
        <p14:creationId xmlns:p14="http://schemas.microsoft.com/office/powerpoint/2010/main" val="2015710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C5E68-8E61-451D-EF7E-18097A639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25F21-487C-98E7-92B7-D3B320A5D92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Simulation: Build Data from SCM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C753403-7D21-B5D0-43C5-42EAA56E5B07}"/>
              </a:ext>
            </a:extLst>
          </p:cNvPr>
          <p:cNvSpPr/>
          <p:nvPr/>
        </p:nvSpPr>
        <p:spPr>
          <a:xfrm>
            <a:off x="731520" y="1097280"/>
            <a:ext cx="4572000" cy="3383280"/>
          </a:xfrm>
          <a:prstGeom prst="roundRect">
            <a:avLst/>
          </a:prstGeom>
          <a:solidFill>
            <a:srgbClr val="141618"/>
          </a:solidFill>
          <a:ln w="12700">
            <a:solidFill>
              <a:srgbClr val="4B5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tlCol="0" anchor="ctr"/>
          <a:lstStyle/>
          <a:p>
            <a:pPr algn="ctr"/>
            <a:r>
              <a:rPr sz="1500" dirty="0">
                <a:solidFill>
                  <a:srgbClr val="DCE1E6"/>
                </a:solidFill>
                <a:latin typeface="Consolas" panose="020B0609020204030204" pitchFamily="49" charset="0"/>
              </a:rPr>
              <a:t>set.seed(7900)
n &lt;- 5000
C &lt;- rnorm(n)
p &lt;- plogis(1.2*C)
T &lt;- rbinom(n, 1, p)
eps &lt;- rnorm(n, sd = 5)
Y &lt;- 120 + 10*C - 6*T + eps
dat &lt;- data.frame(C, T, 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6E160-DACE-71A1-A2F8-F09A1E984A53}"/>
              </a:ext>
            </a:extLst>
          </p:cNvPr>
          <p:cNvSpPr txBox="1"/>
          <p:nvPr/>
        </p:nvSpPr>
        <p:spPr>
          <a:xfrm>
            <a:off x="5577840" y="1299555"/>
            <a:ext cx="2582487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70ACE8"/>
                </a:solidFill>
                <a:latin typeface="Arial"/>
              </a:rPr>
              <a:t>Before fitting anything, predict: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580CD6-B5EB-E048-4C36-3989A4AC7F87}"/>
                  </a:ext>
                </a:extLst>
              </p:cNvPr>
              <p:cNvSpPr txBox="1"/>
              <p:nvPr/>
            </p:nvSpPr>
            <p:spPr>
              <a:xfrm>
                <a:off x="5669280" y="2248972"/>
                <a:ext cx="2743200" cy="1923604"/>
              </a:xfrm>
              <a:prstGeom prst="rect">
                <a:avLst/>
              </a:prstGeom>
              <a:noFill/>
            </p:spPr>
            <p:txBody>
              <a:bodyPr wrap="square" lIns="73152" rIns="45720">
                <a:spAutoFit/>
              </a:bodyPr>
              <a:lstStyle/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700">
                    <a:solidFill>
                      <a:srgbClr val="F5F5F5"/>
                    </a:solidFill>
                    <a:latin typeface="Arial"/>
                  </a:defRPr>
                </a:pPr>
                <a:r>
                  <a:rPr dirty="0"/>
                  <a:t>Will treated and untreated patients have the same average C?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700">
                    <a:solidFill>
                      <a:srgbClr val="F5F5F5"/>
                    </a:solidFill>
                    <a:latin typeface="Arial"/>
                  </a:defRPr>
                </a:pPr>
                <a:r>
                  <a:rPr dirty="0"/>
                  <a:t>Will the crude difference in Y recover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−6</m:t>
                    </m:r>
                  </m:oMath>
                </a14:m>
                <a:r>
                  <a:rPr dirty="0"/>
                  <a:t>?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700">
                    <a:solidFill>
                      <a:srgbClr val="F5F5F5"/>
                    </a:solidFill>
                    <a:latin typeface="Arial"/>
                  </a:defRPr>
                </a:pPr>
                <a:r>
                  <a:rPr dirty="0"/>
                  <a:t>What should happen after we adjust for C?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580CD6-B5EB-E048-4C36-3989A4AC7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0" y="2248972"/>
                <a:ext cx="2743200" cy="1923604"/>
              </a:xfrm>
              <a:prstGeom prst="rect">
                <a:avLst/>
              </a:prstGeom>
              <a:blipFill>
                <a:blip r:embed="rId2"/>
                <a:stretch>
                  <a:fillRect l="-1778" t="-1270" r="-4667" b="-3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5282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A3651-B0CA-D092-6DA4-A9E8AB8FA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7695F0-018E-7011-8A37-4BFF33723B3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Simulation: Build Data from SCM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15775-4616-6DE8-84DE-D8A3AFB69BB1}"/>
              </a:ext>
            </a:extLst>
          </p:cNvPr>
          <p:cNvSpPr txBox="1"/>
          <p:nvPr/>
        </p:nvSpPr>
        <p:spPr>
          <a:xfrm>
            <a:off x="640080" y="1097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70ACE8"/>
                </a:solidFill>
                <a:latin typeface="Arial"/>
              </a:rPr>
              <a:t>Observed mean Y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F34265C-A41F-A0ED-0244-57ADCE5D09F3}"/>
              </a:ext>
            </a:extLst>
          </p:cNvPr>
          <p:cNvCxnSpPr/>
          <p:nvPr/>
        </p:nvCxnSpPr>
        <p:spPr>
          <a:xfrm flipV="1">
            <a:off x="1097280" y="1645920"/>
            <a:ext cx="0" cy="2423160"/>
          </a:xfrm>
          <a:prstGeom prst="line">
            <a:avLst/>
          </a:prstGeom>
          <a:ln w="17780">
            <a:solidFill>
              <a:srgbClr val="C8CDD2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724F663-B905-F1F0-B578-716A8C08D89C}"/>
              </a:ext>
            </a:extLst>
          </p:cNvPr>
          <p:cNvSpPr/>
          <p:nvPr/>
        </p:nvSpPr>
        <p:spPr>
          <a:xfrm>
            <a:off x="1920240" y="2698623"/>
            <a:ext cx="1097280" cy="1324737"/>
          </a:xfrm>
          <a:prstGeom prst="rect">
            <a:avLst/>
          </a:prstGeom>
          <a:solidFill>
            <a:srgbClr val="CAA3E5"/>
          </a:solidFill>
          <a:ln>
            <a:solidFill>
              <a:srgbClr val="CAA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1F657-EDC1-F804-9715-18C185A8B797}"/>
              </a:ext>
            </a:extLst>
          </p:cNvPr>
          <p:cNvSpPr txBox="1"/>
          <p:nvPr/>
        </p:nvSpPr>
        <p:spPr>
          <a:xfrm>
            <a:off x="1920240" y="2314575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  <a:latin typeface="Arial"/>
              </a:rPr>
              <a:t>115.25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1F554C-38C0-4518-D44A-4D90AD58E3F1}"/>
              </a:ext>
            </a:extLst>
          </p:cNvPr>
          <p:cNvSpPr txBox="1"/>
          <p:nvPr/>
        </p:nvSpPr>
        <p:spPr>
          <a:xfrm>
            <a:off x="1920240" y="4114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C8CDD2"/>
                </a:solidFill>
                <a:latin typeface="Arial"/>
              </a:rPr>
              <a:t>T = 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379565-6EF9-2793-3EDA-7434777F6463}"/>
              </a:ext>
            </a:extLst>
          </p:cNvPr>
          <p:cNvSpPr/>
          <p:nvPr/>
        </p:nvSpPr>
        <p:spPr>
          <a:xfrm>
            <a:off x="3657600" y="2392847"/>
            <a:ext cx="1097280" cy="1630512"/>
          </a:xfrm>
          <a:prstGeom prst="rect">
            <a:avLst/>
          </a:prstGeom>
          <a:solidFill>
            <a:srgbClr val="70ACE8"/>
          </a:solidFill>
          <a:ln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46D10A-3F80-4AD7-DF07-A507A4BD413C}"/>
              </a:ext>
            </a:extLst>
          </p:cNvPr>
          <p:cNvSpPr txBox="1"/>
          <p:nvPr/>
        </p:nvSpPr>
        <p:spPr>
          <a:xfrm>
            <a:off x="3657600" y="2008799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  <a:latin typeface="Arial"/>
              </a:rPr>
              <a:t>118.77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CD9E16-02D8-CDE0-5E7E-D9FD02C11D35}"/>
              </a:ext>
            </a:extLst>
          </p:cNvPr>
          <p:cNvSpPr txBox="1"/>
          <p:nvPr/>
        </p:nvSpPr>
        <p:spPr>
          <a:xfrm>
            <a:off x="3657600" y="4114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C8CDD2"/>
                </a:solidFill>
                <a:latin typeface="Arial"/>
              </a:rPr>
              <a:t>T =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481368-501C-9AE7-8C2B-536B51CA22B2}"/>
              </a:ext>
            </a:extLst>
          </p:cNvPr>
          <p:cNvSpPr txBox="1"/>
          <p:nvPr/>
        </p:nvSpPr>
        <p:spPr>
          <a:xfrm>
            <a:off x="5275810" y="1280160"/>
            <a:ext cx="345947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F5F5F5"/>
                </a:solidFill>
                <a:latin typeface="Arial"/>
              </a:rPr>
              <a:t>Crude observed difference: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0A7A9F-4C61-DF93-C6FB-ECCAB338B572}"/>
              </a:ext>
            </a:extLst>
          </p:cNvPr>
          <p:cNvSpPr txBox="1"/>
          <p:nvPr/>
        </p:nvSpPr>
        <p:spPr>
          <a:xfrm>
            <a:off x="5275810" y="2032068"/>
            <a:ext cx="372271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 dirty="0">
                <a:solidFill>
                  <a:srgbClr val="F26C63"/>
                </a:solidFill>
                <a:latin typeface="Cambria Math"/>
              </a:rPr>
              <a:t>118.77 − 115.25 = +3.52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D56353-0B1E-1E24-DA3F-FED32D62200F}"/>
              </a:ext>
            </a:extLst>
          </p:cNvPr>
          <p:cNvSpPr txBox="1"/>
          <p:nvPr/>
        </p:nvSpPr>
        <p:spPr>
          <a:xfrm>
            <a:off x="5394960" y="2829242"/>
            <a:ext cx="3463422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dirty="0">
                <a:solidFill>
                  <a:srgbClr val="FDBB30"/>
                </a:solidFill>
                <a:latin typeface="Arial"/>
              </a:rPr>
              <a:t>But the true treatment effect is −6.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9BFE71-0F74-BF65-CA04-5793933F3C54}"/>
              </a:ext>
            </a:extLst>
          </p:cNvPr>
          <p:cNvSpPr txBox="1"/>
          <p:nvPr/>
        </p:nvSpPr>
        <p:spPr>
          <a:xfrm>
            <a:off x="6217920" y="3675888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F26C63"/>
                </a:solidFill>
                <a:latin typeface="Arial"/>
              </a:rPr>
              <a:t>Wrong sign!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D1AF1-8EA1-C5EA-CEFC-A800A332E2C8}"/>
              </a:ext>
            </a:extLst>
          </p:cNvPr>
          <p:cNvSpPr txBox="1"/>
          <p:nvPr/>
        </p:nvSpPr>
        <p:spPr>
          <a:xfrm>
            <a:off x="800793" y="4806315"/>
            <a:ext cx="7680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dirty="0">
                <a:solidFill>
                  <a:srgbClr val="969BA0"/>
                </a:solidFill>
                <a:latin typeface="Arial"/>
              </a:rPr>
              <a:t>One simulated realization; exact sample numbers vary slightly with the random-number generator.</a:t>
            </a:r>
          </a:p>
        </p:txBody>
      </p:sp>
    </p:spTree>
    <p:extLst>
      <p:ext uri="{BB962C8B-B14F-4D97-AF65-F5344CB8AC3E}">
        <p14:creationId xmlns:p14="http://schemas.microsoft.com/office/powerpoint/2010/main" val="30655638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D4EC-8C1A-5ED5-1CD7-8DDCFE5B6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DF623-9131-7B35-37F4-27866FB6B0A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Simulation adjust for Common Cause C</a:t>
            </a:r>
          </a:p>
        </p:txBody>
      </p:sp>
      <p:sp>
        <p:nvSpPr>
          <p:cNvPr id="14" name="Rounded Rectangle 2">
            <a:extLst>
              <a:ext uri="{FF2B5EF4-FFF2-40B4-BE49-F238E27FC236}">
                <a16:creationId xmlns:a16="http://schemas.microsoft.com/office/drawing/2014/main" id="{AF5FC277-D517-F7BC-B89C-120B243233BA}"/>
              </a:ext>
            </a:extLst>
          </p:cNvPr>
          <p:cNvSpPr/>
          <p:nvPr/>
        </p:nvSpPr>
        <p:spPr>
          <a:xfrm>
            <a:off x="267391" y="1112520"/>
            <a:ext cx="5018117" cy="3085408"/>
          </a:xfrm>
          <a:prstGeom prst="roundRect">
            <a:avLst/>
          </a:prstGeom>
          <a:solidFill>
            <a:srgbClr val="141618"/>
          </a:solidFill>
          <a:ln w="12700">
            <a:solidFill>
              <a:srgbClr val="4B5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tlCol="0" anchor="ctr"/>
          <a:lstStyle/>
          <a:p>
            <a:pPr algn="ctr"/>
            <a:r>
              <a:rPr sz="1500" dirty="0">
                <a:solidFill>
                  <a:srgbClr val="DCE1E6"/>
                </a:solidFill>
                <a:latin typeface="Consolas" panose="020B0609020204030204" pitchFamily="49" charset="0"/>
              </a:rPr>
              <a:t>fit_crude &lt;- lm(Y ~ T, data = dat)
fit_adj   &lt;- lm(Y ~ T + C, data = dat)
coef(fit_crude)["T"]
# about +3.5
coef(fit_adj)["T"]
# about -6.0</a:t>
            </a:r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188B5BCB-0452-F106-5D5E-13051056BD03}"/>
              </a:ext>
            </a:extLst>
          </p:cNvPr>
          <p:cNvSpPr/>
          <p:nvPr/>
        </p:nvSpPr>
        <p:spPr>
          <a:xfrm>
            <a:off x="5450378" y="1719349"/>
            <a:ext cx="3108960" cy="1051560"/>
          </a:xfrm>
          <a:prstGeom prst="roundRect">
            <a:avLst/>
          </a:prstGeom>
          <a:solidFill>
            <a:srgbClr val="2D2F32"/>
          </a:solidFill>
          <a:ln w="15240">
            <a:solidFill>
              <a:srgbClr val="F26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800" b="1" dirty="0">
                <a:solidFill>
                  <a:srgbClr val="F26C63"/>
                </a:solidFill>
                <a:latin typeface="Arial"/>
              </a:rPr>
              <a:t>Crude model</a:t>
            </a:r>
          </a:p>
          <a:p>
            <a:pPr algn="ctr"/>
            <a:r>
              <a:rPr sz="1800" dirty="0">
                <a:solidFill>
                  <a:srgbClr val="F5F5F5"/>
                </a:solidFill>
                <a:latin typeface="Arial"/>
              </a:rPr>
              <a:t>T coefficient ≈ +3.5</a:t>
            </a:r>
          </a:p>
        </p:txBody>
      </p:sp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DB53B933-0103-75A7-537E-84D714FFF705}"/>
              </a:ext>
            </a:extLst>
          </p:cNvPr>
          <p:cNvSpPr/>
          <p:nvPr/>
        </p:nvSpPr>
        <p:spPr>
          <a:xfrm>
            <a:off x="5450378" y="3045229"/>
            <a:ext cx="3108960" cy="1051560"/>
          </a:xfrm>
          <a:prstGeom prst="roundRect">
            <a:avLst/>
          </a:prstGeom>
          <a:solidFill>
            <a:srgbClr val="2D2F32"/>
          </a:solidFill>
          <a:ln w="1524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800" b="1">
                <a:solidFill>
                  <a:srgbClr val="78C28C"/>
                </a:solidFill>
                <a:latin typeface="Arial"/>
              </a:rPr>
              <a:t>Adjusted model</a:t>
            </a:r>
          </a:p>
          <a:p>
            <a:pPr algn="ctr"/>
            <a:r>
              <a:rPr sz="1800">
                <a:solidFill>
                  <a:srgbClr val="F5F5F5"/>
                </a:solidFill>
                <a:latin typeface="Arial"/>
              </a:rPr>
              <a:t>T coefficient ≈ −6.0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AA81B6-2607-094B-7DDD-B5440A461155}"/>
              </a:ext>
            </a:extLst>
          </p:cNvPr>
          <p:cNvSpPr txBox="1"/>
          <p:nvPr/>
        </p:nvSpPr>
        <p:spPr>
          <a:xfrm>
            <a:off x="822960" y="4336473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dirty="0">
                <a:solidFill>
                  <a:srgbClr val="C8CDD2"/>
                </a:solidFill>
                <a:latin typeface="Arial"/>
              </a:rPr>
              <a:t>The adjusted model recovers the truth here because the simulation satisfies the required assumptions and the outcome rule is correctly represented.</a:t>
            </a:r>
          </a:p>
        </p:txBody>
      </p:sp>
    </p:spTree>
    <p:extLst>
      <p:ext uri="{BB962C8B-B14F-4D97-AF65-F5344CB8AC3E}">
        <p14:creationId xmlns:p14="http://schemas.microsoft.com/office/powerpoint/2010/main" val="31237871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14B35-5B0C-98DF-CDF6-96581A43B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77B9D9-B3F5-E718-C4D0-199B758F659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Simulation creates two interventions</a:t>
            </a: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9C41CA24-DD0E-9C47-6A37-03DB475FE758}"/>
              </a:ext>
            </a:extLst>
          </p:cNvPr>
          <p:cNvSpPr/>
          <p:nvPr/>
        </p:nvSpPr>
        <p:spPr>
          <a:xfrm>
            <a:off x="320040" y="1226127"/>
            <a:ext cx="4251960" cy="3383280"/>
          </a:xfrm>
          <a:prstGeom prst="roundRect">
            <a:avLst/>
          </a:prstGeom>
          <a:solidFill>
            <a:srgbClr val="141618"/>
          </a:solidFill>
          <a:ln w="12700">
            <a:solidFill>
              <a:srgbClr val="4B5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tlCol="0" anchor="ctr"/>
          <a:lstStyle/>
          <a:p>
            <a:pPr algn="ctr"/>
            <a:r>
              <a:rPr sz="1500" dirty="0">
                <a:solidFill>
                  <a:srgbClr val="DCE1E6"/>
                </a:solidFill>
                <a:latin typeface="Consolas" panose="020B0609020204030204" pitchFamily="49" charset="0"/>
              </a:rPr>
              <a:t># keep each person's C and eps fixed
Y1 &lt;- 120 + 10*C - 6*1 + eps
Y0 &lt;- 120 + 10*C - 6*0 + eps
mean(Y1)      # about 114.0
mean(Y0)      # about 120.0
mean(Y1 - Y0) # exactly -6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3">
                <a:extLst>
                  <a:ext uri="{FF2B5EF4-FFF2-40B4-BE49-F238E27FC236}">
                    <a16:creationId xmlns:a16="http://schemas.microsoft.com/office/drawing/2014/main" id="{151E299A-EC45-9266-70DD-21C4E7DF6AF1}"/>
                  </a:ext>
                </a:extLst>
              </p:cNvPr>
              <p:cNvSpPr/>
              <p:nvPr/>
            </p:nvSpPr>
            <p:spPr>
              <a:xfrm>
                <a:off x="5303520" y="1325880"/>
                <a:ext cx="2834640" cy="914400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8C2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78C28C"/>
                    </a:solidFill>
                    <a:latin typeface="Arial"/>
                  </a:rPr>
                  <a:t>do(T = 1)</a:t>
                </a:r>
              </a:p>
              <a:p>
                <a:pPr algn="ctr"/>
                <a:r>
                  <a:rPr sz="1800" dirty="0">
                    <a:solidFill>
                      <a:srgbClr val="F5F5F5"/>
                    </a:solidFill>
                    <a:latin typeface="Arial"/>
                  </a:rPr>
                  <a:t>mean 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≈ 114.0</m:t>
                    </m:r>
                  </m:oMath>
                </a14:m>
                <a:endParaRPr sz="18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8" name="Rounded Rectangle 3">
                <a:extLst>
                  <a:ext uri="{FF2B5EF4-FFF2-40B4-BE49-F238E27FC236}">
                    <a16:creationId xmlns:a16="http://schemas.microsoft.com/office/drawing/2014/main" id="{151E299A-EC45-9266-70DD-21C4E7DF6A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1325880"/>
                <a:ext cx="2834640" cy="9144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5240">
                <a:solidFill>
                  <a:srgbClr val="78C28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59314860-6F3B-0771-9808-4E100B50F778}"/>
                  </a:ext>
                </a:extLst>
              </p:cNvPr>
              <p:cNvSpPr/>
              <p:nvPr/>
            </p:nvSpPr>
            <p:spPr>
              <a:xfrm>
                <a:off x="5303520" y="2560320"/>
                <a:ext cx="2834640" cy="914400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CAA3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CAA3E5"/>
                    </a:solidFill>
                    <a:latin typeface="Arial"/>
                  </a:rPr>
                  <a:t>do(T = 0)</a:t>
                </a:r>
              </a:p>
              <a:p>
                <a:pPr algn="ctr"/>
                <a:r>
                  <a:rPr sz="1800" dirty="0">
                    <a:solidFill>
                      <a:srgbClr val="F5F5F5"/>
                    </a:solidFill>
                    <a:latin typeface="Arial"/>
                  </a:rPr>
                  <a:t>mean 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≈ 120.0</m:t>
                    </m:r>
                  </m:oMath>
                </a14:m>
                <a:endParaRPr sz="18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59314860-6F3B-0771-9808-4E100B50F7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2560320"/>
                <a:ext cx="2834640" cy="914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5240">
                <a:solidFill>
                  <a:srgbClr val="CAA3E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25ACFD-EC08-2FE1-C9EA-789A63A625A9}"/>
                  </a:ext>
                </a:extLst>
              </p:cNvPr>
              <p:cNvSpPr txBox="1"/>
              <p:nvPr/>
            </p:nvSpPr>
            <p:spPr>
              <a:xfrm>
                <a:off x="4983480" y="3914522"/>
                <a:ext cx="3474720" cy="446276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2300" b="0" dirty="0">
                    <a:solidFill>
                      <a:srgbClr val="FDBB30"/>
                    </a:solidFill>
                    <a:latin typeface="Cambria Math"/>
                  </a:rPr>
                  <a:t>ATE = </a:t>
                </a:r>
                <a14:m>
                  <m:oMath xmlns:m="http://schemas.openxmlformats.org/officeDocument/2006/math">
                    <m:r>
                      <a:rPr lang="en-US" sz="2300" b="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114 − 120 = −6</m:t>
                    </m:r>
                  </m:oMath>
                </a14:m>
                <a:endParaRPr sz="2300" b="0" dirty="0">
                  <a:solidFill>
                    <a:srgbClr val="FDBB3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25ACFD-EC08-2FE1-C9EA-789A63A62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480" y="3914522"/>
                <a:ext cx="3474720" cy="446276"/>
              </a:xfrm>
              <a:prstGeom prst="rect">
                <a:avLst/>
              </a:prstGeom>
              <a:blipFill>
                <a:blip r:embed="rId4"/>
                <a:stretch>
                  <a:fillRect l="-1579" t="-9589" b="-30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2898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645C9-BE6B-72C8-EA86-C428FBA3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A6CE2E-8D1E-7005-747F-90FBA29C1CA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Georgia"/>
              </a:rPr>
              <a:t>Real data example: job training and later earnings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DD0B2A-0804-8023-6015-ABB075EE3954}"/>
              </a:ext>
            </a:extLst>
          </p:cNvPr>
          <p:cNvSpPr txBox="1"/>
          <p:nvPr/>
        </p:nvSpPr>
        <p:spPr>
          <a:xfrm>
            <a:off x="360218" y="950183"/>
            <a:ext cx="8498164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800" b="1">
                <a:solidFill>
                  <a:srgbClr val="F0C35A"/>
                </a:solidFill>
                <a:latin typeface="Arial"/>
              </a:rPr>
              <a:t>Causal question: Does participation in the National Supported Work job-training program increase earnings in 1978?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794BCFA-9B3A-46C6-FA62-ACA8F6F742F7}"/>
              </a:ext>
            </a:extLst>
          </p:cNvPr>
          <p:cNvSpPr/>
          <p:nvPr/>
        </p:nvSpPr>
        <p:spPr>
          <a:xfrm>
            <a:off x="724593" y="1778578"/>
            <a:ext cx="3397135" cy="2971800"/>
          </a:xfrm>
          <a:prstGeom prst="roundRect">
            <a:avLst/>
          </a:prstGeom>
          <a:solidFill>
            <a:srgbClr val="1C1C1C"/>
          </a:solidFill>
          <a:ln w="17780">
            <a:solidFill>
              <a:srgbClr val="8ED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422AA4-6DA7-7F97-3B73-07E79E3BA3CA}"/>
              </a:ext>
            </a:extLst>
          </p:cNvPr>
          <p:cNvSpPr txBox="1"/>
          <p:nvPr/>
        </p:nvSpPr>
        <p:spPr>
          <a:xfrm>
            <a:off x="967048" y="1961458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900" b="1">
                <a:solidFill>
                  <a:srgbClr val="8ED1A0"/>
                </a:solidFill>
                <a:latin typeface="Arial"/>
              </a:rPr>
              <a:t>LaLonde / MatchIt data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BBC569B9-F1F2-6F3D-4EB0-B5893A37568C}"/>
              </a:ext>
            </a:extLst>
          </p:cNvPr>
          <p:cNvSpPr txBox="1"/>
          <p:nvPr/>
        </p:nvSpPr>
        <p:spPr>
          <a:xfrm>
            <a:off x="1058488" y="2418658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3000" b="1">
                <a:solidFill>
                  <a:srgbClr val="F4F1EA"/>
                </a:solidFill>
                <a:latin typeface="Arial"/>
              </a:rPr>
              <a:t>614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58CE71BC-9098-2148-EECA-372FA6A0C51D}"/>
              </a:ext>
            </a:extLst>
          </p:cNvPr>
          <p:cNvSpPr txBox="1"/>
          <p:nvPr/>
        </p:nvSpPr>
        <p:spPr>
          <a:xfrm>
            <a:off x="1058488" y="2875858"/>
            <a:ext cx="1005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BEBEB9"/>
                </a:solidFill>
                <a:latin typeface="Arial"/>
              </a:rPr>
              <a:t>people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E7DC5F5A-B34A-6E13-DBF5-B0D935362783}"/>
              </a:ext>
            </a:extLst>
          </p:cNvPr>
          <p:cNvSpPr txBox="1"/>
          <p:nvPr/>
        </p:nvSpPr>
        <p:spPr>
          <a:xfrm>
            <a:off x="2247208" y="2418658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800" b="1">
                <a:solidFill>
                  <a:srgbClr val="70ACE8"/>
                </a:solidFill>
                <a:latin typeface="Arial"/>
              </a:rPr>
              <a:t>185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8E5B1455-EA6C-00F1-D56B-872CE8A52C4E}"/>
              </a:ext>
            </a:extLst>
          </p:cNvPr>
          <p:cNvSpPr txBox="1"/>
          <p:nvPr/>
        </p:nvSpPr>
        <p:spPr>
          <a:xfrm>
            <a:off x="2155768" y="2875858"/>
            <a:ext cx="1005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BEBEB9"/>
                </a:solidFill>
                <a:latin typeface="Arial"/>
              </a:rPr>
              <a:t>treated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98CC8BCC-F9CB-B0DC-46B0-528F80466DF0}"/>
              </a:ext>
            </a:extLst>
          </p:cNvPr>
          <p:cNvSpPr txBox="1"/>
          <p:nvPr/>
        </p:nvSpPr>
        <p:spPr>
          <a:xfrm>
            <a:off x="3070168" y="2418658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800" b="1">
                <a:solidFill>
                  <a:srgbClr val="F6B62F"/>
                </a:solidFill>
                <a:latin typeface="Arial"/>
              </a:rPr>
              <a:t>429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2D9F2D57-C136-AF74-45BF-2E55C1693C88}"/>
              </a:ext>
            </a:extLst>
          </p:cNvPr>
          <p:cNvSpPr txBox="1"/>
          <p:nvPr/>
        </p:nvSpPr>
        <p:spPr>
          <a:xfrm>
            <a:off x="2978728" y="2875858"/>
            <a:ext cx="1005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BEBEB9"/>
                </a:solidFill>
                <a:latin typeface="Arial"/>
              </a:rPr>
              <a:t>controls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7D2590DF-D260-41D9-7131-2B227661BF18}"/>
              </a:ext>
            </a:extLst>
          </p:cNvPr>
          <p:cNvSpPr txBox="1"/>
          <p:nvPr/>
        </p:nvSpPr>
        <p:spPr>
          <a:xfrm>
            <a:off x="948760" y="3345084"/>
            <a:ext cx="292608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500" b="0" dirty="0">
                <a:solidFill>
                  <a:srgbClr val="F6F4F0"/>
                </a:solidFill>
                <a:latin typeface="Arial"/>
              </a:rPr>
              <a:t>Treatment T: job-training participation
Outcome Y: 1978 earnings (re78)</a:t>
            </a:r>
          </a:p>
        </p:txBody>
      </p:sp>
      <p:sp>
        <p:nvSpPr>
          <p:cNvPr id="17" name="Rounded Rectangle 12">
            <a:extLst>
              <a:ext uri="{FF2B5EF4-FFF2-40B4-BE49-F238E27FC236}">
                <a16:creationId xmlns:a16="http://schemas.microsoft.com/office/drawing/2014/main" id="{C3208529-5A0C-41D6-7EAF-4A24566BC536}"/>
              </a:ext>
            </a:extLst>
          </p:cNvPr>
          <p:cNvSpPr/>
          <p:nvPr/>
        </p:nvSpPr>
        <p:spPr>
          <a:xfrm>
            <a:off x="4441768" y="1778578"/>
            <a:ext cx="3977639" cy="2971800"/>
          </a:xfrm>
          <a:prstGeom prst="roundRect">
            <a:avLst/>
          </a:prstGeom>
          <a:solidFill>
            <a:srgbClr val="1C1C1C"/>
          </a:solidFill>
          <a:ln w="1778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0CF91243-D74C-96B5-5E07-5005C4D306C0}"/>
              </a:ext>
            </a:extLst>
          </p:cNvPr>
          <p:cNvSpPr txBox="1"/>
          <p:nvPr/>
        </p:nvSpPr>
        <p:spPr>
          <a:xfrm>
            <a:off x="4716088" y="1988890"/>
            <a:ext cx="3429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800" b="1">
                <a:solidFill>
                  <a:srgbClr val="70ACE8"/>
                </a:solidFill>
                <a:latin typeface="Arial"/>
              </a:rPr>
              <a:t>What was known before treatment?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A9A9EF2E-59AD-AB59-AD6F-D7816A4C46FE}"/>
              </a:ext>
            </a:extLst>
          </p:cNvPr>
          <p:cNvSpPr txBox="1"/>
          <p:nvPr/>
        </p:nvSpPr>
        <p:spPr>
          <a:xfrm>
            <a:off x="4743520" y="2510098"/>
            <a:ext cx="3337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600" b="0">
                <a:solidFill>
                  <a:srgbClr val="F6F4F0"/>
                </a:solidFill>
                <a:latin typeface="Arial"/>
              </a:rPr>
              <a:t>Age • education • race • marital status
No high-school degree • earnings in 1974 • earnings in 1975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69F38D6E-4061-3BFF-F503-0D999A333F6C}"/>
              </a:ext>
            </a:extLst>
          </p:cNvPr>
          <p:cNvSpPr txBox="1"/>
          <p:nvPr/>
        </p:nvSpPr>
        <p:spPr>
          <a:xfrm>
            <a:off x="4716088" y="3515938"/>
            <a:ext cx="3429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700" b="1">
                <a:solidFill>
                  <a:srgbClr val="F6B62F"/>
                </a:solidFill>
                <a:latin typeface="Arial"/>
              </a:rPr>
              <a:t>Call these baseline variables  X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1A39DF07-087C-A3C1-BBA6-7744E503757C}"/>
              </a:ext>
            </a:extLst>
          </p:cNvPr>
          <p:cNvSpPr txBox="1"/>
          <p:nvPr/>
        </p:nvSpPr>
        <p:spPr>
          <a:xfrm>
            <a:off x="4743520" y="3945705"/>
            <a:ext cx="3337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0">
                <a:solidFill>
                  <a:srgbClr val="BEBEB9"/>
                </a:solidFill>
                <a:latin typeface="Arial"/>
              </a:rPr>
              <a:t>These variables may affect both program participation and later earnings.</a:t>
            </a:r>
          </a:p>
        </p:txBody>
      </p:sp>
    </p:spTree>
    <p:extLst>
      <p:ext uri="{BB962C8B-B14F-4D97-AF65-F5344CB8AC3E}">
        <p14:creationId xmlns:p14="http://schemas.microsoft.com/office/powerpoint/2010/main" val="34673935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9625-5DD1-81AC-74D3-0118E7CD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92316-5AC8-CFF5-3F01-7735ABCE3EE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Georgia"/>
              </a:rPr>
              <a:t>What does SCM add?</a:t>
            </a: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3B70F8EB-9C58-AB42-FAFF-8C5542950DA6}"/>
              </a:ext>
            </a:extLst>
          </p:cNvPr>
          <p:cNvSpPr/>
          <p:nvPr/>
        </p:nvSpPr>
        <p:spPr>
          <a:xfrm>
            <a:off x="588125" y="968225"/>
            <a:ext cx="2587336" cy="1179230"/>
          </a:xfrm>
          <a:prstGeom prst="roundRect">
            <a:avLst/>
          </a:prstGeom>
          <a:solidFill>
            <a:srgbClr val="1C1C1C"/>
          </a:solidFill>
          <a:ln w="1778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791D81E-0E42-97E4-D966-C63C0B37A6DE}"/>
              </a:ext>
            </a:extLst>
          </p:cNvPr>
          <p:cNvSpPr txBox="1"/>
          <p:nvPr/>
        </p:nvSpPr>
        <p:spPr>
          <a:xfrm>
            <a:off x="725285" y="1062186"/>
            <a:ext cx="228294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1">
                <a:solidFill>
                  <a:srgbClr val="70ACE8"/>
                </a:solidFill>
                <a:latin typeface="Arial"/>
              </a:rPr>
              <a:t>Treated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C2E84E12-9D36-DD56-6BB3-9104013AD814}"/>
              </a:ext>
            </a:extLst>
          </p:cNvPr>
          <p:cNvSpPr txBox="1"/>
          <p:nvPr/>
        </p:nvSpPr>
        <p:spPr>
          <a:xfrm>
            <a:off x="725285" y="1373015"/>
            <a:ext cx="2282944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600" b="1">
                <a:solidFill>
                  <a:srgbClr val="F4F1EA"/>
                </a:solidFill>
                <a:latin typeface="Arial"/>
              </a:rPr>
              <a:t>$6,349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03932CEB-7619-A6EE-605C-7A12AF3CFB43}"/>
              </a:ext>
            </a:extLst>
          </p:cNvPr>
          <p:cNvSpPr/>
          <p:nvPr/>
        </p:nvSpPr>
        <p:spPr>
          <a:xfrm>
            <a:off x="3239885" y="968225"/>
            <a:ext cx="2587336" cy="1179230"/>
          </a:xfrm>
          <a:prstGeom prst="roundRect">
            <a:avLst/>
          </a:prstGeom>
          <a:solidFill>
            <a:srgbClr val="1C1C1C"/>
          </a:solidFill>
          <a:ln w="17780">
            <a:solidFill>
              <a:srgbClr val="F6B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277E260E-9F50-0D30-1E9C-6042C30B19AB}"/>
              </a:ext>
            </a:extLst>
          </p:cNvPr>
          <p:cNvSpPr txBox="1"/>
          <p:nvPr/>
        </p:nvSpPr>
        <p:spPr>
          <a:xfrm>
            <a:off x="3377045" y="1062186"/>
            <a:ext cx="228294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1">
                <a:solidFill>
                  <a:srgbClr val="F6B62F"/>
                </a:solidFill>
                <a:latin typeface="Arial"/>
              </a:rPr>
              <a:t>Control</a:t>
            </a: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48BD2C9C-BCD0-4A03-257D-29197869DB4E}"/>
              </a:ext>
            </a:extLst>
          </p:cNvPr>
          <p:cNvSpPr txBox="1"/>
          <p:nvPr/>
        </p:nvSpPr>
        <p:spPr>
          <a:xfrm>
            <a:off x="3377045" y="1373015"/>
            <a:ext cx="2282944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600" b="1">
                <a:solidFill>
                  <a:srgbClr val="F4F1EA"/>
                </a:solidFill>
                <a:latin typeface="Arial"/>
              </a:rPr>
              <a:t>$6,984</a:t>
            </a: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7C14355E-B782-C4E4-EAB2-91FC004714F0}"/>
              </a:ext>
            </a:extLst>
          </p:cNvPr>
          <p:cNvSpPr/>
          <p:nvPr/>
        </p:nvSpPr>
        <p:spPr>
          <a:xfrm>
            <a:off x="5891645" y="968225"/>
            <a:ext cx="2587336" cy="1179230"/>
          </a:xfrm>
          <a:prstGeom prst="roundRect">
            <a:avLst/>
          </a:prstGeom>
          <a:solidFill>
            <a:srgbClr val="1C1C1C"/>
          </a:solidFill>
          <a:ln w="17780">
            <a:solidFill>
              <a:srgbClr val="E3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F54DEF33-182C-7AEC-A6DA-D131F7635D5B}"/>
              </a:ext>
            </a:extLst>
          </p:cNvPr>
          <p:cNvSpPr txBox="1"/>
          <p:nvPr/>
        </p:nvSpPr>
        <p:spPr>
          <a:xfrm>
            <a:off x="6028805" y="1062186"/>
            <a:ext cx="228294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1">
                <a:solidFill>
                  <a:srgbClr val="E36D6D"/>
                </a:solidFill>
                <a:latin typeface="Arial"/>
              </a:rPr>
              <a:t>Crude difference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C61AE0D5-4504-0AB8-5132-62A34CA186A3}"/>
              </a:ext>
            </a:extLst>
          </p:cNvPr>
          <p:cNvSpPr txBox="1"/>
          <p:nvPr/>
        </p:nvSpPr>
        <p:spPr>
          <a:xfrm>
            <a:off x="6028805" y="1373015"/>
            <a:ext cx="2282944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600" b="1">
                <a:solidFill>
                  <a:srgbClr val="E36D6D"/>
                </a:solidFill>
                <a:latin typeface="Arial"/>
              </a:rPr>
              <a:t>−$635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4D5D7B94-2172-ABDA-E5D3-2CE8EEECF1FD}"/>
              </a:ext>
            </a:extLst>
          </p:cNvPr>
          <p:cNvSpPr txBox="1"/>
          <p:nvPr/>
        </p:nvSpPr>
        <p:spPr>
          <a:xfrm>
            <a:off x="800100" y="2398014"/>
            <a:ext cx="7543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900" b="1">
                <a:solidFill>
                  <a:srgbClr val="F0C35A"/>
                </a:solidFill>
                <a:latin typeface="Arial"/>
              </a:rPr>
              <a:t>But the groups were already different before treatment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437FF872-0488-A560-0F33-9B9D8F24A90A}"/>
              </a:ext>
            </a:extLst>
          </p:cNvPr>
          <p:cNvSpPr txBox="1"/>
          <p:nvPr/>
        </p:nvSpPr>
        <p:spPr>
          <a:xfrm>
            <a:off x="228600" y="2836025"/>
            <a:ext cx="2338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1" dirty="0">
                <a:solidFill>
                  <a:srgbClr val="8ED1A0"/>
                </a:solidFill>
                <a:latin typeface="Arial"/>
              </a:rPr>
              <a:t>Baseline variable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89A3C027-7999-7774-9A75-101A5D018178}"/>
              </a:ext>
            </a:extLst>
          </p:cNvPr>
          <p:cNvSpPr txBox="1"/>
          <p:nvPr/>
        </p:nvSpPr>
        <p:spPr>
          <a:xfrm>
            <a:off x="2567247" y="2836025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1" dirty="0">
                <a:solidFill>
                  <a:srgbClr val="70ACE8"/>
                </a:solidFill>
                <a:latin typeface="Arial"/>
              </a:rPr>
              <a:t>Treated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396739F7-4EA8-F560-B982-4686A48BBF79}"/>
              </a:ext>
            </a:extLst>
          </p:cNvPr>
          <p:cNvSpPr txBox="1"/>
          <p:nvPr/>
        </p:nvSpPr>
        <p:spPr>
          <a:xfrm>
            <a:off x="4333701" y="2838989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1" dirty="0">
                <a:solidFill>
                  <a:srgbClr val="F6B62F"/>
                </a:solidFill>
                <a:latin typeface="Arial"/>
              </a:rPr>
              <a:t>Control</a:t>
            </a: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10D7556B-5904-785A-6CF3-13A726D4D26C}"/>
              </a:ext>
            </a:extLst>
          </p:cNvPr>
          <p:cNvSpPr txBox="1"/>
          <p:nvPr/>
        </p:nvSpPr>
        <p:spPr>
          <a:xfrm>
            <a:off x="346364" y="3206466"/>
            <a:ext cx="222088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Age</a:t>
            </a: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A6F16E0E-64E4-3C2D-EFE9-47612051041F}"/>
              </a:ext>
            </a:extLst>
          </p:cNvPr>
          <p:cNvSpPr txBox="1"/>
          <p:nvPr/>
        </p:nvSpPr>
        <p:spPr>
          <a:xfrm>
            <a:off x="2567248" y="3220073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25.8</a:t>
            </a:r>
          </a:p>
        </p:txBody>
      </p:sp>
      <p:sp>
        <p:nvSpPr>
          <p:cNvPr id="33" name="TextBox 18">
            <a:extLst>
              <a:ext uri="{FF2B5EF4-FFF2-40B4-BE49-F238E27FC236}">
                <a16:creationId xmlns:a16="http://schemas.microsoft.com/office/drawing/2014/main" id="{9CEA0F27-32BA-1E69-9625-4B802583200D}"/>
              </a:ext>
            </a:extLst>
          </p:cNvPr>
          <p:cNvSpPr txBox="1"/>
          <p:nvPr/>
        </p:nvSpPr>
        <p:spPr>
          <a:xfrm>
            <a:off x="4396047" y="3220073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28.0</a:t>
            </a:r>
          </a:p>
        </p:txBody>
      </p:sp>
      <p:sp>
        <p:nvSpPr>
          <p:cNvPr id="34" name="TextBox 19">
            <a:extLst>
              <a:ext uri="{FF2B5EF4-FFF2-40B4-BE49-F238E27FC236}">
                <a16:creationId xmlns:a16="http://schemas.microsoft.com/office/drawing/2014/main" id="{A1D32E5F-F151-242C-CB48-84CE995661C0}"/>
              </a:ext>
            </a:extLst>
          </p:cNvPr>
          <p:cNvSpPr txBox="1"/>
          <p:nvPr/>
        </p:nvSpPr>
        <p:spPr>
          <a:xfrm>
            <a:off x="498764" y="3544794"/>
            <a:ext cx="206848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 dirty="0">
                <a:solidFill>
                  <a:srgbClr val="F6F4F0"/>
                </a:solidFill>
                <a:latin typeface="Arial"/>
              </a:rPr>
              <a:t>Married</a:t>
            </a:r>
          </a:p>
        </p:txBody>
      </p:sp>
      <p:sp>
        <p:nvSpPr>
          <p:cNvPr id="35" name="TextBox 20">
            <a:extLst>
              <a:ext uri="{FF2B5EF4-FFF2-40B4-BE49-F238E27FC236}">
                <a16:creationId xmlns:a16="http://schemas.microsoft.com/office/drawing/2014/main" id="{BEC1CF74-AF56-9C60-B619-FFDFB13D93FF}"/>
              </a:ext>
            </a:extLst>
          </p:cNvPr>
          <p:cNvSpPr txBox="1"/>
          <p:nvPr/>
        </p:nvSpPr>
        <p:spPr>
          <a:xfrm>
            <a:off x="2567248" y="3558400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18.9%</a:t>
            </a:r>
          </a:p>
        </p:txBody>
      </p:sp>
      <p:sp>
        <p:nvSpPr>
          <p:cNvPr id="36" name="TextBox 21">
            <a:extLst>
              <a:ext uri="{FF2B5EF4-FFF2-40B4-BE49-F238E27FC236}">
                <a16:creationId xmlns:a16="http://schemas.microsoft.com/office/drawing/2014/main" id="{E7E90191-2316-6C53-30FB-39639904A338}"/>
              </a:ext>
            </a:extLst>
          </p:cNvPr>
          <p:cNvSpPr txBox="1"/>
          <p:nvPr/>
        </p:nvSpPr>
        <p:spPr>
          <a:xfrm>
            <a:off x="4396047" y="3558400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51.3%</a:t>
            </a:r>
          </a:p>
        </p:txBody>
      </p:sp>
      <p:sp>
        <p:nvSpPr>
          <p:cNvPr id="37" name="TextBox 22">
            <a:extLst>
              <a:ext uri="{FF2B5EF4-FFF2-40B4-BE49-F238E27FC236}">
                <a16:creationId xmlns:a16="http://schemas.microsoft.com/office/drawing/2014/main" id="{4D84ED5E-2331-9DB8-4EE6-920284986E0C}"/>
              </a:ext>
            </a:extLst>
          </p:cNvPr>
          <p:cNvSpPr txBox="1"/>
          <p:nvPr/>
        </p:nvSpPr>
        <p:spPr>
          <a:xfrm>
            <a:off x="410096" y="3896728"/>
            <a:ext cx="2157152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Black</a:t>
            </a:r>
          </a:p>
        </p:txBody>
      </p:sp>
      <p:sp>
        <p:nvSpPr>
          <p:cNvPr id="38" name="TextBox 23">
            <a:extLst>
              <a:ext uri="{FF2B5EF4-FFF2-40B4-BE49-F238E27FC236}">
                <a16:creationId xmlns:a16="http://schemas.microsoft.com/office/drawing/2014/main" id="{3FEA7205-20FB-B708-21BD-3858BC7F5C6C}"/>
              </a:ext>
            </a:extLst>
          </p:cNvPr>
          <p:cNvSpPr txBox="1"/>
          <p:nvPr/>
        </p:nvSpPr>
        <p:spPr>
          <a:xfrm>
            <a:off x="2567248" y="3896728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84.3%</a:t>
            </a:r>
          </a:p>
        </p:txBody>
      </p:sp>
      <p:sp>
        <p:nvSpPr>
          <p:cNvPr id="39" name="TextBox 24">
            <a:extLst>
              <a:ext uri="{FF2B5EF4-FFF2-40B4-BE49-F238E27FC236}">
                <a16:creationId xmlns:a16="http://schemas.microsoft.com/office/drawing/2014/main" id="{8CA9A204-FF42-3CA8-A4F1-A454BC7E1C9D}"/>
              </a:ext>
            </a:extLst>
          </p:cNvPr>
          <p:cNvSpPr txBox="1"/>
          <p:nvPr/>
        </p:nvSpPr>
        <p:spPr>
          <a:xfrm>
            <a:off x="4396047" y="3896728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20.3%</a:t>
            </a:r>
          </a:p>
        </p:txBody>
      </p:sp>
      <p:sp>
        <p:nvSpPr>
          <p:cNvPr id="40" name="TextBox 25">
            <a:extLst>
              <a:ext uri="{FF2B5EF4-FFF2-40B4-BE49-F238E27FC236}">
                <a16:creationId xmlns:a16="http://schemas.microsoft.com/office/drawing/2014/main" id="{DDAB2A1C-09CF-55CB-61CE-A80708536EFA}"/>
              </a:ext>
            </a:extLst>
          </p:cNvPr>
          <p:cNvSpPr txBox="1"/>
          <p:nvPr/>
        </p:nvSpPr>
        <p:spPr>
          <a:xfrm>
            <a:off x="410096" y="4235057"/>
            <a:ext cx="2157152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 dirty="0">
                <a:solidFill>
                  <a:srgbClr val="F6F4F0"/>
                </a:solidFill>
                <a:latin typeface="Arial"/>
              </a:rPr>
              <a:t>1974 earnings</a:t>
            </a:r>
          </a:p>
        </p:txBody>
      </p:sp>
      <p:sp>
        <p:nvSpPr>
          <p:cNvPr id="41" name="TextBox 26">
            <a:extLst>
              <a:ext uri="{FF2B5EF4-FFF2-40B4-BE49-F238E27FC236}">
                <a16:creationId xmlns:a16="http://schemas.microsoft.com/office/drawing/2014/main" id="{A6A9BC35-E1AD-598E-171A-F6B79E46FAE0}"/>
              </a:ext>
            </a:extLst>
          </p:cNvPr>
          <p:cNvSpPr txBox="1"/>
          <p:nvPr/>
        </p:nvSpPr>
        <p:spPr>
          <a:xfrm>
            <a:off x="2567248" y="4235057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$2,096</a:t>
            </a:r>
          </a:p>
        </p:txBody>
      </p:sp>
      <p:sp>
        <p:nvSpPr>
          <p:cNvPr id="42" name="TextBox 27">
            <a:extLst>
              <a:ext uri="{FF2B5EF4-FFF2-40B4-BE49-F238E27FC236}">
                <a16:creationId xmlns:a16="http://schemas.microsoft.com/office/drawing/2014/main" id="{65B33F31-D55D-2BDC-7CBD-4467DD92000C}"/>
              </a:ext>
            </a:extLst>
          </p:cNvPr>
          <p:cNvSpPr txBox="1"/>
          <p:nvPr/>
        </p:nvSpPr>
        <p:spPr>
          <a:xfrm>
            <a:off x="4396047" y="4235057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$5,619</a:t>
            </a:r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19B2D19E-16FA-2AB6-C84E-FF4E1762D968}"/>
              </a:ext>
            </a:extLst>
          </p:cNvPr>
          <p:cNvSpPr txBox="1"/>
          <p:nvPr/>
        </p:nvSpPr>
        <p:spPr>
          <a:xfrm>
            <a:off x="410096" y="4559779"/>
            <a:ext cx="2157152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1975 earnings</a:t>
            </a:r>
          </a:p>
        </p:txBody>
      </p:sp>
      <p:sp>
        <p:nvSpPr>
          <p:cNvPr id="44" name="TextBox 29">
            <a:extLst>
              <a:ext uri="{FF2B5EF4-FFF2-40B4-BE49-F238E27FC236}">
                <a16:creationId xmlns:a16="http://schemas.microsoft.com/office/drawing/2014/main" id="{8CF64B73-0FBF-55A2-D5F2-CFD63A5AC75B}"/>
              </a:ext>
            </a:extLst>
          </p:cNvPr>
          <p:cNvSpPr txBox="1"/>
          <p:nvPr/>
        </p:nvSpPr>
        <p:spPr>
          <a:xfrm>
            <a:off x="2567248" y="4573385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$1,532</a:t>
            </a:r>
          </a:p>
        </p:txBody>
      </p:sp>
      <p:sp>
        <p:nvSpPr>
          <p:cNvPr id="45" name="TextBox 30">
            <a:extLst>
              <a:ext uri="{FF2B5EF4-FFF2-40B4-BE49-F238E27FC236}">
                <a16:creationId xmlns:a16="http://schemas.microsoft.com/office/drawing/2014/main" id="{1519614B-9F59-08A9-D080-B5E6B3A0B4A1}"/>
              </a:ext>
            </a:extLst>
          </p:cNvPr>
          <p:cNvSpPr txBox="1"/>
          <p:nvPr/>
        </p:nvSpPr>
        <p:spPr>
          <a:xfrm>
            <a:off x="4396047" y="4573385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$2,466</a:t>
            </a:r>
          </a:p>
        </p:txBody>
      </p:sp>
      <p:sp>
        <p:nvSpPr>
          <p:cNvPr id="46" name="TextBox 31">
            <a:extLst>
              <a:ext uri="{FF2B5EF4-FFF2-40B4-BE49-F238E27FC236}">
                <a16:creationId xmlns:a16="http://schemas.microsoft.com/office/drawing/2014/main" id="{454B08AD-1D79-3CF4-1E98-65E447CC4C30}"/>
              </a:ext>
            </a:extLst>
          </p:cNvPr>
          <p:cNvSpPr txBox="1"/>
          <p:nvPr/>
        </p:nvSpPr>
        <p:spPr>
          <a:xfrm>
            <a:off x="6007329" y="3452004"/>
            <a:ext cx="2726575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500" b="1" dirty="0">
                <a:solidFill>
                  <a:srgbClr val="E36D6D"/>
                </a:solidFill>
                <a:latin typeface="Arial"/>
              </a:rPr>
              <a:t>So −$635 is an observed association, not automatically the causal effect of training.</a:t>
            </a:r>
          </a:p>
        </p:txBody>
      </p:sp>
    </p:spTree>
    <p:extLst>
      <p:ext uri="{BB962C8B-B14F-4D97-AF65-F5344CB8AC3E}">
        <p14:creationId xmlns:p14="http://schemas.microsoft.com/office/powerpoint/2010/main" val="2818110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3F4C4-ECCF-069A-9E68-AC3F4182A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663B71-F549-E1C0-5B28-FB14CBBA9C6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Georgia"/>
              </a:rPr>
              <a:t>What do observed data say?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807D4-73B8-2707-AF79-9B62CC6C4541}"/>
              </a:ext>
            </a:extLst>
          </p:cNvPr>
          <p:cNvSpPr txBox="1"/>
          <p:nvPr/>
        </p:nvSpPr>
        <p:spPr>
          <a:xfrm>
            <a:off x="182880" y="1195716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800" b="1">
                <a:solidFill>
                  <a:srgbClr val="8ED1A0"/>
                </a:solidFill>
                <a:latin typeface="Arial"/>
              </a:rPr>
              <a:t>A plausible causal story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74355F-0479-FA27-69E6-9F2502A48773}"/>
              </a:ext>
            </a:extLst>
          </p:cNvPr>
          <p:cNvSpPr/>
          <p:nvPr/>
        </p:nvSpPr>
        <p:spPr>
          <a:xfrm>
            <a:off x="457200" y="1726068"/>
            <a:ext cx="1600200" cy="566928"/>
          </a:xfrm>
          <a:prstGeom prst="roundRect">
            <a:avLst/>
          </a:prstGeom>
          <a:solidFill>
            <a:srgbClr val="191919"/>
          </a:solidFill>
          <a:ln w="17780">
            <a:solidFill>
              <a:srgbClr val="8ED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618D5-A5EF-14E5-944B-C9AA15E886D9}"/>
              </a:ext>
            </a:extLst>
          </p:cNvPr>
          <p:cNvSpPr txBox="1"/>
          <p:nvPr/>
        </p:nvSpPr>
        <p:spPr>
          <a:xfrm>
            <a:off x="457200" y="1744356"/>
            <a:ext cx="1600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600" b="1">
                <a:solidFill>
                  <a:srgbClr val="F6F4F0"/>
                </a:solidFill>
                <a:latin typeface="Arial"/>
              </a:rPr>
              <a:t>Baseline X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BFD17B46-6B36-1793-74C6-79516BE03664}"/>
              </a:ext>
            </a:extLst>
          </p:cNvPr>
          <p:cNvSpPr/>
          <p:nvPr/>
        </p:nvSpPr>
        <p:spPr>
          <a:xfrm>
            <a:off x="457200" y="2951364"/>
            <a:ext cx="1600200" cy="566928"/>
          </a:xfrm>
          <a:prstGeom prst="roundRect">
            <a:avLst/>
          </a:prstGeom>
          <a:solidFill>
            <a:srgbClr val="191919"/>
          </a:solidFill>
          <a:ln w="1778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6CB5D90-5121-9410-FA54-0F40A7D9AC3B}"/>
              </a:ext>
            </a:extLst>
          </p:cNvPr>
          <p:cNvSpPr txBox="1"/>
          <p:nvPr/>
        </p:nvSpPr>
        <p:spPr>
          <a:xfrm>
            <a:off x="457200" y="2969652"/>
            <a:ext cx="1600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600" b="1">
                <a:solidFill>
                  <a:srgbClr val="F6F4F0"/>
                </a:solidFill>
                <a:latin typeface="Arial"/>
              </a:rPr>
              <a:t>Training T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24373EDE-1FE7-7677-8DCF-E83E4A8F6432}"/>
              </a:ext>
            </a:extLst>
          </p:cNvPr>
          <p:cNvSpPr/>
          <p:nvPr/>
        </p:nvSpPr>
        <p:spPr>
          <a:xfrm>
            <a:off x="3154680" y="2338716"/>
            <a:ext cx="1600200" cy="566928"/>
          </a:xfrm>
          <a:prstGeom prst="roundRect">
            <a:avLst/>
          </a:prstGeom>
          <a:solidFill>
            <a:srgbClr val="191919"/>
          </a:solidFill>
          <a:ln w="17780">
            <a:solidFill>
              <a:srgbClr val="F6B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BEC6A5CB-7488-5263-AFCB-6643EE9BE7EF}"/>
              </a:ext>
            </a:extLst>
          </p:cNvPr>
          <p:cNvSpPr txBox="1"/>
          <p:nvPr/>
        </p:nvSpPr>
        <p:spPr>
          <a:xfrm>
            <a:off x="3154680" y="2357004"/>
            <a:ext cx="1600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600" b="1">
                <a:solidFill>
                  <a:srgbClr val="F6F4F0"/>
                </a:solidFill>
                <a:latin typeface="Arial"/>
              </a:rPr>
              <a:t>Earnings Y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643E42-01F3-5D02-1560-A91619DC6EA0}"/>
              </a:ext>
            </a:extLst>
          </p:cNvPr>
          <p:cNvCxnSpPr>
            <a:stCxn id="4" idx="3"/>
          </p:cNvCxnSpPr>
          <p:nvPr/>
        </p:nvCxnSpPr>
        <p:spPr>
          <a:xfrm>
            <a:off x="2057400" y="2009532"/>
            <a:ext cx="1097280" cy="484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DEBD6E1-5AD1-A5C8-A0B8-69969FD1E84C}"/>
              </a:ext>
            </a:extLst>
          </p:cNvPr>
          <p:cNvCxnSpPr>
            <a:cxnSpLocks/>
          </p:cNvCxnSpPr>
          <p:nvPr/>
        </p:nvCxnSpPr>
        <p:spPr>
          <a:xfrm>
            <a:off x="1177636" y="2292996"/>
            <a:ext cx="0" cy="658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0F6627-AAF1-4826-5E75-3D5183D6D318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2057400" y="2622180"/>
            <a:ext cx="1097280" cy="612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16">
            <a:extLst>
              <a:ext uri="{FF2B5EF4-FFF2-40B4-BE49-F238E27FC236}">
                <a16:creationId xmlns:a16="http://schemas.microsoft.com/office/drawing/2014/main" id="{94849E01-4DCB-7DB5-D8D1-56D3BB43334D}"/>
              </a:ext>
            </a:extLst>
          </p:cNvPr>
          <p:cNvSpPr/>
          <p:nvPr/>
        </p:nvSpPr>
        <p:spPr>
          <a:xfrm>
            <a:off x="5131722" y="1167938"/>
            <a:ext cx="3726659" cy="1316736"/>
          </a:xfrm>
          <a:prstGeom prst="roundRect">
            <a:avLst/>
          </a:prstGeom>
          <a:solidFill>
            <a:srgbClr val="1C1C1C"/>
          </a:solidFill>
          <a:ln w="17780">
            <a:solidFill>
              <a:srgbClr val="E3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53" name="TextBox 17">
            <a:extLst>
              <a:ext uri="{FF2B5EF4-FFF2-40B4-BE49-F238E27FC236}">
                <a16:creationId xmlns:a16="http://schemas.microsoft.com/office/drawing/2014/main" id="{11D7B1ED-DF31-E2D1-8DD4-56E08507133A}"/>
              </a:ext>
            </a:extLst>
          </p:cNvPr>
          <p:cNvSpPr txBox="1"/>
          <p:nvPr/>
        </p:nvSpPr>
        <p:spPr>
          <a:xfrm>
            <a:off x="5131722" y="1327958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600" b="1" dirty="0">
                <a:solidFill>
                  <a:srgbClr val="E36D6D"/>
                </a:solidFill>
                <a:latin typeface="Arial"/>
              </a:rPr>
              <a:t>What we observed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18">
                <a:extLst>
                  <a:ext uri="{FF2B5EF4-FFF2-40B4-BE49-F238E27FC236}">
                    <a16:creationId xmlns:a16="http://schemas.microsoft.com/office/drawing/2014/main" id="{0242C634-7067-9DF1-9F59-BC57636D9663}"/>
                  </a:ext>
                </a:extLst>
              </p:cNvPr>
              <p:cNvSpPr txBox="1"/>
              <p:nvPr/>
            </p:nvSpPr>
            <p:spPr>
              <a:xfrm>
                <a:off x="5270268" y="1670858"/>
                <a:ext cx="3416532" cy="6463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] − 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sz="1800" b="1" dirty="0">
                  <a:solidFill>
                    <a:srgbClr val="F6F4F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54" name="TextBox 18">
                <a:extLst>
                  <a:ext uri="{FF2B5EF4-FFF2-40B4-BE49-F238E27FC236}">
                    <a16:creationId xmlns:a16="http://schemas.microsoft.com/office/drawing/2014/main" id="{0242C634-7067-9DF1-9F59-BC57636D9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268" y="1670858"/>
                <a:ext cx="3416532" cy="646331"/>
              </a:xfrm>
              <a:prstGeom prst="rect">
                <a:avLst/>
              </a:prstGeom>
              <a:blipFill>
                <a:blip r:embed="rId2"/>
                <a:stretch>
                  <a:fillRect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ounded Rectangle 19">
            <a:extLst>
              <a:ext uri="{FF2B5EF4-FFF2-40B4-BE49-F238E27FC236}">
                <a16:creationId xmlns:a16="http://schemas.microsoft.com/office/drawing/2014/main" id="{D51BA928-F99A-34CF-5DBF-9D94B5B3BECE}"/>
              </a:ext>
            </a:extLst>
          </p:cNvPr>
          <p:cNvSpPr/>
          <p:nvPr/>
        </p:nvSpPr>
        <p:spPr>
          <a:xfrm>
            <a:off x="5131723" y="2749850"/>
            <a:ext cx="3726658" cy="1316736"/>
          </a:xfrm>
          <a:prstGeom prst="roundRect">
            <a:avLst/>
          </a:prstGeom>
          <a:solidFill>
            <a:srgbClr val="1C1C1C"/>
          </a:solidFill>
          <a:ln w="17780">
            <a:solidFill>
              <a:srgbClr val="F0C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56" name="TextBox 20">
            <a:extLst>
              <a:ext uri="{FF2B5EF4-FFF2-40B4-BE49-F238E27FC236}">
                <a16:creationId xmlns:a16="http://schemas.microsoft.com/office/drawing/2014/main" id="{22FFE5CD-DEF3-828C-3D45-5353C461520B}"/>
              </a:ext>
            </a:extLst>
          </p:cNvPr>
          <p:cNvSpPr txBox="1"/>
          <p:nvPr/>
        </p:nvSpPr>
        <p:spPr>
          <a:xfrm>
            <a:off x="5360323" y="2887010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600" b="1" dirty="0">
                <a:solidFill>
                  <a:srgbClr val="F0C35A"/>
                </a:solidFill>
                <a:latin typeface="Arial"/>
              </a:rPr>
              <a:t>What we want causally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21">
                <a:extLst>
                  <a:ext uri="{FF2B5EF4-FFF2-40B4-BE49-F238E27FC236}">
                    <a16:creationId xmlns:a16="http://schemas.microsoft.com/office/drawing/2014/main" id="{F4696BF5-0F07-5B36-C565-18AFC137F05B}"/>
                  </a:ext>
                </a:extLst>
              </p:cNvPr>
              <p:cNvSpPr txBox="1"/>
              <p:nvPr/>
            </p:nvSpPr>
            <p:spPr>
              <a:xfrm>
                <a:off x="5190188" y="3408218"/>
                <a:ext cx="3726658" cy="353943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𝒅𝒐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)] − 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𝒅𝒐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sz="1700" b="1" dirty="0">
                  <a:solidFill>
                    <a:srgbClr val="F6F4F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57" name="TextBox 21">
                <a:extLst>
                  <a:ext uri="{FF2B5EF4-FFF2-40B4-BE49-F238E27FC236}">
                    <a16:creationId xmlns:a16="http://schemas.microsoft.com/office/drawing/2014/main" id="{F4696BF5-0F07-5B36-C565-18AFC137F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188" y="3408218"/>
                <a:ext cx="3726658" cy="353943"/>
              </a:xfrm>
              <a:prstGeom prst="rect">
                <a:avLst/>
              </a:prstGeom>
              <a:blipFill>
                <a:blip r:embed="rId3"/>
                <a:stretch>
                  <a:fillRect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22">
            <a:extLst>
              <a:ext uri="{FF2B5EF4-FFF2-40B4-BE49-F238E27FC236}">
                <a16:creationId xmlns:a16="http://schemas.microsoft.com/office/drawing/2014/main" id="{E418D4E3-9ED1-17F6-DD44-63B934B4E811}"/>
              </a:ext>
            </a:extLst>
          </p:cNvPr>
          <p:cNvSpPr txBox="1"/>
          <p:nvPr/>
        </p:nvSpPr>
        <p:spPr>
          <a:xfrm>
            <a:off x="457200" y="4257223"/>
            <a:ext cx="7818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500" b="1">
                <a:solidFill>
                  <a:srgbClr val="F6B62F"/>
                </a:solidFill>
                <a:latin typeface="Arial"/>
              </a:rPr>
              <a:t>SCM tells us what “force training” versus “force no training” means. It does not make −$635 causal; assumptions and appropriate adjustment are still needed.</a:t>
            </a:r>
          </a:p>
        </p:txBody>
      </p:sp>
    </p:spTree>
    <p:extLst>
      <p:ext uri="{BB962C8B-B14F-4D97-AF65-F5344CB8AC3E}">
        <p14:creationId xmlns:p14="http://schemas.microsoft.com/office/powerpoint/2010/main" val="36095387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8EF31-8D0E-8EF0-220B-812365D5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84A4AE-08D7-862D-A79D-C2D44EF8224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Georgia"/>
              </a:rPr>
              <a:t>Next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04FFBA-5857-61CC-B5C0-DB8FD2D9E848}"/>
              </a:ext>
            </a:extLst>
          </p:cNvPr>
          <p:cNvSpPr txBox="1"/>
          <p:nvPr/>
        </p:nvSpPr>
        <p:spPr>
          <a:xfrm>
            <a:off x="787791" y="946052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F5F5F5"/>
                </a:solidFill>
                <a:latin typeface="Arial"/>
              </a:rPr>
              <a:t>SCM gave us a precise target: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A652B3-C185-189D-5FD7-25A14CA83C0B}"/>
              </a:ext>
            </a:extLst>
          </p:cNvPr>
          <p:cNvSpPr txBox="1"/>
          <p:nvPr/>
        </p:nvSpPr>
        <p:spPr>
          <a:xfrm>
            <a:off x="1519311" y="1494692"/>
            <a:ext cx="6217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0" dirty="0">
                <a:solidFill>
                  <a:srgbClr val="FDBB30"/>
                </a:solidFill>
                <a:latin typeface="Cambria Math"/>
              </a:rPr>
              <a:t>E[Y | do(T=1)] − E[Y | do(T=0)]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2C55B8-ECB7-E2B6-4E14-E201235DD87D}"/>
              </a:ext>
            </a:extLst>
          </p:cNvPr>
          <p:cNvSpPr txBox="1"/>
          <p:nvPr/>
        </p:nvSpPr>
        <p:spPr>
          <a:xfrm>
            <a:off x="731520" y="2465363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70ACE8"/>
                </a:solidFill>
                <a:latin typeface="Arial"/>
              </a:rPr>
              <a:t>Next question: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856C86-026A-175F-BDFC-ED66290F7BDD}"/>
              </a:ext>
            </a:extLst>
          </p:cNvPr>
          <p:cNvSpPr txBox="1"/>
          <p:nvPr/>
        </p:nvSpPr>
        <p:spPr>
          <a:xfrm>
            <a:off x="626011" y="3003451"/>
            <a:ext cx="7624689" cy="8018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dirty="0">
                <a:solidFill>
                  <a:srgbClr val="F5F5F5"/>
                </a:solidFill>
                <a:latin typeface="Arial"/>
              </a:rPr>
              <a:t>When can we learn that intervention effect from the data we actually observe?</a:t>
            </a: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96553006-F33D-96C3-36D1-3EECC7BB4459}"/>
              </a:ext>
            </a:extLst>
          </p:cNvPr>
          <p:cNvSpPr/>
          <p:nvPr/>
        </p:nvSpPr>
        <p:spPr>
          <a:xfrm>
            <a:off x="1828800" y="3928403"/>
            <a:ext cx="5486400" cy="594360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2000" b="1">
                <a:solidFill>
                  <a:srgbClr val="78C28C"/>
                </a:solidFill>
                <a:latin typeface="Arial"/>
              </a:rPr>
              <a:t>Next: randomized experiments and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39556500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DC2C8-F4D6-846E-FC54-2283A671F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234D89-AAD5-0B68-DADD-54C318A375E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Georgia"/>
              </a:rPr>
              <a:t>Bridge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2ADD2BA-6DC1-E4C5-C5DF-BF5CE7F0461D}"/>
              </a:ext>
            </a:extLst>
          </p:cNvPr>
          <p:cNvSpPr/>
          <p:nvPr/>
        </p:nvSpPr>
        <p:spPr>
          <a:xfrm>
            <a:off x="137160" y="1141355"/>
            <a:ext cx="2697480" cy="3601683"/>
          </a:xfrm>
          <a:prstGeom prst="roundRect">
            <a:avLst>
              <a:gd name="adj" fmla="val 2254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385EAF0-D21A-1E8F-1FE7-66350B3B74D7}"/>
              </a:ext>
            </a:extLst>
          </p:cNvPr>
          <p:cNvSpPr/>
          <p:nvPr/>
        </p:nvSpPr>
        <p:spPr>
          <a:xfrm>
            <a:off x="283464" y="1260228"/>
            <a:ext cx="295351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SCM gave us a target</a:t>
            </a:r>
            <a:endParaRPr lang="en-US" sz="155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F0E615F1-117D-1A5C-464C-28155BD2A339}"/>
                  </a:ext>
                </a:extLst>
              </p:cNvPr>
              <p:cNvSpPr/>
              <p:nvPr/>
            </p:nvSpPr>
            <p:spPr>
              <a:xfrm>
                <a:off x="283464" y="1552835"/>
                <a:ext cx="2516376" cy="2927065"/>
              </a:xfrm>
              <a:prstGeom prst="rect">
                <a:avLst/>
              </a:prstGeom>
              <a:noFill/>
              <a:ln/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𝐸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[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𝑌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 | 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𝑑𝑜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(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𝑇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=1)]</m:t>
                      </m:r>
                    </m:oMath>
                  </m:oMathPara>
                </a14:m>
                <a:endParaRPr lang="en-US" sz="23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− 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𝐸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[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𝑌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 | 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𝑑𝑜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(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𝑇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=0)]</m:t>
                      </m:r>
                    </m:oMath>
                  </m:oMathPara>
                </a14:m>
                <a:endParaRPr lang="en-US" sz="2300" dirty="0"/>
              </a:p>
            </p:txBody>
          </p:sp>
        </mc:Choice>
        <mc:Fallback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F0E615F1-117D-1A5C-464C-28155BD2A3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4" y="1552835"/>
                <a:ext cx="2516376" cy="2927065"/>
              </a:xfrm>
              <a:prstGeom prst="rect">
                <a:avLst/>
              </a:prstGeom>
              <a:blipFill>
                <a:blip r:embed="rId2"/>
                <a:stretch>
                  <a:fillRect l="-971" r="-169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4">
            <a:extLst>
              <a:ext uri="{FF2B5EF4-FFF2-40B4-BE49-F238E27FC236}">
                <a16:creationId xmlns:a16="http://schemas.microsoft.com/office/drawing/2014/main" id="{567D9E77-EEF6-0E8E-3A40-4D5910A855F2}"/>
              </a:ext>
            </a:extLst>
          </p:cNvPr>
          <p:cNvSpPr/>
          <p:nvPr/>
        </p:nvSpPr>
        <p:spPr>
          <a:xfrm>
            <a:off x="3383280" y="1141360"/>
            <a:ext cx="2523744" cy="3601678"/>
          </a:xfrm>
          <a:prstGeom prst="roundRect">
            <a:avLst>
              <a:gd name="adj" fmla="val 2254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6F9F4DA8-FE5E-E25C-EC4E-C36C12C3B3C1}"/>
              </a:ext>
            </a:extLst>
          </p:cNvPr>
          <p:cNvSpPr/>
          <p:nvPr/>
        </p:nvSpPr>
        <p:spPr>
          <a:xfrm>
            <a:off x="3529584" y="1268313"/>
            <a:ext cx="295351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Observed data give us</a:t>
            </a:r>
            <a:endParaRPr lang="en-US" sz="155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6">
                <a:extLst>
                  <a:ext uri="{FF2B5EF4-FFF2-40B4-BE49-F238E27FC236}">
                    <a16:creationId xmlns:a16="http://schemas.microsoft.com/office/drawing/2014/main" id="{F08CE210-95A0-61A4-3B15-62E7EF033608}"/>
                  </a:ext>
                </a:extLst>
              </p:cNvPr>
              <p:cNvSpPr/>
              <p:nvPr/>
            </p:nvSpPr>
            <p:spPr>
              <a:xfrm>
                <a:off x="3418080" y="1542967"/>
                <a:ext cx="2549400" cy="3035797"/>
              </a:xfrm>
              <a:prstGeom prst="rect">
                <a:avLst/>
              </a:prstGeom>
              <a:noFill/>
              <a:ln/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𝐸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[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𝑌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 | 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𝑇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=1]</m:t>
                      </m:r>
                    </m:oMath>
                  </m:oMathPara>
                </a14:m>
                <a:endParaRPr lang="en-US" sz="23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− 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𝐸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[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𝑌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 | 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𝑇</m:t>
                      </m:r>
                      <m:r>
                        <a:rPr lang="en-US" sz="23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=0]</m:t>
                      </m:r>
                    </m:oMath>
                  </m:oMathPara>
                </a14:m>
                <a:endParaRPr lang="en-US" sz="2300" dirty="0"/>
              </a:p>
            </p:txBody>
          </p:sp>
        </mc:Choice>
        <mc:Fallback>
          <p:sp>
            <p:nvSpPr>
              <p:cNvPr id="18" name="Text 6">
                <a:extLst>
                  <a:ext uri="{FF2B5EF4-FFF2-40B4-BE49-F238E27FC236}">
                    <a16:creationId xmlns:a16="http://schemas.microsoft.com/office/drawing/2014/main" id="{F08CE210-95A0-61A4-3B15-62E7EF0336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080" y="1542967"/>
                <a:ext cx="2549400" cy="30357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hape 7">
            <a:extLst>
              <a:ext uri="{FF2B5EF4-FFF2-40B4-BE49-F238E27FC236}">
                <a16:creationId xmlns:a16="http://schemas.microsoft.com/office/drawing/2014/main" id="{3F09EF92-B2E7-B433-950F-D3595958ABE2}"/>
              </a:ext>
            </a:extLst>
          </p:cNvPr>
          <p:cNvSpPr/>
          <p:nvPr/>
        </p:nvSpPr>
        <p:spPr>
          <a:xfrm>
            <a:off x="6483096" y="1151556"/>
            <a:ext cx="2488944" cy="3512542"/>
          </a:xfrm>
          <a:prstGeom prst="roundRect">
            <a:avLst>
              <a:gd name="adj" fmla="val 2254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F5B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19EC6FD6-0BE6-B8BA-592B-9EEB6CA25414}"/>
              </a:ext>
            </a:extLst>
          </p:cNvPr>
          <p:cNvSpPr/>
          <p:nvPr/>
        </p:nvSpPr>
        <p:spPr>
          <a:xfrm>
            <a:off x="6629400" y="1270427"/>
            <a:ext cx="295351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Identification asks</a:t>
            </a:r>
            <a:endParaRPr lang="en-US" sz="1550" dirty="0">
              <a:latin typeface="+mn-lt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DA4AC04A-EC01-42EF-E4E8-1EBC45EA8775}"/>
              </a:ext>
            </a:extLst>
          </p:cNvPr>
          <p:cNvSpPr/>
          <p:nvPr/>
        </p:nvSpPr>
        <p:spPr>
          <a:xfrm>
            <a:off x="6629400" y="1563035"/>
            <a:ext cx="2146209" cy="301572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When are these two comparisons equal?</a:t>
            </a:r>
            <a:endParaRPr lang="en-US" sz="2200" dirty="0">
              <a:latin typeface="+mn-lt"/>
            </a:endParaRPr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77ECED7B-1815-DC68-69BE-7AF9674BD497}"/>
              </a:ext>
            </a:extLst>
          </p:cNvPr>
          <p:cNvSpPr/>
          <p:nvPr/>
        </p:nvSpPr>
        <p:spPr>
          <a:xfrm>
            <a:off x="2834640" y="2928053"/>
            <a:ext cx="548640" cy="0"/>
          </a:xfrm>
          <a:prstGeom prst="line">
            <a:avLst/>
          </a:prstGeom>
          <a:noFill/>
          <a:ln w="15240">
            <a:solidFill>
              <a:srgbClr val="F5F5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E97FD934-EF7B-9E6D-69B9-3B87D0B6749C}"/>
              </a:ext>
            </a:extLst>
          </p:cNvPr>
          <p:cNvSpPr/>
          <p:nvPr/>
        </p:nvSpPr>
        <p:spPr>
          <a:xfrm>
            <a:off x="5907024" y="2917853"/>
            <a:ext cx="548640" cy="0"/>
          </a:xfrm>
          <a:prstGeom prst="line">
            <a:avLst/>
          </a:prstGeom>
          <a:noFill/>
          <a:ln w="15240">
            <a:solidFill>
              <a:srgbClr val="F5F5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669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8116C-F306-61BC-4031-97FFC6670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6B3F72-1D65-96C0-E466-136FC65D71C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Georgia"/>
              </a:rPr>
              <a:t>Identification Question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13A4AE7-5208-AF0B-17E9-6BA7A1970B1A}"/>
              </a:ext>
            </a:extLst>
          </p:cNvPr>
          <p:cNvSpPr/>
          <p:nvPr/>
        </p:nvSpPr>
        <p:spPr>
          <a:xfrm>
            <a:off x="-130252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Causal estimand</a:t>
            </a:r>
            <a:endParaRPr lang="en-US" sz="200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2">
                <a:extLst>
                  <a:ext uri="{FF2B5EF4-FFF2-40B4-BE49-F238E27FC236}">
                    <a16:creationId xmlns:a16="http://schemas.microsoft.com/office/drawing/2014/main" id="{2DB6D4ED-413E-2CDA-A1AF-0A966404A435}"/>
                  </a:ext>
                </a:extLst>
              </p:cNvPr>
              <p:cNvSpPr/>
              <p:nvPr/>
            </p:nvSpPr>
            <p:spPr>
              <a:xfrm>
                <a:off x="169188" y="1917800"/>
                <a:ext cx="2721162" cy="566401"/>
              </a:xfrm>
              <a:prstGeom prst="rect">
                <a:avLst/>
              </a:prstGeom>
              <a:noFill/>
              <a:ln/>
            </p:spPr>
            <p:txBody>
              <a:bodyPr wrap="square" lIns="762" tIns="762" rIns="762" bIns="762" rtlCol="0" anchor="ctr">
                <a:normAutofit fontScale="85000"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(1)] − 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(0)]</m:t>
                      </m:r>
                    </m:oMath>
                  </m:oMathPara>
                </a14:m>
                <a:endParaRPr lang="en-US" sz="2700" dirty="0"/>
              </a:p>
            </p:txBody>
          </p:sp>
        </mc:Choice>
        <mc:Fallback>
          <p:sp>
            <p:nvSpPr>
              <p:cNvPr id="8" name="Text 2">
                <a:extLst>
                  <a:ext uri="{FF2B5EF4-FFF2-40B4-BE49-F238E27FC236}">
                    <a16:creationId xmlns:a16="http://schemas.microsoft.com/office/drawing/2014/main" id="{2DB6D4ED-413E-2CDA-A1AF-0A966404A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8" y="1917800"/>
                <a:ext cx="2721162" cy="566401"/>
              </a:xfrm>
              <a:prstGeom prst="rect">
                <a:avLst/>
              </a:prstGeom>
              <a:blipFill>
                <a:blip r:embed="rId2"/>
                <a:stretch>
                  <a:fillRect b="-537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3">
            <a:extLst>
              <a:ext uri="{FF2B5EF4-FFF2-40B4-BE49-F238E27FC236}">
                <a16:creationId xmlns:a16="http://schemas.microsoft.com/office/drawing/2014/main" id="{EF698366-FF48-BDCD-43E8-368B9156942C}"/>
              </a:ext>
            </a:extLst>
          </p:cNvPr>
          <p:cNvSpPr/>
          <p:nvPr/>
        </p:nvSpPr>
        <p:spPr>
          <a:xfrm>
            <a:off x="3103237" y="1402120"/>
            <a:ext cx="329184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Observed distribution</a:t>
            </a:r>
            <a:endParaRPr lang="en-US" sz="200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4">
                <a:extLst>
                  <a:ext uri="{FF2B5EF4-FFF2-40B4-BE49-F238E27FC236}">
                    <a16:creationId xmlns:a16="http://schemas.microsoft.com/office/drawing/2014/main" id="{0DF0E1B3-DE0E-49E4-ACC9-90B7B5AC9099}"/>
                  </a:ext>
                </a:extLst>
              </p:cNvPr>
              <p:cNvSpPr/>
              <p:nvPr/>
            </p:nvSpPr>
            <p:spPr>
              <a:xfrm>
                <a:off x="3243490" y="1893579"/>
                <a:ext cx="3291840" cy="640070"/>
              </a:xfrm>
              <a:prstGeom prst="rect">
                <a:avLst/>
              </a:prstGeom>
              <a:noFill/>
              <a:ln/>
            </p:spPr>
            <p:txBody>
              <a:bodyPr wrap="square" lIns="762" tIns="762" rIns="762" bIns="762" rtlCol="0" anchor="ctr">
                <a:normAutofit fontScale="85000"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2400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2400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| </m:t>
                      </m:r>
                      <m:r>
                        <a:rPr lang="en-US" sz="2400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  <m:r>
                        <a:rPr lang="en-US" sz="2400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=1] − </m:t>
                      </m:r>
                      <m:r>
                        <a:rPr lang="en-US" sz="2400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2400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2400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2400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| </m:t>
                      </m:r>
                      <m:r>
                        <a:rPr lang="en-US" sz="2400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  <m:r>
                        <a:rPr lang="en-US" sz="2400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=0]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 4">
                <a:extLst>
                  <a:ext uri="{FF2B5EF4-FFF2-40B4-BE49-F238E27FC236}">
                    <a16:creationId xmlns:a16="http://schemas.microsoft.com/office/drawing/2014/main" id="{0DF0E1B3-DE0E-49E4-ACC9-90B7B5AC90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490" y="1893579"/>
                <a:ext cx="3291840" cy="640070"/>
              </a:xfrm>
              <a:prstGeom prst="rect">
                <a:avLst/>
              </a:prstGeom>
              <a:blipFill>
                <a:blip r:embed="rId3"/>
                <a:stretch>
                  <a:fillRect l="-37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5">
            <a:extLst>
              <a:ext uri="{FF2B5EF4-FFF2-40B4-BE49-F238E27FC236}">
                <a16:creationId xmlns:a16="http://schemas.microsoft.com/office/drawing/2014/main" id="{051668FC-92D2-551F-E78B-3DB3EA0E868A}"/>
              </a:ext>
            </a:extLst>
          </p:cNvPr>
          <p:cNvSpPr/>
          <p:nvPr/>
        </p:nvSpPr>
        <p:spPr>
          <a:xfrm>
            <a:off x="6683826" y="1392206"/>
            <a:ext cx="2596952" cy="37617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Identification</a:t>
            </a:r>
            <a:endParaRPr lang="en-US" sz="2000" dirty="0">
              <a:latin typeface="+mn-lt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31471748-D1AA-27C3-33A7-A45407D6EF11}"/>
              </a:ext>
            </a:extLst>
          </p:cNvPr>
          <p:cNvSpPr/>
          <p:nvPr/>
        </p:nvSpPr>
        <p:spPr>
          <a:xfrm>
            <a:off x="6820605" y="1989141"/>
            <a:ext cx="2323395" cy="131093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 set of assumptions that lets us rewrite the causal estimand using the observed-data distribution.</a:t>
            </a:r>
            <a:endParaRPr lang="en-US" sz="1700" dirty="0">
              <a:latin typeface="+mn-lt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09C4195E-AE67-3043-EDDD-70EB2D34650C}"/>
              </a:ext>
            </a:extLst>
          </p:cNvPr>
          <p:cNvSpPr/>
          <p:nvPr/>
        </p:nvSpPr>
        <p:spPr>
          <a:xfrm>
            <a:off x="2969170" y="1917800"/>
            <a:ext cx="274320" cy="0"/>
          </a:xfrm>
          <a:prstGeom prst="line">
            <a:avLst/>
          </a:prstGeom>
          <a:noFill/>
          <a:ln w="15240">
            <a:solidFill>
              <a:srgbClr val="F5F5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EDD539B8-F03F-7085-31C1-256AA557DEA9}"/>
              </a:ext>
            </a:extLst>
          </p:cNvPr>
          <p:cNvSpPr/>
          <p:nvPr/>
        </p:nvSpPr>
        <p:spPr>
          <a:xfrm>
            <a:off x="6313296" y="1877609"/>
            <a:ext cx="274320" cy="0"/>
          </a:xfrm>
          <a:prstGeom prst="line">
            <a:avLst/>
          </a:prstGeom>
          <a:noFill/>
          <a:ln w="15240">
            <a:solidFill>
              <a:srgbClr val="F5F5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5C3B1D34-C81C-A9EC-53B7-81C5A914FEBA}"/>
              </a:ext>
            </a:extLst>
          </p:cNvPr>
          <p:cNvSpPr/>
          <p:nvPr/>
        </p:nvSpPr>
        <p:spPr>
          <a:xfrm>
            <a:off x="144019" y="3990563"/>
            <a:ext cx="8999981" cy="838732"/>
          </a:xfrm>
          <a:prstGeom prst="roundRect">
            <a:avLst/>
          </a:prstGeom>
          <a:solidFill>
            <a:srgbClr val="2C2C2C">
              <a:alpha val="98000"/>
            </a:srgbClr>
          </a:solidFill>
          <a:ln w="889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3EBB4585-7D5D-266C-7C5A-157BB91584D7}"/>
              </a:ext>
            </a:extLst>
          </p:cNvPr>
          <p:cNvSpPr/>
          <p:nvPr/>
        </p:nvSpPr>
        <p:spPr>
          <a:xfrm>
            <a:off x="256065" y="4200906"/>
            <a:ext cx="8693398" cy="46349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Identification is not an estimator. It is the logic that tells us what observable quantity represents the causal target.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42489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DFE6A-D64D-65FA-3EB3-E3920CEFB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FB8ECA-CC3B-EA93-97D8-3931C01C9CE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Association vs Intervention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B93BCE7-EF8C-66AD-3A5D-E6C0D66C1B67}"/>
              </a:ext>
            </a:extLst>
          </p:cNvPr>
          <p:cNvSpPr/>
          <p:nvPr/>
        </p:nvSpPr>
        <p:spPr>
          <a:xfrm>
            <a:off x="342736" y="950580"/>
            <a:ext cx="4369511" cy="2964595"/>
          </a:xfrm>
          <a:prstGeom prst="roundRect">
            <a:avLst>
              <a:gd name="adj" fmla="val 2051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AE77DEA-AF74-D240-67C4-4FA65564820C}"/>
              </a:ext>
            </a:extLst>
          </p:cNvPr>
          <p:cNvSpPr/>
          <p:nvPr/>
        </p:nvSpPr>
        <p:spPr>
          <a:xfrm>
            <a:off x="489040" y="1069453"/>
            <a:ext cx="4418459" cy="42101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Observed association</a:t>
            </a:r>
            <a:endParaRPr lang="en-US" sz="200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3">
                <a:extLst>
                  <a:ext uri="{FF2B5EF4-FFF2-40B4-BE49-F238E27FC236}">
                    <a16:creationId xmlns:a16="http://schemas.microsoft.com/office/drawing/2014/main" id="{DCC31B48-9469-5B36-36DB-745C9CA3EE9D}"/>
                  </a:ext>
                </a:extLst>
              </p:cNvPr>
              <p:cNvSpPr/>
              <p:nvPr/>
            </p:nvSpPr>
            <p:spPr>
              <a:xfrm>
                <a:off x="489041" y="1362061"/>
                <a:ext cx="4082960" cy="2475843"/>
              </a:xfrm>
              <a:prstGeom prst="rect">
                <a:avLst/>
              </a:prstGeom>
              <a:noFill/>
              <a:ln/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5F5F5"/>
                    </a:solidFill>
                    <a:latin typeface="+mn-lt"/>
                    <a:ea typeface="Roboto Condensed" pitchFamily="34" charset="-122"/>
                    <a:cs typeface="Roboto Condensed" pitchFamily="34" charset="-120"/>
                  </a:rPr>
                  <a:t>Who is observed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  <a:ea typeface="Roboto Condensed" pitchFamily="34" charset="-122"/>
                        <a:cs typeface="Roboto Condensed" pitchFamily="34" charset="-120"/>
                      </a:rPr>
                      <m:t>𝑇</m:t>
                    </m:r>
                    <m:r>
                      <a:rPr lang="en-US" sz="20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  <a:ea typeface="Roboto Condensed" pitchFamily="34" charset="-122"/>
                        <a:cs typeface="Roboto Condensed" pitchFamily="34" charset="-120"/>
                      </a:rPr>
                      <m:t>=1</m:t>
                    </m:r>
                  </m:oMath>
                </a14:m>
                <a:r>
                  <a:rPr lang="en-US" sz="2000" dirty="0">
                    <a:solidFill>
                      <a:srgbClr val="F5F5F5"/>
                    </a:solidFill>
                    <a:latin typeface="+mn-lt"/>
                    <a:ea typeface="Roboto Condensed" pitchFamily="34" charset="-122"/>
                    <a:cs typeface="Roboto Condensed" pitchFamily="34" charset="-120"/>
                  </a:rPr>
                  <a:t> versus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  <a:ea typeface="Roboto Condensed" pitchFamily="34" charset="-122"/>
                        <a:cs typeface="Roboto Condensed" pitchFamily="34" charset="-120"/>
                      </a:rPr>
                      <m:t>𝑇</m:t>
                    </m:r>
                    <m:r>
                      <a:rPr lang="en-US" sz="20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  <a:ea typeface="Roboto Condensed" pitchFamily="34" charset="-122"/>
                        <a:cs typeface="Roboto Condensed" pitchFamily="34" charset="-120"/>
                      </a:rPr>
                      <m:t>=0</m:t>
                    </m:r>
                  </m:oMath>
                </a14:m>
                <a:r>
                  <a:rPr lang="en-US" sz="2000" dirty="0">
                    <a:solidFill>
                      <a:srgbClr val="F5F5F5"/>
                    </a:solidFill>
                    <a:latin typeface="+mn-lt"/>
                    <a:ea typeface="Roboto Condensed" pitchFamily="34" charset="-122"/>
                    <a:cs typeface="Roboto Condensed" pitchFamily="34" charset="-120"/>
                  </a:rPr>
                  <a:t>?</a:t>
                </a:r>
                <a:endParaRPr lang="en-US" sz="2000" dirty="0">
                  <a:latin typeface="+mn-lt"/>
                </a:endParaRPr>
              </a:p>
              <a:p>
                <a:pPr marL="0" indent="0" algn="ctr"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𝑃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𝑌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 | 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𝑇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=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𝑡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+mn-lt"/>
                </a:endParaRPr>
              </a:p>
            </p:txBody>
          </p:sp>
        </mc:Choice>
        <mc:Fallback>
          <p:sp>
            <p:nvSpPr>
              <p:cNvPr id="10" name="Text 3">
                <a:extLst>
                  <a:ext uri="{FF2B5EF4-FFF2-40B4-BE49-F238E27FC236}">
                    <a16:creationId xmlns:a16="http://schemas.microsoft.com/office/drawing/2014/main" id="{DCC31B48-9469-5B36-36DB-745C9CA3EE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41" y="1362061"/>
                <a:ext cx="4082960" cy="2475843"/>
              </a:xfrm>
              <a:prstGeom prst="rect">
                <a:avLst/>
              </a:prstGeom>
              <a:blipFill>
                <a:blip r:embed="rId2"/>
                <a:stretch>
                  <a:fillRect l="-1940" r="-358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4">
            <a:extLst>
              <a:ext uri="{FF2B5EF4-FFF2-40B4-BE49-F238E27FC236}">
                <a16:creationId xmlns:a16="http://schemas.microsoft.com/office/drawing/2014/main" id="{72486631-7E05-40E9-EB93-D5FC2290D185}"/>
              </a:ext>
            </a:extLst>
          </p:cNvPr>
          <p:cNvSpPr/>
          <p:nvPr/>
        </p:nvSpPr>
        <p:spPr>
          <a:xfrm>
            <a:off x="4819700" y="950580"/>
            <a:ext cx="4038682" cy="2964596"/>
          </a:xfrm>
          <a:prstGeom prst="roundRect">
            <a:avLst>
              <a:gd name="adj" fmla="val 2051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8760437-2A71-EBC0-7804-B2D1BB22F22B}"/>
              </a:ext>
            </a:extLst>
          </p:cNvPr>
          <p:cNvSpPr/>
          <p:nvPr/>
        </p:nvSpPr>
        <p:spPr>
          <a:xfrm>
            <a:off x="4941621" y="1069453"/>
            <a:ext cx="3794837" cy="42101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Intervention distribution</a:t>
            </a:r>
            <a:endParaRPr lang="en-US" sz="200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6">
                <a:extLst>
                  <a:ext uri="{FF2B5EF4-FFF2-40B4-BE49-F238E27FC236}">
                    <a16:creationId xmlns:a16="http://schemas.microsoft.com/office/drawing/2014/main" id="{A940217C-2AA3-B670-203A-A4C42A2D30FB}"/>
                  </a:ext>
                </a:extLst>
              </p:cNvPr>
              <p:cNvSpPr/>
              <p:nvPr/>
            </p:nvSpPr>
            <p:spPr>
              <a:xfrm>
                <a:off x="4941622" y="1440970"/>
                <a:ext cx="3794837" cy="2523707"/>
              </a:xfrm>
              <a:prstGeom prst="rect">
                <a:avLst/>
              </a:prstGeom>
              <a:noFill/>
              <a:ln/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5F5F5"/>
                    </a:solidFill>
                    <a:latin typeface="+mn-lt"/>
                    <a:ea typeface="Roboto Condensed" pitchFamily="34" charset="-122"/>
                    <a:cs typeface="Roboto Condensed" pitchFamily="34" charset="-120"/>
                  </a:rPr>
                  <a:t>What would happen if the same target population were assigned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  <a:ea typeface="Roboto Condensed" pitchFamily="34" charset="-122"/>
                        <a:cs typeface="Roboto Condensed" pitchFamily="34" charset="-120"/>
                      </a:rPr>
                      <m:t>𝑇</m:t>
                    </m:r>
                    <m:r>
                      <a:rPr lang="en-US" sz="20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  <a:ea typeface="Roboto Condensed" pitchFamily="34" charset="-122"/>
                        <a:cs typeface="Roboto Condensed" pitchFamily="34" charset="-120"/>
                      </a:rPr>
                      <m:t>=</m:t>
                    </m:r>
                    <m:r>
                      <a:rPr lang="en-US" sz="20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  <a:ea typeface="Roboto Condensed" pitchFamily="34" charset="-122"/>
                        <a:cs typeface="Roboto Condensed" pitchFamily="34" charset="-120"/>
                      </a:rPr>
                      <m:t>𝑡</m:t>
                    </m:r>
                  </m:oMath>
                </a14:m>
                <a:r>
                  <a:rPr lang="en-US" sz="2000" dirty="0">
                    <a:solidFill>
                      <a:srgbClr val="F5F5F5"/>
                    </a:solidFill>
                    <a:latin typeface="+mn-lt"/>
                    <a:ea typeface="Roboto Condensed" pitchFamily="34" charset="-122"/>
                    <a:cs typeface="Roboto Condensed" pitchFamily="34" charset="-120"/>
                  </a:rPr>
                  <a:t>?</a:t>
                </a:r>
                <a:endParaRPr lang="en-US" sz="2000" dirty="0">
                  <a:latin typeface="+mn-lt"/>
                </a:endParaRPr>
              </a:p>
              <a:p>
                <a:pPr marL="0" indent="0" algn="ctr"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𝑃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𝑌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 | 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𝑑𝑜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𝑇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=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𝑡</m:t>
                      </m:r>
                      <m:r>
                        <a:rPr lang="en-US" sz="20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  <a:ea typeface="Roboto Condensed" pitchFamily="34" charset="-122"/>
                          <a:cs typeface="Roboto Condensed" pitchFamily="34" charset="-120"/>
                        </a:rPr>
                        <m:t>))</m:t>
                      </m:r>
                    </m:oMath>
                  </m:oMathPara>
                </a14:m>
                <a:endParaRPr lang="en-US" sz="2000" dirty="0">
                  <a:latin typeface="+mn-lt"/>
                </a:endParaRPr>
              </a:p>
            </p:txBody>
          </p:sp>
        </mc:Choice>
        <mc:Fallback>
          <p:sp>
            <p:nvSpPr>
              <p:cNvPr id="19" name="Text 6">
                <a:extLst>
                  <a:ext uri="{FF2B5EF4-FFF2-40B4-BE49-F238E27FC236}">
                    <a16:creationId xmlns:a16="http://schemas.microsoft.com/office/drawing/2014/main" id="{A940217C-2AA3-B670-203A-A4C42A2D3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622" y="1440970"/>
                <a:ext cx="3794837" cy="2523707"/>
              </a:xfrm>
              <a:prstGeom prst="rect">
                <a:avLst/>
              </a:prstGeom>
              <a:blipFill>
                <a:blip r:embed="rId3"/>
                <a:stretch>
                  <a:fillRect l="-1447" r="-35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7">
            <a:extLst>
              <a:ext uri="{FF2B5EF4-FFF2-40B4-BE49-F238E27FC236}">
                <a16:creationId xmlns:a16="http://schemas.microsoft.com/office/drawing/2014/main" id="{C5B51EFD-06D7-D557-EACF-E4A0B5C3EA0A}"/>
              </a:ext>
            </a:extLst>
          </p:cNvPr>
          <p:cNvSpPr/>
          <p:nvPr/>
        </p:nvSpPr>
        <p:spPr>
          <a:xfrm>
            <a:off x="573967" y="4405565"/>
            <a:ext cx="8162491" cy="594404"/>
          </a:xfrm>
          <a:prstGeom prst="roundRect">
            <a:avLst/>
          </a:prstGeom>
          <a:solidFill>
            <a:srgbClr val="2C2C2C">
              <a:alpha val="98000"/>
            </a:srgbClr>
          </a:solidFill>
          <a:ln w="889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D48D5311-D0E3-5C40-A4F1-BB96249B24BD}"/>
              </a:ext>
            </a:extLst>
          </p:cNvPr>
          <p:cNvSpPr/>
          <p:nvPr/>
        </p:nvSpPr>
        <p:spPr>
          <a:xfrm>
            <a:off x="756847" y="4460429"/>
            <a:ext cx="7886498" cy="43043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B6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Randomization is a design that can make these distributions coincide for the causal question of interest.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8940579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17AE3-20D6-8E58-4DB6-503C2DFC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AC10AE-1151-537B-9006-74B4140AB413}"/>
                  </a:ext>
                </a:extLst>
              </p:cNvPr>
              <p:cNvSpPr txBox="1"/>
              <p:nvPr/>
            </p:nvSpPr>
            <p:spPr>
              <a:xfrm>
                <a:off x="169188" y="143531"/>
                <a:ext cx="86891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F4F1EA"/>
                    </a:solidFill>
                    <a:latin typeface="+mn-lt"/>
                  </a:rPr>
                  <a:t>When can we replace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F4F1EA"/>
                    </a:solidFill>
                    <a:latin typeface="+mn-lt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800" dirty="0">
                  <a:solidFill>
                    <a:srgbClr val="F4F1EA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AC10AE-1151-537B-9006-74B4140AB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8" y="143531"/>
                <a:ext cx="8689194" cy="523220"/>
              </a:xfrm>
              <a:prstGeom prst="rect">
                <a:avLst/>
              </a:prstGeom>
              <a:blipFill>
                <a:blip r:embed="rId2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1">
            <a:extLst>
              <a:ext uri="{FF2B5EF4-FFF2-40B4-BE49-F238E27FC236}">
                <a16:creationId xmlns:a16="http://schemas.microsoft.com/office/drawing/2014/main" id="{5BA9FB3B-6FAA-F61C-0CED-2ACB874828CE}"/>
              </a:ext>
            </a:extLst>
          </p:cNvPr>
          <p:cNvSpPr/>
          <p:nvPr/>
        </p:nvSpPr>
        <p:spPr>
          <a:xfrm>
            <a:off x="321287" y="1220643"/>
            <a:ext cx="8501425" cy="633303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5B6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P(Y | do(T=t)) = P(Y | T=t)</a:t>
            </a:r>
            <a:endParaRPr lang="en-US" sz="28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96C733F-CC95-AE8F-08E3-A415398BD182}"/>
              </a:ext>
            </a:extLst>
          </p:cNvPr>
          <p:cNvSpPr/>
          <p:nvPr/>
        </p:nvSpPr>
        <p:spPr>
          <a:xfrm>
            <a:off x="95058" y="2187702"/>
            <a:ext cx="888391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6B6B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This equality is NOT true automatically.</a:t>
            </a:r>
            <a:endParaRPr lang="en-US" sz="2000" dirty="0">
              <a:latin typeface="+mn-lt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59106673-B1AA-68B1-5B05-D78D8D5D87FC}"/>
              </a:ext>
            </a:extLst>
          </p:cNvPr>
          <p:cNvSpPr/>
          <p:nvPr/>
        </p:nvSpPr>
        <p:spPr>
          <a:xfrm>
            <a:off x="169188" y="3090343"/>
            <a:ext cx="2962656" cy="1508760"/>
          </a:xfrm>
          <a:prstGeom prst="roundRect">
            <a:avLst>
              <a:gd name="adj" fmla="val 4848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2B5E3F0E-8A6D-39FE-23CA-645939E552A3}"/>
              </a:ext>
            </a:extLst>
          </p:cNvPr>
          <p:cNvSpPr/>
          <p:nvPr/>
        </p:nvSpPr>
        <p:spPr>
          <a:xfrm>
            <a:off x="315492" y="3209215"/>
            <a:ext cx="281635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One route</a:t>
            </a:r>
            <a:endParaRPr lang="en-US" sz="2000" dirty="0">
              <a:latin typeface="+mn-lt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413172F-9849-8372-917F-EED7D67B6BFC}"/>
              </a:ext>
            </a:extLst>
          </p:cNvPr>
          <p:cNvSpPr/>
          <p:nvPr/>
        </p:nvSpPr>
        <p:spPr>
          <a:xfrm>
            <a:off x="315492" y="3520111"/>
            <a:ext cx="2816352" cy="9784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Randomize treatment assignment.</a:t>
            </a:r>
            <a:endParaRPr lang="en-US" sz="1600" dirty="0">
              <a:latin typeface="+mn-lt"/>
            </a:endParaRPr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A4C5B90F-5D90-7E2C-9CBC-311D16C3DB70}"/>
              </a:ext>
            </a:extLst>
          </p:cNvPr>
          <p:cNvSpPr/>
          <p:nvPr/>
        </p:nvSpPr>
        <p:spPr>
          <a:xfrm>
            <a:off x="3216936" y="3090343"/>
            <a:ext cx="3000261" cy="1508760"/>
          </a:xfrm>
          <a:prstGeom prst="roundRect">
            <a:avLst>
              <a:gd name="adj" fmla="val 4848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417CB476-7745-FCF4-3B60-14B5A03785A9}"/>
              </a:ext>
            </a:extLst>
          </p:cNvPr>
          <p:cNvSpPr/>
          <p:nvPr/>
        </p:nvSpPr>
        <p:spPr>
          <a:xfrm>
            <a:off x="3363240" y="3209215"/>
            <a:ext cx="281635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Another route</a:t>
            </a:r>
            <a:endParaRPr lang="en-US" sz="2000" dirty="0">
              <a:latin typeface="+mn-lt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7DEC4D00-F0EF-FABE-3074-84CB02A6A1B8}"/>
              </a:ext>
            </a:extLst>
          </p:cNvPr>
          <p:cNvSpPr/>
          <p:nvPr/>
        </p:nvSpPr>
        <p:spPr>
          <a:xfrm>
            <a:off x="3363240" y="3501823"/>
            <a:ext cx="2816352" cy="9784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In observational data, condition on a sufficient adjustment set.</a:t>
            </a:r>
            <a:endParaRPr lang="en-US" sz="1600" dirty="0">
              <a:latin typeface="+mn-lt"/>
            </a:endParaRPr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04989998-87B7-078C-3B0B-496B0871FAD6}"/>
              </a:ext>
            </a:extLst>
          </p:cNvPr>
          <p:cNvSpPr/>
          <p:nvPr/>
        </p:nvSpPr>
        <p:spPr>
          <a:xfrm>
            <a:off x="6325896" y="3090343"/>
            <a:ext cx="2709405" cy="1508760"/>
          </a:xfrm>
          <a:prstGeom prst="roundRect">
            <a:avLst>
              <a:gd name="adj" fmla="val 4848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B58AD7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E3ABC6F9-9278-2051-B244-A5642CA3986A}"/>
              </a:ext>
            </a:extLst>
          </p:cNvPr>
          <p:cNvSpPr/>
          <p:nvPr/>
        </p:nvSpPr>
        <p:spPr>
          <a:xfrm>
            <a:off x="6472200" y="3209215"/>
            <a:ext cx="245440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58AD7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Other routes</a:t>
            </a:r>
            <a:endParaRPr lang="en-US" sz="2000" dirty="0">
              <a:latin typeface="+mn-lt"/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399748CE-39CB-EA08-13D7-FC9A385786DA}"/>
              </a:ext>
            </a:extLst>
          </p:cNvPr>
          <p:cNvSpPr/>
          <p:nvPr/>
        </p:nvSpPr>
        <p:spPr>
          <a:xfrm>
            <a:off x="6472200" y="3501823"/>
            <a:ext cx="2454402" cy="9784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IV, front-door, DiD, synthetic control, etc.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97643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8A349-279E-CE48-D201-1706B0468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662ECF-DF3B-5B6F-E9F0-8A3D9D1B805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Randomized Experiment: Core Idea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9BF62E1-AA2F-C7EB-F2B7-0B30D085A017}"/>
              </a:ext>
            </a:extLst>
          </p:cNvPr>
          <p:cNvSpPr/>
          <p:nvPr/>
        </p:nvSpPr>
        <p:spPr>
          <a:xfrm>
            <a:off x="64008" y="2244852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2C2C2C"/>
          </a:solidFill>
          <a:ln w="1905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E0BBF269-B13D-B0BF-619C-7EE81EB4F944}"/>
              </a:ext>
            </a:extLst>
          </p:cNvPr>
          <p:cNvSpPr/>
          <p:nvPr/>
        </p:nvSpPr>
        <p:spPr>
          <a:xfrm>
            <a:off x="128016" y="2290572"/>
            <a:ext cx="1700784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5F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Eligible units</a:t>
            </a:r>
            <a:endParaRPr lang="en-US" sz="15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EA2CC525-DE62-149F-17CF-10911AC1FE73}"/>
              </a:ext>
            </a:extLst>
          </p:cNvPr>
          <p:cNvSpPr/>
          <p:nvPr/>
        </p:nvSpPr>
        <p:spPr>
          <a:xfrm>
            <a:off x="2441448" y="224028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2C2C2C"/>
          </a:solidFill>
          <a:ln w="19050">
            <a:solidFill>
              <a:srgbClr val="F5B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BAEFCDD-3405-B715-6049-A230C1CA01F1}"/>
              </a:ext>
            </a:extLst>
          </p:cNvPr>
          <p:cNvSpPr/>
          <p:nvPr/>
        </p:nvSpPr>
        <p:spPr>
          <a:xfrm>
            <a:off x="2505456" y="2286000"/>
            <a:ext cx="1837944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B62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Random assignment</a:t>
            </a:r>
            <a:endParaRPr lang="en-US" sz="15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7CBBAD8D-ACAA-CBF6-998F-ED074863D104}"/>
              </a:ext>
            </a:extLst>
          </p:cNvPr>
          <p:cNvSpPr/>
          <p:nvPr/>
        </p:nvSpPr>
        <p:spPr>
          <a:xfrm>
            <a:off x="5065780" y="1344958"/>
            <a:ext cx="1611916" cy="777240"/>
          </a:xfrm>
          <a:prstGeom prst="roundRect">
            <a:avLst>
              <a:gd name="adj" fmla="val 7059"/>
            </a:avLst>
          </a:prstGeom>
          <a:solidFill>
            <a:srgbClr val="2C2C2C"/>
          </a:solidFill>
          <a:ln w="1905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432BA1A7-57EB-3618-ACA8-57D27F6966C2}"/>
              </a:ext>
            </a:extLst>
          </p:cNvPr>
          <p:cNvSpPr/>
          <p:nvPr/>
        </p:nvSpPr>
        <p:spPr>
          <a:xfrm>
            <a:off x="5129788" y="1390678"/>
            <a:ext cx="1700784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1AFE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Treatment</a:t>
            </a:r>
            <a:endParaRPr lang="en-US" sz="150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88EEA69A-E0D3-8FAE-1A72-3E6271D4B69B}"/>
              </a:ext>
            </a:extLst>
          </p:cNvPr>
          <p:cNvSpPr/>
          <p:nvPr/>
        </p:nvSpPr>
        <p:spPr>
          <a:xfrm>
            <a:off x="5065780" y="3141622"/>
            <a:ext cx="1708507" cy="777240"/>
          </a:xfrm>
          <a:prstGeom prst="roundRect">
            <a:avLst>
              <a:gd name="adj" fmla="val 7059"/>
            </a:avLst>
          </a:prstGeom>
          <a:solidFill>
            <a:srgbClr val="2C2C2C"/>
          </a:solidFill>
          <a:ln w="19050">
            <a:solidFill>
              <a:srgbClr val="B58A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594BE513-784E-388B-A96A-D11BB3DF8BA1}"/>
              </a:ext>
            </a:extLst>
          </p:cNvPr>
          <p:cNvSpPr/>
          <p:nvPr/>
        </p:nvSpPr>
        <p:spPr>
          <a:xfrm>
            <a:off x="5129788" y="3187342"/>
            <a:ext cx="1700784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58AD7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Control</a:t>
            </a:r>
            <a:endParaRPr lang="en-US" sz="15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D360E59B-04FD-85D3-216B-C4A99D7544CC}"/>
              </a:ext>
            </a:extLst>
          </p:cNvPr>
          <p:cNvSpPr/>
          <p:nvPr/>
        </p:nvSpPr>
        <p:spPr>
          <a:xfrm>
            <a:off x="6931154" y="2415064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2C2C2C"/>
          </a:solidFill>
          <a:ln w="1905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5E3CF491-4E14-6EEB-A707-768C04D9CA7C}"/>
              </a:ext>
            </a:extLst>
          </p:cNvPr>
          <p:cNvSpPr/>
          <p:nvPr/>
        </p:nvSpPr>
        <p:spPr>
          <a:xfrm>
            <a:off x="6995162" y="2460784"/>
            <a:ext cx="2020824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CB91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Observe outcomes</a:t>
            </a:r>
            <a:endParaRPr lang="en-US" sz="1500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984B4ACB-4F6B-03AF-A6C5-29790F419DDF}"/>
              </a:ext>
            </a:extLst>
          </p:cNvPr>
          <p:cNvSpPr/>
          <p:nvPr/>
        </p:nvSpPr>
        <p:spPr>
          <a:xfrm>
            <a:off x="1892808" y="2615842"/>
            <a:ext cx="548640" cy="0"/>
          </a:xfrm>
          <a:prstGeom prst="line">
            <a:avLst/>
          </a:prstGeom>
          <a:noFill/>
          <a:ln w="20320">
            <a:solidFill>
              <a:srgbClr val="F5F5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F3629AF8-6597-11EC-0B12-C436C8EC6665}"/>
              </a:ext>
            </a:extLst>
          </p:cNvPr>
          <p:cNvSpPr/>
          <p:nvPr/>
        </p:nvSpPr>
        <p:spPr>
          <a:xfrm flipV="1">
            <a:off x="4416554" y="1686175"/>
            <a:ext cx="649226" cy="885575"/>
          </a:xfrm>
          <a:prstGeom prst="line">
            <a:avLst/>
          </a:prstGeom>
          <a:noFill/>
          <a:ln w="20320">
            <a:solidFill>
              <a:srgbClr val="71AF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BA33E2F7-B3F4-0B60-A5F0-D9017214BF48}"/>
              </a:ext>
            </a:extLst>
          </p:cNvPr>
          <p:cNvSpPr/>
          <p:nvPr/>
        </p:nvSpPr>
        <p:spPr>
          <a:xfrm>
            <a:off x="4416554" y="2615842"/>
            <a:ext cx="640080" cy="914400"/>
          </a:xfrm>
          <a:prstGeom prst="line">
            <a:avLst/>
          </a:prstGeom>
          <a:noFill/>
          <a:ln w="20320">
            <a:solidFill>
              <a:srgbClr val="B58AD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5B2C9166-F8F2-988B-929B-C29941B20AC3}"/>
              </a:ext>
            </a:extLst>
          </p:cNvPr>
          <p:cNvSpPr/>
          <p:nvPr/>
        </p:nvSpPr>
        <p:spPr>
          <a:xfrm>
            <a:off x="6677696" y="1686175"/>
            <a:ext cx="1085564" cy="728889"/>
          </a:xfrm>
          <a:prstGeom prst="line">
            <a:avLst/>
          </a:prstGeom>
          <a:noFill/>
          <a:ln w="20320">
            <a:solidFill>
              <a:srgbClr val="71AF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32C76CDC-0A27-B70D-9BE2-EF974CC336C4}"/>
              </a:ext>
            </a:extLst>
          </p:cNvPr>
          <p:cNvSpPr/>
          <p:nvPr/>
        </p:nvSpPr>
        <p:spPr>
          <a:xfrm flipV="1">
            <a:off x="6774286" y="3238024"/>
            <a:ext cx="1085563" cy="374242"/>
          </a:xfrm>
          <a:prstGeom prst="line">
            <a:avLst/>
          </a:prstGeom>
          <a:noFill/>
          <a:ln w="20320">
            <a:solidFill>
              <a:srgbClr val="B58AD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0B976892-44DA-2103-9E93-C0720CAE3BD0}"/>
              </a:ext>
            </a:extLst>
          </p:cNvPr>
          <p:cNvSpPr/>
          <p:nvPr/>
        </p:nvSpPr>
        <p:spPr>
          <a:xfrm>
            <a:off x="128015" y="4320063"/>
            <a:ext cx="8887971" cy="720269"/>
          </a:xfrm>
          <a:prstGeom prst="roundRect">
            <a:avLst/>
          </a:prstGeom>
          <a:solidFill>
            <a:srgbClr val="2C2C2C">
              <a:alpha val="98000"/>
            </a:srgbClr>
          </a:solidFill>
          <a:ln w="889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7DF361A2-AA7B-F78D-D47F-9D3D2351CFE7}"/>
              </a:ext>
            </a:extLst>
          </p:cNvPr>
          <p:cNvSpPr/>
          <p:nvPr/>
        </p:nvSpPr>
        <p:spPr>
          <a:xfrm>
            <a:off x="240704" y="4527895"/>
            <a:ext cx="8598769" cy="37887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B62D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The treatment mechanism is deliberately created by the investigator rather than chosen by prognosis, preference, or policy.</a:t>
            </a:r>
            <a:endParaRPr 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779725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80328-B3C3-03C6-044A-BB64F4A4E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39CB22-D5E5-9DCE-EE3C-46D2164DA20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Randomized Experiment: Core Idea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EF79041-E49A-5733-0DE9-DCEE7946C42C}"/>
              </a:ext>
            </a:extLst>
          </p:cNvPr>
          <p:cNvSpPr/>
          <p:nvPr/>
        </p:nvSpPr>
        <p:spPr>
          <a:xfrm>
            <a:off x="-143080" y="1116028"/>
            <a:ext cx="52120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9A39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Observational treatment assignment</a:t>
            </a:r>
            <a:endParaRPr lang="en-US" sz="1700" dirty="0">
              <a:latin typeface="+mj-lt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E9F0B45-5580-B457-D8D3-5F5070F06B52}"/>
              </a:ext>
            </a:extLst>
          </p:cNvPr>
          <p:cNvSpPr/>
          <p:nvPr/>
        </p:nvSpPr>
        <p:spPr>
          <a:xfrm>
            <a:off x="85520" y="2304748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2C2C2C"/>
          </a:solidFill>
          <a:ln w="19050">
            <a:solidFill>
              <a:srgbClr val="F09A39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030540B-CB10-6EE1-BB62-6325629593E0}"/>
              </a:ext>
            </a:extLst>
          </p:cNvPr>
          <p:cNvSpPr/>
          <p:nvPr/>
        </p:nvSpPr>
        <p:spPr>
          <a:xfrm>
            <a:off x="149528" y="2350468"/>
            <a:ext cx="1472184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9A39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Severity C</a:t>
            </a:r>
            <a:endParaRPr lang="en-US" sz="1500" dirty="0">
              <a:latin typeface="+mn-lt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18A00721-78D0-729D-D614-705A133586E2}"/>
              </a:ext>
            </a:extLst>
          </p:cNvPr>
          <p:cNvSpPr/>
          <p:nvPr/>
        </p:nvSpPr>
        <p:spPr>
          <a:xfrm>
            <a:off x="2417240" y="1664668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2C2C2C"/>
          </a:solidFill>
          <a:ln w="1905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0E5FAAB8-909B-6D96-2922-12664F1C5336}"/>
              </a:ext>
            </a:extLst>
          </p:cNvPr>
          <p:cNvSpPr/>
          <p:nvPr/>
        </p:nvSpPr>
        <p:spPr>
          <a:xfrm>
            <a:off x="2481248" y="1710388"/>
            <a:ext cx="1472184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Treatment T</a:t>
            </a:r>
            <a:endParaRPr lang="en-US" sz="1500" dirty="0">
              <a:latin typeface="+mn-lt"/>
            </a:endParaRP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C93A228D-D0B6-6F13-AECC-B5241CD06240}"/>
              </a:ext>
            </a:extLst>
          </p:cNvPr>
          <p:cNvSpPr/>
          <p:nvPr/>
        </p:nvSpPr>
        <p:spPr>
          <a:xfrm>
            <a:off x="2417240" y="3081988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2C2C2C"/>
          </a:solidFill>
          <a:ln w="1905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66A472D1-EE53-DD04-98DB-A6812D65252E}"/>
              </a:ext>
            </a:extLst>
          </p:cNvPr>
          <p:cNvSpPr/>
          <p:nvPr/>
        </p:nvSpPr>
        <p:spPr>
          <a:xfrm>
            <a:off x="2481248" y="3127708"/>
            <a:ext cx="1472184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Outcome Y</a:t>
            </a:r>
            <a:endParaRPr lang="en-US" sz="1500" dirty="0">
              <a:latin typeface="+mn-lt"/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9995F01A-3CB3-EA14-4651-F9A7A654BD40}"/>
              </a:ext>
            </a:extLst>
          </p:cNvPr>
          <p:cNvSpPr/>
          <p:nvPr/>
        </p:nvSpPr>
        <p:spPr>
          <a:xfrm flipV="1">
            <a:off x="1685719" y="1984708"/>
            <a:ext cx="740663" cy="640080"/>
          </a:xfrm>
          <a:prstGeom prst="line">
            <a:avLst/>
          </a:prstGeom>
          <a:noFill/>
          <a:ln w="20320">
            <a:solidFill>
              <a:srgbClr val="F09A3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2825E929-6E89-DC13-A2C0-A40843FA8887}"/>
              </a:ext>
            </a:extLst>
          </p:cNvPr>
          <p:cNvSpPr/>
          <p:nvPr/>
        </p:nvSpPr>
        <p:spPr>
          <a:xfrm>
            <a:off x="1685720" y="2624788"/>
            <a:ext cx="731520" cy="822960"/>
          </a:xfrm>
          <a:prstGeom prst="line">
            <a:avLst/>
          </a:prstGeom>
          <a:noFill/>
          <a:ln w="20320">
            <a:solidFill>
              <a:srgbClr val="F09A3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BCE51BE5-AC85-6367-AB39-525D2E10E9F5}"/>
              </a:ext>
            </a:extLst>
          </p:cNvPr>
          <p:cNvSpPr/>
          <p:nvPr/>
        </p:nvSpPr>
        <p:spPr>
          <a:xfrm>
            <a:off x="3221912" y="2396188"/>
            <a:ext cx="0" cy="685800"/>
          </a:xfrm>
          <a:prstGeom prst="line">
            <a:avLst/>
          </a:prstGeom>
          <a:noFill/>
          <a:ln w="20320">
            <a:solidFill>
              <a:srgbClr val="71AF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7E42AEC2-1B93-7909-4B3E-3123F98EB19B}"/>
              </a:ext>
            </a:extLst>
          </p:cNvPr>
          <p:cNvSpPr/>
          <p:nvPr/>
        </p:nvSpPr>
        <p:spPr>
          <a:xfrm>
            <a:off x="862760" y="4160980"/>
            <a:ext cx="32461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6B6B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 ← C → Y</a:t>
            </a:r>
            <a:endParaRPr lang="en-US" sz="2200" dirty="0">
              <a:latin typeface="+mn-lt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14E4890A-4816-D74C-4D78-8F4D9ED037B8}"/>
              </a:ext>
            </a:extLst>
          </p:cNvPr>
          <p:cNvSpPr/>
          <p:nvPr/>
        </p:nvSpPr>
        <p:spPr>
          <a:xfrm>
            <a:off x="4913552" y="2350468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2C2C2C"/>
          </a:solidFill>
          <a:ln w="19050">
            <a:solidFill>
              <a:srgbClr val="F09A39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C2F0DD98-1211-F79E-AD5D-CEB31E807935}"/>
              </a:ext>
            </a:extLst>
          </p:cNvPr>
          <p:cNvSpPr/>
          <p:nvPr/>
        </p:nvSpPr>
        <p:spPr>
          <a:xfrm>
            <a:off x="4977560" y="2396188"/>
            <a:ext cx="1472184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9A39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Severity C</a:t>
            </a:r>
            <a:endParaRPr lang="en-US" sz="1500" dirty="0">
              <a:latin typeface="+mn-lt"/>
            </a:endParaRPr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AF7BA629-C2BC-0716-0972-959495AA75A8}"/>
              </a:ext>
            </a:extLst>
          </p:cNvPr>
          <p:cNvSpPr/>
          <p:nvPr/>
        </p:nvSpPr>
        <p:spPr>
          <a:xfrm>
            <a:off x="7245272" y="1710388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2C2C2C"/>
          </a:solidFill>
          <a:ln w="1905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52F50DEC-E478-BEB4-C91A-2A31C83C67C3}"/>
              </a:ext>
            </a:extLst>
          </p:cNvPr>
          <p:cNvSpPr/>
          <p:nvPr/>
        </p:nvSpPr>
        <p:spPr>
          <a:xfrm>
            <a:off x="7309280" y="1756108"/>
            <a:ext cx="1472184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Treatment T</a:t>
            </a:r>
            <a:endParaRPr lang="en-US" sz="1500" dirty="0">
              <a:latin typeface="+mn-lt"/>
            </a:endParaRPr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0EF0E488-7DE1-6B54-69C7-50D4A91DDD1F}"/>
              </a:ext>
            </a:extLst>
          </p:cNvPr>
          <p:cNvSpPr/>
          <p:nvPr/>
        </p:nvSpPr>
        <p:spPr>
          <a:xfrm>
            <a:off x="7245272" y="3127708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2C2C2C"/>
          </a:solidFill>
          <a:ln w="1905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5D5707E7-01E1-E05F-257D-AB733C8A1BB8}"/>
              </a:ext>
            </a:extLst>
          </p:cNvPr>
          <p:cNvSpPr/>
          <p:nvPr/>
        </p:nvSpPr>
        <p:spPr>
          <a:xfrm>
            <a:off x="7309280" y="3173428"/>
            <a:ext cx="1472184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Outcome Y</a:t>
            </a:r>
            <a:endParaRPr lang="en-US" sz="1500" dirty="0">
              <a:latin typeface="+mn-lt"/>
            </a:endParaRPr>
          </a:p>
        </p:txBody>
      </p:sp>
      <p:sp>
        <p:nvSpPr>
          <p:cNvPr id="55" name="Shape 19">
            <a:extLst>
              <a:ext uri="{FF2B5EF4-FFF2-40B4-BE49-F238E27FC236}">
                <a16:creationId xmlns:a16="http://schemas.microsoft.com/office/drawing/2014/main" id="{403B9122-D56D-C41F-2494-4914ECCB8BF0}"/>
              </a:ext>
            </a:extLst>
          </p:cNvPr>
          <p:cNvSpPr/>
          <p:nvPr/>
        </p:nvSpPr>
        <p:spPr>
          <a:xfrm>
            <a:off x="6513752" y="2670508"/>
            <a:ext cx="731520" cy="822960"/>
          </a:xfrm>
          <a:prstGeom prst="line">
            <a:avLst/>
          </a:prstGeom>
          <a:noFill/>
          <a:ln w="20320">
            <a:solidFill>
              <a:srgbClr val="F09A3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7" name="Shape 20">
            <a:extLst>
              <a:ext uri="{FF2B5EF4-FFF2-40B4-BE49-F238E27FC236}">
                <a16:creationId xmlns:a16="http://schemas.microsoft.com/office/drawing/2014/main" id="{ED7B52E4-2AB1-2900-6A58-5D8BED44E5A4}"/>
              </a:ext>
            </a:extLst>
          </p:cNvPr>
          <p:cNvSpPr/>
          <p:nvPr/>
        </p:nvSpPr>
        <p:spPr>
          <a:xfrm>
            <a:off x="8049944" y="2441908"/>
            <a:ext cx="0" cy="685800"/>
          </a:xfrm>
          <a:prstGeom prst="line">
            <a:avLst/>
          </a:prstGeom>
          <a:noFill/>
          <a:ln w="20320">
            <a:solidFill>
              <a:srgbClr val="71AF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E77B0F54-8401-051C-A598-1AEA9FB6AB3F}"/>
              </a:ext>
            </a:extLst>
          </p:cNvPr>
          <p:cNvSpPr/>
          <p:nvPr/>
        </p:nvSpPr>
        <p:spPr>
          <a:xfrm>
            <a:off x="4959272" y="4179268"/>
            <a:ext cx="3931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No systematic C → T arrow</a:t>
            </a:r>
            <a:endParaRPr lang="en-US" sz="1900" dirty="0">
              <a:latin typeface="+mn-lt"/>
            </a:endParaRPr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4EFB4645-ADCC-33DE-7DED-F8E6C96E46DF}"/>
              </a:ext>
            </a:extLst>
          </p:cNvPr>
          <p:cNvSpPr/>
          <p:nvPr/>
        </p:nvSpPr>
        <p:spPr>
          <a:xfrm>
            <a:off x="4472731" y="1124252"/>
            <a:ext cx="4574678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Randomized treatment assignment</a:t>
            </a:r>
            <a:endParaRPr lang="en-US" sz="17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16048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478DB-7E89-E2F4-8FDF-F73F0F073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8F1006-52ED-0BDF-950D-A97B7CEF9B5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Randomized Experiment in Potential Outcome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1">
                <a:extLst>
                  <a:ext uri="{FF2B5EF4-FFF2-40B4-BE49-F238E27FC236}">
                    <a16:creationId xmlns:a16="http://schemas.microsoft.com/office/drawing/2014/main" id="{B2717466-FFFF-6F49-537E-1CB31235700F}"/>
                  </a:ext>
                </a:extLst>
              </p:cNvPr>
              <p:cNvSpPr/>
              <p:nvPr/>
            </p:nvSpPr>
            <p:spPr>
              <a:xfrm>
                <a:off x="731659" y="1107046"/>
                <a:ext cx="7343487" cy="720337"/>
              </a:xfrm>
              <a:prstGeom prst="rect">
                <a:avLst/>
              </a:prstGeom>
              <a:noFill/>
              <a:ln/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0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  <m:r>
                        <a:rPr lang="en-US" sz="30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⟂ {</m:t>
                      </m:r>
                      <m:r>
                        <a:rPr lang="en-US" sz="30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30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(1), </m:t>
                      </m:r>
                      <m:r>
                        <a:rPr lang="en-US" sz="30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30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(0), </m:t>
                      </m:r>
                      <m:r>
                        <a:rPr lang="en-US" sz="30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𝑋</m:t>
                      </m:r>
                      <m:r>
                        <a:rPr lang="en-US" sz="30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}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5" name="Text 1">
                <a:extLst>
                  <a:ext uri="{FF2B5EF4-FFF2-40B4-BE49-F238E27FC236}">
                    <a16:creationId xmlns:a16="http://schemas.microsoft.com/office/drawing/2014/main" id="{B2717466-FFFF-6F49-537E-1CB3123570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59" y="1107046"/>
                <a:ext cx="7343487" cy="7203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2">
            <a:extLst>
              <a:ext uri="{FF2B5EF4-FFF2-40B4-BE49-F238E27FC236}">
                <a16:creationId xmlns:a16="http://schemas.microsoft.com/office/drawing/2014/main" id="{913B0C8D-26E5-B231-EEE9-FBB178761934}"/>
              </a:ext>
            </a:extLst>
          </p:cNvPr>
          <p:cNvSpPr/>
          <p:nvPr/>
        </p:nvSpPr>
        <p:spPr>
          <a:xfrm>
            <a:off x="169188" y="2148806"/>
            <a:ext cx="4416552" cy="2037335"/>
          </a:xfrm>
          <a:prstGeom prst="roundRect">
            <a:avLst>
              <a:gd name="adj" fmla="val 3478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2000">
              <a:latin typeface="+mj-lt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62A54FDB-9040-C2CF-25F4-5987EA199C61}"/>
              </a:ext>
            </a:extLst>
          </p:cNvPr>
          <p:cNvSpPr/>
          <p:nvPr/>
        </p:nvSpPr>
        <p:spPr>
          <a:xfrm>
            <a:off x="315492" y="2267678"/>
            <a:ext cx="441655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1AFE8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Meaning</a:t>
            </a:r>
            <a:endParaRPr lang="en-US" sz="2000" dirty="0">
              <a:latin typeface="+mj-lt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01D75AD6-69D1-BAB3-FAE4-9DEACF6B47B3}"/>
              </a:ext>
            </a:extLst>
          </p:cNvPr>
          <p:cNvSpPr/>
          <p:nvPr/>
        </p:nvSpPr>
        <p:spPr>
          <a:xfrm>
            <a:off x="315492" y="2560286"/>
            <a:ext cx="4006528" cy="15727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The assigned treatment does not depend on potential outcomes or baseline covariates.</a:t>
            </a:r>
            <a:endParaRPr lang="en-US" sz="2000" dirty="0">
              <a:latin typeface="+mj-lt"/>
            </a:endParaRP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79B6E634-CF5C-97FC-DDC0-82600E2F51F5}"/>
              </a:ext>
            </a:extLst>
          </p:cNvPr>
          <p:cNvSpPr/>
          <p:nvPr/>
        </p:nvSpPr>
        <p:spPr>
          <a:xfrm>
            <a:off x="4732044" y="2148806"/>
            <a:ext cx="4346172" cy="2037335"/>
          </a:xfrm>
          <a:prstGeom prst="roundRect">
            <a:avLst>
              <a:gd name="adj" fmla="val 3478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 sz="2000">
              <a:latin typeface="+mj-lt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6E069C27-BAFE-A2EE-68C0-733E921E3CDE}"/>
              </a:ext>
            </a:extLst>
          </p:cNvPr>
          <p:cNvSpPr/>
          <p:nvPr/>
        </p:nvSpPr>
        <p:spPr>
          <a:xfrm>
            <a:off x="4878348" y="2267679"/>
            <a:ext cx="4076119" cy="3011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CB91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Consequence</a:t>
            </a:r>
            <a:endParaRPr lang="en-US" sz="2000" dirty="0">
              <a:latin typeface="+mj-lt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C8D327E7-85D9-F5F4-A4CB-0298F859D6AB}"/>
              </a:ext>
            </a:extLst>
          </p:cNvPr>
          <p:cNvSpPr/>
          <p:nvPr/>
        </p:nvSpPr>
        <p:spPr>
          <a:xfrm>
            <a:off x="4878348" y="2560287"/>
            <a:ext cx="4076119" cy="15235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Treated and control units are valid stand-ins for each other’s missing counterfactual outcomes, on average over randomization.</a:t>
            </a:r>
            <a:endParaRPr lang="en-US" sz="2000" dirty="0">
              <a:latin typeface="+mj-lt"/>
            </a:endParaRPr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DF6DC507-06A9-3E04-0682-93C1B9BE5BB5}"/>
              </a:ext>
            </a:extLst>
          </p:cNvPr>
          <p:cNvSpPr/>
          <p:nvPr/>
        </p:nvSpPr>
        <p:spPr>
          <a:xfrm>
            <a:off x="131226" y="4493519"/>
            <a:ext cx="8909028" cy="553872"/>
          </a:xfrm>
          <a:prstGeom prst="roundRect">
            <a:avLst/>
          </a:prstGeom>
          <a:solidFill>
            <a:srgbClr val="2C2C2C">
              <a:alpha val="98000"/>
            </a:srgbClr>
          </a:solidFill>
          <a:ln w="889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2CA4F8A9-AE9B-2E68-2947-ECA611E64FF9}"/>
              </a:ext>
            </a:extLst>
          </p:cNvPr>
          <p:cNvSpPr/>
          <p:nvPr/>
        </p:nvSpPr>
        <p:spPr>
          <a:xfrm>
            <a:off x="314106" y="4548383"/>
            <a:ext cx="8607793" cy="401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B62D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This is exchangeability created by design.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498924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D385C-1D86-D61B-F9FA-233B66286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56167D-4A2E-FBD7-19CF-AC8F47E104C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ATE Identification in a Randomized Trial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1">
                <a:extLst>
                  <a:ext uri="{FF2B5EF4-FFF2-40B4-BE49-F238E27FC236}">
                    <a16:creationId xmlns:a16="http://schemas.microsoft.com/office/drawing/2014/main" id="{60DDDF61-E828-6885-6434-7AD44BE3981A}"/>
                  </a:ext>
                </a:extLst>
              </p:cNvPr>
              <p:cNvSpPr/>
              <p:nvPr/>
            </p:nvSpPr>
            <p:spPr>
              <a:xfrm>
                <a:off x="-271360" y="885126"/>
                <a:ext cx="9902952" cy="594360"/>
              </a:xfrm>
              <a:prstGeom prst="rect">
                <a:avLst/>
              </a:prstGeom>
              <a:noFill/>
              <a:ln/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𝐴𝑇𝐸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(1)] − 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2700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(0)]</m:t>
                      </m:r>
                    </m:oMath>
                  </m:oMathPara>
                </a14:m>
                <a:endParaRPr lang="en-US" sz="2700" dirty="0"/>
              </a:p>
            </p:txBody>
          </p:sp>
        </mc:Choice>
        <mc:Fallback>
          <p:sp>
            <p:nvSpPr>
              <p:cNvPr id="4" name="Text 1">
                <a:extLst>
                  <a:ext uri="{FF2B5EF4-FFF2-40B4-BE49-F238E27FC236}">
                    <a16:creationId xmlns:a16="http://schemas.microsoft.com/office/drawing/2014/main" id="{60DDDF61-E828-6885-6434-7AD44BE398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1360" y="885126"/>
                <a:ext cx="9902952" cy="5943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2">
            <a:extLst>
              <a:ext uri="{FF2B5EF4-FFF2-40B4-BE49-F238E27FC236}">
                <a16:creationId xmlns:a16="http://schemas.microsoft.com/office/drawing/2014/main" id="{B0E80FBB-E14F-EB13-5F35-27AF60D59D16}"/>
              </a:ext>
            </a:extLst>
          </p:cNvPr>
          <p:cNvSpPr/>
          <p:nvPr/>
        </p:nvSpPr>
        <p:spPr>
          <a:xfrm>
            <a:off x="-179920" y="1525206"/>
            <a:ext cx="9902952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CFCFCF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↓ under randomization + consistency</a:t>
            </a:r>
            <a:endParaRPr lang="en-US" sz="170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3">
                <a:extLst>
                  <a:ext uri="{FF2B5EF4-FFF2-40B4-BE49-F238E27FC236}">
                    <a16:creationId xmlns:a16="http://schemas.microsoft.com/office/drawing/2014/main" id="{05A8F63F-0381-1B62-3D99-48ACB1056CCD}"/>
                  </a:ext>
                </a:extLst>
              </p:cNvPr>
              <p:cNvSpPr/>
              <p:nvPr/>
            </p:nvSpPr>
            <p:spPr>
              <a:xfrm>
                <a:off x="-271360" y="1982406"/>
                <a:ext cx="10085832" cy="621792"/>
              </a:xfrm>
              <a:prstGeom prst="rect">
                <a:avLst/>
              </a:prstGeom>
              <a:noFill/>
              <a:ln/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𝐴𝑇𝐸</m:t>
                      </m:r>
                      <m:r>
                        <a:rPr lang="en-US" sz="28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</m:t>
                      </m:r>
                      <m:r>
                        <a:rPr lang="en-US" sz="28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28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28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28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| </m:t>
                      </m:r>
                      <m:r>
                        <a:rPr lang="en-US" sz="28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  <m:r>
                        <a:rPr lang="en-US" sz="28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=1] − </m:t>
                      </m:r>
                      <m:r>
                        <a:rPr lang="en-US" sz="28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𝐸</m:t>
                      </m:r>
                      <m:r>
                        <a:rPr lang="en-US" sz="28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[</m:t>
                      </m:r>
                      <m:r>
                        <a:rPr lang="en-US" sz="28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28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| </m:t>
                      </m:r>
                      <m:r>
                        <a:rPr lang="en-US" sz="28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  <m:r>
                        <a:rPr lang="en-US" sz="28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=0]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0" name="Text 3">
                <a:extLst>
                  <a:ext uri="{FF2B5EF4-FFF2-40B4-BE49-F238E27FC236}">
                    <a16:creationId xmlns:a16="http://schemas.microsoft.com/office/drawing/2014/main" id="{05A8F63F-0381-1B62-3D99-48ACB1056C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1360" y="1982406"/>
                <a:ext cx="10085832" cy="6217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4">
            <a:extLst>
              <a:ext uri="{FF2B5EF4-FFF2-40B4-BE49-F238E27FC236}">
                <a16:creationId xmlns:a16="http://schemas.microsoft.com/office/drawing/2014/main" id="{90B92B1C-B774-1A27-2BF4-447474022431}"/>
              </a:ext>
            </a:extLst>
          </p:cNvPr>
          <p:cNvSpPr/>
          <p:nvPr/>
        </p:nvSpPr>
        <p:spPr>
          <a:xfrm>
            <a:off x="169188" y="2915554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CCD53DAA-6D5E-6F41-1687-06DF046892C1}"/>
              </a:ext>
            </a:extLst>
          </p:cNvPr>
          <p:cNvSpPr/>
          <p:nvPr/>
        </p:nvSpPr>
        <p:spPr>
          <a:xfrm>
            <a:off x="315492" y="3034426"/>
            <a:ext cx="386791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Design result</a:t>
            </a:r>
            <a:endParaRPr lang="en-US" sz="1550" dirty="0">
              <a:latin typeface="+mn-lt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2F9B0899-608D-6FCF-86C4-6B06916AEEFE}"/>
              </a:ext>
            </a:extLst>
          </p:cNvPr>
          <p:cNvSpPr/>
          <p:nvPr/>
        </p:nvSpPr>
        <p:spPr>
          <a:xfrm>
            <a:off x="315492" y="3327034"/>
            <a:ext cx="3867912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 causal estimand becomes an observed mean contrast.</a:t>
            </a:r>
            <a:endParaRPr lang="en-US" sz="1700" dirty="0">
              <a:latin typeface="+mn-lt"/>
            </a:endParaRP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3F1527F7-6D64-E533-0EAE-F5745E0F382A}"/>
              </a:ext>
            </a:extLst>
          </p:cNvPr>
          <p:cNvSpPr/>
          <p:nvPr/>
        </p:nvSpPr>
        <p:spPr>
          <a:xfrm>
            <a:off x="4748103" y="2915554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FB84740C-2C5C-ECF7-B9AA-363BE06A751B}"/>
              </a:ext>
            </a:extLst>
          </p:cNvPr>
          <p:cNvSpPr/>
          <p:nvPr/>
        </p:nvSpPr>
        <p:spPr>
          <a:xfrm>
            <a:off x="4894407" y="3034426"/>
            <a:ext cx="386791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Analysis result</a:t>
            </a:r>
            <a:endParaRPr lang="en-US" sz="1550" dirty="0">
              <a:latin typeface="+mn-lt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3349A0FF-7710-6B31-4631-4D866C19488B}"/>
              </a:ext>
            </a:extLst>
          </p:cNvPr>
          <p:cNvSpPr/>
          <p:nvPr/>
        </p:nvSpPr>
        <p:spPr>
          <a:xfrm>
            <a:off x="4894407" y="3327034"/>
            <a:ext cx="3867912" cy="7040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Difference in sample means is the natural estimator.</a:t>
            </a:r>
            <a:endParaRPr lang="en-US" sz="1700" dirty="0">
              <a:latin typeface="+mn-lt"/>
            </a:endParaRPr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81100988-574A-2731-3F10-8E237A2754B5}"/>
              </a:ext>
            </a:extLst>
          </p:cNvPr>
          <p:cNvSpPr/>
          <p:nvPr/>
        </p:nvSpPr>
        <p:spPr>
          <a:xfrm>
            <a:off x="97783" y="4323730"/>
            <a:ext cx="8948434" cy="621791"/>
          </a:xfrm>
          <a:prstGeom prst="roundRect">
            <a:avLst/>
          </a:prstGeom>
          <a:solidFill>
            <a:srgbClr val="2C2C2C">
              <a:alpha val="98000"/>
            </a:srgbClr>
          </a:solidFill>
          <a:ln w="889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751A796E-2B29-B90F-1078-E60BD0F2F264}"/>
              </a:ext>
            </a:extLst>
          </p:cNvPr>
          <p:cNvSpPr/>
          <p:nvPr/>
        </p:nvSpPr>
        <p:spPr>
          <a:xfrm>
            <a:off x="352068" y="4433043"/>
            <a:ext cx="8645866" cy="45026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Randomization solves the confounding problem. It does not eliminate sampling uncertainty.</a:t>
            </a:r>
            <a:endParaRPr lang="en-US" sz="145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64128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72049-2DFB-8AE7-24D4-9DB6C977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B2BAFF-AFFC-E0E6-6E87-F1FEA404EAB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Randomization does not eliminate ALL assumptions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40129972-AB7A-E309-4402-A800E5001807}"/>
              </a:ext>
            </a:extLst>
          </p:cNvPr>
          <p:cNvSpPr/>
          <p:nvPr/>
        </p:nvSpPr>
        <p:spPr>
          <a:xfrm>
            <a:off x="113478" y="1075900"/>
            <a:ext cx="4466087" cy="1608751"/>
          </a:xfrm>
          <a:prstGeom prst="roundRect">
            <a:avLst>
              <a:gd name="adj" fmla="val 4651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 sz="1800">
              <a:latin typeface="+mn-lt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F8E0EF89-3553-13B0-7744-76D9A5B3F142}"/>
              </a:ext>
            </a:extLst>
          </p:cNvPr>
          <p:cNvSpPr/>
          <p:nvPr/>
        </p:nvSpPr>
        <p:spPr>
          <a:xfrm>
            <a:off x="259782" y="1194772"/>
            <a:ext cx="4215359" cy="31800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Consistency</a:t>
            </a:r>
            <a:endParaRPr lang="en-US" sz="1800" dirty="0">
              <a:latin typeface="+mn-lt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FE517C1-D0CA-0A18-2138-EED2C6E21357}"/>
              </a:ext>
            </a:extLst>
          </p:cNvPr>
          <p:cNvSpPr/>
          <p:nvPr/>
        </p:nvSpPr>
        <p:spPr>
          <a:xfrm>
            <a:off x="259782" y="1487380"/>
            <a:ext cx="4215359" cy="106626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Treatment versions must match the intervention being defined.</a:t>
            </a:r>
            <a:endParaRPr lang="en-US" sz="1800" dirty="0">
              <a:latin typeface="+mn-lt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26E102B8-D8F9-F7CC-664C-BE15A6BF50E9}"/>
              </a:ext>
            </a:extLst>
          </p:cNvPr>
          <p:cNvSpPr/>
          <p:nvPr/>
        </p:nvSpPr>
        <p:spPr>
          <a:xfrm>
            <a:off x="4621445" y="1075900"/>
            <a:ext cx="4466087" cy="1608751"/>
          </a:xfrm>
          <a:prstGeom prst="roundRect">
            <a:avLst>
              <a:gd name="adj" fmla="val 4651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F5B62D"/>
            </a:solidFill>
            <a:prstDash val="solid"/>
          </a:ln>
        </p:spPr>
        <p:txBody>
          <a:bodyPr/>
          <a:lstStyle/>
          <a:p>
            <a:endParaRPr lang="en-US" sz="1800">
              <a:latin typeface="+mn-lt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63D6E374-3BB8-61D1-9E2E-7826595150D8}"/>
              </a:ext>
            </a:extLst>
          </p:cNvPr>
          <p:cNvSpPr/>
          <p:nvPr/>
        </p:nvSpPr>
        <p:spPr>
          <a:xfrm>
            <a:off x="4767749" y="1194772"/>
            <a:ext cx="4215359" cy="31800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Positivity</a:t>
            </a:r>
            <a:endParaRPr lang="en-US" sz="1800" dirty="0">
              <a:latin typeface="+mn-lt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C37B8674-3A8A-0054-7DCC-E1BE3C30E9AC}"/>
              </a:ext>
            </a:extLst>
          </p:cNvPr>
          <p:cNvSpPr/>
          <p:nvPr/>
        </p:nvSpPr>
        <p:spPr>
          <a:xfrm>
            <a:off x="4767749" y="1487380"/>
            <a:ext cx="4215359" cy="106626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Each unit must have a nonzero chance of assignment to relevant arms.</a:t>
            </a:r>
            <a:endParaRPr lang="en-US" sz="1800" dirty="0">
              <a:latin typeface="+mn-lt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C3D3988A-751D-A81A-48D4-C957CAA6EBB3}"/>
              </a:ext>
            </a:extLst>
          </p:cNvPr>
          <p:cNvSpPr/>
          <p:nvPr/>
        </p:nvSpPr>
        <p:spPr>
          <a:xfrm>
            <a:off x="113478" y="2781645"/>
            <a:ext cx="4466087" cy="1608751"/>
          </a:xfrm>
          <a:prstGeom prst="roundRect">
            <a:avLst>
              <a:gd name="adj" fmla="val 4651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F09A39"/>
            </a:solidFill>
            <a:prstDash val="solid"/>
          </a:ln>
        </p:spPr>
        <p:txBody>
          <a:bodyPr/>
          <a:lstStyle/>
          <a:p>
            <a:endParaRPr lang="en-US" sz="1800">
              <a:latin typeface="+mn-lt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EB05EEEA-0BFD-3BF6-55BF-60ACFA26F7EC}"/>
              </a:ext>
            </a:extLst>
          </p:cNvPr>
          <p:cNvSpPr/>
          <p:nvPr/>
        </p:nvSpPr>
        <p:spPr>
          <a:xfrm>
            <a:off x="259782" y="2900517"/>
            <a:ext cx="4215359" cy="31800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09A39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No interference</a:t>
            </a:r>
            <a:endParaRPr lang="en-US" sz="1800" dirty="0">
              <a:latin typeface="+mn-lt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7FC8FFF7-BC89-B145-E457-FC1D9BF7160E}"/>
              </a:ext>
            </a:extLst>
          </p:cNvPr>
          <p:cNvSpPr/>
          <p:nvPr/>
        </p:nvSpPr>
        <p:spPr>
          <a:xfrm>
            <a:off x="259782" y="3193125"/>
            <a:ext cx="4215359" cy="106626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One unit’s assigned treatment should not alter another unit’s outcome for a standard individual-level estimand.</a:t>
            </a:r>
            <a:endParaRPr lang="en-US" sz="1800" dirty="0">
              <a:latin typeface="+mn-lt"/>
            </a:endParaRPr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CF2381EC-EF8E-0E8F-F026-B674B3662D6B}"/>
              </a:ext>
            </a:extLst>
          </p:cNvPr>
          <p:cNvSpPr/>
          <p:nvPr/>
        </p:nvSpPr>
        <p:spPr>
          <a:xfrm>
            <a:off x="4621445" y="2781645"/>
            <a:ext cx="4466087" cy="1608751"/>
          </a:xfrm>
          <a:prstGeom prst="roundRect">
            <a:avLst>
              <a:gd name="adj" fmla="val 4651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1800">
              <a:latin typeface="+mn-lt"/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C6C2A8A5-CBB4-5659-D105-799337744D88}"/>
              </a:ext>
            </a:extLst>
          </p:cNvPr>
          <p:cNvSpPr/>
          <p:nvPr/>
        </p:nvSpPr>
        <p:spPr>
          <a:xfrm>
            <a:off x="4767749" y="2900517"/>
            <a:ext cx="4215359" cy="31800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Outcome measurement</a:t>
            </a:r>
            <a:endParaRPr lang="en-US" sz="1800" dirty="0">
              <a:latin typeface="+mn-lt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18B18A5B-25F9-B076-42CC-CEC431AF4FA1}"/>
              </a:ext>
            </a:extLst>
          </p:cNvPr>
          <p:cNvSpPr/>
          <p:nvPr/>
        </p:nvSpPr>
        <p:spPr>
          <a:xfrm>
            <a:off x="4767749" y="3193125"/>
            <a:ext cx="4215359" cy="106626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Outcomes must be measured comparably enough to support the target contrast.</a:t>
            </a:r>
            <a:endParaRPr lang="en-US" sz="1800" dirty="0">
              <a:latin typeface="+mn-lt"/>
            </a:endParaRPr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37070F28-4AFD-56F0-CFC5-23D8D0492D4E}"/>
              </a:ext>
            </a:extLst>
          </p:cNvPr>
          <p:cNvSpPr/>
          <p:nvPr/>
        </p:nvSpPr>
        <p:spPr>
          <a:xfrm>
            <a:off x="76903" y="4487390"/>
            <a:ext cx="9010630" cy="523220"/>
          </a:xfrm>
          <a:prstGeom prst="roundRect">
            <a:avLst/>
          </a:prstGeom>
          <a:solidFill>
            <a:srgbClr val="2C2C2C">
              <a:alpha val="98000"/>
            </a:srgbClr>
          </a:solidFill>
          <a:ln w="889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55D6A98C-6BDB-EB91-FFA8-3E7CC4D7FFC2}"/>
              </a:ext>
            </a:extLst>
          </p:cNvPr>
          <p:cNvSpPr/>
          <p:nvPr/>
        </p:nvSpPr>
        <p:spPr>
          <a:xfrm>
            <a:off x="259782" y="4542254"/>
            <a:ext cx="8705960" cy="3788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Randomization primarily creates exchangeability. The rest of the causal story still matters.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15801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7B8C9-A8E1-A81B-7E98-223C4FCCF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6210A1-796C-1A76-771D-2A28763E249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Design vs Analysis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0AF77AD-FDA0-A500-3641-EE3A3D5C1171}"/>
              </a:ext>
            </a:extLst>
          </p:cNvPr>
          <p:cNvSpPr/>
          <p:nvPr/>
        </p:nvSpPr>
        <p:spPr>
          <a:xfrm>
            <a:off x="112622" y="887067"/>
            <a:ext cx="4459378" cy="3250494"/>
          </a:xfrm>
          <a:prstGeom prst="roundRect">
            <a:avLst>
              <a:gd name="adj" fmla="val 2051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1800">
              <a:latin typeface="+mj-lt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BB57C0C-03B6-45F0-CE0F-04723C940E39}"/>
              </a:ext>
            </a:extLst>
          </p:cNvPr>
          <p:cNvSpPr/>
          <p:nvPr/>
        </p:nvSpPr>
        <p:spPr>
          <a:xfrm>
            <a:off x="258926" y="1005939"/>
            <a:ext cx="4190133" cy="321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1AFE8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Design stage</a:t>
            </a:r>
            <a:endParaRPr lang="en-US" sz="1800" dirty="0">
              <a:latin typeface="+mj-lt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B8D3872-5790-9EAD-62E2-6807F509A04D}"/>
              </a:ext>
            </a:extLst>
          </p:cNvPr>
          <p:cNvSpPr/>
          <p:nvPr/>
        </p:nvSpPr>
        <p:spPr>
          <a:xfrm>
            <a:off x="258926" y="1298547"/>
            <a:ext cx="4190133" cy="3142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• Define target population</a:t>
            </a:r>
            <a:endParaRPr lang="en-US" sz="1800" dirty="0">
              <a:latin typeface="+mj-lt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• Define treatment versions</a:t>
            </a:r>
            <a:endParaRPr lang="en-US" sz="1800" dirty="0">
              <a:latin typeface="+mj-lt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• Choose randomization scheme</a:t>
            </a:r>
            <a:endParaRPr lang="en-US" sz="1800" dirty="0">
              <a:latin typeface="+mj-lt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• Pre-specify outcomes and estimands</a:t>
            </a:r>
            <a:endParaRPr lang="en-US" sz="1800" dirty="0">
              <a:latin typeface="+mj-lt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• Protect against interference / contamination</a:t>
            </a:r>
            <a:endParaRPr lang="en-US" sz="1800" dirty="0">
              <a:latin typeface="+mj-lt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• Plan sample size and follow-up</a:t>
            </a:r>
            <a:endParaRPr lang="en-US" sz="1800" dirty="0">
              <a:latin typeface="+mj-lt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0A6BAD2C-4D5D-7967-E200-D40966DFCC70}"/>
              </a:ext>
            </a:extLst>
          </p:cNvPr>
          <p:cNvSpPr/>
          <p:nvPr/>
        </p:nvSpPr>
        <p:spPr>
          <a:xfrm>
            <a:off x="4595363" y="887067"/>
            <a:ext cx="4459378" cy="3250494"/>
          </a:xfrm>
          <a:prstGeom prst="roundRect">
            <a:avLst>
              <a:gd name="adj" fmla="val 2051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 sz="1800">
              <a:latin typeface="+mj-lt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CB44BF8B-CBFE-BFA6-EFF6-9B19BD0DD7E2}"/>
              </a:ext>
            </a:extLst>
          </p:cNvPr>
          <p:cNvSpPr/>
          <p:nvPr/>
        </p:nvSpPr>
        <p:spPr>
          <a:xfrm>
            <a:off x="4741667" y="1005939"/>
            <a:ext cx="4190133" cy="321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CB91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Analysis stage</a:t>
            </a:r>
            <a:endParaRPr lang="en-US" sz="1800" dirty="0">
              <a:latin typeface="+mj-lt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0CF7D143-054B-0D01-BD42-76CCF4236967}"/>
              </a:ext>
            </a:extLst>
          </p:cNvPr>
          <p:cNvSpPr/>
          <p:nvPr/>
        </p:nvSpPr>
        <p:spPr>
          <a:xfrm>
            <a:off x="4741667" y="1298547"/>
            <a:ext cx="4190133" cy="3142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• Estimate arm-specific outcome means</a:t>
            </a:r>
            <a:endParaRPr lang="en-US" sz="1800" dirty="0">
              <a:latin typeface="+mj-lt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• Compare according to estimand</a:t>
            </a:r>
            <a:endParaRPr lang="en-US" sz="1800" dirty="0">
              <a:latin typeface="+mj-lt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• Quantify uncertainty</a:t>
            </a:r>
            <a:endParaRPr lang="en-US" sz="1800" dirty="0">
              <a:latin typeface="+mj-lt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• Adjust for baseline covariates if appropriate</a:t>
            </a:r>
            <a:endParaRPr lang="en-US" sz="1800" dirty="0">
              <a:latin typeface="+mj-lt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• Handle missing outcomes / noncompliance carefully</a:t>
            </a:r>
            <a:endParaRPr lang="en-US" sz="1800" dirty="0">
              <a:latin typeface="+mj-lt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• Report effect + interval, not only p-value</a:t>
            </a:r>
            <a:endParaRPr lang="en-US" sz="1800" dirty="0">
              <a:latin typeface="+mj-lt"/>
            </a:endParaRP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5EE54880-ED25-70D4-07CE-FE457F124BD5}"/>
              </a:ext>
            </a:extLst>
          </p:cNvPr>
          <p:cNvSpPr/>
          <p:nvPr/>
        </p:nvSpPr>
        <p:spPr>
          <a:xfrm>
            <a:off x="76046" y="4357877"/>
            <a:ext cx="8978695" cy="642092"/>
          </a:xfrm>
          <a:prstGeom prst="roundRect">
            <a:avLst/>
          </a:prstGeom>
          <a:solidFill>
            <a:srgbClr val="2C2C2C">
              <a:alpha val="98000"/>
            </a:srgbClr>
          </a:solidFill>
          <a:ln w="889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 sz="1800">
              <a:latin typeface="+mj-lt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5216EB67-699B-DCCB-EFDA-4BFA5A77CD6A}"/>
              </a:ext>
            </a:extLst>
          </p:cNvPr>
          <p:cNvSpPr/>
          <p:nvPr/>
        </p:nvSpPr>
        <p:spPr>
          <a:xfrm>
            <a:off x="258927" y="4412740"/>
            <a:ext cx="8675104" cy="464963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B62D"/>
                </a:solidFill>
                <a:latin typeface="+mj-lt"/>
                <a:ea typeface="Roboto Condensed" pitchFamily="34" charset="-122"/>
                <a:cs typeface="Roboto Condensed" pitchFamily="34" charset="-120"/>
              </a:rPr>
              <a:t>In causal inference, strong design often does more work than a complicated analysis.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82461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10F40-6F7D-1C84-5BCE-A51851362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30FBA1-402C-7403-EE08-EF7FDE073E2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Randomized Trial Example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A2D1860-4018-C9E7-884C-71B8A897AD9F}"/>
              </a:ext>
            </a:extLst>
          </p:cNvPr>
          <p:cNvSpPr/>
          <p:nvPr/>
        </p:nvSpPr>
        <p:spPr>
          <a:xfrm>
            <a:off x="59718" y="971303"/>
            <a:ext cx="3114924" cy="3497666"/>
          </a:xfrm>
          <a:prstGeom prst="roundRect">
            <a:avLst>
              <a:gd name="adj" fmla="val 2286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1800">
              <a:latin typeface="+mn-lt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F8AA642D-D25F-D942-3100-863FFB34201A}"/>
              </a:ext>
            </a:extLst>
          </p:cNvPr>
          <p:cNvSpPr/>
          <p:nvPr/>
        </p:nvSpPr>
        <p:spPr>
          <a:xfrm>
            <a:off x="206022" y="1090175"/>
            <a:ext cx="290779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Population</a:t>
            </a:r>
            <a:endParaRPr lang="en-US" sz="1800" dirty="0">
              <a:latin typeface="+mn-lt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568E305F-A34C-BE86-DFF5-C88DF10789D4}"/>
              </a:ext>
            </a:extLst>
          </p:cNvPr>
          <p:cNvSpPr/>
          <p:nvPr/>
        </p:nvSpPr>
        <p:spPr>
          <a:xfrm>
            <a:off x="206022" y="1382783"/>
            <a:ext cx="2907792" cy="32186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Adults with uncontrolled hypertension meeting trial eligibility criteria.</a:t>
            </a:r>
            <a:endParaRPr lang="en-US" sz="1800" dirty="0">
              <a:latin typeface="+mn-lt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8741DE8A-E733-4A00-893A-217C6BE98545}"/>
              </a:ext>
            </a:extLst>
          </p:cNvPr>
          <p:cNvSpPr/>
          <p:nvPr/>
        </p:nvSpPr>
        <p:spPr>
          <a:xfrm>
            <a:off x="3260118" y="971303"/>
            <a:ext cx="2907792" cy="3497666"/>
          </a:xfrm>
          <a:prstGeom prst="roundRect">
            <a:avLst>
              <a:gd name="adj" fmla="val 2286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F5B62D"/>
            </a:solidFill>
            <a:prstDash val="solid"/>
          </a:ln>
        </p:spPr>
        <p:txBody>
          <a:bodyPr/>
          <a:lstStyle/>
          <a:p>
            <a:endParaRPr lang="en-US" sz="1800">
              <a:latin typeface="+mn-lt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F8A8F2C-8ECE-027E-942B-D9647479AD49}"/>
              </a:ext>
            </a:extLst>
          </p:cNvPr>
          <p:cNvSpPr/>
          <p:nvPr/>
        </p:nvSpPr>
        <p:spPr>
          <a:xfrm>
            <a:off x="3406422" y="1090175"/>
            <a:ext cx="290779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Treatment</a:t>
            </a:r>
            <a:endParaRPr lang="en-US" sz="1800" dirty="0">
              <a:latin typeface="+mn-lt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7C687725-00A5-F1C7-5AE4-C10253DF30A6}"/>
              </a:ext>
            </a:extLst>
          </p:cNvPr>
          <p:cNvSpPr/>
          <p:nvPr/>
        </p:nvSpPr>
        <p:spPr>
          <a:xfrm>
            <a:off x="3260118" y="1349534"/>
            <a:ext cx="2907792" cy="32186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T=1: new drug once daily</a:t>
            </a:r>
            <a:endParaRPr lang="en-US" sz="1800" dirty="0">
              <a:latin typeface="+mn-lt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T=0: placebo / usual care</a:t>
            </a:r>
            <a:endParaRPr lang="en-US" sz="1800" dirty="0">
              <a:latin typeface="+mn-lt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Randomize 1:1</a:t>
            </a:r>
            <a:endParaRPr lang="en-US" sz="1800" dirty="0">
              <a:latin typeface="+mn-lt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BA9A9200-E84F-B4BF-732B-773FECE0CB2A}"/>
              </a:ext>
            </a:extLst>
          </p:cNvPr>
          <p:cNvSpPr/>
          <p:nvPr/>
        </p:nvSpPr>
        <p:spPr>
          <a:xfrm>
            <a:off x="6253386" y="971304"/>
            <a:ext cx="2830896" cy="3497666"/>
          </a:xfrm>
          <a:prstGeom prst="roundRect">
            <a:avLst>
              <a:gd name="adj" fmla="val 2286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 sz="1800">
              <a:latin typeface="+mn-lt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EB44DD66-07AC-43BB-FF98-D82EF52929F3}"/>
              </a:ext>
            </a:extLst>
          </p:cNvPr>
          <p:cNvSpPr/>
          <p:nvPr/>
        </p:nvSpPr>
        <p:spPr>
          <a:xfrm>
            <a:off x="6399690" y="1090175"/>
            <a:ext cx="2572071" cy="31034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Outcome</a:t>
            </a:r>
            <a:endParaRPr lang="en-US" sz="1800" dirty="0">
              <a:latin typeface="+mn-lt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05C826C2-5A3F-7D84-B839-0766E859DBDA}"/>
              </a:ext>
            </a:extLst>
          </p:cNvPr>
          <p:cNvSpPr/>
          <p:nvPr/>
        </p:nvSpPr>
        <p:spPr>
          <a:xfrm>
            <a:off x="6399690" y="1382783"/>
            <a:ext cx="2572071" cy="321295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Systolic blood pressure after 4 weeks.</a:t>
            </a:r>
            <a:endParaRPr lang="en-US" sz="1800" dirty="0">
              <a:latin typeface="+mn-lt"/>
            </a:endParaRPr>
          </a:p>
          <a:p>
            <a:pPr marL="0" indent="0" algn="ctr">
              <a:buNone/>
            </a:pPr>
            <a:endParaRPr lang="en-US" sz="1800" dirty="0">
              <a:latin typeface="+mn-lt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Target: average treatment effect in trial participants.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40327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4F5FD-D3AE-45FA-CDBE-7700B3794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275DD0-6A35-3BF2-0D23-F6DF2AF473D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Assignment is NOT same as treatment received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5491755-8296-E24E-19BA-7BD340907135}"/>
              </a:ext>
            </a:extLst>
          </p:cNvPr>
          <p:cNvSpPr/>
          <p:nvPr/>
        </p:nvSpPr>
        <p:spPr>
          <a:xfrm>
            <a:off x="434638" y="2135173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2C2C2C"/>
          </a:solidFill>
          <a:ln w="19050">
            <a:solidFill>
              <a:srgbClr val="F5B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B5348C9-DBBB-4EF5-A4B4-1899EEAAFBB4}"/>
              </a:ext>
            </a:extLst>
          </p:cNvPr>
          <p:cNvSpPr/>
          <p:nvPr/>
        </p:nvSpPr>
        <p:spPr>
          <a:xfrm>
            <a:off x="498646" y="2180893"/>
            <a:ext cx="1975104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Randomized assignment Z</a:t>
            </a:r>
            <a:endParaRPr lang="en-US" sz="2000" dirty="0">
              <a:latin typeface="+mn-lt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6C4908D3-0F41-55BD-DCFF-2804B9FB8541}"/>
              </a:ext>
            </a:extLst>
          </p:cNvPr>
          <p:cNvSpPr/>
          <p:nvPr/>
        </p:nvSpPr>
        <p:spPr>
          <a:xfrm>
            <a:off x="3676918" y="2144318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2C2C2C"/>
          </a:solidFill>
          <a:ln w="1905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CFA5AD46-3393-9B6C-B3E1-5E4CD3B5D978}"/>
              </a:ext>
            </a:extLst>
          </p:cNvPr>
          <p:cNvSpPr/>
          <p:nvPr/>
        </p:nvSpPr>
        <p:spPr>
          <a:xfrm>
            <a:off x="3740926" y="2190038"/>
            <a:ext cx="1975104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Treatment received D</a:t>
            </a:r>
            <a:endParaRPr lang="en-US" sz="2000" dirty="0">
              <a:latin typeface="+mn-lt"/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6396F7B8-FA34-F20B-C1ED-ED4240C4539D}"/>
              </a:ext>
            </a:extLst>
          </p:cNvPr>
          <p:cNvSpPr/>
          <p:nvPr/>
        </p:nvSpPr>
        <p:spPr>
          <a:xfrm>
            <a:off x="6944312" y="2173722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2C2C2C"/>
          </a:solidFill>
          <a:ln w="1905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0BD43EB8-FA0E-CFEE-67A0-4AD02CFAFD06}"/>
              </a:ext>
            </a:extLst>
          </p:cNvPr>
          <p:cNvSpPr/>
          <p:nvPr/>
        </p:nvSpPr>
        <p:spPr>
          <a:xfrm>
            <a:off x="7008319" y="2219442"/>
            <a:ext cx="1700784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Outcome Y</a:t>
            </a:r>
            <a:endParaRPr lang="en-US" sz="2000" dirty="0">
              <a:latin typeface="+mn-lt"/>
            </a:endParaRP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0787F9B9-5906-D69C-486C-AC963335B99A}"/>
              </a:ext>
            </a:extLst>
          </p:cNvPr>
          <p:cNvSpPr/>
          <p:nvPr/>
        </p:nvSpPr>
        <p:spPr>
          <a:xfrm>
            <a:off x="2537758" y="2483758"/>
            <a:ext cx="1139160" cy="0"/>
          </a:xfrm>
          <a:prstGeom prst="line">
            <a:avLst/>
          </a:prstGeom>
          <a:noFill/>
          <a:ln w="22860">
            <a:solidFill>
              <a:srgbClr val="F5B62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CAA17769-B51F-EB26-6BE4-282E62F900AC}"/>
              </a:ext>
            </a:extLst>
          </p:cNvPr>
          <p:cNvSpPr/>
          <p:nvPr/>
        </p:nvSpPr>
        <p:spPr>
          <a:xfrm>
            <a:off x="5780038" y="2516166"/>
            <a:ext cx="1164274" cy="0"/>
          </a:xfrm>
          <a:prstGeom prst="line">
            <a:avLst/>
          </a:prstGeom>
          <a:noFill/>
          <a:ln w="22860">
            <a:solidFill>
              <a:srgbClr val="71AF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C9E6830F-0940-8109-2B75-B746684F59C2}"/>
              </a:ext>
            </a:extLst>
          </p:cNvPr>
          <p:cNvSpPr/>
          <p:nvPr/>
        </p:nvSpPr>
        <p:spPr>
          <a:xfrm>
            <a:off x="2309802" y="999701"/>
            <a:ext cx="475488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09A39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Nonadherence, crossover, access barriers, clinical decisions</a:t>
            </a:r>
            <a:endParaRPr lang="en-US" sz="2000" dirty="0">
              <a:latin typeface="+mn-lt"/>
            </a:endParaRPr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5C2E06B0-5BE6-92C3-D146-B380AD359554}"/>
              </a:ext>
            </a:extLst>
          </p:cNvPr>
          <p:cNvSpPr/>
          <p:nvPr/>
        </p:nvSpPr>
        <p:spPr>
          <a:xfrm>
            <a:off x="4687242" y="1723693"/>
            <a:ext cx="0" cy="411480"/>
          </a:xfrm>
          <a:prstGeom prst="line">
            <a:avLst/>
          </a:prstGeom>
          <a:noFill/>
          <a:ln w="16510">
            <a:solidFill>
              <a:srgbClr val="F09A3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6759FCC1-F775-02F9-D7B5-50E6738B0063}"/>
              </a:ext>
            </a:extLst>
          </p:cNvPr>
          <p:cNvSpPr/>
          <p:nvPr/>
        </p:nvSpPr>
        <p:spPr>
          <a:xfrm>
            <a:off x="0" y="3488665"/>
            <a:ext cx="9144000" cy="912293"/>
          </a:xfrm>
          <a:prstGeom prst="roundRect">
            <a:avLst/>
          </a:prstGeom>
          <a:solidFill>
            <a:srgbClr val="2C2C2C">
              <a:alpha val="98000"/>
            </a:srgbClr>
          </a:solidFill>
          <a:ln w="889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A4C978B1-03D9-174D-88F6-5DA2098363FD}"/>
              </a:ext>
            </a:extLst>
          </p:cNvPr>
          <p:cNvSpPr/>
          <p:nvPr/>
        </p:nvSpPr>
        <p:spPr>
          <a:xfrm>
            <a:off x="182880" y="3543530"/>
            <a:ext cx="8834820" cy="66062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Randomization guarantees exchangeability for assignment Z. It does not automatically randomize treatment actually received D.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84359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18F02-EAB0-6348-7784-1401A68EB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CF2F24-4497-25EB-A0ED-ED37BAD558D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Complete Randomization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1AF502B4-AF16-8D5B-5328-88827F68895F}"/>
              </a:ext>
            </a:extLst>
          </p:cNvPr>
          <p:cNvSpPr/>
          <p:nvPr/>
        </p:nvSpPr>
        <p:spPr>
          <a:xfrm>
            <a:off x="478194" y="1159035"/>
            <a:ext cx="3853966" cy="2962204"/>
          </a:xfrm>
          <a:prstGeom prst="roundRect">
            <a:avLst>
              <a:gd name="adj" fmla="val 2105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221ED42-FA82-1667-0DE9-93F32A882CC8}"/>
              </a:ext>
            </a:extLst>
          </p:cNvPr>
          <p:cNvSpPr/>
          <p:nvPr/>
        </p:nvSpPr>
        <p:spPr>
          <a:xfrm>
            <a:off x="624498" y="1277907"/>
            <a:ext cx="3376074" cy="25280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Design</a:t>
            </a:r>
            <a:endParaRPr lang="en-US" sz="200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3">
                <a:extLst>
                  <a:ext uri="{FF2B5EF4-FFF2-40B4-BE49-F238E27FC236}">
                    <a16:creationId xmlns:a16="http://schemas.microsoft.com/office/drawing/2014/main" id="{913BEC07-62D4-49CC-F6E6-A278CD20A5C0}"/>
                  </a:ext>
                </a:extLst>
              </p:cNvPr>
              <p:cNvSpPr/>
              <p:nvPr/>
            </p:nvSpPr>
            <p:spPr>
              <a:xfrm>
                <a:off x="551346" y="1668161"/>
                <a:ext cx="3707662" cy="2413950"/>
              </a:xfrm>
              <a:prstGeom prst="rect">
                <a:avLst/>
              </a:prstGeom>
              <a:noFill/>
              <a:ln/>
            </p:spPr>
            <p:txBody>
              <a:bodyPr wrap="square" lIns="762" tIns="762" rIns="762" bIns="762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5F5F5"/>
                    </a:solidFill>
                    <a:latin typeface="+mn-lt"/>
                    <a:ea typeface="Roboto Condensed" pitchFamily="34" charset="-122"/>
                    <a:cs typeface="Roboto Condensed" pitchFamily="34" charset="-120"/>
                  </a:rPr>
                  <a:t>Fix the number assigned to each arm, then randomly choose which units receive each arm.</a:t>
                </a:r>
                <a:endParaRPr lang="en-US" sz="2000" dirty="0">
                  <a:latin typeface="+mn-lt"/>
                </a:endParaRPr>
              </a:p>
              <a:p>
                <a:pPr marL="0" indent="0" algn="ctr"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5F5F5"/>
                    </a:solidFill>
                    <a:latin typeface="+mn-lt"/>
                    <a:ea typeface="Roboto Condensed" pitchFamily="34" charset="-122"/>
                    <a:cs typeface="Roboto Condensed" pitchFamily="34" charset="-120"/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  <a:ea typeface="Roboto Condensed" pitchFamily="34" charset="-122"/>
                        <a:cs typeface="Roboto Condensed" pitchFamily="34" charset="-12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  <a:ea typeface="Roboto Condensed" pitchFamily="34" charset="-122"/>
                        <a:cs typeface="Roboto Condensed" pitchFamily="34" charset="-120"/>
                      </a:rPr>
                      <m:t>=200 → </m:t>
                    </m:r>
                  </m:oMath>
                </a14:m>
                <a:r>
                  <a:rPr lang="en-US" sz="2000" dirty="0">
                    <a:solidFill>
                      <a:srgbClr val="F5F5F5"/>
                    </a:solidFill>
                    <a:latin typeface="+mn-lt"/>
                    <a:ea typeface="Roboto Condensed" pitchFamily="34" charset="-122"/>
                    <a:cs typeface="Roboto Condensed" pitchFamily="34" charset="-120"/>
                  </a:rPr>
                  <a:t>exactly 100 treatment and 100 control.</a:t>
                </a:r>
                <a:endParaRPr lang="en-US" sz="2000" dirty="0">
                  <a:latin typeface="+mn-lt"/>
                </a:endParaRPr>
              </a:p>
            </p:txBody>
          </p:sp>
        </mc:Choice>
        <mc:Fallback>
          <p:sp>
            <p:nvSpPr>
              <p:cNvPr id="11" name="Text 3">
                <a:extLst>
                  <a:ext uri="{FF2B5EF4-FFF2-40B4-BE49-F238E27FC236}">
                    <a16:creationId xmlns:a16="http://schemas.microsoft.com/office/drawing/2014/main" id="{913BEC07-62D4-49CC-F6E6-A278CD20A5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46" y="1668161"/>
                <a:ext cx="3707662" cy="2413950"/>
              </a:xfrm>
              <a:prstGeom prst="rect">
                <a:avLst/>
              </a:prstGeom>
              <a:blipFill>
                <a:blip r:embed="rId2"/>
                <a:stretch>
                  <a:fillRect l="-3777" r="-558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4">
            <a:extLst>
              <a:ext uri="{FF2B5EF4-FFF2-40B4-BE49-F238E27FC236}">
                <a16:creationId xmlns:a16="http://schemas.microsoft.com/office/drawing/2014/main" id="{D7775F66-8402-4360-0122-DE687E23E371}"/>
              </a:ext>
            </a:extLst>
          </p:cNvPr>
          <p:cNvSpPr/>
          <p:nvPr/>
        </p:nvSpPr>
        <p:spPr>
          <a:xfrm>
            <a:off x="4665535" y="1159035"/>
            <a:ext cx="3942851" cy="2962204"/>
          </a:xfrm>
          <a:prstGeom prst="roundRect">
            <a:avLst>
              <a:gd name="adj" fmla="val 2105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B20367B-971C-BF24-5351-58FDB7FEB1DD}"/>
              </a:ext>
            </a:extLst>
          </p:cNvPr>
          <p:cNvSpPr/>
          <p:nvPr/>
        </p:nvSpPr>
        <p:spPr>
          <a:xfrm>
            <a:off x="4811840" y="1277907"/>
            <a:ext cx="3607312" cy="25280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Why use it?</a:t>
            </a:r>
            <a:endParaRPr lang="en-US" sz="2000" dirty="0">
              <a:latin typeface="+mn-lt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AD36AF84-EC64-A914-6115-2CA1AE4D8226}"/>
              </a:ext>
            </a:extLst>
          </p:cNvPr>
          <p:cNvSpPr/>
          <p:nvPr/>
        </p:nvSpPr>
        <p:spPr>
          <a:xfrm>
            <a:off x="4811840" y="1570515"/>
            <a:ext cx="3990870" cy="241395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• Simple</a:t>
            </a:r>
            <a:endParaRPr lang="en-US" sz="2000" dirty="0">
              <a:latin typeface="+mn-lt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• Exact arm sizes</a:t>
            </a:r>
            <a:endParaRPr lang="en-US" sz="2000" dirty="0">
              <a:latin typeface="+mn-lt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• Transparent assignment mechanism</a:t>
            </a:r>
            <a:endParaRPr lang="en-US" sz="2000" dirty="0">
              <a:latin typeface="+mn-lt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• Basis for many randomization-based results</a:t>
            </a:r>
            <a:endParaRPr lang="en-US" sz="200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7">
                <a:extLst>
                  <a:ext uri="{FF2B5EF4-FFF2-40B4-BE49-F238E27FC236}">
                    <a16:creationId xmlns:a16="http://schemas.microsoft.com/office/drawing/2014/main" id="{D9443EF0-07AE-58BB-FADE-E01C95116D0A}"/>
                  </a:ext>
                </a:extLst>
              </p:cNvPr>
              <p:cNvSpPr/>
              <p:nvPr/>
            </p:nvSpPr>
            <p:spPr>
              <a:xfrm>
                <a:off x="322360" y="4272277"/>
                <a:ext cx="8286027" cy="408944"/>
              </a:xfrm>
              <a:prstGeom prst="rect">
                <a:avLst/>
              </a:prstGeom>
              <a:noFill/>
              <a:ln/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2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Pr</m:t>
                      </m:r>
                      <m:r>
                        <a:rPr lang="en-US" sz="22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⁡(</m:t>
                      </m:r>
                      <m:sSub>
                        <m:sSubPr>
                          <m:ctrlPr>
                            <a:rPr lang="en-US" sz="2200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sSubPr>
                        <m:e>
                          <m:r>
                            <a:rPr lang="en-US" sz="2200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𝑇</m:t>
                          </m:r>
                        </m:e>
                        <m:sub>
                          <m:r>
                            <a:rPr lang="en-US" sz="2200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𝑖</m:t>
                          </m:r>
                        </m:sub>
                      </m:sSub>
                      <m:r>
                        <a:rPr lang="en-US" sz="2200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=1)=100/200=0.5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23" name="Text 7">
                <a:extLst>
                  <a:ext uri="{FF2B5EF4-FFF2-40B4-BE49-F238E27FC236}">
                    <a16:creationId xmlns:a16="http://schemas.microsoft.com/office/drawing/2014/main" id="{D9443EF0-07AE-58BB-FADE-E01C95116D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60" y="4272277"/>
                <a:ext cx="8286027" cy="408944"/>
              </a:xfrm>
              <a:prstGeom prst="rect">
                <a:avLst/>
              </a:prstGeom>
              <a:blipFill>
                <a:blip r:embed="rId3"/>
                <a:stretch>
                  <a:fillRect b="-2238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1919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C07F8-F39B-7EF2-B062-3D0246D24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AA435-84B6-07B4-9E8E-6B0727F1F99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Bernoulli Randomization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2DE93913-3A3D-6D14-0DB5-968C6A40CAC4}"/>
              </a:ext>
            </a:extLst>
          </p:cNvPr>
          <p:cNvSpPr/>
          <p:nvPr/>
        </p:nvSpPr>
        <p:spPr>
          <a:xfrm>
            <a:off x="478194" y="1159035"/>
            <a:ext cx="3853966" cy="2962204"/>
          </a:xfrm>
          <a:prstGeom prst="roundRect">
            <a:avLst>
              <a:gd name="adj" fmla="val 2105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73F7869-43D8-104B-66E9-051C4A8EC369}"/>
              </a:ext>
            </a:extLst>
          </p:cNvPr>
          <p:cNvSpPr/>
          <p:nvPr/>
        </p:nvSpPr>
        <p:spPr>
          <a:xfrm>
            <a:off x="624498" y="1277907"/>
            <a:ext cx="3376074" cy="25280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Design</a:t>
            </a:r>
            <a:endParaRPr lang="en-US" sz="2000" dirty="0">
              <a:latin typeface="+mn-lt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AA7DCA72-419E-25AC-A5FD-717F1B8CC317}"/>
              </a:ext>
            </a:extLst>
          </p:cNvPr>
          <p:cNvSpPr/>
          <p:nvPr/>
        </p:nvSpPr>
        <p:spPr>
          <a:xfrm>
            <a:off x="551346" y="1668161"/>
            <a:ext cx="3707662" cy="241395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Each unit is randomized independently, e.g.</a:t>
            </a:r>
          </a:p>
          <a:p>
            <a:pPr marL="0" indent="0" algn="ctr">
              <a:buNone/>
            </a:pPr>
            <a:endParaRPr lang="en-US" sz="2000" dirty="0">
              <a:solidFill>
                <a:srgbClr val="F5F5F5"/>
              </a:solidFill>
              <a:latin typeface="+mn-lt"/>
              <a:ea typeface="Roboto Condensed" pitchFamily="34" charset="-122"/>
              <a:cs typeface="Roboto Condensed" pitchFamily="34" charset="-12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Tᵢ ~ Bernoulli(0.5)</a:t>
            </a: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CDC2BA9E-17DF-D2C3-8CED-D87DB447316C}"/>
              </a:ext>
            </a:extLst>
          </p:cNvPr>
          <p:cNvSpPr/>
          <p:nvPr/>
        </p:nvSpPr>
        <p:spPr>
          <a:xfrm>
            <a:off x="4665535" y="1159035"/>
            <a:ext cx="3942851" cy="2962204"/>
          </a:xfrm>
          <a:prstGeom prst="roundRect">
            <a:avLst>
              <a:gd name="adj" fmla="val 2105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63017A0-ABC0-47ED-5F67-EF54367A23D9}"/>
              </a:ext>
            </a:extLst>
          </p:cNvPr>
          <p:cNvSpPr/>
          <p:nvPr/>
        </p:nvSpPr>
        <p:spPr>
          <a:xfrm>
            <a:off x="4811840" y="1277907"/>
            <a:ext cx="3607312" cy="25280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Difference from Complete</a:t>
            </a:r>
            <a:endParaRPr lang="en-US" sz="2000" dirty="0">
              <a:latin typeface="+mn-lt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0D8460F1-201C-4530-DCC9-9EBE3C02F07C}"/>
              </a:ext>
            </a:extLst>
          </p:cNvPr>
          <p:cNvSpPr/>
          <p:nvPr/>
        </p:nvSpPr>
        <p:spPr>
          <a:xfrm>
            <a:off x="4811840" y="1570515"/>
            <a:ext cx="3990870" cy="241395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The final treatment-arm size is random. You might end with 96 treated and 104 controls, or 107 and 93, etc.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7">
                <a:extLst>
                  <a:ext uri="{FF2B5EF4-FFF2-40B4-BE49-F238E27FC236}">
                    <a16:creationId xmlns:a16="http://schemas.microsoft.com/office/drawing/2014/main" id="{9B5652A6-2889-D8EB-DDC3-44276382EC70}"/>
                  </a:ext>
                </a:extLst>
              </p:cNvPr>
              <p:cNvSpPr/>
              <p:nvPr/>
            </p:nvSpPr>
            <p:spPr>
              <a:xfrm>
                <a:off x="-77273" y="4377188"/>
                <a:ext cx="9298546" cy="766312"/>
              </a:xfrm>
              <a:prstGeom prst="rect">
                <a:avLst/>
              </a:prstGeom>
              <a:noFill/>
              <a:ln/>
            </p:spPr>
            <p:txBody>
              <a:bodyPr wrap="square" lIns="762" tIns="762" rIns="762" bIns="762" rtlCol="0" anchor="ctr">
                <a:normAutofit fontScale="925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800" b="1" dirty="0">
                          <a:solidFill>
                            <a:srgbClr val="F5B62D"/>
                          </a:solidFill>
                          <a:latin typeface="+mn-lt"/>
                          <a:ea typeface="Roboto Condensed" pitchFamily="34" charset="-122"/>
                          <a:cs typeface="Roboto Condensed" pitchFamily="34" charset="-120"/>
                        </a:rPr>
                        <m:t>Both are randomized designs; they induce slightly different assignment distributions.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3" name="Text 7">
                <a:extLst>
                  <a:ext uri="{FF2B5EF4-FFF2-40B4-BE49-F238E27FC236}">
                    <a16:creationId xmlns:a16="http://schemas.microsoft.com/office/drawing/2014/main" id="{9B5652A6-2889-D8EB-DDC3-44276382EC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7273" y="4377188"/>
                <a:ext cx="9298546" cy="7663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85274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62E4C-0498-3382-DE6E-3D8ECA674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FEDDD-D774-47BA-A72F-339DE2F3533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Blocked / Stratified Randomization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4C6F179-71AB-18A7-6837-B60CA103E9EF}"/>
              </a:ext>
            </a:extLst>
          </p:cNvPr>
          <p:cNvSpPr/>
          <p:nvPr/>
        </p:nvSpPr>
        <p:spPr>
          <a:xfrm>
            <a:off x="-617384" y="768031"/>
            <a:ext cx="106527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Randomize within important baseline groups rather than across everyone at once.</a:t>
            </a:r>
            <a:endParaRPr lang="en-US" sz="1600" dirty="0">
              <a:latin typeface="+mn-lt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BA378226-1B56-0AEC-73F7-7CA35B775654}"/>
              </a:ext>
            </a:extLst>
          </p:cNvPr>
          <p:cNvSpPr/>
          <p:nvPr/>
        </p:nvSpPr>
        <p:spPr>
          <a:xfrm>
            <a:off x="114136" y="1618423"/>
            <a:ext cx="1463040" cy="700211"/>
          </a:xfrm>
          <a:prstGeom prst="roundRect">
            <a:avLst>
              <a:gd name="adj" fmla="val 8421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5A64A9CC-BFE9-FD2B-62E6-4B0EE082FEF3}"/>
              </a:ext>
            </a:extLst>
          </p:cNvPr>
          <p:cNvSpPr/>
          <p:nvPr/>
        </p:nvSpPr>
        <p:spPr>
          <a:xfrm>
            <a:off x="201004" y="1792159"/>
            <a:ext cx="1267968" cy="25060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Age &lt; 60</a:t>
            </a:r>
            <a:endParaRPr lang="en-US" sz="1600" dirty="0">
              <a:latin typeface="+mn-lt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6B9C9048-E032-4578-2222-18B27241C25D}"/>
              </a:ext>
            </a:extLst>
          </p:cNvPr>
          <p:cNvSpPr/>
          <p:nvPr/>
        </p:nvSpPr>
        <p:spPr>
          <a:xfrm>
            <a:off x="1577176" y="1937740"/>
            <a:ext cx="706193" cy="0"/>
          </a:xfrm>
          <a:prstGeom prst="line">
            <a:avLst/>
          </a:prstGeom>
          <a:noFill/>
          <a:ln w="15240">
            <a:solidFill>
              <a:srgbClr val="CFCF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661B935E-DA45-9F4A-CF01-B7558384B22B}"/>
              </a:ext>
            </a:extLst>
          </p:cNvPr>
          <p:cNvSpPr/>
          <p:nvPr/>
        </p:nvSpPr>
        <p:spPr>
          <a:xfrm>
            <a:off x="2283369" y="1636711"/>
            <a:ext cx="2048585" cy="710213"/>
          </a:xfrm>
          <a:prstGeom prst="roundRect">
            <a:avLst>
              <a:gd name="adj" fmla="val 8421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F5B62D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3A246686-C10A-0BF2-D6B3-45C9A47AA138}"/>
              </a:ext>
            </a:extLst>
          </p:cNvPr>
          <p:cNvSpPr/>
          <p:nvPr/>
        </p:nvSpPr>
        <p:spPr>
          <a:xfrm>
            <a:off x="2444699" y="1821339"/>
            <a:ext cx="1757231" cy="25418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Randomize</a:t>
            </a:r>
            <a:endParaRPr lang="en-US" sz="1600" dirty="0">
              <a:latin typeface="+mn-lt"/>
            </a:endParaRP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C75C4EFC-5BA6-382D-E29B-341AC551A9A4}"/>
              </a:ext>
            </a:extLst>
          </p:cNvPr>
          <p:cNvSpPr/>
          <p:nvPr/>
        </p:nvSpPr>
        <p:spPr>
          <a:xfrm flipV="1">
            <a:off x="4347808" y="1792159"/>
            <a:ext cx="978408" cy="145581"/>
          </a:xfrm>
          <a:prstGeom prst="line">
            <a:avLst/>
          </a:prstGeom>
          <a:noFill/>
          <a:ln w="15240">
            <a:solidFill>
              <a:srgbClr val="71AF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2C4FF265-E323-03DD-8A37-A1C3CB405AD5}"/>
              </a:ext>
            </a:extLst>
          </p:cNvPr>
          <p:cNvSpPr/>
          <p:nvPr/>
        </p:nvSpPr>
        <p:spPr>
          <a:xfrm>
            <a:off x="4347808" y="1937740"/>
            <a:ext cx="978408" cy="283464"/>
          </a:xfrm>
          <a:prstGeom prst="line">
            <a:avLst/>
          </a:prstGeom>
          <a:noFill/>
          <a:ln w="15240">
            <a:solidFill>
              <a:srgbClr val="B58AD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103AD451-E457-A023-AFD2-E105B5BACE6E}"/>
              </a:ext>
            </a:extLst>
          </p:cNvPr>
          <p:cNvSpPr/>
          <p:nvPr/>
        </p:nvSpPr>
        <p:spPr>
          <a:xfrm>
            <a:off x="5326216" y="1443991"/>
            <a:ext cx="1657498" cy="558478"/>
          </a:xfrm>
          <a:prstGeom prst="roundRect">
            <a:avLst>
              <a:gd name="adj" fmla="val 10000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E538ABEA-AAF9-9C10-4ACE-425AF206B575}"/>
              </a:ext>
            </a:extLst>
          </p:cNvPr>
          <p:cNvSpPr/>
          <p:nvPr/>
        </p:nvSpPr>
        <p:spPr>
          <a:xfrm>
            <a:off x="5472520" y="1562863"/>
            <a:ext cx="139903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Treatment</a:t>
            </a:r>
            <a:endParaRPr lang="en-US" sz="1600" dirty="0">
              <a:latin typeface="+mn-lt"/>
            </a:endParaRPr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BD2E3968-7CBC-E8A6-8A92-4329E9581EC1}"/>
              </a:ext>
            </a:extLst>
          </p:cNvPr>
          <p:cNvSpPr/>
          <p:nvPr/>
        </p:nvSpPr>
        <p:spPr>
          <a:xfrm>
            <a:off x="5309145" y="2074927"/>
            <a:ext cx="1691640" cy="558477"/>
          </a:xfrm>
          <a:prstGeom prst="roundRect">
            <a:avLst>
              <a:gd name="adj" fmla="val 10000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B58AD7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6856116C-1E3D-DB2A-F312-841F0D0FBC55}"/>
              </a:ext>
            </a:extLst>
          </p:cNvPr>
          <p:cNvSpPr/>
          <p:nvPr/>
        </p:nvSpPr>
        <p:spPr>
          <a:xfrm>
            <a:off x="5455449" y="2193799"/>
            <a:ext cx="139903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8AD7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Control</a:t>
            </a:r>
            <a:endParaRPr lang="en-US" sz="1600" dirty="0">
              <a:latin typeface="+mn-lt"/>
            </a:endParaRPr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BAA194A5-CE7D-560F-B2A4-5A32A4307555}"/>
              </a:ext>
            </a:extLst>
          </p:cNvPr>
          <p:cNvSpPr/>
          <p:nvPr/>
        </p:nvSpPr>
        <p:spPr>
          <a:xfrm>
            <a:off x="114136" y="2779710"/>
            <a:ext cx="1463040" cy="796221"/>
          </a:xfrm>
          <a:prstGeom prst="roundRect">
            <a:avLst>
              <a:gd name="adj" fmla="val 8421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F09A39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1FF91662-894F-25D7-8ECA-DA7940278E03}"/>
              </a:ext>
            </a:extLst>
          </p:cNvPr>
          <p:cNvSpPr/>
          <p:nvPr/>
        </p:nvSpPr>
        <p:spPr>
          <a:xfrm>
            <a:off x="-115988" y="2962658"/>
            <a:ext cx="190195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09A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Age ≥ 60</a:t>
            </a:r>
            <a:endParaRPr lang="en-US" sz="155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DD23248C-ED57-3F0B-3A50-18E431F351A3}"/>
              </a:ext>
            </a:extLst>
          </p:cNvPr>
          <p:cNvSpPr/>
          <p:nvPr/>
        </p:nvSpPr>
        <p:spPr>
          <a:xfrm>
            <a:off x="1577176" y="3209479"/>
            <a:ext cx="706193" cy="0"/>
          </a:xfrm>
          <a:prstGeom prst="line">
            <a:avLst/>
          </a:prstGeom>
          <a:noFill/>
          <a:ln w="15240">
            <a:solidFill>
              <a:srgbClr val="CFCF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F96EA340-EE73-DF4B-C8F1-B5B625C60E6B}"/>
              </a:ext>
            </a:extLst>
          </p:cNvPr>
          <p:cNvSpPr/>
          <p:nvPr/>
        </p:nvSpPr>
        <p:spPr>
          <a:xfrm>
            <a:off x="2274554" y="2779711"/>
            <a:ext cx="2073254" cy="749808"/>
          </a:xfrm>
          <a:prstGeom prst="roundRect">
            <a:avLst>
              <a:gd name="adj" fmla="val 8421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F5B62D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F2695003-092D-06E5-A65A-3FFA5110829A}"/>
              </a:ext>
            </a:extLst>
          </p:cNvPr>
          <p:cNvSpPr/>
          <p:nvPr/>
        </p:nvSpPr>
        <p:spPr>
          <a:xfrm>
            <a:off x="2434118" y="2992904"/>
            <a:ext cx="1778391" cy="268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Randomize</a:t>
            </a:r>
            <a:endParaRPr lang="en-US" sz="1600" dirty="0">
              <a:latin typeface="+mn-lt"/>
            </a:endParaRPr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D1224CD5-796B-DA27-0AE8-219D1A842388}"/>
              </a:ext>
            </a:extLst>
          </p:cNvPr>
          <p:cNvSpPr/>
          <p:nvPr/>
        </p:nvSpPr>
        <p:spPr>
          <a:xfrm>
            <a:off x="4347808" y="3088699"/>
            <a:ext cx="978408" cy="0"/>
          </a:xfrm>
          <a:prstGeom prst="line">
            <a:avLst/>
          </a:prstGeom>
          <a:noFill/>
          <a:ln w="15240">
            <a:solidFill>
              <a:srgbClr val="71AF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47" name="Shape 19">
            <a:extLst>
              <a:ext uri="{FF2B5EF4-FFF2-40B4-BE49-F238E27FC236}">
                <a16:creationId xmlns:a16="http://schemas.microsoft.com/office/drawing/2014/main" id="{460FEAF3-27BD-A851-8171-9507326DE0DB}"/>
              </a:ext>
            </a:extLst>
          </p:cNvPr>
          <p:cNvSpPr/>
          <p:nvPr/>
        </p:nvSpPr>
        <p:spPr>
          <a:xfrm>
            <a:off x="4347808" y="3088699"/>
            <a:ext cx="961337" cy="495684"/>
          </a:xfrm>
          <a:prstGeom prst="line">
            <a:avLst/>
          </a:prstGeom>
          <a:noFill/>
          <a:ln w="15240">
            <a:solidFill>
              <a:srgbClr val="B58AD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49" name="Shape 20">
            <a:extLst>
              <a:ext uri="{FF2B5EF4-FFF2-40B4-BE49-F238E27FC236}">
                <a16:creationId xmlns:a16="http://schemas.microsoft.com/office/drawing/2014/main" id="{C02E7874-2F1C-A293-7F83-EDC1AB291C6E}"/>
              </a:ext>
            </a:extLst>
          </p:cNvPr>
          <p:cNvSpPr/>
          <p:nvPr/>
        </p:nvSpPr>
        <p:spPr>
          <a:xfrm>
            <a:off x="5324999" y="2765995"/>
            <a:ext cx="1691640" cy="516636"/>
          </a:xfrm>
          <a:prstGeom prst="roundRect">
            <a:avLst>
              <a:gd name="adj" fmla="val 10000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75884579-784D-719C-83D3-783B3F2CC653}"/>
              </a:ext>
            </a:extLst>
          </p:cNvPr>
          <p:cNvSpPr/>
          <p:nvPr/>
        </p:nvSpPr>
        <p:spPr>
          <a:xfrm>
            <a:off x="5471303" y="2884867"/>
            <a:ext cx="139903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Treatment</a:t>
            </a:r>
            <a:endParaRPr lang="en-US" sz="1600" dirty="0">
              <a:latin typeface="+mn-lt"/>
            </a:endParaRPr>
          </a:p>
        </p:txBody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3E90C2FB-E1E4-F4A9-2B9B-86EF2D32785F}"/>
              </a:ext>
            </a:extLst>
          </p:cNvPr>
          <p:cNvSpPr/>
          <p:nvPr/>
        </p:nvSpPr>
        <p:spPr>
          <a:xfrm>
            <a:off x="5324999" y="3410646"/>
            <a:ext cx="1691640" cy="530352"/>
          </a:xfrm>
          <a:prstGeom prst="roundRect">
            <a:avLst>
              <a:gd name="adj" fmla="val 10000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B58AD7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365C244A-01B3-629C-A5E0-02C5110B9ACD}"/>
              </a:ext>
            </a:extLst>
          </p:cNvPr>
          <p:cNvSpPr/>
          <p:nvPr/>
        </p:nvSpPr>
        <p:spPr>
          <a:xfrm>
            <a:off x="5471303" y="3529518"/>
            <a:ext cx="139903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8AD7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Control</a:t>
            </a:r>
            <a:endParaRPr lang="en-US" sz="1600" dirty="0">
              <a:latin typeface="+mn-lt"/>
            </a:endParaRPr>
          </a:p>
        </p:txBody>
      </p:sp>
      <p:sp>
        <p:nvSpPr>
          <p:cNvPr id="57" name="Shape 24">
            <a:extLst>
              <a:ext uri="{FF2B5EF4-FFF2-40B4-BE49-F238E27FC236}">
                <a16:creationId xmlns:a16="http://schemas.microsoft.com/office/drawing/2014/main" id="{75B352BE-A8B2-D3C0-2B50-D14228BB2222}"/>
              </a:ext>
            </a:extLst>
          </p:cNvPr>
          <p:cNvSpPr/>
          <p:nvPr/>
        </p:nvSpPr>
        <p:spPr>
          <a:xfrm>
            <a:off x="7073937" y="1659573"/>
            <a:ext cx="2011680" cy="2148840"/>
          </a:xfrm>
          <a:prstGeom prst="roundRect">
            <a:avLst>
              <a:gd name="adj" fmla="val 3636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A359CFFC-934D-CF28-A044-A9C4F8858116}"/>
              </a:ext>
            </a:extLst>
          </p:cNvPr>
          <p:cNvSpPr/>
          <p:nvPr/>
        </p:nvSpPr>
        <p:spPr>
          <a:xfrm>
            <a:off x="7220241" y="1778445"/>
            <a:ext cx="171907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Benefit</a:t>
            </a:r>
            <a:endParaRPr lang="en-US" sz="1600" dirty="0">
              <a:latin typeface="+mn-lt"/>
            </a:endParaRPr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A13D06B1-9933-2E55-7739-C34F31AC7D23}"/>
              </a:ext>
            </a:extLst>
          </p:cNvPr>
          <p:cNvSpPr/>
          <p:nvPr/>
        </p:nvSpPr>
        <p:spPr>
          <a:xfrm>
            <a:off x="7220241" y="2071053"/>
            <a:ext cx="1719072" cy="1618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Improves balance on pre-specified prognostic variables and can improve precision.</a:t>
            </a:r>
            <a:endParaRPr lang="en-US" sz="1600" dirty="0">
              <a:latin typeface="+mn-lt"/>
            </a:endParaRPr>
          </a:p>
        </p:txBody>
      </p:sp>
      <p:sp>
        <p:nvSpPr>
          <p:cNvPr id="63" name="Shape 27">
            <a:extLst>
              <a:ext uri="{FF2B5EF4-FFF2-40B4-BE49-F238E27FC236}">
                <a16:creationId xmlns:a16="http://schemas.microsoft.com/office/drawing/2014/main" id="{6919B3D2-18CF-81C5-E2D2-5DDC3A481B24}"/>
              </a:ext>
            </a:extLst>
          </p:cNvPr>
          <p:cNvSpPr/>
          <p:nvPr/>
        </p:nvSpPr>
        <p:spPr>
          <a:xfrm>
            <a:off x="114136" y="4307547"/>
            <a:ext cx="8971481" cy="625609"/>
          </a:xfrm>
          <a:prstGeom prst="roundRect">
            <a:avLst/>
          </a:prstGeom>
          <a:solidFill>
            <a:srgbClr val="2C2C2C">
              <a:alpha val="98000"/>
            </a:srgbClr>
          </a:solidFill>
          <a:ln w="889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28">
            <a:extLst>
              <a:ext uri="{FF2B5EF4-FFF2-40B4-BE49-F238E27FC236}">
                <a16:creationId xmlns:a16="http://schemas.microsoft.com/office/drawing/2014/main" id="{569B9504-FF90-E1DA-0F33-BE0E29A9E1C1}"/>
              </a:ext>
            </a:extLst>
          </p:cNvPr>
          <p:cNvSpPr/>
          <p:nvPr/>
        </p:nvSpPr>
        <p:spPr>
          <a:xfrm>
            <a:off x="297016" y="4362411"/>
            <a:ext cx="8668134" cy="45302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Stratification is a design choice, not a post hoc repair for confounding.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208767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99D05-AE3A-1DA0-0A04-32A1E2BE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D82162-A075-87CE-C92B-505963468FA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Cluster Randomization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A8A445D-AF1E-EE50-9728-F1D18D8F14DE}"/>
              </a:ext>
            </a:extLst>
          </p:cNvPr>
          <p:cNvSpPr/>
          <p:nvPr/>
        </p:nvSpPr>
        <p:spPr>
          <a:xfrm>
            <a:off x="169188" y="690298"/>
            <a:ext cx="8795013" cy="49907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Sometimes we randomize groups rather than individuals.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A4938D1-F131-2B27-7E4F-4468E3D38B13}"/>
              </a:ext>
            </a:extLst>
          </p:cNvPr>
          <p:cNvSpPr/>
          <p:nvPr/>
        </p:nvSpPr>
        <p:spPr>
          <a:xfrm>
            <a:off x="366637" y="1212919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7679577-85F0-FD44-9074-F7ADCDEFA719}"/>
              </a:ext>
            </a:extLst>
          </p:cNvPr>
          <p:cNvSpPr/>
          <p:nvPr/>
        </p:nvSpPr>
        <p:spPr>
          <a:xfrm>
            <a:off x="512941" y="1331791"/>
            <a:ext cx="167335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Clinic 1</a:t>
            </a:r>
            <a:endParaRPr lang="en-US" sz="2000" dirty="0">
              <a:latin typeface="+mn-lt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A61E307-C24B-C630-C934-2C5D76A86F38}"/>
              </a:ext>
            </a:extLst>
          </p:cNvPr>
          <p:cNvSpPr/>
          <p:nvPr/>
        </p:nvSpPr>
        <p:spPr>
          <a:xfrm>
            <a:off x="512941" y="1624399"/>
            <a:ext cx="1673352" cy="1344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Treatment arm</a:t>
            </a:r>
            <a:endParaRPr lang="en-US" sz="2000" dirty="0">
              <a:latin typeface="+mn-lt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0808078E-47FA-8E20-B675-408FEE2E3EC9}"/>
              </a:ext>
            </a:extLst>
          </p:cNvPr>
          <p:cNvSpPr/>
          <p:nvPr/>
        </p:nvSpPr>
        <p:spPr>
          <a:xfrm>
            <a:off x="2544587" y="1224047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8E2975D1-67EC-7D7A-506A-9C1097A63D3B}"/>
              </a:ext>
            </a:extLst>
          </p:cNvPr>
          <p:cNvSpPr/>
          <p:nvPr/>
        </p:nvSpPr>
        <p:spPr>
          <a:xfrm>
            <a:off x="2690891" y="1342919"/>
            <a:ext cx="167335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Clinic 2</a:t>
            </a:r>
            <a:endParaRPr lang="en-US" sz="2000" dirty="0">
              <a:latin typeface="+mn-lt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175F53C7-2F83-8AC1-143D-6AF684181DF7}"/>
              </a:ext>
            </a:extLst>
          </p:cNvPr>
          <p:cNvSpPr/>
          <p:nvPr/>
        </p:nvSpPr>
        <p:spPr>
          <a:xfrm>
            <a:off x="2690891" y="1635527"/>
            <a:ext cx="1673352" cy="1344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Treatment arm</a:t>
            </a:r>
            <a:endParaRPr lang="en-US" sz="2000" dirty="0">
              <a:latin typeface="+mn-lt"/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D9E9591F-A4FC-8DD1-42A1-6A08794ABCC0}"/>
              </a:ext>
            </a:extLst>
          </p:cNvPr>
          <p:cNvSpPr/>
          <p:nvPr/>
        </p:nvSpPr>
        <p:spPr>
          <a:xfrm>
            <a:off x="4801477" y="1226568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B58AD7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FBD71DD1-AE6E-1E5D-77E4-D2EB8407F7FA}"/>
              </a:ext>
            </a:extLst>
          </p:cNvPr>
          <p:cNvSpPr/>
          <p:nvPr/>
        </p:nvSpPr>
        <p:spPr>
          <a:xfrm>
            <a:off x="4947781" y="1345440"/>
            <a:ext cx="167335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58AD7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Clinic 3</a:t>
            </a:r>
            <a:endParaRPr lang="en-US" sz="2000" dirty="0">
              <a:latin typeface="+mn-lt"/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DB4AAF-392D-D1B1-21D0-57A54F96829A}"/>
              </a:ext>
            </a:extLst>
          </p:cNvPr>
          <p:cNvSpPr/>
          <p:nvPr/>
        </p:nvSpPr>
        <p:spPr>
          <a:xfrm>
            <a:off x="4947781" y="1638048"/>
            <a:ext cx="1673352" cy="1344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Control arm</a:t>
            </a:r>
            <a:endParaRPr lang="en-US" sz="2000" dirty="0">
              <a:latin typeface="+mn-lt"/>
            </a:endParaRPr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7DA265C9-E2D5-CD03-D1C2-F85D95483C61}"/>
              </a:ext>
            </a:extLst>
          </p:cNvPr>
          <p:cNvSpPr/>
          <p:nvPr/>
        </p:nvSpPr>
        <p:spPr>
          <a:xfrm>
            <a:off x="6961172" y="1212919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B58AD7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2BCB3263-A9FB-32A9-2E68-D539D04DB9FF}"/>
              </a:ext>
            </a:extLst>
          </p:cNvPr>
          <p:cNvSpPr/>
          <p:nvPr/>
        </p:nvSpPr>
        <p:spPr>
          <a:xfrm>
            <a:off x="7107476" y="1331791"/>
            <a:ext cx="167335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58AD7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Clinic 4</a:t>
            </a:r>
            <a:endParaRPr lang="en-US" sz="2000" dirty="0">
              <a:latin typeface="+mn-lt"/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F745136E-95AB-8246-B4B7-F4537BC9F340}"/>
              </a:ext>
            </a:extLst>
          </p:cNvPr>
          <p:cNvSpPr/>
          <p:nvPr/>
        </p:nvSpPr>
        <p:spPr>
          <a:xfrm>
            <a:off x="7107476" y="1624399"/>
            <a:ext cx="1673352" cy="1344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Control arm</a:t>
            </a:r>
            <a:endParaRPr lang="en-US" sz="2000" dirty="0">
              <a:latin typeface="+mn-lt"/>
            </a:endParaRPr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63E76D31-0D4C-42B9-2AA2-8F62B4C8E49D}"/>
              </a:ext>
            </a:extLst>
          </p:cNvPr>
          <p:cNvSpPr/>
          <p:nvPr/>
        </p:nvSpPr>
        <p:spPr>
          <a:xfrm>
            <a:off x="216868" y="3225437"/>
            <a:ext cx="8710264" cy="956435"/>
          </a:xfrm>
          <a:prstGeom prst="roundRect">
            <a:avLst>
              <a:gd name="adj" fmla="val 7619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F09A39"/>
            </a:solidFill>
            <a:prstDash val="solid"/>
          </a:ln>
        </p:spPr>
        <p:txBody>
          <a:bodyPr/>
          <a:lstStyle/>
          <a:p>
            <a:endParaRPr lang="en-US" sz="2000" dirty="0">
              <a:latin typeface="+mn-lt"/>
            </a:endParaRPr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29865B41-DA62-37A7-08E7-35434BD3484F}"/>
              </a:ext>
            </a:extLst>
          </p:cNvPr>
          <p:cNvSpPr/>
          <p:nvPr/>
        </p:nvSpPr>
        <p:spPr>
          <a:xfrm>
            <a:off x="310363" y="3559193"/>
            <a:ext cx="8405643" cy="309703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9A39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Why?</a:t>
            </a:r>
            <a:endParaRPr lang="en-US" sz="2000" dirty="0">
              <a:latin typeface="+mn-lt"/>
            </a:endParaRPr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BDEFE5EF-AF3A-FFAF-5C38-B8626F9845CE}"/>
              </a:ext>
            </a:extLst>
          </p:cNvPr>
          <p:cNvSpPr/>
          <p:nvPr/>
        </p:nvSpPr>
        <p:spPr>
          <a:xfrm>
            <a:off x="960254" y="3438822"/>
            <a:ext cx="8011991" cy="5175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To reduce contamination, simplify implementation, or because the intervention operates at group level.</a:t>
            </a:r>
            <a:endParaRPr lang="en-US" sz="2000" dirty="0">
              <a:latin typeface="+mn-lt"/>
            </a:endParaRPr>
          </a:p>
        </p:txBody>
      </p:sp>
      <p:sp>
        <p:nvSpPr>
          <p:cNvPr id="58" name="Shape 17">
            <a:extLst>
              <a:ext uri="{FF2B5EF4-FFF2-40B4-BE49-F238E27FC236}">
                <a16:creationId xmlns:a16="http://schemas.microsoft.com/office/drawing/2014/main" id="{2B5AF7FD-5548-56ED-F763-5AB6AD5D1531}"/>
              </a:ext>
            </a:extLst>
          </p:cNvPr>
          <p:cNvSpPr/>
          <p:nvPr/>
        </p:nvSpPr>
        <p:spPr>
          <a:xfrm>
            <a:off x="103331" y="4296430"/>
            <a:ext cx="8997466" cy="660933"/>
          </a:xfrm>
          <a:prstGeom prst="roundRect">
            <a:avLst/>
          </a:prstGeom>
          <a:solidFill>
            <a:srgbClr val="2C2C2C">
              <a:alpha val="98000"/>
            </a:srgbClr>
          </a:solidFill>
          <a:ln w="889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F3E819F5-4835-2624-95C3-5670136FEF32}"/>
              </a:ext>
            </a:extLst>
          </p:cNvPr>
          <p:cNvSpPr/>
          <p:nvPr/>
        </p:nvSpPr>
        <p:spPr>
          <a:xfrm>
            <a:off x="205849" y="4416011"/>
            <a:ext cx="8834820" cy="42176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Analysis must account for within-cluster correlation; the effective sample size is smaller than the raw number of individuals suggests.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56243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631C8-431C-662B-ADBC-817E1DA92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019079-1D2F-8D0A-724A-2A213FEA6E0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Matched Pair Randomization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C05CA0E-572B-D4C2-9070-A9F981925CF4}"/>
              </a:ext>
            </a:extLst>
          </p:cNvPr>
          <p:cNvSpPr/>
          <p:nvPr/>
        </p:nvSpPr>
        <p:spPr>
          <a:xfrm>
            <a:off x="77748" y="883550"/>
            <a:ext cx="8578257" cy="47949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Form pairs of similar units first, then randomize one unit in each pair to treatment.</a:t>
            </a:r>
            <a:endParaRPr lang="en-US" sz="1600" dirty="0">
              <a:latin typeface="+mn-lt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81A08435-8453-4E16-2861-F095C2A7B4B0}"/>
              </a:ext>
            </a:extLst>
          </p:cNvPr>
          <p:cNvSpPr/>
          <p:nvPr/>
        </p:nvSpPr>
        <p:spPr>
          <a:xfrm>
            <a:off x="77748" y="1527640"/>
            <a:ext cx="1166560" cy="594360"/>
          </a:xfrm>
          <a:prstGeom prst="roundRect">
            <a:avLst>
              <a:gd name="adj" fmla="val 9231"/>
            </a:avLst>
          </a:prstGeom>
          <a:solidFill>
            <a:srgbClr val="2C2C2C"/>
          </a:solidFill>
          <a:ln w="1905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1FD0D7D-B3B8-5F19-A5D7-F923EF9ED9F7}"/>
              </a:ext>
            </a:extLst>
          </p:cNvPr>
          <p:cNvSpPr/>
          <p:nvPr/>
        </p:nvSpPr>
        <p:spPr>
          <a:xfrm>
            <a:off x="-29344" y="1578952"/>
            <a:ext cx="1380744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FCFCF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Pair 1: A</a:t>
            </a:r>
            <a:endParaRPr lang="en-US" sz="1600" dirty="0">
              <a:latin typeface="+mn-lt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C3DD80D-4AAC-5B98-BA9E-DF3E5F3A8DBD}"/>
              </a:ext>
            </a:extLst>
          </p:cNvPr>
          <p:cNvSpPr/>
          <p:nvPr/>
        </p:nvSpPr>
        <p:spPr>
          <a:xfrm>
            <a:off x="1701508" y="1545928"/>
            <a:ext cx="1331142" cy="594360"/>
          </a:xfrm>
          <a:prstGeom prst="roundRect">
            <a:avLst>
              <a:gd name="adj" fmla="val 9231"/>
            </a:avLst>
          </a:prstGeom>
          <a:solidFill>
            <a:srgbClr val="2C2C2C"/>
          </a:solidFill>
          <a:ln w="1905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FBC9E0E0-EAA8-3C51-4C30-A578322CDEF2}"/>
              </a:ext>
            </a:extLst>
          </p:cNvPr>
          <p:cNvSpPr/>
          <p:nvPr/>
        </p:nvSpPr>
        <p:spPr>
          <a:xfrm>
            <a:off x="1667563" y="1550636"/>
            <a:ext cx="1380744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FCFCF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Pair 1: B</a:t>
            </a:r>
            <a:endParaRPr lang="en-US" sz="1600" dirty="0">
              <a:latin typeface="+mn-lt"/>
            </a:endParaRPr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3518B3FD-A2D3-483C-12D9-A58F5E9A36DA}"/>
              </a:ext>
            </a:extLst>
          </p:cNvPr>
          <p:cNvSpPr/>
          <p:nvPr/>
        </p:nvSpPr>
        <p:spPr>
          <a:xfrm>
            <a:off x="3136590" y="1851692"/>
            <a:ext cx="914400" cy="0"/>
          </a:xfrm>
          <a:prstGeom prst="line">
            <a:avLst/>
          </a:prstGeom>
          <a:noFill/>
          <a:ln w="13970">
            <a:solidFill>
              <a:srgbClr val="F5B62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195DEC70-B26D-86E3-2D5C-A4845278DF19}"/>
              </a:ext>
            </a:extLst>
          </p:cNvPr>
          <p:cNvSpPr/>
          <p:nvPr/>
        </p:nvSpPr>
        <p:spPr>
          <a:xfrm>
            <a:off x="4166516" y="1540796"/>
            <a:ext cx="1508760" cy="621792"/>
          </a:xfrm>
          <a:prstGeom prst="roundRect">
            <a:avLst>
              <a:gd name="adj" fmla="val 8824"/>
            </a:avLst>
          </a:prstGeom>
          <a:solidFill>
            <a:srgbClr val="2C2C2C"/>
          </a:solidFill>
          <a:ln w="1905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2B64BEC7-48CE-2E8A-3AE3-73783420C4F5}"/>
              </a:ext>
            </a:extLst>
          </p:cNvPr>
          <p:cNvSpPr/>
          <p:nvPr/>
        </p:nvSpPr>
        <p:spPr>
          <a:xfrm>
            <a:off x="4230524" y="1586516"/>
            <a:ext cx="1380744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1 treated</a:t>
            </a:r>
            <a:endParaRPr lang="en-US" sz="1600" dirty="0">
              <a:latin typeface="+mn-lt"/>
            </a:endParaRPr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7500AAC7-B464-67A5-7DFD-C5B54E731A72}"/>
              </a:ext>
            </a:extLst>
          </p:cNvPr>
          <p:cNvSpPr/>
          <p:nvPr/>
        </p:nvSpPr>
        <p:spPr>
          <a:xfrm>
            <a:off x="5766716" y="1515413"/>
            <a:ext cx="1508760" cy="621792"/>
          </a:xfrm>
          <a:prstGeom prst="roundRect">
            <a:avLst>
              <a:gd name="adj" fmla="val 8824"/>
            </a:avLst>
          </a:prstGeom>
          <a:solidFill>
            <a:srgbClr val="2C2C2C"/>
          </a:solidFill>
          <a:ln w="19050">
            <a:solidFill>
              <a:srgbClr val="B58AD7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520C866-B2EF-95BD-5578-336DF0B96ED3}"/>
              </a:ext>
            </a:extLst>
          </p:cNvPr>
          <p:cNvSpPr/>
          <p:nvPr/>
        </p:nvSpPr>
        <p:spPr>
          <a:xfrm>
            <a:off x="5830724" y="1561133"/>
            <a:ext cx="1380744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8AD7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1 control</a:t>
            </a:r>
            <a:endParaRPr lang="en-US" sz="1600" dirty="0">
              <a:latin typeface="+mn-lt"/>
            </a:endParaRPr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CCFDE0CA-4617-D477-0B02-1148F6B92F01}"/>
              </a:ext>
            </a:extLst>
          </p:cNvPr>
          <p:cNvSpPr/>
          <p:nvPr/>
        </p:nvSpPr>
        <p:spPr>
          <a:xfrm>
            <a:off x="77748" y="2414608"/>
            <a:ext cx="1258000" cy="594360"/>
          </a:xfrm>
          <a:prstGeom prst="roundRect">
            <a:avLst>
              <a:gd name="adj" fmla="val 9231"/>
            </a:avLst>
          </a:prstGeom>
          <a:solidFill>
            <a:srgbClr val="2C2C2C"/>
          </a:solidFill>
          <a:ln w="1905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705C77D8-B33B-A65D-AF28-C06978659453}"/>
              </a:ext>
            </a:extLst>
          </p:cNvPr>
          <p:cNvSpPr/>
          <p:nvPr/>
        </p:nvSpPr>
        <p:spPr>
          <a:xfrm>
            <a:off x="-30063" y="2460328"/>
            <a:ext cx="1380744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FCFCF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Pair 2: A</a:t>
            </a:r>
            <a:endParaRPr lang="en-US" sz="1600" dirty="0">
              <a:latin typeface="+mn-lt"/>
            </a:endParaRPr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4EA65471-8D74-AE36-C61A-C8B41E468054}"/>
              </a:ext>
            </a:extLst>
          </p:cNvPr>
          <p:cNvSpPr/>
          <p:nvPr/>
        </p:nvSpPr>
        <p:spPr>
          <a:xfrm>
            <a:off x="1701508" y="2414608"/>
            <a:ext cx="1380744" cy="588603"/>
          </a:xfrm>
          <a:prstGeom prst="roundRect">
            <a:avLst>
              <a:gd name="adj" fmla="val 9231"/>
            </a:avLst>
          </a:prstGeom>
          <a:solidFill>
            <a:srgbClr val="2C2C2C"/>
          </a:solidFill>
          <a:ln w="1905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EA1D4E08-4CDE-1639-94B7-BD7DA3CA159C}"/>
              </a:ext>
            </a:extLst>
          </p:cNvPr>
          <p:cNvSpPr/>
          <p:nvPr/>
        </p:nvSpPr>
        <p:spPr>
          <a:xfrm>
            <a:off x="1765516" y="2460328"/>
            <a:ext cx="1267134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FCFCF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Pair 2: B</a:t>
            </a:r>
            <a:endParaRPr lang="en-US" sz="1600" dirty="0">
              <a:latin typeface="+mn-lt"/>
            </a:endParaRPr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3D8F4A5A-CBDE-A733-953E-95C1A2F06ACA}"/>
              </a:ext>
            </a:extLst>
          </p:cNvPr>
          <p:cNvSpPr/>
          <p:nvPr/>
        </p:nvSpPr>
        <p:spPr>
          <a:xfrm>
            <a:off x="3136590" y="2720372"/>
            <a:ext cx="914400" cy="0"/>
          </a:xfrm>
          <a:prstGeom prst="line">
            <a:avLst/>
          </a:prstGeom>
          <a:noFill/>
          <a:ln w="13970">
            <a:solidFill>
              <a:srgbClr val="F5B62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EE320375-EEDE-D4D2-3366-CF32DD94EF25}"/>
              </a:ext>
            </a:extLst>
          </p:cNvPr>
          <p:cNvSpPr/>
          <p:nvPr/>
        </p:nvSpPr>
        <p:spPr>
          <a:xfrm>
            <a:off x="4166516" y="2409476"/>
            <a:ext cx="1508760" cy="621792"/>
          </a:xfrm>
          <a:prstGeom prst="roundRect">
            <a:avLst>
              <a:gd name="adj" fmla="val 8824"/>
            </a:avLst>
          </a:prstGeom>
          <a:solidFill>
            <a:srgbClr val="2C2C2C"/>
          </a:solidFill>
          <a:ln w="1905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5926D6E0-EC07-1B77-299D-39C89D870D1D}"/>
              </a:ext>
            </a:extLst>
          </p:cNvPr>
          <p:cNvSpPr/>
          <p:nvPr/>
        </p:nvSpPr>
        <p:spPr>
          <a:xfrm>
            <a:off x="4230524" y="2455196"/>
            <a:ext cx="1380744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1 treated</a:t>
            </a:r>
            <a:endParaRPr lang="en-US" sz="1600" dirty="0">
              <a:latin typeface="+mn-lt"/>
            </a:endParaRPr>
          </a:p>
        </p:txBody>
      </p:sp>
      <p:sp>
        <p:nvSpPr>
          <p:cNvPr id="53" name="Shape 18">
            <a:extLst>
              <a:ext uri="{FF2B5EF4-FFF2-40B4-BE49-F238E27FC236}">
                <a16:creationId xmlns:a16="http://schemas.microsoft.com/office/drawing/2014/main" id="{4193E7A5-905A-F94C-2911-5A3F1EE61CAB}"/>
              </a:ext>
            </a:extLst>
          </p:cNvPr>
          <p:cNvSpPr/>
          <p:nvPr/>
        </p:nvSpPr>
        <p:spPr>
          <a:xfrm>
            <a:off x="5766716" y="2384093"/>
            <a:ext cx="1508760" cy="621792"/>
          </a:xfrm>
          <a:prstGeom prst="roundRect">
            <a:avLst>
              <a:gd name="adj" fmla="val 8824"/>
            </a:avLst>
          </a:prstGeom>
          <a:solidFill>
            <a:srgbClr val="2C2C2C"/>
          </a:solidFill>
          <a:ln w="19050">
            <a:solidFill>
              <a:srgbClr val="B58AD7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716A4388-CE97-70A2-FB41-FCDF8851EF6F}"/>
              </a:ext>
            </a:extLst>
          </p:cNvPr>
          <p:cNvSpPr/>
          <p:nvPr/>
        </p:nvSpPr>
        <p:spPr>
          <a:xfrm>
            <a:off x="5830724" y="2429813"/>
            <a:ext cx="1380744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8AD7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1 control</a:t>
            </a:r>
            <a:endParaRPr lang="en-US" sz="1600" dirty="0">
              <a:latin typeface="+mn-lt"/>
            </a:endParaRPr>
          </a:p>
        </p:txBody>
      </p:sp>
      <p:sp>
        <p:nvSpPr>
          <p:cNvPr id="59" name="Shape 20">
            <a:extLst>
              <a:ext uri="{FF2B5EF4-FFF2-40B4-BE49-F238E27FC236}">
                <a16:creationId xmlns:a16="http://schemas.microsoft.com/office/drawing/2014/main" id="{0F254F70-3503-F3DE-5802-A7A9A82CBC19}"/>
              </a:ext>
            </a:extLst>
          </p:cNvPr>
          <p:cNvSpPr/>
          <p:nvPr/>
        </p:nvSpPr>
        <p:spPr>
          <a:xfrm>
            <a:off x="77748" y="3283288"/>
            <a:ext cx="1258000" cy="557784"/>
          </a:xfrm>
          <a:prstGeom prst="roundRect">
            <a:avLst>
              <a:gd name="adj" fmla="val 9231"/>
            </a:avLst>
          </a:prstGeom>
          <a:solidFill>
            <a:srgbClr val="2C2C2C"/>
          </a:solidFill>
          <a:ln w="1905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47758ED8-AB8C-0A80-3687-E5BFA47560CB}"/>
              </a:ext>
            </a:extLst>
          </p:cNvPr>
          <p:cNvSpPr/>
          <p:nvPr/>
        </p:nvSpPr>
        <p:spPr>
          <a:xfrm>
            <a:off x="77748" y="3329008"/>
            <a:ext cx="1193992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FCFCF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Pair 3: A</a:t>
            </a:r>
            <a:endParaRPr lang="en-US" sz="1600" dirty="0">
              <a:latin typeface="+mn-lt"/>
            </a:endParaRPr>
          </a:p>
        </p:txBody>
      </p:sp>
      <p:sp>
        <p:nvSpPr>
          <p:cNvPr id="64" name="Shape 22">
            <a:extLst>
              <a:ext uri="{FF2B5EF4-FFF2-40B4-BE49-F238E27FC236}">
                <a16:creationId xmlns:a16="http://schemas.microsoft.com/office/drawing/2014/main" id="{0B872B5F-91AB-4897-1B59-9E347A74F9E5}"/>
              </a:ext>
            </a:extLst>
          </p:cNvPr>
          <p:cNvSpPr/>
          <p:nvPr/>
        </p:nvSpPr>
        <p:spPr>
          <a:xfrm>
            <a:off x="1701508" y="3283288"/>
            <a:ext cx="1380744" cy="588603"/>
          </a:xfrm>
          <a:prstGeom prst="roundRect">
            <a:avLst>
              <a:gd name="adj" fmla="val 9231"/>
            </a:avLst>
          </a:prstGeom>
          <a:solidFill>
            <a:srgbClr val="2C2C2C"/>
          </a:solidFill>
          <a:ln w="1905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0C066299-AF7D-630C-4303-A7E895604D32}"/>
              </a:ext>
            </a:extLst>
          </p:cNvPr>
          <p:cNvSpPr/>
          <p:nvPr/>
        </p:nvSpPr>
        <p:spPr>
          <a:xfrm>
            <a:off x="1765516" y="3329008"/>
            <a:ext cx="1170432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FCFCF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Pair 3: B</a:t>
            </a:r>
            <a:endParaRPr lang="en-US" sz="1600" dirty="0">
              <a:latin typeface="+mn-lt"/>
            </a:endParaRPr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C38F891E-67E4-58A6-F153-1AEE9E54220E}"/>
              </a:ext>
            </a:extLst>
          </p:cNvPr>
          <p:cNvSpPr/>
          <p:nvPr/>
        </p:nvSpPr>
        <p:spPr>
          <a:xfrm>
            <a:off x="3136590" y="3589052"/>
            <a:ext cx="914400" cy="0"/>
          </a:xfrm>
          <a:prstGeom prst="line">
            <a:avLst/>
          </a:prstGeom>
          <a:noFill/>
          <a:ln w="13970">
            <a:solidFill>
              <a:srgbClr val="F5B62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70" name="Shape 25">
            <a:extLst>
              <a:ext uri="{FF2B5EF4-FFF2-40B4-BE49-F238E27FC236}">
                <a16:creationId xmlns:a16="http://schemas.microsoft.com/office/drawing/2014/main" id="{F21ED88A-A6F7-9301-21B0-7C099FA26DDA}"/>
              </a:ext>
            </a:extLst>
          </p:cNvPr>
          <p:cNvSpPr/>
          <p:nvPr/>
        </p:nvSpPr>
        <p:spPr>
          <a:xfrm>
            <a:off x="4166516" y="3278156"/>
            <a:ext cx="1508760" cy="621792"/>
          </a:xfrm>
          <a:prstGeom prst="roundRect">
            <a:avLst>
              <a:gd name="adj" fmla="val 8824"/>
            </a:avLst>
          </a:prstGeom>
          <a:solidFill>
            <a:srgbClr val="2C2C2C"/>
          </a:solidFill>
          <a:ln w="1905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6159A107-28BC-3787-5819-8262208F71BA}"/>
              </a:ext>
            </a:extLst>
          </p:cNvPr>
          <p:cNvSpPr/>
          <p:nvPr/>
        </p:nvSpPr>
        <p:spPr>
          <a:xfrm>
            <a:off x="4230524" y="3323876"/>
            <a:ext cx="1380744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1 treated</a:t>
            </a:r>
            <a:endParaRPr lang="en-US" sz="1600" dirty="0">
              <a:latin typeface="+mn-lt"/>
            </a:endParaRPr>
          </a:p>
        </p:txBody>
      </p:sp>
      <p:sp>
        <p:nvSpPr>
          <p:cNvPr id="74" name="Shape 27">
            <a:extLst>
              <a:ext uri="{FF2B5EF4-FFF2-40B4-BE49-F238E27FC236}">
                <a16:creationId xmlns:a16="http://schemas.microsoft.com/office/drawing/2014/main" id="{E1BF9EE4-4206-14FB-88C6-1F391D17FBE9}"/>
              </a:ext>
            </a:extLst>
          </p:cNvPr>
          <p:cNvSpPr/>
          <p:nvPr/>
        </p:nvSpPr>
        <p:spPr>
          <a:xfrm>
            <a:off x="5766716" y="3252773"/>
            <a:ext cx="1508760" cy="621792"/>
          </a:xfrm>
          <a:prstGeom prst="roundRect">
            <a:avLst>
              <a:gd name="adj" fmla="val 8824"/>
            </a:avLst>
          </a:prstGeom>
          <a:solidFill>
            <a:srgbClr val="2C2C2C"/>
          </a:solidFill>
          <a:ln w="19050">
            <a:solidFill>
              <a:srgbClr val="B58AD7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76" name="Text 28">
            <a:extLst>
              <a:ext uri="{FF2B5EF4-FFF2-40B4-BE49-F238E27FC236}">
                <a16:creationId xmlns:a16="http://schemas.microsoft.com/office/drawing/2014/main" id="{D47D7680-3153-2313-6C03-82DC566AD0C1}"/>
              </a:ext>
            </a:extLst>
          </p:cNvPr>
          <p:cNvSpPr/>
          <p:nvPr/>
        </p:nvSpPr>
        <p:spPr>
          <a:xfrm>
            <a:off x="5830724" y="3298493"/>
            <a:ext cx="1380744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8AD7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1 control</a:t>
            </a:r>
            <a:endParaRPr lang="en-US" sz="1600" dirty="0">
              <a:latin typeface="+mn-lt"/>
            </a:endParaRPr>
          </a:p>
        </p:txBody>
      </p:sp>
      <p:sp>
        <p:nvSpPr>
          <p:cNvPr id="78" name="Shape 29">
            <a:extLst>
              <a:ext uri="{FF2B5EF4-FFF2-40B4-BE49-F238E27FC236}">
                <a16:creationId xmlns:a16="http://schemas.microsoft.com/office/drawing/2014/main" id="{FAFDE681-DE8F-DF8D-6249-9B7C1A71881B}"/>
              </a:ext>
            </a:extLst>
          </p:cNvPr>
          <p:cNvSpPr/>
          <p:nvPr/>
        </p:nvSpPr>
        <p:spPr>
          <a:xfrm>
            <a:off x="77748" y="4151968"/>
            <a:ext cx="1258000" cy="603504"/>
          </a:xfrm>
          <a:prstGeom prst="roundRect">
            <a:avLst>
              <a:gd name="adj" fmla="val 9231"/>
            </a:avLst>
          </a:prstGeom>
          <a:solidFill>
            <a:srgbClr val="2C2C2C"/>
          </a:solidFill>
          <a:ln w="1905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80" name="Text 30">
            <a:extLst>
              <a:ext uri="{FF2B5EF4-FFF2-40B4-BE49-F238E27FC236}">
                <a16:creationId xmlns:a16="http://schemas.microsoft.com/office/drawing/2014/main" id="{E8823FF1-7E88-9FF2-0981-907F54E10DF2}"/>
              </a:ext>
            </a:extLst>
          </p:cNvPr>
          <p:cNvSpPr/>
          <p:nvPr/>
        </p:nvSpPr>
        <p:spPr>
          <a:xfrm>
            <a:off x="16376" y="4197688"/>
            <a:ext cx="1380744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FCFCF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Pair 4: A</a:t>
            </a:r>
            <a:endParaRPr lang="en-US" sz="1600" dirty="0">
              <a:latin typeface="+mn-lt"/>
            </a:endParaRPr>
          </a:p>
        </p:txBody>
      </p:sp>
      <p:sp>
        <p:nvSpPr>
          <p:cNvPr id="82" name="Shape 31">
            <a:extLst>
              <a:ext uri="{FF2B5EF4-FFF2-40B4-BE49-F238E27FC236}">
                <a16:creationId xmlns:a16="http://schemas.microsoft.com/office/drawing/2014/main" id="{D5C7444E-9A90-5BBE-2458-E5326F0E6C6B}"/>
              </a:ext>
            </a:extLst>
          </p:cNvPr>
          <p:cNvSpPr/>
          <p:nvPr/>
        </p:nvSpPr>
        <p:spPr>
          <a:xfrm>
            <a:off x="1701508" y="4151968"/>
            <a:ext cx="1346799" cy="588603"/>
          </a:xfrm>
          <a:prstGeom prst="roundRect">
            <a:avLst>
              <a:gd name="adj" fmla="val 9231"/>
            </a:avLst>
          </a:prstGeom>
          <a:solidFill>
            <a:srgbClr val="2C2C2C"/>
          </a:solidFill>
          <a:ln w="1905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84" name="Text 32">
            <a:extLst>
              <a:ext uri="{FF2B5EF4-FFF2-40B4-BE49-F238E27FC236}">
                <a16:creationId xmlns:a16="http://schemas.microsoft.com/office/drawing/2014/main" id="{AF619621-90F6-FC96-AB32-A83D38BD9A94}"/>
              </a:ext>
            </a:extLst>
          </p:cNvPr>
          <p:cNvSpPr/>
          <p:nvPr/>
        </p:nvSpPr>
        <p:spPr>
          <a:xfrm>
            <a:off x="1765516" y="4197688"/>
            <a:ext cx="1267134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FCFCF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Pair 4: B</a:t>
            </a:r>
            <a:endParaRPr lang="en-US" sz="1600" dirty="0">
              <a:latin typeface="+mn-lt"/>
            </a:endParaRPr>
          </a:p>
        </p:txBody>
      </p:sp>
      <p:sp>
        <p:nvSpPr>
          <p:cNvPr id="86" name="Shape 33">
            <a:extLst>
              <a:ext uri="{FF2B5EF4-FFF2-40B4-BE49-F238E27FC236}">
                <a16:creationId xmlns:a16="http://schemas.microsoft.com/office/drawing/2014/main" id="{5AA05937-1062-0F63-28DC-58DA3F167F28}"/>
              </a:ext>
            </a:extLst>
          </p:cNvPr>
          <p:cNvSpPr/>
          <p:nvPr/>
        </p:nvSpPr>
        <p:spPr>
          <a:xfrm>
            <a:off x="3136590" y="4457732"/>
            <a:ext cx="914400" cy="0"/>
          </a:xfrm>
          <a:prstGeom prst="line">
            <a:avLst/>
          </a:prstGeom>
          <a:noFill/>
          <a:ln w="13970">
            <a:solidFill>
              <a:srgbClr val="F5B62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88" name="Shape 34">
            <a:extLst>
              <a:ext uri="{FF2B5EF4-FFF2-40B4-BE49-F238E27FC236}">
                <a16:creationId xmlns:a16="http://schemas.microsoft.com/office/drawing/2014/main" id="{898AA69E-BEA7-E80D-9098-94E3E06B8CC6}"/>
              </a:ext>
            </a:extLst>
          </p:cNvPr>
          <p:cNvSpPr/>
          <p:nvPr/>
        </p:nvSpPr>
        <p:spPr>
          <a:xfrm>
            <a:off x="4166516" y="4146836"/>
            <a:ext cx="1508760" cy="621792"/>
          </a:xfrm>
          <a:prstGeom prst="roundRect">
            <a:avLst>
              <a:gd name="adj" fmla="val 8824"/>
            </a:avLst>
          </a:prstGeom>
          <a:solidFill>
            <a:srgbClr val="2C2C2C"/>
          </a:solidFill>
          <a:ln w="1905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90" name="Text 35">
            <a:extLst>
              <a:ext uri="{FF2B5EF4-FFF2-40B4-BE49-F238E27FC236}">
                <a16:creationId xmlns:a16="http://schemas.microsoft.com/office/drawing/2014/main" id="{EF3D94F5-CB19-0C2E-F629-7118BEABEE88}"/>
              </a:ext>
            </a:extLst>
          </p:cNvPr>
          <p:cNvSpPr/>
          <p:nvPr/>
        </p:nvSpPr>
        <p:spPr>
          <a:xfrm>
            <a:off x="4230524" y="4192556"/>
            <a:ext cx="1380744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1 treated</a:t>
            </a:r>
            <a:endParaRPr lang="en-US" sz="1600" dirty="0">
              <a:latin typeface="+mn-lt"/>
            </a:endParaRPr>
          </a:p>
        </p:txBody>
      </p:sp>
      <p:sp>
        <p:nvSpPr>
          <p:cNvPr id="92" name="Shape 36">
            <a:extLst>
              <a:ext uri="{FF2B5EF4-FFF2-40B4-BE49-F238E27FC236}">
                <a16:creationId xmlns:a16="http://schemas.microsoft.com/office/drawing/2014/main" id="{EE5FCD39-D682-AAC4-1646-A79049189DC9}"/>
              </a:ext>
            </a:extLst>
          </p:cNvPr>
          <p:cNvSpPr/>
          <p:nvPr/>
        </p:nvSpPr>
        <p:spPr>
          <a:xfrm>
            <a:off x="5766716" y="4121453"/>
            <a:ext cx="1508760" cy="621792"/>
          </a:xfrm>
          <a:prstGeom prst="roundRect">
            <a:avLst>
              <a:gd name="adj" fmla="val 8824"/>
            </a:avLst>
          </a:prstGeom>
          <a:solidFill>
            <a:srgbClr val="2C2C2C"/>
          </a:solidFill>
          <a:ln w="19050">
            <a:solidFill>
              <a:srgbClr val="B58AD7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94" name="Text 37">
            <a:extLst>
              <a:ext uri="{FF2B5EF4-FFF2-40B4-BE49-F238E27FC236}">
                <a16:creationId xmlns:a16="http://schemas.microsoft.com/office/drawing/2014/main" id="{92D4301E-9E72-32B9-7342-423875E7FDD1}"/>
              </a:ext>
            </a:extLst>
          </p:cNvPr>
          <p:cNvSpPr/>
          <p:nvPr/>
        </p:nvSpPr>
        <p:spPr>
          <a:xfrm>
            <a:off x="5830724" y="4167173"/>
            <a:ext cx="1380744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8AD7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1 control</a:t>
            </a:r>
            <a:endParaRPr lang="en-US" sz="1600" dirty="0">
              <a:latin typeface="+mn-lt"/>
            </a:endParaRPr>
          </a:p>
        </p:txBody>
      </p:sp>
      <p:sp>
        <p:nvSpPr>
          <p:cNvPr id="96" name="Shape 38">
            <a:extLst>
              <a:ext uri="{FF2B5EF4-FFF2-40B4-BE49-F238E27FC236}">
                <a16:creationId xmlns:a16="http://schemas.microsoft.com/office/drawing/2014/main" id="{B57F8DF9-B0EA-148E-A6CA-9FB4C5CA7950}"/>
              </a:ext>
            </a:extLst>
          </p:cNvPr>
          <p:cNvSpPr/>
          <p:nvPr/>
        </p:nvSpPr>
        <p:spPr>
          <a:xfrm>
            <a:off x="7366916" y="1614737"/>
            <a:ext cx="1760708" cy="3108171"/>
          </a:xfrm>
          <a:prstGeom prst="roundRect">
            <a:avLst>
              <a:gd name="adj" fmla="val 4000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98" name="Text 39">
            <a:extLst>
              <a:ext uri="{FF2B5EF4-FFF2-40B4-BE49-F238E27FC236}">
                <a16:creationId xmlns:a16="http://schemas.microsoft.com/office/drawing/2014/main" id="{D412A1BB-E266-C2C2-CAA2-DA16FDE3B860}"/>
              </a:ext>
            </a:extLst>
          </p:cNvPr>
          <p:cNvSpPr/>
          <p:nvPr/>
        </p:nvSpPr>
        <p:spPr>
          <a:xfrm>
            <a:off x="7513220" y="1733609"/>
            <a:ext cx="1478995" cy="31081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Useful when</a:t>
            </a:r>
            <a:endParaRPr lang="en-US" sz="1600" dirty="0">
              <a:latin typeface="+mn-lt"/>
            </a:endParaRPr>
          </a:p>
        </p:txBody>
      </p:sp>
      <p:sp>
        <p:nvSpPr>
          <p:cNvPr id="100" name="Text 40">
            <a:extLst>
              <a:ext uri="{FF2B5EF4-FFF2-40B4-BE49-F238E27FC236}">
                <a16:creationId xmlns:a16="http://schemas.microsoft.com/office/drawing/2014/main" id="{CC1C36A7-6A05-2AD6-7006-D8C2F8A1F1F8}"/>
              </a:ext>
            </a:extLst>
          </p:cNvPr>
          <p:cNvSpPr/>
          <p:nvPr/>
        </p:nvSpPr>
        <p:spPr>
          <a:xfrm>
            <a:off x="7513220" y="2026217"/>
            <a:ext cx="1478995" cy="257795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 strong prognostic variable is known and matching can make within-pair comparisons much more precise.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2444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5E0CB-30DF-5EAF-12E4-8426027DC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CB3E8-A9AC-E549-D107-BD34A3416FF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What randomization guarantees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B232A21-0A5D-7EF9-0048-6E0ED2F4590A}"/>
              </a:ext>
            </a:extLst>
          </p:cNvPr>
          <p:cNvSpPr/>
          <p:nvPr/>
        </p:nvSpPr>
        <p:spPr>
          <a:xfrm>
            <a:off x="169189" y="918221"/>
            <a:ext cx="8607764" cy="1071175"/>
          </a:xfrm>
          <a:prstGeom prst="roundRect">
            <a:avLst>
              <a:gd name="adj" fmla="val 6957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F5B62D"/>
            </a:solidFill>
            <a:prstDash val="solid"/>
          </a:ln>
        </p:spPr>
        <p:txBody>
          <a:bodyPr/>
          <a:lstStyle/>
          <a:p>
            <a:endParaRPr lang="en-US" sz="1800">
              <a:latin typeface="+mn-lt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757E345-7C5C-9D67-A0FF-B49EEF9DA42C}"/>
              </a:ext>
            </a:extLst>
          </p:cNvPr>
          <p:cNvSpPr/>
          <p:nvPr/>
        </p:nvSpPr>
        <p:spPr>
          <a:xfrm>
            <a:off x="315493" y="1037094"/>
            <a:ext cx="8364650" cy="31669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Known assignment probabilities</a:t>
            </a:r>
            <a:endParaRPr lang="en-US" sz="1800" dirty="0">
              <a:latin typeface="+mn-lt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C1DC497-0ED7-4751-C508-5B942D736657}"/>
              </a:ext>
            </a:extLst>
          </p:cNvPr>
          <p:cNvSpPr/>
          <p:nvPr/>
        </p:nvSpPr>
        <p:spPr>
          <a:xfrm>
            <a:off x="315493" y="1329702"/>
            <a:ext cx="8364650" cy="53093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We know how treatment was generated.</a:t>
            </a:r>
            <a:endParaRPr lang="en-US" sz="1800" dirty="0">
              <a:latin typeface="+mn-lt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5D9D1DCE-5AE4-85FA-4220-A6931F04C130}"/>
              </a:ext>
            </a:extLst>
          </p:cNvPr>
          <p:cNvSpPr/>
          <p:nvPr/>
        </p:nvSpPr>
        <p:spPr>
          <a:xfrm>
            <a:off x="169188" y="2044259"/>
            <a:ext cx="8607764" cy="1071175"/>
          </a:xfrm>
          <a:prstGeom prst="roundRect">
            <a:avLst>
              <a:gd name="adj" fmla="val 6957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 sz="1800">
              <a:latin typeface="+mn-lt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FFE34A7F-9B72-5EF3-DFFB-78A63D2D1E53}"/>
              </a:ext>
            </a:extLst>
          </p:cNvPr>
          <p:cNvSpPr/>
          <p:nvPr/>
        </p:nvSpPr>
        <p:spPr>
          <a:xfrm>
            <a:off x="315492" y="2163132"/>
            <a:ext cx="8364650" cy="31669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No systematic confounding by baseline variables</a:t>
            </a:r>
            <a:endParaRPr lang="en-US" sz="1800" dirty="0">
              <a:latin typeface="+mn-lt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8703412E-4217-937A-291A-1D0D5565C943}"/>
              </a:ext>
            </a:extLst>
          </p:cNvPr>
          <p:cNvSpPr/>
          <p:nvPr/>
        </p:nvSpPr>
        <p:spPr>
          <a:xfrm>
            <a:off x="315492" y="2455740"/>
            <a:ext cx="8364650" cy="53093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Assignment is independent of baseline prognosis by design.</a:t>
            </a:r>
            <a:endParaRPr lang="en-US" sz="1800" dirty="0">
              <a:latin typeface="+mn-lt"/>
            </a:endParaRP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FA1099F8-7008-A2CF-3C68-1F6A80F55F46}"/>
              </a:ext>
            </a:extLst>
          </p:cNvPr>
          <p:cNvSpPr/>
          <p:nvPr/>
        </p:nvSpPr>
        <p:spPr>
          <a:xfrm>
            <a:off x="169188" y="3164245"/>
            <a:ext cx="8607764" cy="1071175"/>
          </a:xfrm>
          <a:prstGeom prst="roundRect">
            <a:avLst>
              <a:gd name="adj" fmla="val 6957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1800">
              <a:latin typeface="+mn-lt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736416A5-AE70-DEE2-C874-CB01E34E16EA}"/>
              </a:ext>
            </a:extLst>
          </p:cNvPr>
          <p:cNvSpPr/>
          <p:nvPr/>
        </p:nvSpPr>
        <p:spPr>
          <a:xfrm>
            <a:off x="315492" y="3283118"/>
            <a:ext cx="8364650" cy="31669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Unbiased treatment contrast over repeated randomizations</a:t>
            </a:r>
            <a:endParaRPr lang="en-US" sz="1800" dirty="0">
              <a:latin typeface="+mn-lt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13A41E0B-E647-9043-B1C7-41A8D89DA898}"/>
              </a:ext>
            </a:extLst>
          </p:cNvPr>
          <p:cNvSpPr/>
          <p:nvPr/>
        </p:nvSpPr>
        <p:spPr>
          <a:xfrm>
            <a:off x="315492" y="3575726"/>
            <a:ext cx="8364650" cy="53093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The design centers the difference-in-means estimator at the causal effect.</a:t>
            </a:r>
            <a:endParaRPr lang="en-US" sz="1800" dirty="0">
              <a:latin typeface="+mn-lt"/>
            </a:endParaRPr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98E2FF31-1E73-40CC-85FD-FCA2E7D0F613}"/>
              </a:ext>
            </a:extLst>
          </p:cNvPr>
          <p:cNvSpPr/>
          <p:nvPr/>
        </p:nvSpPr>
        <p:spPr>
          <a:xfrm>
            <a:off x="78185" y="4274728"/>
            <a:ext cx="8987630" cy="540245"/>
          </a:xfrm>
          <a:prstGeom prst="roundRect">
            <a:avLst/>
          </a:prstGeom>
          <a:solidFill>
            <a:srgbClr val="2C2C2C">
              <a:alpha val="98000"/>
            </a:srgbClr>
          </a:solidFill>
          <a:ln w="889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AFF6D725-A0C4-9B69-4C98-E3248EF9AD62}"/>
              </a:ext>
            </a:extLst>
          </p:cNvPr>
          <p:cNvSpPr/>
          <p:nvPr/>
        </p:nvSpPr>
        <p:spPr>
          <a:xfrm>
            <a:off x="169189" y="4329591"/>
            <a:ext cx="8744680" cy="48538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These are properties of the assignment mechanism, not promises about one realized dataset.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44132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CB02A-93EF-461A-D4C0-30587ACAD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9FA632-CAEA-28A1-DBE2-FB9523D9D8A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What randomization does not guarantee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193E8759-9B0C-E546-F759-5FF167DF9D1E}"/>
              </a:ext>
            </a:extLst>
          </p:cNvPr>
          <p:cNvSpPr/>
          <p:nvPr/>
        </p:nvSpPr>
        <p:spPr>
          <a:xfrm>
            <a:off x="59717" y="965955"/>
            <a:ext cx="4279401" cy="1042827"/>
          </a:xfrm>
          <a:prstGeom prst="roundRect">
            <a:avLst>
              <a:gd name="adj" fmla="val 6838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F26B6B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2B48824-65D2-F863-51B4-30507EC4F7B5}"/>
              </a:ext>
            </a:extLst>
          </p:cNvPr>
          <p:cNvSpPr/>
          <p:nvPr/>
        </p:nvSpPr>
        <p:spPr>
          <a:xfrm>
            <a:off x="206021" y="1030214"/>
            <a:ext cx="491947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6B6B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Exact covariate balance</a:t>
            </a:r>
            <a:endParaRPr lang="en-US" sz="1600" dirty="0">
              <a:latin typeface="+mn-lt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6958551-AA54-FEEB-DE2C-505DC737FDD6}"/>
              </a:ext>
            </a:extLst>
          </p:cNvPr>
          <p:cNvSpPr/>
          <p:nvPr/>
        </p:nvSpPr>
        <p:spPr>
          <a:xfrm>
            <a:off x="206021" y="1322822"/>
            <a:ext cx="4919472" cy="5394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Chance imbalance can occur.</a:t>
            </a:r>
            <a:endParaRPr lang="en-US" sz="1600" dirty="0">
              <a:latin typeface="+mn-lt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90E4EC24-C963-C6B4-F4C8-4EDCAAF980CB}"/>
              </a:ext>
            </a:extLst>
          </p:cNvPr>
          <p:cNvSpPr/>
          <p:nvPr/>
        </p:nvSpPr>
        <p:spPr>
          <a:xfrm>
            <a:off x="4572000" y="938934"/>
            <a:ext cx="4463277" cy="1069848"/>
          </a:xfrm>
          <a:prstGeom prst="roundRect">
            <a:avLst>
              <a:gd name="adj" fmla="val 6838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F09A39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4B3626D7-1430-0418-A3D4-E637EF01CA93}"/>
              </a:ext>
            </a:extLst>
          </p:cNvPr>
          <p:cNvSpPr/>
          <p:nvPr/>
        </p:nvSpPr>
        <p:spPr>
          <a:xfrm>
            <a:off x="4718304" y="1057806"/>
            <a:ext cx="491947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9A39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No missing outcomes</a:t>
            </a:r>
            <a:endParaRPr lang="en-US" sz="1600" dirty="0">
              <a:latin typeface="+mn-lt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69F910E-94F7-67B6-3777-EADD2749FC30}"/>
              </a:ext>
            </a:extLst>
          </p:cNvPr>
          <p:cNvSpPr/>
          <p:nvPr/>
        </p:nvSpPr>
        <p:spPr>
          <a:xfrm>
            <a:off x="4718304" y="1350414"/>
            <a:ext cx="4919472" cy="5394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People can still drop out or miss visits.</a:t>
            </a:r>
            <a:endParaRPr lang="en-US" sz="1600" dirty="0">
              <a:latin typeface="+mn-lt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45788739-34D6-A34D-C472-37D18C0B3041}"/>
              </a:ext>
            </a:extLst>
          </p:cNvPr>
          <p:cNvSpPr/>
          <p:nvPr/>
        </p:nvSpPr>
        <p:spPr>
          <a:xfrm>
            <a:off x="59717" y="2354840"/>
            <a:ext cx="4279401" cy="1041162"/>
          </a:xfrm>
          <a:prstGeom prst="roundRect">
            <a:avLst>
              <a:gd name="adj" fmla="val 6838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F09A39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01D49D94-363A-26A6-6B68-E4FCECBC0926}"/>
              </a:ext>
            </a:extLst>
          </p:cNvPr>
          <p:cNvSpPr/>
          <p:nvPr/>
        </p:nvSpPr>
        <p:spPr>
          <a:xfrm>
            <a:off x="160279" y="2447534"/>
            <a:ext cx="491947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9A39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Perfect adherence</a:t>
            </a:r>
            <a:endParaRPr lang="en-US" sz="1600" dirty="0">
              <a:latin typeface="+mn-lt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A1AAD36B-90A2-BD40-DE88-D86E873987BC}"/>
              </a:ext>
            </a:extLst>
          </p:cNvPr>
          <p:cNvSpPr/>
          <p:nvPr/>
        </p:nvSpPr>
        <p:spPr>
          <a:xfrm>
            <a:off x="206021" y="2740142"/>
            <a:ext cx="4919472" cy="5394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Assigned treatment may not be taken.</a:t>
            </a:r>
            <a:endParaRPr lang="en-US" sz="1600" dirty="0">
              <a:latin typeface="+mn-lt"/>
            </a:endParaRPr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ADAEA029-B2E8-930E-3B90-1F6C25894858}"/>
              </a:ext>
            </a:extLst>
          </p:cNvPr>
          <p:cNvSpPr/>
          <p:nvPr/>
        </p:nvSpPr>
        <p:spPr>
          <a:xfrm>
            <a:off x="4572000" y="2356254"/>
            <a:ext cx="4463277" cy="1014984"/>
          </a:xfrm>
          <a:prstGeom prst="roundRect">
            <a:avLst>
              <a:gd name="adj" fmla="val 6838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F26B6B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8A0FAB64-6C30-1729-05CC-AD2644B0C238}"/>
              </a:ext>
            </a:extLst>
          </p:cNvPr>
          <p:cNvSpPr/>
          <p:nvPr/>
        </p:nvSpPr>
        <p:spPr>
          <a:xfrm>
            <a:off x="4718304" y="2475126"/>
            <a:ext cx="491947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6B6B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No interference</a:t>
            </a:r>
            <a:endParaRPr lang="en-US" sz="1600" dirty="0">
              <a:latin typeface="+mn-lt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E069AEC6-5E57-BFC8-9907-A9F4BC0E0FF3}"/>
              </a:ext>
            </a:extLst>
          </p:cNvPr>
          <p:cNvSpPr/>
          <p:nvPr/>
        </p:nvSpPr>
        <p:spPr>
          <a:xfrm>
            <a:off x="4718304" y="2767734"/>
            <a:ext cx="4919472" cy="5394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People or clusters can affect each other.</a:t>
            </a:r>
            <a:endParaRPr lang="en-US" sz="1600" dirty="0">
              <a:latin typeface="+mn-lt"/>
            </a:endParaRPr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5B0DDBA6-1F12-94FC-B1F9-14837BEC2BF8}"/>
              </a:ext>
            </a:extLst>
          </p:cNvPr>
          <p:cNvSpPr/>
          <p:nvPr/>
        </p:nvSpPr>
        <p:spPr>
          <a:xfrm>
            <a:off x="59717" y="3773574"/>
            <a:ext cx="4279401" cy="1014984"/>
          </a:xfrm>
          <a:prstGeom prst="roundRect">
            <a:avLst>
              <a:gd name="adj" fmla="val 6838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B58AD7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14E9F3A3-FD25-1707-6E1F-070A35079D38}"/>
              </a:ext>
            </a:extLst>
          </p:cNvPr>
          <p:cNvSpPr/>
          <p:nvPr/>
        </p:nvSpPr>
        <p:spPr>
          <a:xfrm>
            <a:off x="160279" y="3866649"/>
            <a:ext cx="491947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58AD7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Generalizability</a:t>
            </a:r>
            <a:endParaRPr lang="en-US" sz="1600" dirty="0">
              <a:latin typeface="+mn-lt"/>
            </a:endParaRPr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69DE5341-EC43-D9CF-7913-42EC374223F8}"/>
              </a:ext>
            </a:extLst>
          </p:cNvPr>
          <p:cNvSpPr/>
          <p:nvPr/>
        </p:nvSpPr>
        <p:spPr>
          <a:xfrm>
            <a:off x="140565" y="4218361"/>
            <a:ext cx="4508708" cy="663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Trial volunteers may differ from target population.</a:t>
            </a:r>
            <a:endParaRPr lang="en-US" dirty="0">
              <a:latin typeface="+mn-lt"/>
            </a:endParaRPr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F0797425-7661-B651-3EB5-C1B3AA6ADB8A}"/>
              </a:ext>
            </a:extLst>
          </p:cNvPr>
          <p:cNvSpPr/>
          <p:nvPr/>
        </p:nvSpPr>
        <p:spPr>
          <a:xfrm>
            <a:off x="4572000" y="3773574"/>
            <a:ext cx="4411721" cy="1014984"/>
          </a:xfrm>
          <a:prstGeom prst="roundRect">
            <a:avLst>
              <a:gd name="adj" fmla="val 6838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1600">
              <a:latin typeface="+mn-lt"/>
            </a:endParaRPr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9B13651F-AA68-FE2B-090B-89779884DAEA}"/>
              </a:ext>
            </a:extLst>
          </p:cNvPr>
          <p:cNvSpPr/>
          <p:nvPr/>
        </p:nvSpPr>
        <p:spPr>
          <a:xfrm>
            <a:off x="4718304" y="3892446"/>
            <a:ext cx="491947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Large sample precision</a:t>
            </a:r>
            <a:endParaRPr lang="en-US" sz="1600" dirty="0">
              <a:latin typeface="+mn-lt"/>
            </a:endParaRPr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83123E7E-A36A-B0E4-956E-E17B848CC7B7}"/>
              </a:ext>
            </a:extLst>
          </p:cNvPr>
          <p:cNvSpPr/>
          <p:nvPr/>
        </p:nvSpPr>
        <p:spPr>
          <a:xfrm>
            <a:off x="4718304" y="4185054"/>
            <a:ext cx="4919472" cy="5394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 small RCT can be unbiased but very noisy.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78652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6A8B6-07C3-477D-C278-7C92DDE9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3534BB-5EC9-59AA-82CF-D2CCE600DBF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A Baseline Balance Table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06F8EDA-C6DE-A20D-8F8F-89AA65E09F2D}"/>
              </a:ext>
            </a:extLst>
          </p:cNvPr>
          <p:cNvSpPr/>
          <p:nvPr/>
        </p:nvSpPr>
        <p:spPr>
          <a:xfrm>
            <a:off x="169188" y="858813"/>
            <a:ext cx="30175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Variable</a:t>
            </a:r>
            <a:endParaRPr lang="en-US" sz="2000" dirty="0">
              <a:latin typeface="+mn-lt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636D3FF0-6EEA-ABCB-E1BB-0A3BBBD42609}"/>
              </a:ext>
            </a:extLst>
          </p:cNvPr>
          <p:cNvSpPr/>
          <p:nvPr/>
        </p:nvSpPr>
        <p:spPr>
          <a:xfrm>
            <a:off x="2012996" y="858813"/>
            <a:ext cx="14173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Control</a:t>
            </a:r>
            <a:endParaRPr lang="en-US" sz="2000" dirty="0">
              <a:latin typeface="+mn-lt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BB401FAF-8781-E393-068C-BD79E70D11ED}"/>
              </a:ext>
            </a:extLst>
          </p:cNvPr>
          <p:cNvSpPr/>
          <p:nvPr/>
        </p:nvSpPr>
        <p:spPr>
          <a:xfrm>
            <a:off x="3333012" y="858813"/>
            <a:ext cx="1645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Treatment</a:t>
            </a:r>
            <a:endParaRPr lang="en-US" sz="2000" dirty="0">
              <a:latin typeface="+mn-lt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4758CFA4-4906-170A-2F13-53A9E08E6B22}"/>
              </a:ext>
            </a:extLst>
          </p:cNvPr>
          <p:cNvSpPr/>
          <p:nvPr/>
        </p:nvSpPr>
        <p:spPr>
          <a:xfrm>
            <a:off x="4663562" y="858813"/>
            <a:ext cx="17373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Difference</a:t>
            </a:r>
            <a:endParaRPr lang="en-US" sz="2000" dirty="0">
              <a:latin typeface="+mn-lt"/>
            </a:endParaRPr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5402D23C-10FE-7A42-7FE9-5C0E6CCF3D10}"/>
              </a:ext>
            </a:extLst>
          </p:cNvPr>
          <p:cNvSpPr/>
          <p:nvPr/>
        </p:nvSpPr>
        <p:spPr>
          <a:xfrm flipV="1">
            <a:off x="169188" y="1828077"/>
            <a:ext cx="6165828" cy="18288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F283D9C9-AD02-AC1C-98BF-153494D28BA9}"/>
              </a:ext>
            </a:extLst>
          </p:cNvPr>
          <p:cNvSpPr/>
          <p:nvPr/>
        </p:nvSpPr>
        <p:spPr>
          <a:xfrm>
            <a:off x="169188" y="1316013"/>
            <a:ext cx="1876700" cy="45719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Age, years</a:t>
            </a:r>
            <a:endParaRPr lang="en-US" sz="2000" dirty="0">
              <a:latin typeface="+mn-lt"/>
            </a:endParaRP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AD5E5886-C17B-69B1-DC98-EB81B641DAE9}"/>
              </a:ext>
            </a:extLst>
          </p:cNvPr>
          <p:cNvSpPr/>
          <p:nvPr/>
        </p:nvSpPr>
        <p:spPr>
          <a:xfrm>
            <a:off x="2012996" y="1316013"/>
            <a:ext cx="14173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58.2</a:t>
            </a:r>
            <a:endParaRPr lang="en-US" sz="2000" dirty="0">
              <a:latin typeface="+mn-lt"/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8375BD71-0696-AF1E-F100-D0ECF810946A}"/>
              </a:ext>
            </a:extLst>
          </p:cNvPr>
          <p:cNvSpPr/>
          <p:nvPr/>
        </p:nvSpPr>
        <p:spPr>
          <a:xfrm>
            <a:off x="3333012" y="1316013"/>
            <a:ext cx="1645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57.6</a:t>
            </a:r>
            <a:endParaRPr lang="en-US" sz="2000" dirty="0">
              <a:latin typeface="+mn-lt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A15D45E3-EC33-8374-07FE-E74F07DAB4B3}"/>
              </a:ext>
            </a:extLst>
          </p:cNvPr>
          <p:cNvSpPr/>
          <p:nvPr/>
        </p:nvSpPr>
        <p:spPr>
          <a:xfrm>
            <a:off x="4663562" y="1316013"/>
            <a:ext cx="1737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+0.6</a:t>
            </a:r>
            <a:endParaRPr lang="en-US" sz="2000" dirty="0">
              <a:latin typeface="+mn-lt"/>
            </a:endParaRPr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B10D8010-452E-8949-FB19-8E0CC9D7F315}"/>
              </a:ext>
            </a:extLst>
          </p:cNvPr>
          <p:cNvSpPr/>
          <p:nvPr/>
        </p:nvSpPr>
        <p:spPr>
          <a:xfrm flipV="1">
            <a:off x="169188" y="2596163"/>
            <a:ext cx="6231734" cy="18298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8809D7AD-6A46-3CFC-4A1B-E1C302FB79D1}"/>
              </a:ext>
            </a:extLst>
          </p:cNvPr>
          <p:cNvSpPr/>
          <p:nvPr/>
        </p:nvSpPr>
        <p:spPr>
          <a:xfrm>
            <a:off x="169188" y="2084109"/>
            <a:ext cx="1633298" cy="43891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Baseline SBP</a:t>
            </a:r>
            <a:endParaRPr lang="en-US" sz="2000" dirty="0">
              <a:latin typeface="+mn-lt"/>
            </a:endParaRPr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0E7A66A3-2DEF-5BAB-56C1-CECD99D41C69}"/>
              </a:ext>
            </a:extLst>
          </p:cNvPr>
          <p:cNvSpPr/>
          <p:nvPr/>
        </p:nvSpPr>
        <p:spPr>
          <a:xfrm>
            <a:off x="2012996" y="2084109"/>
            <a:ext cx="14173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128.4</a:t>
            </a:r>
            <a:endParaRPr lang="en-US" sz="2000" dirty="0">
              <a:latin typeface="+mn-lt"/>
            </a:endParaRPr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5843E4E3-8FF2-C765-269A-5956BDB6A5EB}"/>
              </a:ext>
            </a:extLst>
          </p:cNvPr>
          <p:cNvSpPr/>
          <p:nvPr/>
        </p:nvSpPr>
        <p:spPr>
          <a:xfrm>
            <a:off x="3333012" y="2084109"/>
            <a:ext cx="1645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131.6</a:t>
            </a:r>
            <a:endParaRPr lang="en-US" sz="2000" dirty="0">
              <a:latin typeface="+mn-lt"/>
            </a:endParaRPr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AFE3C5AD-3C61-2A11-6B7A-92E3DE8CC6B6}"/>
              </a:ext>
            </a:extLst>
          </p:cNvPr>
          <p:cNvSpPr/>
          <p:nvPr/>
        </p:nvSpPr>
        <p:spPr>
          <a:xfrm>
            <a:off x="4663562" y="2084109"/>
            <a:ext cx="1737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09A39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−3.2</a:t>
            </a:r>
            <a:endParaRPr lang="en-US" sz="2000" dirty="0">
              <a:latin typeface="+mn-lt"/>
            </a:endParaRPr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0E16B250-9AF4-4E3F-543E-CD1AAAB752C5}"/>
              </a:ext>
            </a:extLst>
          </p:cNvPr>
          <p:cNvSpPr/>
          <p:nvPr/>
        </p:nvSpPr>
        <p:spPr>
          <a:xfrm flipV="1">
            <a:off x="169188" y="3364259"/>
            <a:ext cx="6231734" cy="18298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B3FDDD60-C81C-1E83-729F-1B14F35783E2}"/>
              </a:ext>
            </a:extLst>
          </p:cNvPr>
          <p:cNvSpPr/>
          <p:nvPr/>
        </p:nvSpPr>
        <p:spPr>
          <a:xfrm>
            <a:off x="169188" y="2852205"/>
            <a:ext cx="1417320" cy="45719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Female</a:t>
            </a:r>
            <a:endParaRPr lang="en-US" sz="2000" dirty="0">
              <a:latin typeface="+mn-lt"/>
            </a:endParaRPr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45F08F19-AF5A-5263-E7B5-64E98785A1C4}"/>
              </a:ext>
            </a:extLst>
          </p:cNvPr>
          <p:cNvSpPr/>
          <p:nvPr/>
        </p:nvSpPr>
        <p:spPr>
          <a:xfrm>
            <a:off x="2012996" y="2852205"/>
            <a:ext cx="14173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52%</a:t>
            </a:r>
            <a:endParaRPr lang="en-US" sz="2000" dirty="0">
              <a:latin typeface="+mn-lt"/>
            </a:endParaRPr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9E0FA2AA-98F5-143D-4CF7-B71F9391480D}"/>
              </a:ext>
            </a:extLst>
          </p:cNvPr>
          <p:cNvSpPr/>
          <p:nvPr/>
        </p:nvSpPr>
        <p:spPr>
          <a:xfrm>
            <a:off x="3333012" y="2852205"/>
            <a:ext cx="1645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49%</a:t>
            </a:r>
            <a:endParaRPr lang="en-US" sz="2000" dirty="0">
              <a:latin typeface="+mn-lt"/>
            </a:endParaRPr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6A7EC6B7-1F38-EA4F-1E7D-E825881F0DEF}"/>
              </a:ext>
            </a:extLst>
          </p:cNvPr>
          <p:cNvSpPr/>
          <p:nvPr/>
        </p:nvSpPr>
        <p:spPr>
          <a:xfrm>
            <a:off x="4663562" y="2852205"/>
            <a:ext cx="1737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+3 pp</a:t>
            </a:r>
            <a:endParaRPr lang="en-US" sz="2000" dirty="0">
              <a:latin typeface="+mn-lt"/>
            </a:endParaRPr>
          </a:p>
        </p:txBody>
      </p:sp>
      <p:sp>
        <p:nvSpPr>
          <p:cNvPr id="61" name="Shape 20">
            <a:extLst>
              <a:ext uri="{FF2B5EF4-FFF2-40B4-BE49-F238E27FC236}">
                <a16:creationId xmlns:a16="http://schemas.microsoft.com/office/drawing/2014/main" id="{4B529A9D-5358-62BA-DF25-F3423698841A}"/>
              </a:ext>
            </a:extLst>
          </p:cNvPr>
          <p:cNvSpPr/>
          <p:nvPr/>
        </p:nvSpPr>
        <p:spPr>
          <a:xfrm flipV="1">
            <a:off x="169188" y="4077501"/>
            <a:ext cx="6231734" cy="73152"/>
          </a:xfrm>
          <a:prstGeom prst="line">
            <a:avLst/>
          </a:prstGeom>
          <a:noFill/>
          <a:ln w="762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E790F3A3-6302-4871-CDD2-68879C25ADAB}"/>
              </a:ext>
            </a:extLst>
          </p:cNvPr>
          <p:cNvSpPr/>
          <p:nvPr/>
        </p:nvSpPr>
        <p:spPr>
          <a:xfrm>
            <a:off x="169188" y="3620301"/>
            <a:ext cx="1370162" cy="379371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Diabetes</a:t>
            </a:r>
            <a:endParaRPr lang="en-US" sz="2000" dirty="0">
              <a:latin typeface="+mn-lt"/>
            </a:endParaRPr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AD650862-36F4-691D-30EA-CCF1211CC0E6}"/>
              </a:ext>
            </a:extLst>
          </p:cNvPr>
          <p:cNvSpPr/>
          <p:nvPr/>
        </p:nvSpPr>
        <p:spPr>
          <a:xfrm>
            <a:off x="2012996" y="3620301"/>
            <a:ext cx="14173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21%</a:t>
            </a:r>
            <a:endParaRPr lang="en-US" sz="2000" dirty="0">
              <a:latin typeface="+mn-lt"/>
            </a:endParaRPr>
          </a:p>
        </p:txBody>
      </p:sp>
      <p:sp>
        <p:nvSpPr>
          <p:cNvPr id="67" name="Text 23">
            <a:extLst>
              <a:ext uri="{FF2B5EF4-FFF2-40B4-BE49-F238E27FC236}">
                <a16:creationId xmlns:a16="http://schemas.microsoft.com/office/drawing/2014/main" id="{8FD7C90D-2D2E-C9D5-180B-2017709840BD}"/>
              </a:ext>
            </a:extLst>
          </p:cNvPr>
          <p:cNvSpPr/>
          <p:nvPr/>
        </p:nvSpPr>
        <p:spPr>
          <a:xfrm>
            <a:off x="3333012" y="3620301"/>
            <a:ext cx="1645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18%</a:t>
            </a:r>
            <a:endParaRPr lang="en-US" sz="2000" dirty="0">
              <a:latin typeface="+mn-lt"/>
            </a:endParaRPr>
          </a:p>
        </p:txBody>
      </p:sp>
      <p:sp>
        <p:nvSpPr>
          <p:cNvPr id="69" name="Text 24">
            <a:extLst>
              <a:ext uri="{FF2B5EF4-FFF2-40B4-BE49-F238E27FC236}">
                <a16:creationId xmlns:a16="http://schemas.microsoft.com/office/drawing/2014/main" id="{0B1C8FBF-4566-9A68-A6D5-138243F9B973}"/>
              </a:ext>
            </a:extLst>
          </p:cNvPr>
          <p:cNvSpPr/>
          <p:nvPr/>
        </p:nvSpPr>
        <p:spPr>
          <a:xfrm>
            <a:off x="4663562" y="3620301"/>
            <a:ext cx="17373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+3 pp</a:t>
            </a:r>
            <a:endParaRPr lang="en-US" sz="2000" dirty="0">
              <a:latin typeface="+mn-lt"/>
            </a:endParaRPr>
          </a:p>
        </p:txBody>
      </p:sp>
      <p:sp>
        <p:nvSpPr>
          <p:cNvPr id="71" name="Shape 25">
            <a:extLst>
              <a:ext uri="{FF2B5EF4-FFF2-40B4-BE49-F238E27FC236}">
                <a16:creationId xmlns:a16="http://schemas.microsoft.com/office/drawing/2014/main" id="{92F112DE-D76B-2557-2341-1314342EFA9B}"/>
              </a:ext>
            </a:extLst>
          </p:cNvPr>
          <p:cNvSpPr/>
          <p:nvPr/>
        </p:nvSpPr>
        <p:spPr>
          <a:xfrm>
            <a:off x="6874568" y="858813"/>
            <a:ext cx="1737360" cy="3291840"/>
          </a:xfrm>
          <a:prstGeom prst="roundRect">
            <a:avLst>
              <a:gd name="adj" fmla="val 4848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73" name="Text 26">
            <a:extLst>
              <a:ext uri="{FF2B5EF4-FFF2-40B4-BE49-F238E27FC236}">
                <a16:creationId xmlns:a16="http://schemas.microsoft.com/office/drawing/2014/main" id="{D1AE51DD-F86C-2F04-7805-969F795B1664}"/>
              </a:ext>
            </a:extLst>
          </p:cNvPr>
          <p:cNvSpPr/>
          <p:nvPr/>
        </p:nvSpPr>
        <p:spPr>
          <a:xfrm>
            <a:off x="7020871" y="977685"/>
            <a:ext cx="1400417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Question</a:t>
            </a:r>
            <a:endParaRPr lang="en-US" sz="2000" dirty="0">
              <a:latin typeface="+mn-lt"/>
            </a:endParaRPr>
          </a:p>
        </p:txBody>
      </p:sp>
      <p:sp>
        <p:nvSpPr>
          <p:cNvPr id="75" name="Text 27">
            <a:extLst>
              <a:ext uri="{FF2B5EF4-FFF2-40B4-BE49-F238E27FC236}">
                <a16:creationId xmlns:a16="http://schemas.microsoft.com/office/drawing/2014/main" id="{5BF4AD1B-0C27-F6A9-CDAB-82BFF9083483}"/>
              </a:ext>
            </a:extLst>
          </p:cNvPr>
          <p:cNvSpPr/>
          <p:nvPr/>
        </p:nvSpPr>
        <p:spPr>
          <a:xfrm>
            <a:off x="7020871" y="1270293"/>
            <a:ext cx="1400417" cy="2761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Should we “fix” every visible baseline difference?</a:t>
            </a:r>
            <a:endParaRPr lang="en-US" sz="2000" dirty="0">
              <a:latin typeface="+mn-lt"/>
            </a:endParaRPr>
          </a:p>
        </p:txBody>
      </p:sp>
      <p:sp>
        <p:nvSpPr>
          <p:cNvPr id="77" name="Shape 28">
            <a:extLst>
              <a:ext uri="{FF2B5EF4-FFF2-40B4-BE49-F238E27FC236}">
                <a16:creationId xmlns:a16="http://schemas.microsoft.com/office/drawing/2014/main" id="{A44D3382-7C9C-F8EC-A412-889C4AF91505}"/>
              </a:ext>
            </a:extLst>
          </p:cNvPr>
          <p:cNvSpPr/>
          <p:nvPr/>
        </p:nvSpPr>
        <p:spPr>
          <a:xfrm>
            <a:off x="42421" y="4388397"/>
            <a:ext cx="8997629" cy="653960"/>
          </a:xfrm>
          <a:prstGeom prst="roundRect">
            <a:avLst/>
          </a:prstGeom>
          <a:solidFill>
            <a:srgbClr val="2C2C2C">
              <a:alpha val="98000"/>
            </a:srgbClr>
          </a:solidFill>
          <a:ln w="889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79" name="Text 29">
            <a:extLst>
              <a:ext uri="{FF2B5EF4-FFF2-40B4-BE49-F238E27FC236}">
                <a16:creationId xmlns:a16="http://schemas.microsoft.com/office/drawing/2014/main" id="{63D3EB66-096E-8D92-6434-75F919525336}"/>
              </a:ext>
            </a:extLst>
          </p:cNvPr>
          <p:cNvSpPr/>
          <p:nvPr/>
        </p:nvSpPr>
        <p:spPr>
          <a:xfrm>
            <a:off x="225301" y="4443260"/>
            <a:ext cx="8693398" cy="47355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Use pre-specified covariate adjustment for precision, not data-driven fishing for variables with small baseline p-values.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47266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425D9-60E7-E526-1DE9-BD21880E2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040E95-6BD8-C1E0-89A9-424D42A8A4B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Exchangeability vs Covariate Balance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460FFB3-3594-2EC8-8CAD-2B19830F1EF8}"/>
              </a:ext>
            </a:extLst>
          </p:cNvPr>
          <p:cNvSpPr/>
          <p:nvPr/>
        </p:nvSpPr>
        <p:spPr>
          <a:xfrm>
            <a:off x="169188" y="1010116"/>
            <a:ext cx="4580429" cy="3660560"/>
          </a:xfrm>
          <a:prstGeom prst="roundRect">
            <a:avLst>
              <a:gd name="adj" fmla="val 2025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DEBF5FB-D433-96B2-3FAB-27D73EB64455}"/>
              </a:ext>
            </a:extLst>
          </p:cNvPr>
          <p:cNvSpPr/>
          <p:nvPr/>
        </p:nvSpPr>
        <p:spPr>
          <a:xfrm>
            <a:off x="315492" y="1128988"/>
            <a:ext cx="4308996" cy="31508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Exchangeability</a:t>
            </a:r>
            <a:endParaRPr lang="en-US" sz="2000" dirty="0">
              <a:latin typeface="+mn-lt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9271DA0-39CE-027E-B9FD-C5EA77888B1D}"/>
              </a:ext>
            </a:extLst>
          </p:cNvPr>
          <p:cNvSpPr/>
          <p:nvPr/>
        </p:nvSpPr>
        <p:spPr>
          <a:xfrm>
            <a:off x="312443" y="1421596"/>
            <a:ext cx="4308996" cy="31230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 statement about the assignment mechanism and potential outcomes.</a:t>
            </a:r>
            <a:endParaRPr lang="en-US" sz="2000" dirty="0">
              <a:latin typeface="+mn-lt"/>
            </a:endParaRPr>
          </a:p>
          <a:p>
            <a:pPr marL="0" indent="0" algn="ctr">
              <a:buNone/>
            </a:pPr>
            <a:endParaRPr lang="en-US" sz="2000" dirty="0">
              <a:latin typeface="+mn-lt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In a correctly randomized experiment, it holds by design before we look at the data.</a:t>
            </a:r>
            <a:endParaRPr lang="en-US" sz="2000" dirty="0">
              <a:latin typeface="+mn-lt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83DBBCA0-9833-6047-716E-82F53B7EF91F}"/>
              </a:ext>
            </a:extLst>
          </p:cNvPr>
          <p:cNvSpPr/>
          <p:nvPr/>
        </p:nvSpPr>
        <p:spPr>
          <a:xfrm>
            <a:off x="4830039" y="1016364"/>
            <a:ext cx="4230248" cy="3654311"/>
          </a:xfrm>
          <a:prstGeom prst="roundRect">
            <a:avLst>
              <a:gd name="adj" fmla="val 2025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A79D7F82-629E-AED9-89A2-7B7C11CE06BC}"/>
              </a:ext>
            </a:extLst>
          </p:cNvPr>
          <p:cNvSpPr/>
          <p:nvPr/>
        </p:nvSpPr>
        <p:spPr>
          <a:xfrm>
            <a:off x="4976343" y="1135237"/>
            <a:ext cx="3979567" cy="3145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Observed balance</a:t>
            </a:r>
            <a:endParaRPr lang="en-US" sz="2000" dirty="0">
              <a:latin typeface="+mn-lt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5D58E952-86E2-EBA7-EFB2-370601834FCE}"/>
              </a:ext>
            </a:extLst>
          </p:cNvPr>
          <p:cNvSpPr/>
          <p:nvPr/>
        </p:nvSpPr>
        <p:spPr>
          <a:xfrm>
            <a:off x="4976343" y="1427844"/>
            <a:ext cx="3979567" cy="3117729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 descriptive feature of one realized randomization.</a:t>
            </a:r>
            <a:endParaRPr lang="en-US" sz="2000" dirty="0">
              <a:latin typeface="+mn-lt"/>
            </a:endParaRPr>
          </a:p>
          <a:p>
            <a:pPr marL="0" indent="0" algn="ctr">
              <a:buNone/>
            </a:pPr>
            <a:endParaRPr lang="en-US" sz="2000" dirty="0">
              <a:latin typeface="+mn-lt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It can look imperfect even when exchangeability is valid.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49557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30240-9B6D-9EE2-0D62-12AE7874D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26FBAC-0DB0-1291-DF72-75872635278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SATE vs PATE</a:t>
            </a:r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F038D478-99AF-76BB-1D22-7679F489A99E}"/>
              </a:ext>
            </a:extLst>
          </p:cNvPr>
          <p:cNvSpPr/>
          <p:nvPr/>
        </p:nvSpPr>
        <p:spPr>
          <a:xfrm>
            <a:off x="152200" y="919135"/>
            <a:ext cx="4448167" cy="2829454"/>
          </a:xfrm>
          <a:prstGeom prst="roundRect">
            <a:avLst>
              <a:gd name="adj" fmla="val 2025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1AFE8"/>
            </a:solidFill>
            <a:prstDash val="solid"/>
          </a:ln>
        </p:spPr>
        <p:txBody>
          <a:bodyPr/>
          <a:lstStyle/>
          <a:p>
            <a:endParaRPr lang="en-US" sz="1800">
              <a:latin typeface="+mn-lt"/>
            </a:endParaRP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F9A891D9-352D-9F6E-5ED3-0D14F6F68C4E}"/>
              </a:ext>
            </a:extLst>
          </p:cNvPr>
          <p:cNvSpPr/>
          <p:nvPr/>
        </p:nvSpPr>
        <p:spPr>
          <a:xfrm>
            <a:off x="398463" y="1188273"/>
            <a:ext cx="3867010" cy="40322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1AFE8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Sample Average Treatment Effect (SATE)</a:t>
            </a:r>
            <a:endParaRPr lang="en-US" sz="1800" dirty="0">
              <a:latin typeface="+mn-lt"/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6044C058-18D1-598C-9099-8F22723F6063}"/>
              </a:ext>
            </a:extLst>
          </p:cNvPr>
          <p:cNvSpPr/>
          <p:nvPr/>
        </p:nvSpPr>
        <p:spPr>
          <a:xfrm>
            <a:off x="298504" y="1330615"/>
            <a:ext cx="4306955" cy="29346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Average causal effect for the units actually enrolled in this experiment.</a:t>
            </a:r>
            <a:endParaRPr lang="en-US" sz="2000" dirty="0">
              <a:latin typeface="+mn-lt"/>
            </a:endParaRPr>
          </a:p>
          <a:p>
            <a:pPr marL="0" indent="0" algn="ctr">
              <a:buNone/>
            </a:pPr>
            <a:endParaRPr lang="en-US" sz="2000" dirty="0">
              <a:latin typeface="+mn-lt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Finite-sample target.</a:t>
            </a:r>
            <a:endParaRPr lang="en-US" sz="2000" dirty="0">
              <a:latin typeface="+mn-lt"/>
            </a:endParaRP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BE13A627-2D6F-C7AF-8050-A62D2FF6E55E}"/>
              </a:ext>
            </a:extLst>
          </p:cNvPr>
          <p:cNvSpPr/>
          <p:nvPr/>
        </p:nvSpPr>
        <p:spPr>
          <a:xfrm>
            <a:off x="4647209" y="919136"/>
            <a:ext cx="4344591" cy="2829454"/>
          </a:xfrm>
          <a:prstGeom prst="roundRect">
            <a:avLst>
              <a:gd name="adj" fmla="val 2025"/>
            </a:avLst>
          </a:prstGeom>
          <a:solidFill>
            <a:srgbClr val="2C2C2C">
              <a:alpha val="92000"/>
            </a:srgbClr>
          </a:solidFill>
          <a:ln w="15240">
            <a:solidFill>
              <a:srgbClr val="7CCB91"/>
            </a:solidFill>
            <a:prstDash val="solid"/>
          </a:ln>
        </p:spPr>
        <p:txBody>
          <a:bodyPr/>
          <a:lstStyle/>
          <a:p>
            <a:endParaRPr lang="en-US" sz="1800">
              <a:latin typeface="+mn-lt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7095F929-54A5-2EF1-8ADB-47B1636C1F9E}"/>
              </a:ext>
            </a:extLst>
          </p:cNvPr>
          <p:cNvSpPr/>
          <p:nvPr/>
        </p:nvSpPr>
        <p:spPr>
          <a:xfrm>
            <a:off x="4600367" y="1224631"/>
            <a:ext cx="446227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CB9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Population Average Treatment Effect (PATE)</a:t>
            </a:r>
            <a:endParaRPr lang="en-US" sz="1800" dirty="0">
              <a:latin typeface="+mn-lt"/>
            </a:endParaRPr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0F9F9CFB-A56F-8EFD-A755-E4CAA48072B4}"/>
              </a:ext>
            </a:extLst>
          </p:cNvPr>
          <p:cNvSpPr/>
          <p:nvPr/>
        </p:nvSpPr>
        <p:spPr>
          <a:xfrm>
            <a:off x="4746671" y="1546057"/>
            <a:ext cx="3952024" cy="254408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Average causal effect for a broader target population from which trial participants are viewed as a sample.</a:t>
            </a:r>
            <a:endParaRPr lang="en-US" sz="1800" dirty="0">
              <a:latin typeface="+mn-lt"/>
            </a:endParaRPr>
          </a:p>
          <a:p>
            <a:pPr marL="0" indent="0" algn="ctr">
              <a:buNone/>
            </a:pPr>
            <a:endParaRPr lang="en-US" sz="1800" dirty="0">
              <a:latin typeface="+mn-lt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5F5F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Requires a sampling / transport story.</a:t>
            </a:r>
            <a:endParaRPr lang="en-US" sz="1800" dirty="0">
              <a:latin typeface="+mn-lt"/>
            </a:endParaRPr>
          </a:p>
        </p:txBody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27F00B64-2287-B41A-BFDD-9D8B653E799A}"/>
              </a:ext>
            </a:extLst>
          </p:cNvPr>
          <p:cNvSpPr/>
          <p:nvPr/>
        </p:nvSpPr>
        <p:spPr>
          <a:xfrm>
            <a:off x="115624" y="4265218"/>
            <a:ext cx="8909964" cy="583075"/>
          </a:xfrm>
          <a:prstGeom prst="roundRect">
            <a:avLst/>
          </a:prstGeom>
          <a:solidFill>
            <a:srgbClr val="2C2C2C">
              <a:alpha val="98000"/>
            </a:srgbClr>
          </a:solidFill>
          <a:ln w="889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45E654CB-CE9C-273E-6CB7-4E4175B6CF6E}"/>
              </a:ext>
            </a:extLst>
          </p:cNvPr>
          <p:cNvSpPr/>
          <p:nvPr/>
        </p:nvSpPr>
        <p:spPr>
          <a:xfrm>
            <a:off x="298504" y="4320082"/>
            <a:ext cx="8608697" cy="42222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B62D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Randomization identifies the treatment contrast inside the trial. Generalization beyond the trial is a separate problem.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05556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B928D-0130-BA5B-6CBE-2D5754FD1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FD424-17F1-60D6-8B43-59DF01E6594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From Identification to Estimation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D64B8-8F8C-1B85-8D88-92E4A9A995FD}"/>
              </a:ext>
            </a:extLst>
          </p:cNvPr>
          <p:cNvSpPr txBox="1"/>
          <p:nvPr/>
        </p:nvSpPr>
        <p:spPr>
          <a:xfrm>
            <a:off x="396508" y="1310425"/>
            <a:ext cx="2125980" cy="3429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00" b="1">
                <a:solidFill>
                  <a:srgbClr val="71AFE8"/>
                </a:solidFill>
              </a:rPr>
              <a:t>Causal 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FF7066-A86F-1855-12F0-C5DBD2637C8B}"/>
                  </a:ext>
                </a:extLst>
              </p:cNvPr>
              <p:cNvSpPr txBox="1"/>
              <p:nvPr/>
            </p:nvSpPr>
            <p:spPr>
              <a:xfrm>
                <a:off x="293638" y="1686277"/>
                <a:ext cx="2331720" cy="610722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𝐴𝑇𝐸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(1)] − 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(0)]</m:t>
                      </m:r>
                    </m:oMath>
                  </m:oMathPara>
                </a14:m>
                <a:endParaRPr sz="1870" b="0" dirty="0">
                  <a:solidFill>
                    <a:srgbClr val="F4F1EA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FF7066-A86F-1855-12F0-C5DBD2637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38" y="1686277"/>
                <a:ext cx="2331720" cy="610722"/>
              </a:xfrm>
              <a:prstGeom prst="rect">
                <a:avLst/>
              </a:prstGeom>
              <a:blipFill>
                <a:blip r:embed="rId2"/>
                <a:stretch>
                  <a:fillRect l="-2089" r="-2872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D7D8277-FAFB-EBF9-8811-8FA79A7133E2}"/>
              </a:ext>
            </a:extLst>
          </p:cNvPr>
          <p:cNvSpPr txBox="1"/>
          <p:nvPr/>
        </p:nvSpPr>
        <p:spPr>
          <a:xfrm>
            <a:off x="2796807" y="1310425"/>
            <a:ext cx="3360420" cy="3429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00" b="1">
                <a:solidFill>
                  <a:srgbClr val="7CCB91"/>
                </a:solidFill>
              </a:rPr>
              <a:t>Randomization + consistency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879E3F-A52B-28D3-2470-8BCDB255067F}"/>
                  </a:ext>
                </a:extLst>
              </p:cNvPr>
              <p:cNvSpPr txBox="1"/>
              <p:nvPr/>
            </p:nvSpPr>
            <p:spPr>
              <a:xfrm>
                <a:off x="2796807" y="1804199"/>
                <a:ext cx="3566160" cy="315471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=1] − 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7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=0]</m:t>
                      </m:r>
                    </m:oMath>
                  </m:oMathPara>
                </a14:m>
                <a:endParaRPr sz="1870" b="0" dirty="0">
                  <a:solidFill>
                    <a:srgbClr val="F4F1EA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879E3F-A52B-28D3-2470-8BCDB2550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807" y="1804199"/>
                <a:ext cx="3566160" cy="315471"/>
              </a:xfrm>
              <a:prstGeom prst="rect">
                <a:avLst/>
              </a:prstGeom>
              <a:blipFill>
                <a:blip r:embed="rId3"/>
                <a:stretch>
                  <a:fillRect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71B1188-BABA-E622-D2FA-EE6E6EBE654F}"/>
              </a:ext>
            </a:extLst>
          </p:cNvPr>
          <p:cNvSpPr txBox="1"/>
          <p:nvPr/>
        </p:nvSpPr>
        <p:spPr>
          <a:xfrm>
            <a:off x="6431547" y="1310425"/>
            <a:ext cx="2194560" cy="3429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00" b="1">
                <a:solidFill>
                  <a:srgbClr val="F5B62D"/>
                </a:solidFill>
              </a:rPr>
              <a:t>Estimation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E9DA53-7EDB-7509-02F6-844B6CD16B5A}"/>
                  </a:ext>
                </a:extLst>
              </p:cNvPr>
              <p:cNvSpPr txBox="1"/>
              <p:nvPr/>
            </p:nvSpPr>
            <p:spPr>
              <a:xfrm>
                <a:off x="6526662" y="1745337"/>
                <a:ext cx="2331720" cy="433196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63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63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63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lang="en-US" sz="263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63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63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63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lang="en-US" sz="263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sz="2635" b="1" dirty="0">
                  <a:solidFill>
                    <a:srgbClr val="F5B62D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E9DA53-7EDB-7509-02F6-844B6CD16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6662" y="1745337"/>
                <a:ext cx="2331720" cy="4331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34DD2F8-C382-E987-B474-69D670D87819}"/>
              </a:ext>
            </a:extLst>
          </p:cNvPr>
          <p:cNvSpPr txBox="1"/>
          <p:nvPr/>
        </p:nvSpPr>
        <p:spPr>
          <a:xfrm>
            <a:off x="499377" y="2784895"/>
            <a:ext cx="8161020" cy="89154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2039" b="0">
                <a:solidFill>
                  <a:srgbClr val="F5F5F5"/>
                </a:solidFill>
              </a:rPr>
              <a:t>Identification told us WHICH observed-data quantity equals the causal estimand.
Estimation tells us how to learn that quantity from a finite sample.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72225F-A35E-1103-0D14-F93B35750397}"/>
              </a:ext>
            </a:extLst>
          </p:cNvPr>
          <p:cNvSpPr txBox="1"/>
          <p:nvPr/>
        </p:nvSpPr>
        <p:spPr>
          <a:xfrm>
            <a:off x="251592" y="4315326"/>
            <a:ext cx="8606790" cy="576825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lang="en-US" sz="1784" b="1" dirty="0">
                <a:solidFill>
                  <a:srgbClr val="F5B62D"/>
                </a:solidFill>
              </a:rPr>
              <a:t>Next,</a:t>
            </a:r>
            <a:r>
              <a:rPr sz="1784" b="1" dirty="0">
                <a:solidFill>
                  <a:srgbClr val="F5B62D"/>
                </a:solidFill>
              </a:rPr>
              <a:t> we finish the randomized-trial story: point estimate → uncertainty → inference.</a:t>
            </a:r>
          </a:p>
        </p:txBody>
      </p:sp>
    </p:spTree>
    <p:extLst>
      <p:ext uri="{BB962C8B-B14F-4D97-AF65-F5344CB8AC3E}">
        <p14:creationId xmlns:p14="http://schemas.microsoft.com/office/powerpoint/2010/main" val="30619303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A87C5-1C02-1B91-D909-41298F68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967EE0-8F38-E9AB-3FC4-ED7194BDB27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The Difference-in-Means Estimator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B2BBEB-5948-5A15-D130-1605EAD75859}"/>
                  </a:ext>
                </a:extLst>
              </p:cNvPr>
              <p:cNvSpPr txBox="1"/>
              <p:nvPr/>
            </p:nvSpPr>
            <p:spPr>
              <a:xfrm>
                <a:off x="462914" y="770153"/>
                <a:ext cx="8161020" cy="520142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3200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acc>
                      <m:r>
                        <a:rPr lang="en-US" sz="320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1" i="1" dirty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3200" b="1" i="1" dirty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1" i="1" dirty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lang="en-US" sz="3200" b="1" i="1" dirty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3200" b="1" i="1" dirty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3200" b="1" i="1" dirty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3200" b="1" i="1" dirty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1" i="1" dirty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lang="en-US" sz="3200" b="1" i="1" dirty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sz="2890" b="1" dirty="0">
                  <a:solidFill>
                    <a:srgbClr val="F5B62D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B2BBEB-5948-5A15-D130-1605EAD75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4" y="770153"/>
                <a:ext cx="8161020" cy="5201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AEDD5D25-F79F-800B-7985-FC75EABAAFC2}"/>
              </a:ext>
            </a:extLst>
          </p:cNvPr>
          <p:cNvSpPr/>
          <p:nvPr/>
        </p:nvSpPr>
        <p:spPr>
          <a:xfrm>
            <a:off x="377190" y="1371600"/>
            <a:ext cx="2468880" cy="171450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E2F155-90B9-19F1-6879-ABF493882B29}"/>
                  </a:ext>
                </a:extLst>
              </p:cNvPr>
              <p:cNvSpPr txBox="1"/>
              <p:nvPr/>
            </p:nvSpPr>
            <p:spPr>
              <a:xfrm>
                <a:off x="480060" y="1483866"/>
                <a:ext cx="2263140" cy="276101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14" b="1" i="1" smtClean="0">
                              <a:solidFill>
                                <a:srgbClr val="71AFE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614" b="1" i="1" smtClean="0">
                                  <a:solidFill>
                                    <a:srgbClr val="71AFE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14" b="1" i="1" smtClean="0">
                                  <a:solidFill>
                                    <a:srgbClr val="71AFE8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lang="en-US" sz="1614" b="1" i="1" smtClean="0">
                              <a:solidFill>
                                <a:srgbClr val="71AFE8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sz="1614" b="1" dirty="0">
                  <a:solidFill>
                    <a:srgbClr val="71AFE8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E2F155-90B9-19F1-6879-ABF493882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" y="1483866"/>
                <a:ext cx="2263140" cy="276101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FD25DAE-B0ED-8BB9-B897-7CA76FCDDA3D}"/>
              </a:ext>
            </a:extLst>
          </p:cNvPr>
          <p:cNvSpPr txBox="1"/>
          <p:nvPr/>
        </p:nvSpPr>
        <p:spPr>
          <a:xfrm>
            <a:off x="480060" y="1865376"/>
            <a:ext cx="2263140" cy="1131569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530" b="0">
                <a:solidFill>
                  <a:srgbClr val="F5F5F5"/>
                </a:solidFill>
              </a:rPr>
              <a:t>Average observed outcome among participants assigned to treatment.</a:t>
            </a:r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0DC2C35E-6A03-A51D-BC75-DFA145264297}"/>
              </a:ext>
            </a:extLst>
          </p:cNvPr>
          <p:cNvSpPr/>
          <p:nvPr/>
        </p:nvSpPr>
        <p:spPr>
          <a:xfrm>
            <a:off x="3326129" y="1371600"/>
            <a:ext cx="2468880" cy="171450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1CD9AE6-E434-A222-C6C3-30C9B1F022C7}"/>
                  </a:ext>
                </a:extLst>
              </p:cNvPr>
              <p:cNvSpPr txBox="1"/>
              <p:nvPr/>
            </p:nvSpPr>
            <p:spPr>
              <a:xfrm>
                <a:off x="3429000" y="1483866"/>
                <a:ext cx="2263140" cy="276101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14" b="1" i="1" dirty="0" smtClean="0">
                              <a:solidFill>
                                <a:srgbClr val="7CCB9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614" b="1" i="1" dirty="0" smtClean="0">
                                  <a:solidFill>
                                    <a:srgbClr val="7CCB9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14" b="1" i="1" dirty="0" smtClean="0">
                                  <a:solidFill>
                                    <a:srgbClr val="7CCB9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lang="en-US" sz="1614" b="1" i="1" dirty="0" smtClean="0">
                              <a:solidFill>
                                <a:srgbClr val="7CCB9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1614" b="1" dirty="0">
                  <a:solidFill>
                    <a:srgbClr val="7CCB91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1CD9AE6-E434-A222-C6C3-30C9B1F02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1483866"/>
                <a:ext cx="2263140" cy="276101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F1E78C3-DF56-FFDC-3521-89E2F20809B5}"/>
              </a:ext>
            </a:extLst>
          </p:cNvPr>
          <p:cNvSpPr txBox="1"/>
          <p:nvPr/>
        </p:nvSpPr>
        <p:spPr>
          <a:xfrm>
            <a:off x="3429000" y="1865376"/>
            <a:ext cx="2263140" cy="1131569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530" b="0">
                <a:solidFill>
                  <a:srgbClr val="F5F5F5"/>
                </a:solidFill>
              </a:rPr>
              <a:t>Average observed outcome among participants assigned to control.</a:t>
            </a:r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C70F34C5-8C5E-6DCE-7B9B-365F81029DFC}"/>
              </a:ext>
            </a:extLst>
          </p:cNvPr>
          <p:cNvSpPr/>
          <p:nvPr/>
        </p:nvSpPr>
        <p:spPr>
          <a:xfrm>
            <a:off x="6275070" y="1371600"/>
            <a:ext cx="2468880" cy="171450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F5B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2498D76-23AF-9292-FF15-0D3CD0EF5C97}"/>
                  </a:ext>
                </a:extLst>
              </p:cNvPr>
              <p:cNvSpPr txBox="1"/>
              <p:nvPr/>
            </p:nvSpPr>
            <p:spPr>
              <a:xfrm>
                <a:off x="6377940" y="1483866"/>
                <a:ext cx="2263140" cy="276101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1614" b="1" i="1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14" b="1" i="1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acc>
                    </m:oMath>
                  </m:oMathPara>
                </a14:m>
                <a:endParaRPr sz="1614" b="1" dirty="0">
                  <a:solidFill>
                    <a:srgbClr val="F5B62D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2498D76-23AF-9292-FF15-0D3CD0EF5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7940" y="1483866"/>
                <a:ext cx="2263140" cy="276101"/>
              </a:xfrm>
              <a:prstGeom prst="rect">
                <a:avLst/>
              </a:prstGeom>
              <a:blipFill>
                <a:blip r:embed="rId5"/>
                <a:stretch>
                  <a:fillRect t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E9994BB0-FDEC-3F93-1755-3A7465985799}"/>
              </a:ext>
            </a:extLst>
          </p:cNvPr>
          <p:cNvSpPr txBox="1"/>
          <p:nvPr/>
        </p:nvSpPr>
        <p:spPr>
          <a:xfrm>
            <a:off x="6377940" y="1865376"/>
            <a:ext cx="2263140" cy="1131569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530" b="0">
                <a:solidFill>
                  <a:srgbClr val="F5F5F5"/>
                </a:solidFill>
              </a:rPr>
              <a:t>Estimated average treatment effect in the trial sample.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76D773-D181-FBC2-F4CB-8381F031BD78}"/>
              </a:ext>
            </a:extLst>
          </p:cNvPr>
          <p:cNvSpPr txBox="1"/>
          <p:nvPr/>
        </p:nvSpPr>
        <p:spPr>
          <a:xfrm>
            <a:off x="822959" y="3429000"/>
            <a:ext cx="7475220" cy="61722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955" b="0" dirty="0">
                <a:solidFill>
                  <a:srgbClr val="F5F5F5"/>
                </a:solidFill>
              </a:rPr>
              <a:t>For a continuous outcome and a simple two-arm randomized trial, this is the natural estimator.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747675-5059-FAC0-6D45-54D15737A60B}"/>
              </a:ext>
            </a:extLst>
          </p:cNvPr>
          <p:cNvSpPr txBox="1"/>
          <p:nvPr/>
        </p:nvSpPr>
        <p:spPr>
          <a:xfrm>
            <a:off x="38636" y="4517599"/>
            <a:ext cx="9066727" cy="302262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 dirty="0">
                <a:solidFill>
                  <a:srgbClr val="F5B62D"/>
                </a:solidFill>
              </a:rPr>
              <a:t>Simple analysis is enough because the design already did the confounding control.</a:t>
            </a:r>
          </a:p>
        </p:txBody>
      </p:sp>
    </p:spTree>
    <p:extLst>
      <p:ext uri="{BB962C8B-B14F-4D97-AF65-F5344CB8AC3E}">
        <p14:creationId xmlns:p14="http://schemas.microsoft.com/office/powerpoint/2010/main" val="36348280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BE05-754A-A3CB-62A7-78F2052AC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437B51-10D6-C4A4-47F5-7D536C0720E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Worked Example: Continuous Outcome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0D7AE-A3F4-1EDE-12DC-C4FF4BA65CCC}"/>
              </a:ext>
            </a:extLst>
          </p:cNvPr>
          <p:cNvSpPr txBox="1"/>
          <p:nvPr/>
        </p:nvSpPr>
        <p:spPr>
          <a:xfrm>
            <a:off x="240029" y="747521"/>
            <a:ext cx="8229600" cy="3429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0" dirty="0">
                <a:solidFill>
                  <a:srgbClr val="F5F5F5"/>
                </a:solidFill>
              </a:rPr>
              <a:t>Outcome: systolic blood pressure after 4 weeks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619D3D59-F3EC-D4FC-CD12-011E12187793}"/>
              </a:ext>
            </a:extLst>
          </p:cNvPr>
          <p:cNvSpPr/>
          <p:nvPr/>
        </p:nvSpPr>
        <p:spPr>
          <a:xfrm>
            <a:off x="379927" y="1131569"/>
            <a:ext cx="3741311" cy="153086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3DAADA-3E3D-3402-570A-9B0E97CC0D9B}"/>
              </a:ext>
            </a:extLst>
          </p:cNvPr>
          <p:cNvSpPr txBox="1"/>
          <p:nvPr/>
        </p:nvSpPr>
        <p:spPr>
          <a:xfrm>
            <a:off x="596853" y="1272939"/>
            <a:ext cx="2948939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 dirty="0">
                <a:solidFill>
                  <a:srgbClr val="71AFE8"/>
                </a:solidFill>
              </a:rPr>
              <a:t>Treatment arm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3F7FFD-82FD-EE5A-813A-6E87E71BB877}"/>
                  </a:ext>
                </a:extLst>
              </p:cNvPr>
              <p:cNvSpPr txBox="1"/>
              <p:nvPr/>
            </p:nvSpPr>
            <p:spPr>
              <a:xfrm>
                <a:off x="596853" y="1737757"/>
                <a:ext cx="3332569" cy="681725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/>
                        <m:t> </m:t>
                      </m:r>
                      <m:r>
                        <a:rPr lang="en-US" sz="2125" b="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25" b="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₁ = 100</m:t>
                      </m:r>
                    </m:oMath>
                  </m:oMathPara>
                </a14:m>
                <a:r>
                  <a:rPr sz="2125" b="0" dirty="0">
                    <a:solidFill>
                      <a:srgbClr val="F5F5F5"/>
                    </a:solidFill>
                  </a:rPr>
                  <a:t>Mean SBP = 126.2 mmHg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3F7FFD-82FD-EE5A-813A-6E87E71BB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53" y="1737757"/>
                <a:ext cx="3332569" cy="681725"/>
              </a:xfrm>
              <a:prstGeom prst="rect">
                <a:avLst/>
              </a:prstGeom>
              <a:blipFill>
                <a:blip r:embed="rId2"/>
                <a:stretch>
                  <a:fillRect l="-4388" r="-183" b="-20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B00ED180-F311-0028-E652-A6431800C030}"/>
              </a:ext>
            </a:extLst>
          </p:cNvPr>
          <p:cNvSpPr/>
          <p:nvPr/>
        </p:nvSpPr>
        <p:spPr>
          <a:xfrm>
            <a:off x="4803820" y="1131569"/>
            <a:ext cx="3825025" cy="153086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7792F4-CF8E-ED82-8FED-FAB3E2EF8E60}"/>
              </a:ext>
            </a:extLst>
          </p:cNvPr>
          <p:cNvSpPr txBox="1"/>
          <p:nvPr/>
        </p:nvSpPr>
        <p:spPr>
          <a:xfrm>
            <a:off x="4903470" y="1227582"/>
            <a:ext cx="2948939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>
                <a:solidFill>
                  <a:srgbClr val="7CCB91"/>
                </a:solidFill>
              </a:rPr>
              <a:t>Control arm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93BAA14-2835-9844-9DB2-E17DDE135DB0}"/>
                  </a:ext>
                </a:extLst>
              </p:cNvPr>
              <p:cNvSpPr txBox="1"/>
              <p:nvPr/>
            </p:nvSpPr>
            <p:spPr>
              <a:xfrm>
                <a:off x="4980988" y="1759682"/>
                <a:ext cx="3566159" cy="681725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2125" b="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125" b="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₀ = 100</m:t>
                    </m:r>
                  </m:oMath>
                </a14:m>
                <a:r>
                  <a:rPr sz="2125" b="0" dirty="0">
                    <a:solidFill>
                      <a:srgbClr val="F5F5F5"/>
                    </a:solidFill>
                  </a:rPr>
                  <a:t>
Mean SBP = 131.5 mmHg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93BAA14-2835-9844-9DB2-E17DDE135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988" y="1759682"/>
                <a:ext cx="3566159" cy="681725"/>
              </a:xfrm>
              <a:prstGeom prst="rect">
                <a:avLst/>
              </a:prstGeom>
              <a:blipFill>
                <a:blip r:embed="rId3"/>
                <a:stretch>
                  <a:fillRect l="-4103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6E078E0-53B7-BC28-DA60-AF3C25F5EE07}"/>
                  </a:ext>
                </a:extLst>
              </p:cNvPr>
              <p:cNvSpPr txBox="1"/>
              <p:nvPr/>
            </p:nvSpPr>
            <p:spPr>
              <a:xfrm>
                <a:off x="822959" y="2944622"/>
                <a:ext cx="7406640" cy="420115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2550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550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acc>
                      <m:r>
                        <a:rPr lang="en-US" sz="255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55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𝟏𝟐𝟔</m:t>
                      </m:r>
                      <m:r>
                        <a:rPr lang="en-US" sz="255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55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55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55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𝟏𝟑𝟏</m:t>
                      </m:r>
                      <m:r>
                        <a:rPr lang="en-US" sz="255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55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55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 = −</m:t>
                      </m:r>
                      <m:r>
                        <a:rPr lang="en-US" sz="255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55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55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55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5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𝒎𝒎𝑯𝒈</m:t>
                      </m:r>
                    </m:oMath>
                  </m:oMathPara>
                </a14:m>
                <a:endParaRPr sz="2550" b="1" dirty="0">
                  <a:solidFill>
                    <a:srgbClr val="F5B62D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6E078E0-53B7-BC28-DA60-AF3C25F5E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9" y="2944622"/>
                <a:ext cx="7406640" cy="4201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D36AB604-3320-EA88-8E54-A563EB927E26}"/>
              </a:ext>
            </a:extLst>
          </p:cNvPr>
          <p:cNvSpPr txBox="1"/>
          <p:nvPr/>
        </p:nvSpPr>
        <p:spPr>
          <a:xfrm>
            <a:off x="754380" y="3531870"/>
            <a:ext cx="7543800" cy="54864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0">
                <a:solidFill>
                  <a:srgbClr val="F5F5F5"/>
                </a:solidFill>
              </a:rPr>
              <a:t>Interpretation: assignment to the new treatment lowered mean 4-week SBP by 5.3 mmHg in this trial sample.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887853-BBFC-CEAA-F8B2-D3E093A37370}"/>
              </a:ext>
            </a:extLst>
          </p:cNvPr>
          <p:cNvSpPr txBox="1"/>
          <p:nvPr/>
        </p:nvSpPr>
        <p:spPr>
          <a:xfrm>
            <a:off x="240029" y="4512564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 dirty="0">
                <a:solidFill>
                  <a:srgbClr val="F5B62D"/>
                </a:solidFill>
              </a:rPr>
              <a:t>Always report the direction, magnitude, and units of the effect.</a:t>
            </a:r>
          </a:p>
        </p:txBody>
      </p:sp>
    </p:spTree>
    <p:extLst>
      <p:ext uri="{BB962C8B-B14F-4D97-AF65-F5344CB8AC3E}">
        <p14:creationId xmlns:p14="http://schemas.microsoft.com/office/powerpoint/2010/main" val="1410713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2A94-A25B-7DD7-B75C-A19E39E2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E3096E-291E-963E-85A2-53F03B233E5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Why does Difference in Means Work?</a:t>
            </a: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E56FA322-9B5C-F5BE-3D79-590BB8462AD5}"/>
              </a:ext>
            </a:extLst>
          </p:cNvPr>
          <p:cNvSpPr/>
          <p:nvPr/>
        </p:nvSpPr>
        <p:spPr>
          <a:xfrm>
            <a:off x="377190" y="1168758"/>
            <a:ext cx="2468880" cy="253746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2642E-AF3E-81DF-5CD2-A29987DF27A5}"/>
              </a:ext>
            </a:extLst>
          </p:cNvPr>
          <p:cNvSpPr txBox="1"/>
          <p:nvPr/>
        </p:nvSpPr>
        <p:spPr>
          <a:xfrm>
            <a:off x="548640" y="1374498"/>
            <a:ext cx="2125980" cy="3429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870" b="1">
                <a:solidFill>
                  <a:srgbClr val="71AFE8"/>
                </a:solidFill>
              </a:rPr>
              <a:t>Treatment group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A27F83-9CB7-7540-E7CF-8BAD6EA05C55}"/>
              </a:ext>
            </a:extLst>
          </p:cNvPr>
          <p:cNvSpPr txBox="1"/>
          <p:nvPr/>
        </p:nvSpPr>
        <p:spPr>
          <a:xfrm>
            <a:off x="571500" y="2057400"/>
            <a:ext cx="2125980" cy="10287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530" b="0" dirty="0">
                <a:solidFill>
                  <a:srgbClr val="F5F5F5"/>
                </a:solidFill>
              </a:rPr>
              <a:t>Randomization makes this group a valid sample of the potential outcomes under treatment.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ABA84400-C755-9F83-EC33-2C87C3A3A80D}"/>
              </a:ext>
            </a:extLst>
          </p:cNvPr>
          <p:cNvSpPr/>
          <p:nvPr/>
        </p:nvSpPr>
        <p:spPr>
          <a:xfrm>
            <a:off x="3326129" y="1168758"/>
            <a:ext cx="2468880" cy="253746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50F93E-F2CF-F200-5382-D864FF01058C}"/>
              </a:ext>
            </a:extLst>
          </p:cNvPr>
          <p:cNvSpPr txBox="1"/>
          <p:nvPr/>
        </p:nvSpPr>
        <p:spPr>
          <a:xfrm>
            <a:off x="3497579" y="1374498"/>
            <a:ext cx="2125980" cy="3429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870" b="1">
                <a:solidFill>
                  <a:srgbClr val="7CCB91"/>
                </a:solidFill>
              </a:rPr>
              <a:t>Control group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275829-3D1E-80F5-9761-60BC28B80E63}"/>
              </a:ext>
            </a:extLst>
          </p:cNvPr>
          <p:cNvSpPr txBox="1"/>
          <p:nvPr/>
        </p:nvSpPr>
        <p:spPr>
          <a:xfrm>
            <a:off x="3509010" y="2044521"/>
            <a:ext cx="2125980" cy="10287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530" b="0" dirty="0">
                <a:solidFill>
                  <a:srgbClr val="F5F5F5"/>
                </a:solidFill>
              </a:rPr>
              <a:t>Randomization makes this group a valid sample of the potential outcomes under control.</a:t>
            </a: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2809AC3F-DC60-2505-D9CD-291195BF5F3A}"/>
              </a:ext>
            </a:extLst>
          </p:cNvPr>
          <p:cNvSpPr/>
          <p:nvPr/>
        </p:nvSpPr>
        <p:spPr>
          <a:xfrm>
            <a:off x="6275070" y="1168758"/>
            <a:ext cx="2468880" cy="253746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F5B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E2D595-D2EF-491E-8AD7-EE421D137C3B}"/>
              </a:ext>
            </a:extLst>
          </p:cNvPr>
          <p:cNvSpPr txBox="1"/>
          <p:nvPr/>
        </p:nvSpPr>
        <p:spPr>
          <a:xfrm>
            <a:off x="6446520" y="1374498"/>
            <a:ext cx="2125980" cy="3429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870" b="1">
                <a:solidFill>
                  <a:srgbClr val="F5B62D"/>
                </a:solidFill>
              </a:rPr>
              <a:t>Difference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E06A51-D126-F46A-5D89-B4EBE47994E0}"/>
              </a:ext>
            </a:extLst>
          </p:cNvPr>
          <p:cNvSpPr txBox="1"/>
          <p:nvPr/>
        </p:nvSpPr>
        <p:spPr>
          <a:xfrm>
            <a:off x="6446520" y="2057400"/>
            <a:ext cx="2125980" cy="10287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530" b="0" dirty="0">
                <a:solidFill>
                  <a:srgbClr val="F5F5F5"/>
                </a:solidFill>
              </a:rPr>
              <a:t>Subtracting the two arm means estimates the average causal contrast.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8284C2-1191-D37C-0B1C-248F361B2246}"/>
              </a:ext>
            </a:extLst>
          </p:cNvPr>
          <p:cNvSpPr txBox="1"/>
          <p:nvPr/>
        </p:nvSpPr>
        <p:spPr>
          <a:xfrm>
            <a:off x="251592" y="4332260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 dirty="0">
                <a:solidFill>
                  <a:srgbClr val="F5B62D"/>
                </a:solidFill>
              </a:rPr>
              <a:t>The estimator is simple because exchangeability came from the randomization mechanism.</a:t>
            </a:r>
          </a:p>
        </p:txBody>
      </p:sp>
    </p:spTree>
    <p:extLst>
      <p:ext uri="{BB962C8B-B14F-4D97-AF65-F5344CB8AC3E}">
        <p14:creationId xmlns:p14="http://schemas.microsoft.com/office/powerpoint/2010/main" val="4520363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06B8-C970-806B-EADF-BC1D7356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BCC640-9248-C6D5-73B1-642F79360CE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Standard Error of the Difference in Means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16CE9B1-2C7F-D935-ECDA-A3150AABA79F}"/>
              </a:ext>
            </a:extLst>
          </p:cNvPr>
          <p:cNvSpPr/>
          <p:nvPr/>
        </p:nvSpPr>
        <p:spPr>
          <a:xfrm>
            <a:off x="474344" y="2137731"/>
            <a:ext cx="2434589" cy="168021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91DFFF-3209-3A8E-1E69-5AD9B2214434}"/>
                  </a:ext>
                </a:extLst>
              </p:cNvPr>
              <p:cNvSpPr txBox="1"/>
              <p:nvPr/>
            </p:nvSpPr>
            <p:spPr>
              <a:xfrm>
                <a:off x="577215" y="2249998"/>
                <a:ext cx="2228850" cy="276101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614" b="1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1614" b="1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</a:rPr>
                        <m:t>₁ </m:t>
                      </m:r>
                      <m:r>
                        <a:rPr lang="en-US" sz="1614" b="1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sz="1614" b="1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14" b="1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sz="1614" b="1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</a:rPr>
                        <m:t>₀</m:t>
                      </m:r>
                    </m:oMath>
                  </m:oMathPara>
                </a14:m>
                <a:endParaRPr sz="1614" b="1" dirty="0">
                  <a:solidFill>
                    <a:srgbClr val="71AFE8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91DFFF-3209-3A8E-1E69-5AD9B2214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15" y="2249998"/>
                <a:ext cx="2228850" cy="276101"/>
              </a:xfrm>
              <a:prstGeom prst="rect">
                <a:avLst/>
              </a:prstGeom>
              <a:blipFill>
                <a:blip r:embed="rId2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6FF65F6-9A4D-E240-D2FB-8E458EC0D180}"/>
              </a:ext>
            </a:extLst>
          </p:cNvPr>
          <p:cNvSpPr txBox="1"/>
          <p:nvPr/>
        </p:nvSpPr>
        <p:spPr>
          <a:xfrm>
            <a:off x="577215" y="2631507"/>
            <a:ext cx="2228850" cy="1097280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530" b="0">
                <a:solidFill>
                  <a:srgbClr val="F5F5F5"/>
                </a:solidFill>
              </a:rPr>
              <a:t>Sample standard deviations within the treatment and control arms.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B988D212-9967-86D9-DE31-BC4A3414117A}"/>
              </a:ext>
            </a:extLst>
          </p:cNvPr>
          <p:cNvSpPr/>
          <p:nvPr/>
        </p:nvSpPr>
        <p:spPr>
          <a:xfrm>
            <a:off x="3354705" y="2137731"/>
            <a:ext cx="2434589" cy="168021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6D6186-B617-D966-1648-A0B4AF99A803}"/>
                  </a:ext>
                </a:extLst>
              </p:cNvPr>
              <p:cNvSpPr txBox="1"/>
              <p:nvPr/>
            </p:nvSpPr>
            <p:spPr>
              <a:xfrm>
                <a:off x="3457575" y="2249998"/>
                <a:ext cx="2228850" cy="276101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614" b="1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614" b="1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</a:rPr>
                        <m:t>₁ </m:t>
                      </m:r>
                      <m:r>
                        <a:rPr lang="en-US" sz="1614" b="1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US" sz="1614" b="1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14" b="1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614" b="1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</a:rPr>
                        <m:t>₀</m:t>
                      </m:r>
                    </m:oMath>
                  </m:oMathPara>
                </a14:m>
                <a:endParaRPr sz="1614" b="1" dirty="0">
                  <a:solidFill>
                    <a:srgbClr val="7CCB91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6D6186-B617-D966-1648-A0B4AF99A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75" y="2249998"/>
                <a:ext cx="2228850" cy="276101"/>
              </a:xfrm>
              <a:prstGeom prst="rect">
                <a:avLst/>
              </a:prstGeom>
              <a:blipFill>
                <a:blip r:embed="rId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2C2571A-0821-009E-57CE-240E07763630}"/>
              </a:ext>
            </a:extLst>
          </p:cNvPr>
          <p:cNvSpPr txBox="1"/>
          <p:nvPr/>
        </p:nvSpPr>
        <p:spPr>
          <a:xfrm>
            <a:off x="3457575" y="2631507"/>
            <a:ext cx="2228850" cy="1097280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530" b="0">
                <a:solidFill>
                  <a:srgbClr val="F5F5F5"/>
                </a:solidFill>
              </a:rPr>
              <a:t>Numbers of participants observed in the two treatment arms.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38EECEDB-DCF8-545C-4D38-DFC81940EE96}"/>
              </a:ext>
            </a:extLst>
          </p:cNvPr>
          <p:cNvSpPr/>
          <p:nvPr/>
        </p:nvSpPr>
        <p:spPr>
          <a:xfrm>
            <a:off x="6235064" y="2137731"/>
            <a:ext cx="2434589" cy="168021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F5B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46F377-BB13-C7AB-2236-62721513DF0C}"/>
                  </a:ext>
                </a:extLst>
              </p:cNvPr>
              <p:cNvSpPr txBox="1"/>
              <p:nvPr/>
            </p:nvSpPr>
            <p:spPr>
              <a:xfrm>
                <a:off x="6337935" y="2249998"/>
                <a:ext cx="2228850" cy="276101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614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𝑺𝑬</m:t>
                      </m:r>
                      <m:r>
                        <a:rPr lang="en-US" sz="1614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1614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14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acc>
                      <m:r>
                        <a:rPr lang="en-US" sz="1614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614" b="1" dirty="0">
                  <a:solidFill>
                    <a:srgbClr val="F5B62D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46F377-BB13-C7AB-2236-62721513D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935" y="2249998"/>
                <a:ext cx="2228850" cy="276101"/>
              </a:xfrm>
              <a:prstGeom prst="rect">
                <a:avLst/>
              </a:prstGeom>
              <a:blipFill>
                <a:blip r:embed="rId4"/>
                <a:stretch>
                  <a:fillRect t="-1111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44050678-20C2-372A-C7EA-356615B634D2}"/>
              </a:ext>
            </a:extLst>
          </p:cNvPr>
          <p:cNvSpPr txBox="1"/>
          <p:nvPr/>
        </p:nvSpPr>
        <p:spPr>
          <a:xfrm>
            <a:off x="6337935" y="2631507"/>
            <a:ext cx="2228850" cy="1097280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530" b="0">
                <a:solidFill>
                  <a:srgbClr val="F5F5F5"/>
                </a:solidFill>
              </a:rPr>
              <a:t>Typical sampling variability of the estimated difference in means.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0D87A9-45DE-F437-2856-4FE938739090}"/>
              </a:ext>
            </a:extLst>
          </p:cNvPr>
          <p:cNvSpPr txBox="1"/>
          <p:nvPr/>
        </p:nvSpPr>
        <p:spPr>
          <a:xfrm>
            <a:off x="237184" y="4338699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 dirty="0">
                <a:solidFill>
                  <a:srgbClr val="F5B62D"/>
                </a:solidFill>
              </a:rPr>
              <a:t>More outcome variability increases SE; larger sample sizes decrease SE.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7E8CD41-78A9-42C1-83C2-343DA947E8B7}"/>
                  </a:ext>
                </a:extLst>
              </p:cNvPr>
              <p:cNvSpPr txBox="1"/>
              <p:nvPr/>
            </p:nvSpPr>
            <p:spPr>
              <a:xfrm>
                <a:off x="474344" y="1055379"/>
                <a:ext cx="8023859" cy="852862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63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𝑺𝑬</m:t>
                      </m:r>
                      <m:r>
                        <a:rPr lang="en-US" sz="263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2635" b="1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635" b="1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acc>
                      <m:r>
                        <a:rPr lang="en-US" sz="263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) =</m:t>
                      </m:r>
                      <m:rad>
                        <m:radPr>
                          <m:degHide m:val="on"/>
                          <m:ctrlPr>
                            <a:rPr lang="en-US" sz="2635" b="1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635" b="1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635" b="1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( </m:t>
                          </m:r>
                          <m:r>
                            <a:rPr lang="en-US" sz="2635" b="1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sz="2635" b="1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₁²/</m:t>
                          </m:r>
                          <m:r>
                            <a:rPr lang="en-US" sz="2635" b="1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635" b="1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₁ + </m:t>
                          </m:r>
                          <m:r>
                            <a:rPr lang="en-US" sz="2635" b="1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sz="2635" b="1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₀²/</m:t>
                          </m:r>
                          <m:r>
                            <a:rPr lang="en-US" sz="2635" b="1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635" b="1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₀ )</m:t>
                          </m:r>
                        </m:e>
                      </m:rad>
                    </m:oMath>
                  </m:oMathPara>
                </a14:m>
                <a:endParaRPr sz="2635" b="1" dirty="0">
                  <a:solidFill>
                    <a:srgbClr val="F4F1EA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7E8CD41-78A9-42C1-83C2-343DA947E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44" y="1055379"/>
                <a:ext cx="8023859" cy="8528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43523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6F1D9-9DA0-486E-ED9F-C273790AC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6B9D54-0472-AFA8-89EA-206A473B62D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Worked Example: 95% Confidence Interval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024940-03B1-3BA5-4588-F83A66C6DDD3}"/>
                  </a:ext>
                </a:extLst>
              </p:cNvPr>
              <p:cNvSpPr txBox="1"/>
              <p:nvPr/>
            </p:nvSpPr>
            <p:spPr>
              <a:xfrm>
                <a:off x="422910" y="1212658"/>
                <a:ext cx="8298179" cy="315471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:r>
                  <a:rPr lang="en-US" sz="1870" b="0" dirty="0">
                    <a:solidFill>
                      <a:srgbClr val="F5F5F5"/>
                    </a:solidFill>
                  </a:rPr>
                  <a:t>Suppose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70" b="0" i="1" dirty="0" smtClean="0">
                            <a:solidFill>
                              <a:srgbClr val="F5F5F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70" b="0" i="1" dirty="0" smtClean="0">
                            <a:solidFill>
                              <a:srgbClr val="F5F5F5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  <m:r>
                      <a:rPr lang="en-US" sz="1870" b="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 = −5.3 </m:t>
                    </m:r>
                  </m:oMath>
                </a14:m>
                <a:r>
                  <a:rPr lang="en-US" sz="1870" b="0" dirty="0">
                    <a:solidFill>
                      <a:srgbClr val="F5F5F5"/>
                    </a:solidFill>
                  </a:rPr>
                  <a:t>mmHg and </a:t>
                </a:r>
                <a14:m>
                  <m:oMath xmlns:m="http://schemas.openxmlformats.org/officeDocument/2006/math">
                    <m:r>
                      <a:rPr lang="en-US" sz="1870" b="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𝑆𝐸</m:t>
                    </m:r>
                    <m:r>
                      <a:rPr lang="en-US" sz="1870" b="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1870" i="1" dirty="0">
                            <a:solidFill>
                              <a:srgbClr val="F5F5F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70" i="1" dirty="0">
                            <a:solidFill>
                              <a:srgbClr val="F5F5F5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  <m:r>
                      <a:rPr lang="en-US" sz="1870" b="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) = 1.8 </m:t>
                    </m:r>
                    <m:r>
                      <a:rPr lang="en-US" sz="1870" b="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𝑚𝑚</m:t>
                    </m:r>
                  </m:oMath>
                </a14:m>
                <a:r>
                  <a:rPr lang="en-US" sz="1870" b="0" dirty="0">
                    <a:solidFill>
                      <a:srgbClr val="F5F5F5"/>
                    </a:solidFill>
                  </a:rPr>
                  <a:t>Hg.</a:t>
                </a:r>
                <a:endParaRPr sz="1870" b="0" dirty="0">
                  <a:solidFill>
                    <a:srgbClr val="F5F5F5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024940-03B1-3BA5-4588-F83A66C6D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10" y="1212658"/>
                <a:ext cx="8298179" cy="315471"/>
              </a:xfrm>
              <a:prstGeom prst="rect">
                <a:avLst/>
              </a:prstGeom>
              <a:blipFill>
                <a:blip r:embed="rId2"/>
                <a:stretch>
                  <a:fillRect t="-19231" b="-40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5A8EA9-67D9-5E3F-E346-741B93029C42}"/>
                  </a:ext>
                </a:extLst>
              </p:cNvPr>
              <p:cNvSpPr txBox="1"/>
              <p:nvPr/>
            </p:nvSpPr>
            <p:spPr>
              <a:xfrm>
                <a:off x="628651" y="1746310"/>
                <a:ext cx="7886700" cy="414024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𝟗𝟓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𝑪𝑰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 ≈</m:t>
                      </m:r>
                      <m:acc>
                        <m:accPr>
                          <m:chr m:val="̂"/>
                          <m:ctrlPr>
                            <a:rPr lang="en-US" sz="2800" i="1" dirty="0">
                              <a:solidFill>
                                <a:srgbClr val="F5F5F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solidFill>
                                <a:srgbClr val="F5F5F5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acc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± 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𝟗𝟔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𝑺𝑬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2800" i="1" dirty="0">
                              <a:solidFill>
                                <a:srgbClr val="F5F5F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 dirty="0">
                              <a:solidFill>
                                <a:srgbClr val="F5F5F5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acc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465" b="1" dirty="0">
                  <a:solidFill>
                    <a:srgbClr val="F4F1EA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5A8EA9-67D9-5E3F-E346-741B93029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1746310"/>
                <a:ext cx="7886700" cy="4140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BD5D69-AB04-053A-7F8F-82F012418ED6}"/>
                  </a:ext>
                </a:extLst>
              </p:cNvPr>
              <p:cNvSpPr txBox="1"/>
              <p:nvPr/>
            </p:nvSpPr>
            <p:spPr>
              <a:xfrm>
                <a:off x="628651" y="2367024"/>
                <a:ext cx="7886700" cy="407035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65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= −5.3 ± 1.96(1.8)</m:t>
                      </m:r>
                    </m:oMath>
                  </m:oMathPara>
                </a14:m>
                <a:endParaRPr sz="2465" b="0" dirty="0">
                  <a:solidFill>
                    <a:srgbClr val="F4F1EA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BD5D69-AB04-053A-7F8F-82F012418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2367024"/>
                <a:ext cx="7886700" cy="407035"/>
              </a:xfrm>
              <a:prstGeom prst="rect">
                <a:avLst/>
              </a:prstGeom>
              <a:blipFill>
                <a:blip r:embed="rId4"/>
                <a:stretch>
                  <a:fillRect b="-31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3C894F-3F9F-648B-C041-28C67E3F6DA1}"/>
                  </a:ext>
                </a:extLst>
              </p:cNvPr>
              <p:cNvSpPr txBox="1"/>
              <p:nvPr/>
            </p:nvSpPr>
            <p:spPr>
              <a:xfrm>
                <a:off x="628651" y="2964878"/>
                <a:ext cx="7886700" cy="445770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72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= (−</m:t>
                      </m:r>
                      <m:r>
                        <a:rPr lang="en-US" sz="272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72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72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72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, −</m:t>
                      </m:r>
                      <m:r>
                        <a:rPr lang="en-US" sz="272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72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72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72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2720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𝒎𝒎𝑯𝒈</m:t>
                      </m:r>
                    </m:oMath>
                  </m:oMathPara>
                </a14:m>
                <a:endParaRPr sz="2720" b="1" dirty="0">
                  <a:solidFill>
                    <a:srgbClr val="F5B62D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3C894F-3F9F-648B-C041-28C67E3F6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2964878"/>
                <a:ext cx="7886700" cy="4457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FBC9515-3C6E-7F9F-9FE0-2D1910B201FA}"/>
              </a:ext>
            </a:extLst>
          </p:cNvPr>
          <p:cNvSpPr txBox="1"/>
          <p:nvPr/>
        </p:nvSpPr>
        <p:spPr>
          <a:xfrm>
            <a:off x="765811" y="3719257"/>
            <a:ext cx="7543800" cy="651509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870" b="0" dirty="0">
                <a:solidFill>
                  <a:srgbClr val="F5F5F5"/>
                </a:solidFill>
              </a:rPr>
              <a:t>The data are compatible with a moderate reduction in SBP; the interval excludes 0 in this example.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D3D041-AA6D-7A45-972A-7C1E208BACCE}"/>
              </a:ext>
            </a:extLst>
          </p:cNvPr>
          <p:cNvSpPr txBox="1"/>
          <p:nvPr/>
        </p:nvSpPr>
        <p:spPr>
          <a:xfrm>
            <a:off x="240029" y="4512564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>
                <a:solidFill>
                  <a:srgbClr val="F5B62D"/>
                </a:solidFill>
              </a:rPr>
              <a:t>Report the effect estimate together with its interval, not only a p-value.</a:t>
            </a:r>
          </a:p>
        </p:txBody>
      </p:sp>
    </p:spTree>
    <p:extLst>
      <p:ext uri="{BB962C8B-B14F-4D97-AF65-F5344CB8AC3E}">
        <p14:creationId xmlns:p14="http://schemas.microsoft.com/office/powerpoint/2010/main" val="24752596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32AED-E7D2-0B8D-4E2E-AC91656CC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AFB07-D47B-677D-38AA-E9600FA2AA3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What Does a 95% Confidence Interval Mean?</a:t>
            </a: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560C2FD2-E13B-9EF7-AB5B-EDFA45B1A8FD}"/>
              </a:ext>
            </a:extLst>
          </p:cNvPr>
          <p:cNvSpPr/>
          <p:nvPr/>
        </p:nvSpPr>
        <p:spPr>
          <a:xfrm>
            <a:off x="191732" y="1330710"/>
            <a:ext cx="4080510" cy="267462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124131-64E2-5784-4518-8F580CD8B124}"/>
              </a:ext>
            </a:extLst>
          </p:cNvPr>
          <p:cNvSpPr txBox="1"/>
          <p:nvPr/>
        </p:nvSpPr>
        <p:spPr>
          <a:xfrm>
            <a:off x="294602" y="1426722"/>
            <a:ext cx="3874770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>
                <a:solidFill>
                  <a:srgbClr val="7CCB91"/>
                </a:solidFill>
              </a:rPr>
              <a:t>Correct repeated-sampling idea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E57D58-CA56-7C17-D786-50B8D34B7C13}"/>
              </a:ext>
            </a:extLst>
          </p:cNvPr>
          <p:cNvSpPr txBox="1"/>
          <p:nvPr/>
        </p:nvSpPr>
        <p:spPr>
          <a:xfrm>
            <a:off x="294602" y="1824486"/>
            <a:ext cx="3874770" cy="2091689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614" b="0">
                <a:solidFill>
                  <a:srgbClr val="F5F5F5"/>
                </a:solidFill>
              </a:rPr>
              <a:t>If we repeated the trial many times using the same procedure, about 95% of similarly constructed intervals would contain the true target effect.</a:t>
            </a: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6A1EAA46-D847-A469-C108-743760A99CC9}"/>
              </a:ext>
            </a:extLst>
          </p:cNvPr>
          <p:cNvSpPr/>
          <p:nvPr/>
        </p:nvSpPr>
        <p:spPr>
          <a:xfrm>
            <a:off x="4691289" y="1351155"/>
            <a:ext cx="4259528" cy="2585465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F0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4B68FE-ABC9-5D50-EA26-1D295101D82F}"/>
              </a:ext>
            </a:extLst>
          </p:cNvPr>
          <p:cNvSpPr txBox="1"/>
          <p:nvPr/>
        </p:nvSpPr>
        <p:spPr>
          <a:xfrm>
            <a:off x="5006339" y="1443738"/>
            <a:ext cx="3840480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 dirty="0">
                <a:solidFill>
                  <a:srgbClr val="F07A75"/>
                </a:solidFill>
              </a:rPr>
              <a:t>Common incorrect statement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ACE852-B845-5D3C-9487-FBBA5CBCDA85}"/>
              </a:ext>
            </a:extLst>
          </p:cNvPr>
          <p:cNvSpPr txBox="1"/>
          <p:nvPr/>
        </p:nvSpPr>
        <p:spPr>
          <a:xfrm>
            <a:off x="4794159" y="1844931"/>
            <a:ext cx="4080509" cy="1675074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784" b="0" dirty="0">
                <a:solidFill>
                  <a:srgbClr val="F5F5F5"/>
                </a:solidFill>
              </a:rPr>
              <a:t>“There is a 95% probability that the true effect lies in this particular interval.”
In the frequentist framework, the fixed effect is not assigned a probability after the interval is observed.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1302CB-0D0A-AE05-5D64-00E3EFDE70F7}"/>
              </a:ext>
            </a:extLst>
          </p:cNvPr>
          <p:cNvSpPr txBox="1"/>
          <p:nvPr/>
        </p:nvSpPr>
        <p:spPr>
          <a:xfrm>
            <a:off x="240029" y="4512564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>
                <a:solidFill>
                  <a:srgbClr val="F5B62D"/>
                </a:solidFill>
              </a:rPr>
              <a:t>Confidence describes the long-run performance of the interval procedure.</a:t>
            </a:r>
          </a:p>
        </p:txBody>
      </p:sp>
    </p:spTree>
    <p:extLst>
      <p:ext uri="{BB962C8B-B14F-4D97-AF65-F5344CB8AC3E}">
        <p14:creationId xmlns:p14="http://schemas.microsoft.com/office/powerpoint/2010/main" val="20586328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F1BB4-3BD2-3ED9-BCBA-081BA6304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2B0736-3D7F-45BA-18D8-34495A1EC9D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Hypothesis Test and p-value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B3B477-653A-9441-7B70-47536B09244A}"/>
                  </a:ext>
                </a:extLst>
              </p:cNvPr>
              <p:cNvSpPr txBox="1"/>
              <p:nvPr/>
            </p:nvSpPr>
            <p:spPr>
              <a:xfrm>
                <a:off x="491490" y="988502"/>
                <a:ext cx="8161020" cy="407035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65" b="1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65" b="1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₀: </m:t>
                    </m:r>
                    <m:r>
                      <a:rPr lang="en-US" sz="2465" b="1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sz="2465" b="1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65" b="1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sz="2465" b="1" dirty="0">
                    <a:solidFill>
                      <a:srgbClr val="F4F1EA"/>
                    </a:solidFill>
                    <a:latin typeface="Cambria Math"/>
                  </a:rPr>
                  <a:t>    versus    </a:t>
                </a:r>
                <a14:m>
                  <m:oMath xmlns:m="http://schemas.openxmlformats.org/officeDocument/2006/math">
                    <m:r>
                      <a:rPr lang="en-US" sz="2465" b="1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65" b="1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₁: </m:t>
                    </m:r>
                    <m:r>
                      <a:rPr lang="en-US" sz="2465" b="1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sz="2465" b="1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 ≠ </m:t>
                    </m:r>
                    <m:r>
                      <a:rPr lang="en-US" sz="2465" b="1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sz="2465" b="1" dirty="0">
                  <a:solidFill>
                    <a:srgbClr val="F4F1EA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B3B477-653A-9441-7B70-47536B092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90" y="988502"/>
                <a:ext cx="8161020" cy="407035"/>
              </a:xfrm>
              <a:prstGeom prst="rect">
                <a:avLst/>
              </a:prstGeom>
              <a:blipFill>
                <a:blip r:embed="rId2"/>
                <a:stretch>
                  <a:fillRect t="-19403" b="-41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7321774-3989-AF51-AE87-04C55E939F7F}"/>
              </a:ext>
            </a:extLst>
          </p:cNvPr>
          <p:cNvSpPr txBox="1"/>
          <p:nvPr/>
        </p:nvSpPr>
        <p:spPr>
          <a:xfrm>
            <a:off x="731520" y="1717288"/>
            <a:ext cx="7680959" cy="6858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870" b="0" dirty="0">
                <a:solidFill>
                  <a:srgbClr val="F5F5F5"/>
                </a:solidFill>
              </a:rPr>
              <a:t>A p-value asks: if the null hypothesis were true, how unusual would an estimate at least this extreme be under the assumed analysis?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1164F54A-166F-96F0-BC12-B532A2B97E46}"/>
              </a:ext>
            </a:extLst>
          </p:cNvPr>
          <p:cNvSpPr/>
          <p:nvPr/>
        </p:nvSpPr>
        <p:spPr>
          <a:xfrm>
            <a:off x="731520" y="2724839"/>
            <a:ext cx="3930632" cy="1340098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C863BB-84D1-0A0E-AB36-ADBBF0C17F05}"/>
              </a:ext>
            </a:extLst>
          </p:cNvPr>
          <p:cNvSpPr txBox="1"/>
          <p:nvPr/>
        </p:nvSpPr>
        <p:spPr>
          <a:xfrm>
            <a:off x="834389" y="2773420"/>
            <a:ext cx="3291839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>
                <a:solidFill>
                  <a:srgbClr val="71AFE8"/>
                </a:solidFill>
              </a:rPr>
              <a:t>Small p-value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54F38C-4163-A3BB-9FB3-B6504C44B21E}"/>
              </a:ext>
            </a:extLst>
          </p:cNvPr>
          <p:cNvSpPr txBox="1"/>
          <p:nvPr/>
        </p:nvSpPr>
        <p:spPr>
          <a:xfrm>
            <a:off x="834389" y="3171184"/>
            <a:ext cx="3291839" cy="651510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700" b="0" dirty="0">
                <a:solidFill>
                  <a:srgbClr val="F5F5F5"/>
                </a:solidFill>
              </a:rPr>
              <a:t>Data are difficult to reconcile with H₀ under the analysis assumptions.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80F22BA0-CCF5-CC32-783D-06F6F04DDEB8}"/>
              </a:ext>
            </a:extLst>
          </p:cNvPr>
          <p:cNvSpPr/>
          <p:nvPr/>
        </p:nvSpPr>
        <p:spPr>
          <a:xfrm>
            <a:off x="4949190" y="2677407"/>
            <a:ext cx="3703320" cy="1387529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F2D201-178F-6360-ED57-7D228899DE67}"/>
              </a:ext>
            </a:extLst>
          </p:cNvPr>
          <p:cNvSpPr txBox="1"/>
          <p:nvPr/>
        </p:nvSpPr>
        <p:spPr>
          <a:xfrm>
            <a:off x="5052060" y="2773420"/>
            <a:ext cx="3291839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>
                <a:solidFill>
                  <a:srgbClr val="7CCB91"/>
                </a:solidFill>
              </a:rPr>
              <a:t>Large p-value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E000CB-804C-0B21-EC9B-6B82A8B12188}"/>
              </a:ext>
            </a:extLst>
          </p:cNvPr>
          <p:cNvSpPr txBox="1"/>
          <p:nvPr/>
        </p:nvSpPr>
        <p:spPr>
          <a:xfrm>
            <a:off x="5052060" y="3171184"/>
            <a:ext cx="3291839" cy="651510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700" b="0">
                <a:solidFill>
                  <a:srgbClr val="F5F5F5"/>
                </a:solidFill>
              </a:rPr>
              <a:t>Does NOT prove “no effect”; the trial may simply be imprecise.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30999B-BEF9-4552-2D06-0D9F4D16D0C4}"/>
              </a:ext>
            </a:extLst>
          </p:cNvPr>
          <p:cNvSpPr txBox="1"/>
          <p:nvPr/>
        </p:nvSpPr>
        <p:spPr>
          <a:xfrm>
            <a:off x="0" y="4610162"/>
            <a:ext cx="9193746" cy="302262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 dirty="0">
                <a:solidFill>
                  <a:srgbClr val="F5B62D"/>
                </a:solidFill>
              </a:rPr>
              <a:t>Effect size + confidence interval usually communicates more than the p-value alone.</a:t>
            </a:r>
          </a:p>
        </p:txBody>
      </p:sp>
    </p:spTree>
    <p:extLst>
      <p:ext uri="{BB962C8B-B14F-4D97-AF65-F5344CB8AC3E}">
        <p14:creationId xmlns:p14="http://schemas.microsoft.com/office/powerpoint/2010/main" val="2640482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2E079-ED09-DCE1-1350-7325A79B1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C65C9D-B40F-69BF-8FD3-C2DE7A4229C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Randomization Inference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7E4ED-54F3-F143-1BC1-75843F08620A}"/>
              </a:ext>
            </a:extLst>
          </p:cNvPr>
          <p:cNvSpPr txBox="1"/>
          <p:nvPr/>
        </p:nvSpPr>
        <p:spPr>
          <a:xfrm>
            <a:off x="422910" y="1033691"/>
            <a:ext cx="8298179" cy="411479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870" b="0" dirty="0">
                <a:solidFill>
                  <a:srgbClr val="F5F5F5"/>
                </a:solidFill>
              </a:rPr>
              <a:t>Inference can come directly from the randomization mechanism.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F59367E0-F8E0-5B87-522D-197757003504}"/>
              </a:ext>
            </a:extLst>
          </p:cNvPr>
          <p:cNvSpPr/>
          <p:nvPr/>
        </p:nvSpPr>
        <p:spPr>
          <a:xfrm>
            <a:off x="320041" y="1616621"/>
            <a:ext cx="1885950" cy="233172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57671D-549D-D775-0C45-6D9A425A884A}"/>
              </a:ext>
            </a:extLst>
          </p:cNvPr>
          <p:cNvSpPr txBox="1"/>
          <p:nvPr/>
        </p:nvSpPr>
        <p:spPr>
          <a:xfrm>
            <a:off x="422910" y="1712633"/>
            <a:ext cx="1680210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>
                <a:solidFill>
                  <a:srgbClr val="71AFE8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2AE92-7407-3512-ED19-2C65BD0B15BD}"/>
              </a:ext>
            </a:extLst>
          </p:cNvPr>
          <p:cNvSpPr txBox="1"/>
          <p:nvPr/>
        </p:nvSpPr>
        <p:spPr>
          <a:xfrm>
            <a:off x="422910" y="2110397"/>
            <a:ext cx="1680210" cy="1748789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800" b="0" dirty="0">
                <a:solidFill>
                  <a:srgbClr val="F5F5F5"/>
                </a:solidFill>
              </a:rPr>
              <a:t>Assume a sharp null: treatment changes no participant’s outcome.</a:t>
            </a:r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4B869C92-8061-CB69-635E-A56610451A49}"/>
              </a:ext>
            </a:extLst>
          </p:cNvPr>
          <p:cNvSpPr/>
          <p:nvPr/>
        </p:nvSpPr>
        <p:spPr>
          <a:xfrm>
            <a:off x="2514601" y="1616621"/>
            <a:ext cx="1885950" cy="233172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D8B4E5-563F-B6AC-002B-D03838B5C7CF}"/>
              </a:ext>
            </a:extLst>
          </p:cNvPr>
          <p:cNvSpPr txBox="1"/>
          <p:nvPr/>
        </p:nvSpPr>
        <p:spPr>
          <a:xfrm>
            <a:off x="2617470" y="1712633"/>
            <a:ext cx="1680210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>
                <a:solidFill>
                  <a:srgbClr val="7CCB91"/>
                </a:solidFill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581705-35FE-0396-83D2-74A31D5FF09C}"/>
              </a:ext>
            </a:extLst>
          </p:cNvPr>
          <p:cNvSpPr txBox="1"/>
          <p:nvPr/>
        </p:nvSpPr>
        <p:spPr>
          <a:xfrm>
            <a:off x="2617470" y="2110397"/>
            <a:ext cx="1680210" cy="1412694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800" b="0" dirty="0">
                <a:solidFill>
                  <a:srgbClr val="F5F5F5"/>
                </a:solidFill>
              </a:rPr>
              <a:t>Re-randomize treatment labels using the same design used in the trial.</a:t>
            </a:r>
          </a:p>
        </p:txBody>
      </p:sp>
      <p:sp>
        <p:nvSpPr>
          <p:cNvPr id="27" name="Rounded Rectangle 9">
            <a:extLst>
              <a:ext uri="{FF2B5EF4-FFF2-40B4-BE49-F238E27FC236}">
                <a16:creationId xmlns:a16="http://schemas.microsoft.com/office/drawing/2014/main" id="{D0A66711-9B65-4D14-B8FE-1D04CA52772D}"/>
              </a:ext>
            </a:extLst>
          </p:cNvPr>
          <p:cNvSpPr/>
          <p:nvPr/>
        </p:nvSpPr>
        <p:spPr>
          <a:xfrm>
            <a:off x="4709160" y="1616621"/>
            <a:ext cx="1885950" cy="233172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F5B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3A94BF-FA54-1E8C-567E-BFEBAA87698F}"/>
              </a:ext>
            </a:extLst>
          </p:cNvPr>
          <p:cNvSpPr txBox="1"/>
          <p:nvPr/>
        </p:nvSpPr>
        <p:spPr>
          <a:xfrm>
            <a:off x="4812031" y="1712633"/>
            <a:ext cx="1680210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>
                <a:solidFill>
                  <a:srgbClr val="F5B62D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03D63B-13CE-ED71-ADA4-48471A1D2A4A}"/>
              </a:ext>
            </a:extLst>
          </p:cNvPr>
          <p:cNvSpPr txBox="1"/>
          <p:nvPr/>
        </p:nvSpPr>
        <p:spPr>
          <a:xfrm>
            <a:off x="4812031" y="2110397"/>
            <a:ext cx="1680210" cy="1412694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800" b="0">
                <a:solidFill>
                  <a:srgbClr val="F5F5F5"/>
                </a:solidFill>
              </a:rPr>
              <a:t>Recompute the difference in means for each random assignment.</a:t>
            </a:r>
          </a:p>
        </p:txBody>
      </p:sp>
      <p:sp>
        <p:nvSpPr>
          <p:cNvPr id="33" name="Rounded Rectangle 12">
            <a:extLst>
              <a:ext uri="{FF2B5EF4-FFF2-40B4-BE49-F238E27FC236}">
                <a16:creationId xmlns:a16="http://schemas.microsoft.com/office/drawing/2014/main" id="{950CF84E-8B87-ADC4-D831-24592F7672CA}"/>
              </a:ext>
            </a:extLst>
          </p:cNvPr>
          <p:cNvSpPr/>
          <p:nvPr/>
        </p:nvSpPr>
        <p:spPr>
          <a:xfrm>
            <a:off x="6903721" y="1616621"/>
            <a:ext cx="1885950" cy="233172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F0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1A760B-F39D-1E0C-99A2-CBA5EEFCA1E7}"/>
              </a:ext>
            </a:extLst>
          </p:cNvPr>
          <p:cNvSpPr txBox="1"/>
          <p:nvPr/>
        </p:nvSpPr>
        <p:spPr>
          <a:xfrm>
            <a:off x="7006591" y="1712633"/>
            <a:ext cx="1680210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>
                <a:solidFill>
                  <a:srgbClr val="F07A75"/>
                </a:solidFill>
              </a:rPr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E3B870-928F-E234-132A-F530200107A9}"/>
              </a:ext>
            </a:extLst>
          </p:cNvPr>
          <p:cNvSpPr txBox="1"/>
          <p:nvPr/>
        </p:nvSpPr>
        <p:spPr>
          <a:xfrm>
            <a:off x="7006591" y="2110397"/>
            <a:ext cx="1680210" cy="1748789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800" b="0">
                <a:solidFill>
                  <a:srgbClr val="F5F5F5"/>
                </a:solidFill>
              </a:rPr>
              <a:t>Compare the observed difference with the randomization distribution.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60A961-077B-63F9-0666-973B6AB6D198}"/>
              </a:ext>
            </a:extLst>
          </p:cNvPr>
          <p:cNvSpPr txBox="1"/>
          <p:nvPr/>
        </p:nvSpPr>
        <p:spPr>
          <a:xfrm>
            <a:off x="240029" y="4512564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>
                <a:solidFill>
                  <a:srgbClr val="F5B62D"/>
                </a:solidFill>
              </a:rPr>
              <a:t>This test uses the experiment’s actual assignment mechanism rather than a model for outcomes.</a:t>
            </a:r>
          </a:p>
        </p:txBody>
      </p:sp>
    </p:spTree>
    <p:extLst>
      <p:ext uri="{BB962C8B-B14F-4D97-AF65-F5344CB8AC3E}">
        <p14:creationId xmlns:p14="http://schemas.microsoft.com/office/powerpoint/2010/main" val="40954860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F0038-EF8A-5639-D6A7-3EF69670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07EBED-25E0-B8BF-A260-973C815A82F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Where Is the Observed Effect?</a:t>
            </a:r>
          </a:p>
        </p:txBody>
      </p:sp>
      <p:pic>
        <p:nvPicPr>
          <p:cNvPr id="7" name="Picture 6" descr="randomization_distribution.png">
            <a:extLst>
              <a:ext uri="{FF2B5EF4-FFF2-40B4-BE49-F238E27FC236}">
                <a16:creationId xmlns:a16="http://schemas.microsoft.com/office/drawing/2014/main" id="{21C49B7F-63D9-0CAE-8925-1855B89B739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2749830" y="1111838"/>
            <a:ext cx="6394170" cy="331849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75D7979-91AF-C86D-B416-D0F077EE8F2F}"/>
              </a:ext>
            </a:extLst>
          </p:cNvPr>
          <p:cNvSpPr txBox="1"/>
          <p:nvPr/>
        </p:nvSpPr>
        <p:spPr>
          <a:xfrm>
            <a:off x="240029" y="2193665"/>
            <a:ext cx="2290677" cy="133575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00" b="0" dirty="0">
                <a:solidFill>
                  <a:srgbClr val="F5F5F5"/>
                </a:solidFill>
              </a:rPr>
              <a:t>If −5.3 lies far in the tail of the null distribution, such a difference is unusual under no treatment effect.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2B5E6C-2092-C559-2E10-55668777C451}"/>
              </a:ext>
            </a:extLst>
          </p:cNvPr>
          <p:cNvSpPr txBox="1"/>
          <p:nvPr/>
        </p:nvSpPr>
        <p:spPr>
          <a:xfrm>
            <a:off x="240029" y="4512564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 dirty="0">
                <a:solidFill>
                  <a:srgbClr val="F5B62D"/>
                </a:solidFill>
              </a:rPr>
              <a:t>Randomization inference turns “what else could random assignment have produced?” into a formal test.</a:t>
            </a:r>
          </a:p>
        </p:txBody>
      </p:sp>
    </p:spTree>
    <p:extLst>
      <p:ext uri="{BB962C8B-B14F-4D97-AF65-F5344CB8AC3E}">
        <p14:creationId xmlns:p14="http://schemas.microsoft.com/office/powerpoint/2010/main" val="3354866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359E4-4439-66A9-C63D-12E6AEAD8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3759B-B180-1C7D-09CB-0ABD9A91251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Where Is the Observed Effect?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0A899C-1912-0629-163C-A49E49023D47}"/>
                  </a:ext>
                </a:extLst>
              </p:cNvPr>
              <p:cNvSpPr txBox="1"/>
              <p:nvPr/>
            </p:nvSpPr>
            <p:spPr>
              <a:xfrm>
                <a:off x="560070" y="1091894"/>
                <a:ext cx="8023859" cy="433196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63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63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ᵢ = </m:t>
                      </m:r>
                      <m:r>
                        <a:rPr lang="en-US" sz="263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sz="263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₀ + </m:t>
                      </m:r>
                      <m:r>
                        <a:rPr lang="en-US" sz="263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sz="263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₁</m:t>
                      </m:r>
                      <m:r>
                        <a:rPr lang="en-US" sz="263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63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ᵢ + </m:t>
                      </m:r>
                      <m:r>
                        <a:rPr lang="en-US" sz="263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  <m:r>
                        <a:rPr lang="en-US" sz="263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  <a:endParaRPr sz="2635" b="1" dirty="0">
                  <a:solidFill>
                    <a:srgbClr val="F4F1EA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0A899C-1912-0629-163C-A49E49023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70" y="1091894"/>
                <a:ext cx="8023859" cy="4331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A025E766-DF38-5E1C-2A3C-20D32CBBBA4A}"/>
              </a:ext>
            </a:extLst>
          </p:cNvPr>
          <p:cNvSpPr/>
          <p:nvPr/>
        </p:nvSpPr>
        <p:spPr>
          <a:xfrm>
            <a:off x="628650" y="2051927"/>
            <a:ext cx="3600450" cy="150876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78A48B-0585-A5FE-5FC9-4005A75A769D}"/>
                  </a:ext>
                </a:extLst>
              </p:cNvPr>
              <p:cNvSpPr txBox="1"/>
              <p:nvPr/>
            </p:nvSpPr>
            <p:spPr>
              <a:xfrm>
                <a:off x="731520" y="2103728"/>
                <a:ext cx="3394710" cy="397032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 dirty="0" smtClean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sz="2400" b="1" i="1" dirty="0">
                          <a:solidFill>
                            <a:srgbClr val="7CCB91"/>
                          </a:solidFill>
                          <a:latin typeface="Cambria Math" panose="02040503050406030204" pitchFamily="18" charset="0"/>
                        </a:rPr>
                        <m:t>₀</m:t>
                      </m:r>
                    </m:oMath>
                  </m:oMathPara>
                </a14:m>
                <a:endParaRPr sz="2400" b="1" dirty="0">
                  <a:solidFill>
                    <a:srgbClr val="7CCB9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78A48B-0585-A5FE-5FC9-4005A75A7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103728"/>
                <a:ext cx="3394710" cy="397032"/>
              </a:xfrm>
              <a:prstGeom prst="rect">
                <a:avLst/>
              </a:prstGeom>
              <a:blipFill>
                <a:blip r:embed="rId3"/>
                <a:stretch>
                  <a:fillRect b="-3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42D9C97-7621-3E03-653B-8F8ED11190E8}"/>
              </a:ext>
            </a:extLst>
          </p:cNvPr>
          <p:cNvSpPr txBox="1"/>
          <p:nvPr/>
        </p:nvSpPr>
        <p:spPr>
          <a:xfrm>
            <a:off x="731520" y="2645504"/>
            <a:ext cx="3394710" cy="643253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2000" b="0" dirty="0">
                <a:solidFill>
                  <a:srgbClr val="F5F5F5"/>
                </a:solidFill>
              </a:rPr>
              <a:t>Mean outcome in the control arm when T=0.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51F9EB03-2CE6-DF40-2DC4-9ACA2D28392C}"/>
              </a:ext>
            </a:extLst>
          </p:cNvPr>
          <p:cNvSpPr/>
          <p:nvPr/>
        </p:nvSpPr>
        <p:spPr>
          <a:xfrm>
            <a:off x="4880609" y="2051927"/>
            <a:ext cx="3600450" cy="150876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D85821-1AF9-B57B-8756-D94439188795}"/>
                  </a:ext>
                </a:extLst>
              </p:cNvPr>
              <p:cNvSpPr txBox="1"/>
              <p:nvPr/>
            </p:nvSpPr>
            <p:spPr>
              <a:xfrm>
                <a:off x="4983480" y="2103728"/>
                <a:ext cx="3394710" cy="397032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sz="2400" b="1" i="1" dirty="0" smtClean="0">
                          <a:solidFill>
                            <a:srgbClr val="71AFE8"/>
                          </a:solidFill>
                          <a:latin typeface="Cambria Math" panose="02040503050406030204" pitchFamily="18" charset="0"/>
                        </a:rPr>
                        <m:t>₁</m:t>
                      </m:r>
                    </m:oMath>
                  </m:oMathPara>
                </a14:m>
                <a:endParaRPr sz="2400" b="1" dirty="0">
                  <a:solidFill>
                    <a:srgbClr val="71AFE8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D85821-1AF9-B57B-8756-D94439188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480" y="2103728"/>
                <a:ext cx="3394710" cy="397032"/>
              </a:xfrm>
              <a:prstGeom prst="rect">
                <a:avLst/>
              </a:prstGeom>
              <a:blipFill>
                <a:blip r:embed="rId4"/>
                <a:stretch>
                  <a:fillRect b="-3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3E4E11-CBD2-E374-DB0C-AE52BCE550F8}"/>
                  </a:ext>
                </a:extLst>
              </p:cNvPr>
              <p:cNvSpPr txBox="1"/>
              <p:nvPr/>
            </p:nvSpPr>
            <p:spPr>
              <a:xfrm>
                <a:off x="5017770" y="2646357"/>
                <a:ext cx="3394710" cy="643253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t">
                <a:spAutoFit/>
              </a:bodyPr>
              <a:lstStyle/>
              <a:p>
                <a:pPr algn="l"/>
                <a:r>
                  <a:rPr lang="en-US" sz="2000" b="0" dirty="0">
                    <a:solidFill>
                      <a:srgbClr val="F5F5F5"/>
                    </a:solidFill>
                  </a:rPr>
                  <a:t>Difference between treatment and control means: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F5F5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b="0" i="1" dirty="0" smtClean="0">
                                <a:solidFill>
                                  <a:srgbClr val="F5F5F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dirty="0" smtClean="0">
                                <a:solidFill>
                                  <a:srgbClr val="F5F5F5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000" b="0" i="1" dirty="0" smtClean="0">
                            <a:solidFill>
                              <a:srgbClr val="F5F5F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F5F5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b="0" i="1" dirty="0" smtClean="0">
                                <a:solidFill>
                                  <a:srgbClr val="F5F5F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dirty="0" smtClean="0">
                                <a:solidFill>
                                  <a:srgbClr val="F5F5F5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000" b="0" i="1" dirty="0" smtClean="0">
                            <a:solidFill>
                              <a:srgbClr val="F5F5F5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b="0" dirty="0">
                    <a:solidFill>
                      <a:srgbClr val="F5F5F5"/>
                    </a:solidFill>
                  </a:rPr>
                  <a:t>.</a:t>
                </a:r>
                <a:endParaRPr sz="2000" b="0" dirty="0">
                  <a:solidFill>
                    <a:srgbClr val="F5F5F5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C3E4E11-CBD2-E374-DB0C-AE52BCE55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770" y="2646357"/>
                <a:ext cx="3394710" cy="643253"/>
              </a:xfrm>
              <a:prstGeom prst="rect">
                <a:avLst/>
              </a:prstGeom>
              <a:blipFill>
                <a:blip r:embed="rId5"/>
                <a:stretch>
                  <a:fillRect l="-3950" t="-9434" r="-5206" b="-21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C6030E-1D8E-DAA7-0D4D-B884B2EB1C07}"/>
                  </a:ext>
                </a:extLst>
              </p:cNvPr>
              <p:cNvSpPr txBox="1"/>
              <p:nvPr/>
            </p:nvSpPr>
            <p:spPr>
              <a:xfrm>
                <a:off x="834389" y="3840260"/>
                <a:ext cx="7406640" cy="469552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63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63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63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  <m:sub>
                          <m:r>
                            <a:rPr lang="en-US" sz="263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3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63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63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lang="en-US" sz="263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63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63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635" b="1" i="1" dirty="0" smtClean="0">
                                  <a:solidFill>
                                    <a:srgbClr val="F5B62D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lang="en-US" sz="2635" b="1" i="1" dirty="0" smtClean="0">
                              <a:solidFill>
                                <a:srgbClr val="F5B62D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sz="2635" b="1" dirty="0">
                  <a:solidFill>
                    <a:srgbClr val="F5B62D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C6030E-1D8E-DAA7-0D4D-B884B2EB1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89" y="3840260"/>
                <a:ext cx="7406640" cy="469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4099CAA-A7DB-8749-8AC2-FBB6D016BD56}"/>
              </a:ext>
            </a:extLst>
          </p:cNvPr>
          <p:cNvSpPr txBox="1"/>
          <p:nvPr/>
        </p:nvSpPr>
        <p:spPr>
          <a:xfrm>
            <a:off x="240029" y="4512564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 dirty="0">
                <a:solidFill>
                  <a:srgbClr val="F5B62D"/>
                </a:solidFill>
              </a:rPr>
              <a:t>With only a binary treatment indicator, OLS and the raw difference in means are the same estimator.</a:t>
            </a:r>
          </a:p>
        </p:txBody>
      </p:sp>
    </p:spTree>
    <p:extLst>
      <p:ext uri="{BB962C8B-B14F-4D97-AF65-F5344CB8AC3E}">
        <p14:creationId xmlns:p14="http://schemas.microsoft.com/office/powerpoint/2010/main" val="37987309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50A85-0183-6AE2-BE8E-F9C700AA6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5F6538-FD37-230D-19E2-C0A50304B84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Where Is the Observed Effect?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362F90E8-72E3-B2AB-6E2F-FA3F139F812C}"/>
              </a:ext>
            </a:extLst>
          </p:cNvPr>
          <p:cNvSpPr/>
          <p:nvPr/>
        </p:nvSpPr>
        <p:spPr>
          <a:xfrm>
            <a:off x="505816" y="1138654"/>
            <a:ext cx="3840479" cy="3086100"/>
          </a:xfrm>
          <a:prstGeom prst="roundRect">
            <a:avLst/>
          </a:prstGeom>
          <a:solidFill>
            <a:srgbClr val="202020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D91090-6A9E-D71B-3C07-8BB804C38EAC}"/>
              </a:ext>
            </a:extLst>
          </p:cNvPr>
          <p:cNvSpPr txBox="1"/>
          <p:nvPr/>
        </p:nvSpPr>
        <p:spPr>
          <a:xfrm>
            <a:off x="783518" y="1708821"/>
            <a:ext cx="3562777" cy="1725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445" b="0" dirty="0">
                <a:solidFill>
                  <a:srgbClr val="F5F5F5"/>
                </a:solidFill>
                <a:latin typeface="Consolas"/>
              </a:rPr>
              <a:t># Difference in means</a:t>
            </a:r>
          </a:p>
          <a:p>
            <a:pPr>
              <a:spcAft>
                <a:spcPts val="100"/>
              </a:spcAft>
            </a:pPr>
            <a:r>
              <a:rPr sz="1445" b="0" dirty="0">
                <a:solidFill>
                  <a:srgbClr val="F5F5F5"/>
                </a:solidFill>
                <a:latin typeface="Consolas"/>
              </a:rPr>
              <a:t>mean(dat$Y[dat$T == 1]) -</a:t>
            </a:r>
          </a:p>
          <a:p>
            <a:pPr>
              <a:spcAft>
                <a:spcPts val="100"/>
              </a:spcAft>
            </a:pPr>
            <a:r>
              <a:rPr sz="1445" b="0" dirty="0">
                <a:solidFill>
                  <a:srgbClr val="F5F5F5"/>
                </a:solidFill>
                <a:latin typeface="Consolas"/>
              </a:rPr>
              <a:t>  mean(dat$Y[dat$T == 0])</a:t>
            </a:r>
          </a:p>
          <a:p>
            <a:pPr>
              <a:spcAft>
                <a:spcPts val="100"/>
              </a:spcAft>
            </a:pPr>
            <a:endParaRPr sz="1445" b="0" dirty="0">
              <a:solidFill>
                <a:srgbClr val="F5F5F5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445" b="0" dirty="0">
                <a:solidFill>
                  <a:srgbClr val="F5F5F5"/>
                </a:solidFill>
                <a:latin typeface="Consolas"/>
              </a:rPr>
              <a:t># Same estimate from regression</a:t>
            </a:r>
          </a:p>
          <a:p>
            <a:pPr>
              <a:spcAft>
                <a:spcPts val="100"/>
              </a:spcAft>
            </a:pPr>
            <a:r>
              <a:rPr sz="1445" b="0" dirty="0">
                <a:solidFill>
                  <a:srgbClr val="F5F5F5"/>
                </a:solidFill>
                <a:latin typeface="Consolas"/>
              </a:rPr>
              <a:t>fit &lt;- lm(Y ~ T, data = dat)</a:t>
            </a:r>
          </a:p>
          <a:p>
            <a:pPr>
              <a:spcAft>
                <a:spcPts val="100"/>
              </a:spcAft>
            </a:pPr>
            <a:r>
              <a:rPr sz="1445" b="0" dirty="0">
                <a:solidFill>
                  <a:srgbClr val="F5F5F5"/>
                </a:solidFill>
                <a:latin typeface="Consolas"/>
              </a:rPr>
              <a:t>coef(fit)["T"]</a:t>
            </a: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E9AEBE99-8727-99C4-9F1A-749D6003E0D1}"/>
              </a:ext>
            </a:extLst>
          </p:cNvPr>
          <p:cNvSpPr/>
          <p:nvPr/>
        </p:nvSpPr>
        <p:spPr>
          <a:xfrm>
            <a:off x="4654907" y="1138654"/>
            <a:ext cx="3840479" cy="308610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F024D7-F003-8ECA-59C4-E8539D345B08}"/>
              </a:ext>
            </a:extLst>
          </p:cNvPr>
          <p:cNvSpPr txBox="1"/>
          <p:nvPr/>
        </p:nvSpPr>
        <p:spPr>
          <a:xfrm>
            <a:off x="5509261" y="1242174"/>
            <a:ext cx="3634739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 dirty="0">
                <a:solidFill>
                  <a:srgbClr val="71AFE8"/>
                </a:solidFill>
              </a:rPr>
              <a:t>Same causal estimate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D77319-7CA1-1A0F-B53C-F54AF2D4EF13}"/>
              </a:ext>
            </a:extLst>
          </p:cNvPr>
          <p:cNvSpPr txBox="1"/>
          <p:nvPr/>
        </p:nvSpPr>
        <p:spPr>
          <a:xfrm>
            <a:off x="4860647" y="1838594"/>
            <a:ext cx="3634739" cy="2503170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784" b="0" dirty="0">
                <a:solidFill>
                  <a:srgbClr val="F5F5F5"/>
                </a:solidFill>
              </a:rPr>
              <a:t>In a simple randomized two-arm trial, both approaches estimate the treatment-control mean difference.
Regression becomes useful when we add covariates, interactions, or design features.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4EBB6D-5428-1091-E768-9711CAA9EC67}"/>
              </a:ext>
            </a:extLst>
          </p:cNvPr>
          <p:cNvSpPr txBox="1"/>
          <p:nvPr/>
        </p:nvSpPr>
        <p:spPr>
          <a:xfrm>
            <a:off x="240029" y="4512564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 dirty="0">
                <a:solidFill>
                  <a:srgbClr val="F5B62D"/>
                </a:solidFill>
              </a:rPr>
              <a:t>R syntax changes; the estimand should not.</a:t>
            </a:r>
          </a:p>
        </p:txBody>
      </p:sp>
    </p:spTree>
    <p:extLst>
      <p:ext uri="{BB962C8B-B14F-4D97-AF65-F5344CB8AC3E}">
        <p14:creationId xmlns:p14="http://schemas.microsoft.com/office/powerpoint/2010/main" val="16446271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66906-AA54-5117-E3B6-0141BEAE6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E7B0B2-8538-346C-4F04-54766D3E7E8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Why adjust for baseline covariates in RCT?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D3963-D69F-60A0-AA51-22D0E0942022}"/>
              </a:ext>
            </a:extLst>
          </p:cNvPr>
          <p:cNvSpPr txBox="1"/>
          <p:nvPr/>
        </p:nvSpPr>
        <p:spPr>
          <a:xfrm>
            <a:off x="491490" y="1208748"/>
            <a:ext cx="816102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2039" b="1">
                <a:solidFill>
                  <a:srgbClr val="F07A75"/>
                </a:solidFill>
              </a:rPr>
              <a:t>Not to “remove confounding” created by baseline variables.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AAD4B93F-3781-B0FA-AB71-7A2ACC6E38D8}"/>
              </a:ext>
            </a:extLst>
          </p:cNvPr>
          <p:cNvSpPr/>
          <p:nvPr/>
        </p:nvSpPr>
        <p:spPr>
          <a:xfrm>
            <a:off x="422910" y="1791679"/>
            <a:ext cx="2606039" cy="2263139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326D87-505D-BA4B-B3CB-AC9BFCB33E1F}"/>
              </a:ext>
            </a:extLst>
          </p:cNvPr>
          <p:cNvSpPr txBox="1"/>
          <p:nvPr/>
        </p:nvSpPr>
        <p:spPr>
          <a:xfrm>
            <a:off x="560070" y="2127935"/>
            <a:ext cx="2400300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 dirty="0">
                <a:solidFill>
                  <a:srgbClr val="71AFE8"/>
                </a:solidFill>
              </a:rPr>
              <a:t>Reason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985327-43B9-B79B-E36A-54D21CB10794}"/>
              </a:ext>
            </a:extLst>
          </p:cNvPr>
          <p:cNvSpPr txBox="1"/>
          <p:nvPr/>
        </p:nvSpPr>
        <p:spPr>
          <a:xfrm>
            <a:off x="560070" y="2525699"/>
            <a:ext cx="2400300" cy="1680210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530" b="0" dirty="0">
                <a:solidFill>
                  <a:srgbClr val="F5F5F5"/>
                </a:solidFill>
              </a:rPr>
              <a:t>Improve precision when a baseline variable strongly predicts the outcome.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0160B462-F5B8-8041-BF81-B06D3C003DFB}"/>
              </a:ext>
            </a:extLst>
          </p:cNvPr>
          <p:cNvSpPr/>
          <p:nvPr/>
        </p:nvSpPr>
        <p:spPr>
          <a:xfrm>
            <a:off x="3268981" y="1791679"/>
            <a:ext cx="2606039" cy="2263139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38D987-F258-E37E-8296-7F7A4B90A9B9}"/>
              </a:ext>
            </a:extLst>
          </p:cNvPr>
          <p:cNvSpPr txBox="1"/>
          <p:nvPr/>
        </p:nvSpPr>
        <p:spPr>
          <a:xfrm>
            <a:off x="3406140" y="2127935"/>
            <a:ext cx="2400300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>
                <a:solidFill>
                  <a:srgbClr val="7CCB91"/>
                </a:solidFill>
              </a:rPr>
              <a:t>Reason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122122-BCB3-1B22-9CFB-9DF702E96335}"/>
              </a:ext>
            </a:extLst>
          </p:cNvPr>
          <p:cNvSpPr txBox="1"/>
          <p:nvPr/>
        </p:nvSpPr>
        <p:spPr>
          <a:xfrm>
            <a:off x="3406140" y="2525699"/>
            <a:ext cx="2400300" cy="1680210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530" b="0">
                <a:solidFill>
                  <a:srgbClr val="F5F5F5"/>
                </a:solidFill>
              </a:rPr>
              <a:t>Account for pre-specified stratification / design variables appropriately.</a:t>
            </a:r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B1152EFA-4FE6-752B-A2A5-A1FD64D84B02}"/>
              </a:ext>
            </a:extLst>
          </p:cNvPr>
          <p:cNvSpPr/>
          <p:nvPr/>
        </p:nvSpPr>
        <p:spPr>
          <a:xfrm>
            <a:off x="6115051" y="1791679"/>
            <a:ext cx="2606039" cy="2263139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F5B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9FE217-E404-DAA6-C211-94DEE4E6C5DF}"/>
              </a:ext>
            </a:extLst>
          </p:cNvPr>
          <p:cNvSpPr txBox="1"/>
          <p:nvPr/>
        </p:nvSpPr>
        <p:spPr>
          <a:xfrm>
            <a:off x="6252210" y="2127935"/>
            <a:ext cx="2400300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>
                <a:solidFill>
                  <a:srgbClr val="F5B62D"/>
                </a:solidFill>
              </a:rPr>
              <a:t>Reason 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396DDB-B80F-99A0-0697-DECFB17C4B85}"/>
              </a:ext>
            </a:extLst>
          </p:cNvPr>
          <p:cNvSpPr txBox="1"/>
          <p:nvPr/>
        </p:nvSpPr>
        <p:spPr>
          <a:xfrm>
            <a:off x="6252210" y="2525699"/>
            <a:ext cx="2400300" cy="1680210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530" b="0">
                <a:solidFill>
                  <a:srgbClr val="F5F5F5"/>
                </a:solidFill>
              </a:rPr>
              <a:t>Protect against chance imbalance without data-driven covariate hunting.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6E2603-CDA8-1387-647C-CBDF0C71F97C}"/>
              </a:ext>
            </a:extLst>
          </p:cNvPr>
          <p:cNvSpPr txBox="1"/>
          <p:nvPr/>
        </p:nvSpPr>
        <p:spPr>
          <a:xfrm>
            <a:off x="240029" y="4512564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>
                <a:solidFill>
                  <a:srgbClr val="F5B62D"/>
                </a:solidFill>
              </a:rPr>
              <a:t>Randomization gives validity; sensible baseline adjustment can give efficiency.</a:t>
            </a:r>
          </a:p>
        </p:txBody>
      </p:sp>
    </p:spTree>
    <p:extLst>
      <p:ext uri="{BB962C8B-B14F-4D97-AF65-F5344CB8AC3E}">
        <p14:creationId xmlns:p14="http://schemas.microsoft.com/office/powerpoint/2010/main" val="30772506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F2F17-60A2-F176-784B-4C174AACB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C37E6B-FE21-B2B8-B866-15C99E5E218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Covariate-Adjusted Analysis: ANCOVA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EB8ECA-3717-53AA-4795-A5C59C7D0408}"/>
                  </a:ext>
                </a:extLst>
              </p:cNvPr>
              <p:cNvSpPr txBox="1"/>
              <p:nvPr/>
            </p:nvSpPr>
            <p:spPr>
              <a:xfrm>
                <a:off x="496434" y="1214074"/>
                <a:ext cx="8229600" cy="407035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ᵢ = 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₀ + 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₁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ᵢ + 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₂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ᵢ + 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  <m:r>
                        <a:rPr lang="en-US" sz="246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  <a:endParaRPr sz="2465" b="1" dirty="0">
                  <a:solidFill>
                    <a:srgbClr val="F4F1EA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EB8ECA-3717-53AA-4795-A5C59C7D0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34" y="1214074"/>
                <a:ext cx="8229600" cy="407035"/>
              </a:xfrm>
              <a:prstGeom prst="rect">
                <a:avLst/>
              </a:prstGeom>
              <a:blipFill>
                <a:blip r:embed="rId2"/>
                <a:stretch>
                  <a:fillRect b="-31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C412BB5-FB0B-B953-D9E8-0167AEF4394C}"/>
              </a:ext>
            </a:extLst>
          </p:cNvPr>
          <p:cNvSpPr txBox="1"/>
          <p:nvPr/>
        </p:nvSpPr>
        <p:spPr>
          <a:xfrm>
            <a:off x="560070" y="1889593"/>
            <a:ext cx="8023859" cy="44577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870" b="0" dirty="0">
                <a:solidFill>
                  <a:srgbClr val="F5F5F5"/>
                </a:solidFill>
              </a:rPr>
              <a:t>Example: X = baseline systolic blood pressure.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896E2786-C095-7135-DA17-6941ED88B1CF}"/>
              </a:ext>
            </a:extLst>
          </p:cNvPr>
          <p:cNvSpPr/>
          <p:nvPr/>
        </p:nvSpPr>
        <p:spPr>
          <a:xfrm>
            <a:off x="491489" y="2571750"/>
            <a:ext cx="4137660" cy="1841165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1424F9-72B0-6E80-E96C-963AF1C4BB6F}"/>
                  </a:ext>
                </a:extLst>
              </p:cNvPr>
              <p:cNvSpPr txBox="1"/>
              <p:nvPr/>
            </p:nvSpPr>
            <p:spPr>
              <a:xfrm>
                <a:off x="594360" y="2697293"/>
                <a:ext cx="3914004" cy="335476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l"/>
                <a:r>
                  <a:rPr sz="2000" b="1" dirty="0">
                    <a:solidFill>
                      <a:srgbClr val="71AFE8"/>
                    </a:solidFill>
                  </a:rPr>
                  <a:t>Treatment coefficient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1AFE8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2000" b="1" i="1" dirty="0" smtClean="0">
                        <a:solidFill>
                          <a:srgbClr val="71AFE8"/>
                        </a:solidFill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endParaRPr sz="2000" b="1" dirty="0">
                  <a:solidFill>
                    <a:srgbClr val="71AFE8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1424F9-72B0-6E80-E96C-963AF1C4B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2697293"/>
                <a:ext cx="3914004" cy="335476"/>
              </a:xfrm>
              <a:prstGeom prst="rect">
                <a:avLst/>
              </a:prstGeom>
              <a:blipFill>
                <a:blip r:embed="rId3"/>
                <a:stretch>
                  <a:fillRect l="-3583" t="-16071" b="-4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AA5CB7C-D44E-2182-97B0-301A65952A75}"/>
              </a:ext>
            </a:extLst>
          </p:cNvPr>
          <p:cNvSpPr txBox="1"/>
          <p:nvPr/>
        </p:nvSpPr>
        <p:spPr>
          <a:xfrm>
            <a:off x="594360" y="3065528"/>
            <a:ext cx="3914004" cy="951030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2000" b="0" dirty="0">
                <a:solidFill>
                  <a:srgbClr val="F5F5F5"/>
                </a:solidFill>
              </a:rPr>
              <a:t>Adjusted treatment-control difference, holding the pre-treatment covariate fixed.</a:t>
            </a: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E2020ED6-A5D8-19CA-A538-66201DADF5D7}"/>
              </a:ext>
            </a:extLst>
          </p:cNvPr>
          <p:cNvSpPr/>
          <p:nvPr/>
        </p:nvSpPr>
        <p:spPr>
          <a:xfrm>
            <a:off x="4709159" y="2571750"/>
            <a:ext cx="4137660" cy="1841165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F0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A08BFF-BC0D-56C8-E82C-AFC96C37DEE5}"/>
              </a:ext>
            </a:extLst>
          </p:cNvPr>
          <p:cNvSpPr txBox="1"/>
          <p:nvPr/>
        </p:nvSpPr>
        <p:spPr>
          <a:xfrm>
            <a:off x="4812030" y="2697293"/>
            <a:ext cx="3914004" cy="335476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2000" b="1">
                <a:solidFill>
                  <a:srgbClr val="F07A75"/>
                </a:solidFill>
              </a:rPr>
              <a:t>Key restriction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E62200-3535-1C55-BBAF-4A0CE600C6EE}"/>
              </a:ext>
            </a:extLst>
          </p:cNvPr>
          <p:cNvSpPr txBox="1"/>
          <p:nvPr/>
        </p:nvSpPr>
        <p:spPr>
          <a:xfrm>
            <a:off x="4812030" y="3065528"/>
            <a:ext cx="3914004" cy="1258806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2000" b="0" dirty="0">
                <a:solidFill>
                  <a:srgbClr val="F5F5F5"/>
                </a:solidFill>
              </a:rPr>
              <a:t>Use baseline/pre-treatment covariates. Do not “adjust” for post-treatment mediators when targeting the total effect.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4F3CD4-EB60-B3CF-32A5-F2C07214C594}"/>
              </a:ext>
            </a:extLst>
          </p:cNvPr>
          <p:cNvSpPr txBox="1"/>
          <p:nvPr/>
        </p:nvSpPr>
        <p:spPr>
          <a:xfrm>
            <a:off x="240029" y="4512564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>
                <a:solidFill>
                  <a:srgbClr val="F5B62D"/>
                </a:solidFill>
              </a:rPr>
              <a:t>This connects directly to the DAG logic from earlier lectures.</a:t>
            </a:r>
          </a:p>
        </p:txBody>
      </p:sp>
    </p:spTree>
    <p:extLst>
      <p:ext uri="{BB962C8B-B14F-4D97-AF65-F5344CB8AC3E}">
        <p14:creationId xmlns:p14="http://schemas.microsoft.com/office/powerpoint/2010/main" val="11146509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488D9-AB1D-F35A-FA40-9A35607F4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C91B36-6832-46D7-1A03-AAE904A7AD2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Adjusted vs Unadjusted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2670F-B93E-A89C-D43E-D612CD4C3CC0}"/>
              </a:ext>
            </a:extLst>
          </p:cNvPr>
          <p:cNvSpPr txBox="1"/>
          <p:nvPr/>
        </p:nvSpPr>
        <p:spPr>
          <a:xfrm>
            <a:off x="525780" y="823722"/>
            <a:ext cx="8092440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0" dirty="0">
                <a:solidFill>
                  <a:srgbClr val="F5F5F5"/>
                </a:solidFill>
              </a:rPr>
              <a:t>Illustrative results from the same randomized trial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4F102B-33F2-EB0D-0CAB-C47574560E01}"/>
              </a:ext>
            </a:extLst>
          </p:cNvPr>
          <p:cNvSpPr/>
          <p:nvPr/>
        </p:nvSpPr>
        <p:spPr>
          <a:xfrm>
            <a:off x="594360" y="1269492"/>
            <a:ext cx="2228850" cy="445770"/>
          </a:xfrm>
          <a:prstGeom prst="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875D1D-ACA9-493E-13FE-6C98533FFA55}"/>
              </a:ext>
            </a:extLst>
          </p:cNvPr>
          <p:cNvSpPr txBox="1"/>
          <p:nvPr/>
        </p:nvSpPr>
        <p:spPr>
          <a:xfrm>
            <a:off x="594360" y="1269492"/>
            <a:ext cx="2228850" cy="44577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614" b="1">
                <a:solidFill>
                  <a:srgbClr val="71AFE8"/>
                </a:solidFill>
              </a:rPr>
              <a:t>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4483A2-1C7B-210F-DE0E-7592DF4B717B}"/>
              </a:ext>
            </a:extLst>
          </p:cNvPr>
          <p:cNvSpPr/>
          <p:nvPr/>
        </p:nvSpPr>
        <p:spPr>
          <a:xfrm>
            <a:off x="2960369" y="1269492"/>
            <a:ext cx="1714500" cy="445770"/>
          </a:xfrm>
          <a:prstGeom prst="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FC2CD6-EA11-C8AC-609D-783538B5A7D3}"/>
              </a:ext>
            </a:extLst>
          </p:cNvPr>
          <p:cNvSpPr txBox="1"/>
          <p:nvPr/>
        </p:nvSpPr>
        <p:spPr>
          <a:xfrm>
            <a:off x="2960369" y="1269492"/>
            <a:ext cx="1714500" cy="44577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614" b="1">
                <a:solidFill>
                  <a:srgbClr val="71AFE8"/>
                </a:solidFill>
              </a:rPr>
              <a:t>Estimate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7F05CC-2ABA-3BB5-DD7E-DB5FD24ED461}"/>
              </a:ext>
            </a:extLst>
          </p:cNvPr>
          <p:cNvSpPr/>
          <p:nvPr/>
        </p:nvSpPr>
        <p:spPr>
          <a:xfrm>
            <a:off x="4880609" y="1269492"/>
            <a:ext cx="1714500" cy="445770"/>
          </a:xfrm>
          <a:prstGeom prst="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E38788-5CDC-50C9-6433-E12AF25EBA4E}"/>
              </a:ext>
            </a:extLst>
          </p:cNvPr>
          <p:cNvSpPr txBox="1"/>
          <p:nvPr/>
        </p:nvSpPr>
        <p:spPr>
          <a:xfrm>
            <a:off x="4880609" y="1269492"/>
            <a:ext cx="1714500" cy="44577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614" b="1">
                <a:solidFill>
                  <a:srgbClr val="71AFE8"/>
                </a:solidFill>
              </a:rPr>
              <a:t>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23657D-B47A-C21F-D397-B89C4E4CC697}"/>
              </a:ext>
            </a:extLst>
          </p:cNvPr>
          <p:cNvSpPr/>
          <p:nvPr/>
        </p:nvSpPr>
        <p:spPr>
          <a:xfrm>
            <a:off x="6732270" y="1269492"/>
            <a:ext cx="1714500" cy="445770"/>
          </a:xfrm>
          <a:prstGeom prst="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FB516C-FC6A-9774-FA92-766089CAA8C2}"/>
              </a:ext>
            </a:extLst>
          </p:cNvPr>
          <p:cNvSpPr txBox="1"/>
          <p:nvPr/>
        </p:nvSpPr>
        <p:spPr>
          <a:xfrm>
            <a:off x="6732270" y="1269492"/>
            <a:ext cx="1714500" cy="44577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614" b="1">
                <a:solidFill>
                  <a:srgbClr val="71AFE8"/>
                </a:solidFill>
              </a:rPr>
              <a:t>95% CI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080DFE-9A60-204B-CBCD-064359D1092E}"/>
              </a:ext>
            </a:extLst>
          </p:cNvPr>
          <p:cNvSpPr/>
          <p:nvPr/>
        </p:nvSpPr>
        <p:spPr>
          <a:xfrm>
            <a:off x="594360" y="1818132"/>
            <a:ext cx="2228850" cy="582930"/>
          </a:xfrm>
          <a:prstGeom prst="rect">
            <a:avLst/>
          </a:prstGeom>
          <a:solidFill>
            <a:srgbClr val="2C2C2C"/>
          </a:solidFill>
          <a:ln w="15240">
            <a:solidFill>
              <a:srgbClr val="B8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F0742E-4C73-B17A-E03D-7A0120BF4E1E}"/>
              </a:ext>
            </a:extLst>
          </p:cNvPr>
          <p:cNvSpPr txBox="1"/>
          <p:nvPr/>
        </p:nvSpPr>
        <p:spPr>
          <a:xfrm>
            <a:off x="594360" y="1818132"/>
            <a:ext cx="2228850" cy="58293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530" b="0">
                <a:solidFill>
                  <a:srgbClr val="F5F5F5"/>
                </a:solidFill>
              </a:rPr>
              <a:t>Unadjusted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3B3306-B09E-D0EA-B463-9F7AC469BC72}"/>
              </a:ext>
            </a:extLst>
          </p:cNvPr>
          <p:cNvSpPr/>
          <p:nvPr/>
        </p:nvSpPr>
        <p:spPr>
          <a:xfrm>
            <a:off x="2960369" y="1818132"/>
            <a:ext cx="1714500" cy="582930"/>
          </a:xfrm>
          <a:prstGeom prst="rect">
            <a:avLst/>
          </a:prstGeom>
          <a:solidFill>
            <a:srgbClr val="2C2C2C"/>
          </a:solidFill>
          <a:ln w="15240">
            <a:solidFill>
              <a:srgbClr val="B8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163AA8-DC1A-6E48-00C8-8EEA0B73BAAB}"/>
              </a:ext>
            </a:extLst>
          </p:cNvPr>
          <p:cNvSpPr txBox="1"/>
          <p:nvPr/>
        </p:nvSpPr>
        <p:spPr>
          <a:xfrm>
            <a:off x="2960369" y="1818132"/>
            <a:ext cx="1714500" cy="58293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530" b="0" dirty="0">
                <a:solidFill>
                  <a:srgbClr val="F5F5F5"/>
                </a:solidFill>
              </a:rPr>
              <a:t>−5.3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F13CDC-E8CF-21FC-7D35-7726F8D83100}"/>
              </a:ext>
            </a:extLst>
          </p:cNvPr>
          <p:cNvSpPr/>
          <p:nvPr/>
        </p:nvSpPr>
        <p:spPr>
          <a:xfrm>
            <a:off x="4880609" y="1818132"/>
            <a:ext cx="1714500" cy="582930"/>
          </a:xfrm>
          <a:prstGeom prst="rect">
            <a:avLst/>
          </a:prstGeom>
          <a:solidFill>
            <a:srgbClr val="2C2C2C"/>
          </a:solidFill>
          <a:ln w="15240">
            <a:solidFill>
              <a:srgbClr val="B8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FC22B2-D683-026D-561A-90306A3566C6}"/>
              </a:ext>
            </a:extLst>
          </p:cNvPr>
          <p:cNvSpPr txBox="1"/>
          <p:nvPr/>
        </p:nvSpPr>
        <p:spPr>
          <a:xfrm>
            <a:off x="4880609" y="1818132"/>
            <a:ext cx="1714500" cy="58293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530" b="0">
                <a:solidFill>
                  <a:srgbClr val="F5F5F5"/>
                </a:solidFill>
              </a:rPr>
              <a:t>2.1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CF266C-9C92-5CB2-2981-6AF6497FE069}"/>
              </a:ext>
            </a:extLst>
          </p:cNvPr>
          <p:cNvSpPr/>
          <p:nvPr/>
        </p:nvSpPr>
        <p:spPr>
          <a:xfrm>
            <a:off x="6732270" y="1818132"/>
            <a:ext cx="1714500" cy="582930"/>
          </a:xfrm>
          <a:prstGeom prst="rect">
            <a:avLst/>
          </a:prstGeom>
          <a:solidFill>
            <a:srgbClr val="2C2C2C"/>
          </a:solidFill>
          <a:ln w="15240">
            <a:solidFill>
              <a:srgbClr val="B8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6181675-C117-4E07-7040-0E7EEBF7A0C9}"/>
              </a:ext>
            </a:extLst>
          </p:cNvPr>
          <p:cNvSpPr txBox="1"/>
          <p:nvPr/>
        </p:nvSpPr>
        <p:spPr>
          <a:xfrm>
            <a:off x="6732270" y="1818132"/>
            <a:ext cx="1714500" cy="58293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530" b="0">
                <a:solidFill>
                  <a:srgbClr val="F5F5F5"/>
                </a:solidFill>
              </a:rPr>
              <a:t>(−9.4, −1.2)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0EBD97A-126B-2C4C-84D9-1D9CA1A145D1}"/>
              </a:ext>
            </a:extLst>
          </p:cNvPr>
          <p:cNvSpPr/>
          <p:nvPr/>
        </p:nvSpPr>
        <p:spPr>
          <a:xfrm>
            <a:off x="594360" y="2538222"/>
            <a:ext cx="2228850" cy="582930"/>
          </a:xfrm>
          <a:prstGeom prst="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9128B4-FA55-DEFE-78DA-F8BB0933ACA1}"/>
              </a:ext>
            </a:extLst>
          </p:cNvPr>
          <p:cNvSpPr txBox="1"/>
          <p:nvPr/>
        </p:nvSpPr>
        <p:spPr>
          <a:xfrm>
            <a:off x="594360" y="2538222"/>
            <a:ext cx="2228850" cy="58293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530" b="0">
                <a:solidFill>
                  <a:srgbClr val="F5F5F5"/>
                </a:solidFill>
              </a:rPr>
              <a:t>Adjusted for baseline SBP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2840AC2-D365-B7B1-F68B-DB07B118FD29}"/>
              </a:ext>
            </a:extLst>
          </p:cNvPr>
          <p:cNvSpPr/>
          <p:nvPr/>
        </p:nvSpPr>
        <p:spPr>
          <a:xfrm>
            <a:off x="2960369" y="2538222"/>
            <a:ext cx="1714500" cy="582930"/>
          </a:xfrm>
          <a:prstGeom prst="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A1C1E2-54D5-278C-088D-41749C3ADD9E}"/>
              </a:ext>
            </a:extLst>
          </p:cNvPr>
          <p:cNvSpPr txBox="1"/>
          <p:nvPr/>
        </p:nvSpPr>
        <p:spPr>
          <a:xfrm>
            <a:off x="2960369" y="2538222"/>
            <a:ext cx="1714500" cy="58293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530" b="0">
                <a:solidFill>
                  <a:srgbClr val="F5F5F5"/>
                </a:solidFill>
              </a:rPr>
              <a:t>−5.1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DE9CFD8-40E4-5524-E3BA-239B6D5A20AA}"/>
              </a:ext>
            </a:extLst>
          </p:cNvPr>
          <p:cNvSpPr/>
          <p:nvPr/>
        </p:nvSpPr>
        <p:spPr>
          <a:xfrm>
            <a:off x="4880609" y="2538222"/>
            <a:ext cx="1714500" cy="582930"/>
          </a:xfrm>
          <a:prstGeom prst="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1CAF97A-3BE6-31B5-BA5C-24C5E9090B94}"/>
              </a:ext>
            </a:extLst>
          </p:cNvPr>
          <p:cNvSpPr txBox="1"/>
          <p:nvPr/>
        </p:nvSpPr>
        <p:spPr>
          <a:xfrm>
            <a:off x="4880609" y="2538222"/>
            <a:ext cx="1714500" cy="58293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530" b="0">
                <a:solidFill>
                  <a:srgbClr val="F5F5F5"/>
                </a:solidFill>
              </a:rPr>
              <a:t>1.6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184287F-4997-2C44-BE2D-99EC9BC0602F}"/>
              </a:ext>
            </a:extLst>
          </p:cNvPr>
          <p:cNvSpPr/>
          <p:nvPr/>
        </p:nvSpPr>
        <p:spPr>
          <a:xfrm>
            <a:off x="6732270" y="2538222"/>
            <a:ext cx="1714500" cy="582930"/>
          </a:xfrm>
          <a:prstGeom prst="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07169C-91DE-4319-FD57-F7E62A7C5699}"/>
              </a:ext>
            </a:extLst>
          </p:cNvPr>
          <p:cNvSpPr txBox="1"/>
          <p:nvPr/>
        </p:nvSpPr>
        <p:spPr>
          <a:xfrm>
            <a:off x="6732270" y="2538222"/>
            <a:ext cx="1714500" cy="58293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530" b="0">
                <a:solidFill>
                  <a:srgbClr val="F5F5F5"/>
                </a:solidFill>
              </a:rPr>
              <a:t>(−8.2, −2.0)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587574-A103-64C8-B69D-C5136E7A1B9F}"/>
              </a:ext>
            </a:extLst>
          </p:cNvPr>
          <p:cNvSpPr txBox="1"/>
          <p:nvPr/>
        </p:nvSpPr>
        <p:spPr>
          <a:xfrm>
            <a:off x="697230" y="3464052"/>
            <a:ext cx="7680959" cy="58293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870" b="0">
                <a:solidFill>
                  <a:srgbClr val="F5F5F5"/>
                </a:solidFill>
              </a:rPr>
              <a:t>The point estimate barely changes, but the adjusted analysis is more precise because baseline SBP explains outcome variation.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B771F5-C1E1-58D0-6447-30DFF28404DA}"/>
              </a:ext>
            </a:extLst>
          </p:cNvPr>
          <p:cNvSpPr txBox="1"/>
          <p:nvPr/>
        </p:nvSpPr>
        <p:spPr>
          <a:xfrm>
            <a:off x="240029" y="4512564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 dirty="0">
                <a:solidFill>
                  <a:srgbClr val="F5B62D"/>
                </a:solidFill>
              </a:rPr>
              <a:t>Do not choose adjustment variables because they “look imbalanced”; pre-specify important prognostic covariates.</a:t>
            </a:r>
          </a:p>
        </p:txBody>
      </p:sp>
    </p:spTree>
    <p:extLst>
      <p:ext uri="{BB962C8B-B14F-4D97-AF65-F5344CB8AC3E}">
        <p14:creationId xmlns:p14="http://schemas.microsoft.com/office/powerpoint/2010/main" val="36644073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A7EC8-EECD-1C99-17BC-F055F9496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EC9FEE-B1EA-01D1-20BE-7835749E388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Binary Outcomes: Risk in Each Arm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0674A-6252-495C-9FED-A0296C138AE7}"/>
              </a:ext>
            </a:extLst>
          </p:cNvPr>
          <p:cNvSpPr txBox="1"/>
          <p:nvPr/>
        </p:nvSpPr>
        <p:spPr>
          <a:xfrm>
            <a:off x="320040" y="1083118"/>
            <a:ext cx="8161020" cy="3429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870" b="0" dirty="0">
                <a:solidFill>
                  <a:srgbClr val="F5F5F5"/>
                </a:solidFill>
              </a:rPr>
              <a:t>Suppose the outcome is hospitalization by 30 days.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2FFE6FEA-088B-BC3B-0672-498485FB78F4}"/>
              </a:ext>
            </a:extLst>
          </p:cNvPr>
          <p:cNvSpPr/>
          <p:nvPr/>
        </p:nvSpPr>
        <p:spPr>
          <a:xfrm>
            <a:off x="662940" y="1677372"/>
            <a:ext cx="3291839" cy="161163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0C0B9C-FCE8-1DC1-7DB4-C90927AF246A}"/>
              </a:ext>
            </a:extLst>
          </p:cNvPr>
          <p:cNvSpPr txBox="1"/>
          <p:nvPr/>
        </p:nvSpPr>
        <p:spPr>
          <a:xfrm>
            <a:off x="765809" y="1773384"/>
            <a:ext cx="3086100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>
                <a:solidFill>
                  <a:srgbClr val="71AFE8"/>
                </a:solidFill>
              </a:rPr>
              <a:t>Treatment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A93AAC-3DB2-7706-51FD-10186B763D62}"/>
              </a:ext>
            </a:extLst>
          </p:cNvPr>
          <p:cNvSpPr txBox="1"/>
          <p:nvPr/>
        </p:nvSpPr>
        <p:spPr>
          <a:xfrm>
            <a:off x="765809" y="2171148"/>
            <a:ext cx="3086100" cy="1028700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2125" b="0">
                <a:solidFill>
                  <a:srgbClr val="F5F5F5"/>
                </a:solidFill>
              </a:rPr>
              <a:t>12 hospitalizations / 100
Risk = 0.12 = 12%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6DF04DB2-B345-99DA-7EED-6F45D1407959}"/>
              </a:ext>
            </a:extLst>
          </p:cNvPr>
          <p:cNvSpPr/>
          <p:nvPr/>
        </p:nvSpPr>
        <p:spPr>
          <a:xfrm>
            <a:off x="4777740" y="1677372"/>
            <a:ext cx="3291839" cy="161163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01BE04-5A59-9E1F-D234-04AA5A8219D4}"/>
              </a:ext>
            </a:extLst>
          </p:cNvPr>
          <p:cNvSpPr txBox="1"/>
          <p:nvPr/>
        </p:nvSpPr>
        <p:spPr>
          <a:xfrm>
            <a:off x="4880610" y="1773384"/>
            <a:ext cx="3086100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>
                <a:solidFill>
                  <a:srgbClr val="7CCB91"/>
                </a:solidFill>
              </a:rPr>
              <a:t>Control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7B7791-D7E0-8334-62EF-2A17CA157A45}"/>
              </a:ext>
            </a:extLst>
          </p:cNvPr>
          <p:cNvSpPr txBox="1"/>
          <p:nvPr/>
        </p:nvSpPr>
        <p:spPr>
          <a:xfrm>
            <a:off x="4880610" y="2171148"/>
            <a:ext cx="3086100" cy="1028700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2125" b="0">
                <a:solidFill>
                  <a:srgbClr val="F5F5F5"/>
                </a:solidFill>
              </a:rPr>
              <a:t>20 hospitalizations / 100
Risk = 0.20 = 20%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FF53DE-9FE6-A8E0-B3B0-1BC09F4EE9C2}"/>
              </a:ext>
            </a:extLst>
          </p:cNvPr>
          <p:cNvSpPr txBox="1"/>
          <p:nvPr/>
        </p:nvSpPr>
        <p:spPr>
          <a:xfrm>
            <a:off x="-16099" y="3798901"/>
            <a:ext cx="9176197" cy="328551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955" b="1" dirty="0">
                <a:solidFill>
                  <a:srgbClr val="F5B62D"/>
                </a:solidFill>
              </a:rPr>
              <a:t>The two most intuitive causal contrasts are the risk difference and risk ratio.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134F29-DDE3-EDC3-66D8-97BD44E4210D}"/>
              </a:ext>
            </a:extLst>
          </p:cNvPr>
          <p:cNvSpPr txBox="1"/>
          <p:nvPr/>
        </p:nvSpPr>
        <p:spPr>
          <a:xfrm>
            <a:off x="233184" y="4486220"/>
            <a:ext cx="8677631" cy="302262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 dirty="0">
                <a:solidFill>
                  <a:srgbClr val="F5B62D"/>
                </a:solidFill>
              </a:rPr>
              <a:t>For binary outcomes, start by estimating the event risk in each randomized arm.</a:t>
            </a:r>
          </a:p>
        </p:txBody>
      </p:sp>
    </p:spTree>
    <p:extLst>
      <p:ext uri="{BB962C8B-B14F-4D97-AF65-F5344CB8AC3E}">
        <p14:creationId xmlns:p14="http://schemas.microsoft.com/office/powerpoint/2010/main" val="30955109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81BF1-33D4-7D73-E892-907EAE311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57F7F7-17F5-C56F-7DE5-D23AB089FD1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Risk Difference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B5975B-05CA-1520-6BA5-241B21FF3F71}"/>
              </a:ext>
            </a:extLst>
          </p:cNvPr>
          <p:cNvSpPr txBox="1"/>
          <p:nvPr/>
        </p:nvSpPr>
        <p:spPr>
          <a:xfrm>
            <a:off x="497204" y="1181127"/>
            <a:ext cx="8092440" cy="51435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2635" b="1">
                <a:solidFill>
                  <a:srgbClr val="F4F1EA"/>
                </a:solidFill>
                <a:latin typeface="Cambria Math"/>
              </a:rPr>
              <a:t>RD = Risk₁ − Risk₀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07C2DB-16AE-F9EA-2BA4-A126F05488D6}"/>
                  </a:ext>
                </a:extLst>
              </p:cNvPr>
              <p:cNvSpPr txBox="1"/>
              <p:nvPr/>
            </p:nvSpPr>
            <p:spPr>
              <a:xfrm>
                <a:off x="497204" y="1873214"/>
                <a:ext cx="8092440" cy="433196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 = −</m:t>
                      </m:r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635" b="1" i="1" dirty="0" smtClean="0">
                          <a:solidFill>
                            <a:srgbClr val="F5B62D"/>
                          </a:solidFill>
                          <a:latin typeface="Cambria Math" panose="02040503050406030204" pitchFamily="18" charset="0"/>
                        </a:rPr>
                        <m:t>𝟎𝟖</m:t>
                      </m:r>
                    </m:oMath>
                  </m:oMathPara>
                </a14:m>
                <a:endParaRPr sz="2635" b="1" dirty="0">
                  <a:solidFill>
                    <a:srgbClr val="F5B62D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07C2DB-16AE-F9EA-2BA4-A126F0548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04" y="1873214"/>
                <a:ext cx="8092440" cy="4331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0E01DA3-C87E-29C6-85E2-C14B38CCAAB0}"/>
              </a:ext>
            </a:extLst>
          </p:cNvPr>
          <p:cNvSpPr txBox="1"/>
          <p:nvPr/>
        </p:nvSpPr>
        <p:spPr>
          <a:xfrm>
            <a:off x="319689" y="2514833"/>
            <a:ext cx="8401050" cy="629403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955" b="0" dirty="0">
                <a:solidFill>
                  <a:srgbClr val="F5F5F5"/>
                </a:solidFill>
              </a:rPr>
              <a:t>Interpretation: treatment reduced the 30-day hospitalization risk by 8 percentage points in this trial.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72B77B33-FA5A-686C-7101-016F16C5060D}"/>
              </a:ext>
            </a:extLst>
          </p:cNvPr>
          <p:cNvSpPr/>
          <p:nvPr/>
        </p:nvSpPr>
        <p:spPr>
          <a:xfrm>
            <a:off x="319689" y="3375713"/>
            <a:ext cx="8538693" cy="1080378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2126B5-BCA5-E6DF-C57E-87AAB1418541}"/>
              </a:ext>
            </a:extLst>
          </p:cNvPr>
          <p:cNvSpPr txBox="1"/>
          <p:nvPr/>
        </p:nvSpPr>
        <p:spPr>
          <a:xfrm>
            <a:off x="480675" y="3491025"/>
            <a:ext cx="6103619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 dirty="0">
                <a:solidFill>
                  <a:srgbClr val="71AFE8"/>
                </a:solidFill>
              </a:rPr>
              <a:t>Absolute effect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992CDE-797A-15FC-D919-CABAB50D9ABD}"/>
              </a:ext>
            </a:extLst>
          </p:cNvPr>
          <p:cNvSpPr txBox="1"/>
          <p:nvPr/>
        </p:nvSpPr>
        <p:spPr>
          <a:xfrm>
            <a:off x="480675" y="3869488"/>
            <a:ext cx="8377707" cy="289310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700" b="0" dirty="0">
                <a:solidFill>
                  <a:srgbClr val="F5F5F5"/>
                </a:solidFill>
              </a:rPr>
              <a:t>Risk difference is on the probability scale and often easiest to communicate clinically.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E89E66-DEAB-0F8B-62E8-A694192B5436}"/>
              </a:ext>
            </a:extLst>
          </p:cNvPr>
          <p:cNvSpPr txBox="1"/>
          <p:nvPr/>
        </p:nvSpPr>
        <p:spPr>
          <a:xfrm>
            <a:off x="240029" y="4512564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 dirty="0">
                <a:solidFill>
                  <a:srgbClr val="F5B62D"/>
                </a:solidFill>
              </a:rPr>
              <a:t>−0.08 means 8 fewer events per 100 treated participants, on average.</a:t>
            </a:r>
          </a:p>
        </p:txBody>
      </p:sp>
    </p:spTree>
    <p:extLst>
      <p:ext uri="{BB962C8B-B14F-4D97-AF65-F5344CB8AC3E}">
        <p14:creationId xmlns:p14="http://schemas.microsoft.com/office/powerpoint/2010/main" val="24402990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FE84-D348-3698-B85C-B2BF07E7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9BCD2D-DAA5-47D6-09BF-2FBA3D6CC9A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Risk Ratio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796908-BB04-2891-0CD9-9296F195595E}"/>
              </a:ext>
            </a:extLst>
          </p:cNvPr>
          <p:cNvSpPr txBox="1"/>
          <p:nvPr/>
        </p:nvSpPr>
        <p:spPr>
          <a:xfrm>
            <a:off x="467565" y="1061086"/>
            <a:ext cx="8092440" cy="51435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2635" b="1" dirty="0">
                <a:solidFill>
                  <a:srgbClr val="F4F1EA"/>
                </a:solidFill>
                <a:latin typeface="Cambria Math"/>
              </a:rPr>
              <a:t>RR = Risk₁ / Risk₀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02D640-3EB5-38D3-4A1D-2E5BC7484BBF}"/>
              </a:ext>
            </a:extLst>
          </p:cNvPr>
          <p:cNvSpPr txBox="1"/>
          <p:nvPr/>
        </p:nvSpPr>
        <p:spPr>
          <a:xfrm>
            <a:off x="441422" y="1691171"/>
            <a:ext cx="8092440" cy="51435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2635" b="1" dirty="0">
                <a:solidFill>
                  <a:srgbClr val="F5B62D"/>
                </a:solidFill>
                <a:latin typeface="Cambria Math"/>
              </a:rPr>
              <a:t>= 0.12 / 0.20 = 0.60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DABAE8-2041-A5E0-03FE-5CBA7B3493DA}"/>
              </a:ext>
            </a:extLst>
          </p:cNvPr>
          <p:cNvSpPr txBox="1"/>
          <p:nvPr/>
        </p:nvSpPr>
        <p:spPr>
          <a:xfrm>
            <a:off x="647162" y="2391798"/>
            <a:ext cx="7680959" cy="6858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955" b="0" dirty="0">
                <a:solidFill>
                  <a:srgbClr val="F5F5F5"/>
                </a:solidFill>
              </a:rPr>
              <a:t>Interpretation: the hospitalization risk under treatment was 60% of the risk under control.</a:t>
            </a: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F7FD1B7C-C2F1-E5B1-8915-65AB4D39974D}"/>
              </a:ext>
            </a:extLst>
          </p:cNvPr>
          <p:cNvSpPr/>
          <p:nvPr/>
        </p:nvSpPr>
        <p:spPr>
          <a:xfrm>
            <a:off x="169188" y="3281374"/>
            <a:ext cx="8820266" cy="1097443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D6F2EE-2C9C-E753-AA2B-E16FF0D53DA3}"/>
              </a:ext>
            </a:extLst>
          </p:cNvPr>
          <p:cNvSpPr txBox="1"/>
          <p:nvPr/>
        </p:nvSpPr>
        <p:spPr>
          <a:xfrm>
            <a:off x="368022" y="3467651"/>
            <a:ext cx="6103619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 dirty="0">
                <a:solidFill>
                  <a:srgbClr val="7CCB91"/>
                </a:solidFill>
              </a:rPr>
              <a:t>Relative effect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0924E7-F822-0918-12E2-57897F0772CC}"/>
              </a:ext>
            </a:extLst>
          </p:cNvPr>
          <p:cNvSpPr txBox="1"/>
          <p:nvPr/>
        </p:nvSpPr>
        <p:spPr>
          <a:xfrm>
            <a:off x="368022" y="3932884"/>
            <a:ext cx="8606790" cy="289310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700" b="0" dirty="0">
                <a:solidFill>
                  <a:srgbClr val="F5F5F5"/>
                </a:solidFill>
              </a:rPr>
              <a:t>Equivalently, this example corresponds to a 40% relative risk reduction: 1 − 0.60 = 0.40.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E346FA-E749-7160-8A56-FB08E7BF159D}"/>
              </a:ext>
            </a:extLst>
          </p:cNvPr>
          <p:cNvSpPr txBox="1"/>
          <p:nvPr/>
        </p:nvSpPr>
        <p:spPr>
          <a:xfrm>
            <a:off x="251592" y="4535440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 dirty="0">
                <a:solidFill>
                  <a:srgbClr val="F5B62D"/>
                </a:solidFill>
              </a:rPr>
              <a:t>Absolute and relative effects answer different communication questions; report the one tied to your estimand.</a:t>
            </a:r>
          </a:p>
        </p:txBody>
      </p:sp>
    </p:spTree>
    <p:extLst>
      <p:ext uri="{BB962C8B-B14F-4D97-AF65-F5344CB8AC3E}">
        <p14:creationId xmlns:p14="http://schemas.microsoft.com/office/powerpoint/2010/main" val="151101989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1BD38-39A9-B18C-4C18-23CF8EDF8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473157-C3E3-B52B-8203-B3D319EEF00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Risk Ratio</a:t>
            </a: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89CB2E77-893C-618E-AEFB-CF53C192287B}"/>
              </a:ext>
            </a:extLst>
          </p:cNvPr>
          <p:cNvSpPr/>
          <p:nvPr/>
        </p:nvSpPr>
        <p:spPr>
          <a:xfrm>
            <a:off x="538014" y="978027"/>
            <a:ext cx="3909060" cy="3223260"/>
          </a:xfrm>
          <a:prstGeom prst="roundRect">
            <a:avLst/>
          </a:prstGeom>
          <a:solidFill>
            <a:srgbClr val="202020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9A620-E8BB-EF28-3E62-4D270BEDB519}"/>
              </a:ext>
            </a:extLst>
          </p:cNvPr>
          <p:cNvSpPr txBox="1"/>
          <p:nvPr/>
        </p:nvSpPr>
        <p:spPr>
          <a:xfrm>
            <a:off x="650705" y="1382649"/>
            <a:ext cx="3703320" cy="3058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445" b="0" dirty="0">
                <a:solidFill>
                  <a:srgbClr val="F5F5F5"/>
                </a:solidFill>
                <a:latin typeface="Consolas"/>
              </a:rPr>
              <a:t># Risks by arm</a:t>
            </a:r>
          </a:p>
          <a:p>
            <a:pPr>
              <a:spcAft>
                <a:spcPts val="100"/>
              </a:spcAft>
            </a:pPr>
            <a:r>
              <a:rPr sz="1445" b="0" dirty="0">
                <a:solidFill>
                  <a:srgbClr val="F5F5F5"/>
                </a:solidFill>
                <a:latin typeface="Consolas"/>
              </a:rPr>
              <a:t>risk1 &lt;- mean(dat$Y[dat$T == 1])</a:t>
            </a:r>
          </a:p>
          <a:p>
            <a:pPr>
              <a:spcAft>
                <a:spcPts val="100"/>
              </a:spcAft>
            </a:pPr>
            <a:r>
              <a:rPr sz="1445" b="0" dirty="0">
                <a:solidFill>
                  <a:srgbClr val="F5F5F5"/>
                </a:solidFill>
                <a:latin typeface="Consolas"/>
              </a:rPr>
              <a:t>risk0 &lt;- mean(dat$Y[dat$T == 0])</a:t>
            </a:r>
          </a:p>
          <a:p>
            <a:pPr>
              <a:spcAft>
                <a:spcPts val="100"/>
              </a:spcAft>
            </a:pPr>
            <a:endParaRPr sz="1445" b="0" dirty="0">
              <a:solidFill>
                <a:srgbClr val="F5F5F5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445" b="0" dirty="0">
                <a:solidFill>
                  <a:srgbClr val="F5F5F5"/>
                </a:solidFill>
                <a:latin typeface="Consolas"/>
              </a:rPr>
              <a:t># Risk difference</a:t>
            </a:r>
          </a:p>
          <a:p>
            <a:pPr>
              <a:spcAft>
                <a:spcPts val="100"/>
              </a:spcAft>
            </a:pPr>
            <a:r>
              <a:rPr sz="1445" b="0" dirty="0">
                <a:solidFill>
                  <a:srgbClr val="F5F5F5"/>
                </a:solidFill>
                <a:latin typeface="Consolas"/>
              </a:rPr>
              <a:t>RD &lt;- risk1 - risk0</a:t>
            </a:r>
          </a:p>
          <a:p>
            <a:pPr>
              <a:spcAft>
                <a:spcPts val="100"/>
              </a:spcAft>
            </a:pPr>
            <a:endParaRPr sz="1445" b="0" dirty="0">
              <a:solidFill>
                <a:srgbClr val="F5F5F5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445" b="0" dirty="0">
                <a:solidFill>
                  <a:srgbClr val="F5F5F5"/>
                </a:solidFill>
                <a:latin typeface="Consolas"/>
              </a:rPr>
              <a:t># Risk ratio</a:t>
            </a:r>
          </a:p>
          <a:p>
            <a:pPr>
              <a:spcAft>
                <a:spcPts val="100"/>
              </a:spcAft>
            </a:pPr>
            <a:r>
              <a:rPr sz="1445" b="0" dirty="0">
                <a:solidFill>
                  <a:srgbClr val="F5F5F5"/>
                </a:solidFill>
                <a:latin typeface="Consolas"/>
              </a:rPr>
              <a:t>RR &lt;- risk1 / risk0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11BF09F9-5C69-018D-2230-DF9F643153EF}"/>
              </a:ext>
            </a:extLst>
          </p:cNvPr>
          <p:cNvSpPr/>
          <p:nvPr/>
        </p:nvSpPr>
        <p:spPr>
          <a:xfrm>
            <a:off x="4721395" y="978027"/>
            <a:ext cx="3771900" cy="3223260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A6DB06-FED7-4E18-9246-5A60239BF3DF}"/>
              </a:ext>
            </a:extLst>
          </p:cNvPr>
          <p:cNvSpPr txBox="1"/>
          <p:nvPr/>
        </p:nvSpPr>
        <p:spPr>
          <a:xfrm>
            <a:off x="5201456" y="1074039"/>
            <a:ext cx="3566160" cy="3086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l"/>
            <a:r>
              <a:rPr sz="1614" b="1" dirty="0">
                <a:solidFill>
                  <a:srgbClr val="71AFE8"/>
                </a:solidFill>
              </a:rPr>
              <a:t>Interpret first, model second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EBCA93-4E45-AF95-C4F1-0A262F855CC8}"/>
              </a:ext>
            </a:extLst>
          </p:cNvPr>
          <p:cNvSpPr txBox="1"/>
          <p:nvPr/>
        </p:nvSpPr>
        <p:spPr>
          <a:xfrm>
            <a:off x="4824265" y="1660172"/>
            <a:ext cx="3566160" cy="1858970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700" b="0" dirty="0">
                <a:solidFill>
                  <a:srgbClr val="F5F5F5"/>
                </a:solidFill>
              </a:rPr>
              <a:t>When Y is coded 0/1, the sample mean in each arm is the estimated risk.
So</a:t>
            </a:r>
            <a:r>
              <a:rPr lang="en-US" sz="1700" b="0" dirty="0">
                <a:solidFill>
                  <a:srgbClr val="F5F5F5"/>
                </a:solidFill>
              </a:rPr>
              <a:t>,</a:t>
            </a:r>
            <a:r>
              <a:rPr sz="1700" b="0" dirty="0">
                <a:solidFill>
                  <a:srgbClr val="F5F5F5"/>
                </a:solidFill>
              </a:rPr>
              <a:t> RD and RR can be computed directly before introducing logistic regression or odds ratios.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626905-016A-8C82-94D9-8414A235B8E3}"/>
              </a:ext>
            </a:extLst>
          </p:cNvPr>
          <p:cNvSpPr txBox="1"/>
          <p:nvPr/>
        </p:nvSpPr>
        <p:spPr>
          <a:xfrm>
            <a:off x="240029" y="4512564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>
                <a:solidFill>
                  <a:srgbClr val="F5B62D"/>
                </a:solidFill>
              </a:rPr>
              <a:t>Keep the estimand visible: risk difference and risk ratio are not the same causal measure.</a:t>
            </a:r>
          </a:p>
        </p:txBody>
      </p:sp>
    </p:spTree>
    <p:extLst>
      <p:ext uri="{BB962C8B-B14F-4D97-AF65-F5344CB8AC3E}">
        <p14:creationId xmlns:p14="http://schemas.microsoft.com/office/powerpoint/2010/main" val="34664747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49DA8-8F2A-50A2-C3E5-B22D25660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563359-4435-60EE-8C7A-B3C02609090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+mn-lt"/>
              </a:rPr>
              <a:t>Summary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0747B5DF-147F-CB01-0EAE-BCC411B4D53E}"/>
              </a:ext>
            </a:extLst>
          </p:cNvPr>
          <p:cNvSpPr/>
          <p:nvPr/>
        </p:nvSpPr>
        <p:spPr>
          <a:xfrm>
            <a:off x="114433" y="1368646"/>
            <a:ext cx="1474469" cy="994409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E47555-ABC3-30B4-1BF7-989035BD3AF0}"/>
              </a:ext>
            </a:extLst>
          </p:cNvPr>
          <p:cNvSpPr txBox="1"/>
          <p:nvPr/>
        </p:nvSpPr>
        <p:spPr>
          <a:xfrm>
            <a:off x="114433" y="1368646"/>
            <a:ext cx="1474469" cy="994409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00" b="1">
                <a:solidFill>
                  <a:srgbClr val="71AFE8"/>
                </a:solidFill>
              </a:rPr>
              <a:t>Causal
question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DA7F1610-F7F7-5E8A-C79A-CF3607CA4834}"/>
              </a:ext>
            </a:extLst>
          </p:cNvPr>
          <p:cNvSpPr/>
          <p:nvPr/>
        </p:nvSpPr>
        <p:spPr>
          <a:xfrm>
            <a:off x="1897511" y="1368646"/>
            <a:ext cx="1714501" cy="994409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CFEBC9-A9A2-9CFE-7585-20139939DF4C}"/>
              </a:ext>
            </a:extLst>
          </p:cNvPr>
          <p:cNvSpPr txBox="1"/>
          <p:nvPr/>
        </p:nvSpPr>
        <p:spPr>
          <a:xfrm>
            <a:off x="1964029" y="1590390"/>
            <a:ext cx="1647984" cy="55092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00" b="1" dirty="0">
                <a:solidFill>
                  <a:srgbClr val="7CCB91"/>
                </a:solidFill>
              </a:rPr>
              <a:t>Design /
randomization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A2DE5009-7D9D-6593-E259-748B0B319AA1}"/>
              </a:ext>
            </a:extLst>
          </p:cNvPr>
          <p:cNvSpPr/>
          <p:nvPr/>
        </p:nvSpPr>
        <p:spPr>
          <a:xfrm>
            <a:off x="3886332" y="1368646"/>
            <a:ext cx="1474469" cy="994409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F5B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6167B0-0FE1-D9B7-B118-6F6B35C26C49}"/>
              </a:ext>
            </a:extLst>
          </p:cNvPr>
          <p:cNvSpPr txBox="1"/>
          <p:nvPr/>
        </p:nvSpPr>
        <p:spPr>
          <a:xfrm>
            <a:off x="3886332" y="1721195"/>
            <a:ext cx="1508760" cy="28931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00" b="1">
                <a:solidFill>
                  <a:srgbClr val="F5B62D"/>
                </a:solidFill>
              </a:rPr>
              <a:t>Identification</a:t>
            </a: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90F5F8A2-168A-18C8-ED9E-4C3A9D3C6771}"/>
              </a:ext>
            </a:extLst>
          </p:cNvPr>
          <p:cNvSpPr/>
          <p:nvPr/>
        </p:nvSpPr>
        <p:spPr>
          <a:xfrm>
            <a:off x="5635122" y="1368646"/>
            <a:ext cx="1474469" cy="994409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1A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C96689-06B5-9832-79E4-C9E10D76B087}"/>
              </a:ext>
            </a:extLst>
          </p:cNvPr>
          <p:cNvSpPr txBox="1"/>
          <p:nvPr/>
        </p:nvSpPr>
        <p:spPr>
          <a:xfrm>
            <a:off x="5635122" y="1368646"/>
            <a:ext cx="1474469" cy="994409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00" b="1">
                <a:solidFill>
                  <a:srgbClr val="71AFE8"/>
                </a:solidFill>
              </a:rPr>
              <a:t>Estimator</a:t>
            </a:r>
          </a:p>
        </p:txBody>
      </p:sp>
      <p:sp>
        <p:nvSpPr>
          <p:cNvPr id="26" name="Rounded Rectangle 10">
            <a:extLst>
              <a:ext uri="{FF2B5EF4-FFF2-40B4-BE49-F238E27FC236}">
                <a16:creationId xmlns:a16="http://schemas.microsoft.com/office/drawing/2014/main" id="{1AAE6BBC-DF63-5A57-9B71-409D3CEA5F4D}"/>
              </a:ext>
            </a:extLst>
          </p:cNvPr>
          <p:cNvSpPr/>
          <p:nvPr/>
        </p:nvSpPr>
        <p:spPr>
          <a:xfrm>
            <a:off x="7383913" y="1368646"/>
            <a:ext cx="1474469" cy="994409"/>
          </a:xfrm>
          <a:prstGeom prst="roundRect">
            <a:avLst/>
          </a:prstGeom>
          <a:solidFill>
            <a:srgbClr val="2C2C2C"/>
          </a:solidFill>
          <a:ln w="15240">
            <a:solidFill>
              <a:srgbClr val="7CC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190EFA-9ABB-1FBE-15E4-19ADBFC8E0E0}"/>
              </a:ext>
            </a:extLst>
          </p:cNvPr>
          <p:cNvSpPr txBox="1"/>
          <p:nvPr/>
        </p:nvSpPr>
        <p:spPr>
          <a:xfrm>
            <a:off x="7383913" y="1368646"/>
            <a:ext cx="1474469" cy="994409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00" b="1">
                <a:solidFill>
                  <a:srgbClr val="7CCB91"/>
                </a:solidFill>
              </a:rPr>
              <a:t>SE + CI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3D2218-E716-F9EB-8CF1-877DB26DCAF3}"/>
              </a:ext>
            </a:extLst>
          </p:cNvPr>
          <p:cNvSpPr txBox="1"/>
          <p:nvPr/>
        </p:nvSpPr>
        <p:spPr>
          <a:xfrm>
            <a:off x="1623192" y="1574387"/>
            <a:ext cx="240029" cy="3429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2210" b="1">
                <a:solidFill>
                  <a:srgbClr val="F4F1EA"/>
                </a:solidFill>
              </a:rPr>
              <a:t>→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81FF2B-FFB4-BDAF-1A2B-9D1259E3DD36}"/>
              </a:ext>
            </a:extLst>
          </p:cNvPr>
          <p:cNvSpPr txBox="1"/>
          <p:nvPr/>
        </p:nvSpPr>
        <p:spPr>
          <a:xfrm>
            <a:off x="3646303" y="1574387"/>
            <a:ext cx="240029" cy="3429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2210" b="1">
                <a:solidFill>
                  <a:srgbClr val="F4F1EA"/>
                </a:solidFill>
              </a:rPr>
              <a:t>→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7F177C-BFE3-F1CA-C398-48111FA2983E}"/>
              </a:ext>
            </a:extLst>
          </p:cNvPr>
          <p:cNvSpPr txBox="1"/>
          <p:nvPr/>
        </p:nvSpPr>
        <p:spPr>
          <a:xfrm>
            <a:off x="5395093" y="1574387"/>
            <a:ext cx="240029" cy="3429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2210" b="1">
                <a:solidFill>
                  <a:srgbClr val="F4F1EA"/>
                </a:solidFill>
              </a:rPr>
              <a:t>→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3FC787-4E52-09E3-F4D4-9A6D5F3F55C3}"/>
              </a:ext>
            </a:extLst>
          </p:cNvPr>
          <p:cNvSpPr txBox="1"/>
          <p:nvPr/>
        </p:nvSpPr>
        <p:spPr>
          <a:xfrm>
            <a:off x="7143883" y="1574387"/>
            <a:ext cx="240029" cy="34290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2210" b="1">
                <a:solidFill>
                  <a:srgbClr val="F4F1EA"/>
                </a:solidFill>
              </a:rPr>
              <a:t>→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6C3945C-2526-8625-767A-3CD308415287}"/>
                  </a:ext>
                </a:extLst>
              </p:cNvPr>
              <p:cNvSpPr txBox="1"/>
              <p:nvPr/>
            </p:nvSpPr>
            <p:spPr>
              <a:xfrm>
                <a:off x="491490" y="2698049"/>
                <a:ext cx="8161020" cy="354712"/>
              </a:xfrm>
              <a:prstGeom prst="rect">
                <a:avLst/>
              </a:prstGeom>
              <a:noFill/>
            </p:spPr>
            <p:txBody>
              <a:bodyPr wrap="square" lIns="20574" tIns="13716" rIns="20574" bIns="13716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)] − 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)]  →  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] − 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]  →  </m:t>
                      </m:r>
                      <m:sSub>
                        <m:sSubPr>
                          <m:ctrlPr>
                            <a:rPr lang="en-US" sz="2125" b="1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125" b="1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125" b="1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lang="en-US" sz="2125" b="1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125" b="1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125" b="1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125" b="1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125" b="1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lang="en-US" sz="2125" b="1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sz="2125" b="1" dirty="0">
                  <a:solidFill>
                    <a:srgbClr val="F4F1EA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6C3945C-2526-8625-767A-3CD308415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90" y="2698049"/>
                <a:ext cx="8161020" cy="354712"/>
              </a:xfrm>
              <a:prstGeom prst="rect">
                <a:avLst/>
              </a:prstGeom>
              <a:blipFill>
                <a:blip r:embed="rId2"/>
                <a:stretch>
                  <a:fillRect r="-149" b="-3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85DB2FB4-9391-421F-09B3-E8C674A4D292}"/>
              </a:ext>
            </a:extLst>
          </p:cNvPr>
          <p:cNvSpPr txBox="1"/>
          <p:nvPr/>
        </p:nvSpPr>
        <p:spPr>
          <a:xfrm>
            <a:off x="673305" y="3477005"/>
            <a:ext cx="7680959" cy="315471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870" b="0" dirty="0">
                <a:solidFill>
                  <a:srgbClr val="F5F5F5"/>
                </a:solidFill>
              </a:rPr>
              <a:t>Next class: estimation when treatment was NOT randomized.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BFABC3-4468-6F30-B9B0-E3E27E5DC78E}"/>
              </a:ext>
            </a:extLst>
          </p:cNvPr>
          <p:cNvSpPr txBox="1"/>
          <p:nvPr/>
        </p:nvSpPr>
        <p:spPr>
          <a:xfrm>
            <a:off x="268605" y="4286252"/>
            <a:ext cx="8606790" cy="377190"/>
          </a:xfrm>
          <a:prstGeom prst="rect">
            <a:avLst/>
          </a:prstGeom>
          <a:noFill/>
        </p:spPr>
        <p:txBody>
          <a:bodyPr wrap="square" lIns="20574" tIns="13716" rIns="20574" bIns="13716" anchor="ctr">
            <a:spAutoFit/>
          </a:bodyPr>
          <a:lstStyle/>
          <a:p>
            <a:pPr algn="ctr"/>
            <a:r>
              <a:rPr sz="1784" b="1" dirty="0">
                <a:solidFill>
                  <a:srgbClr val="F5B62D"/>
                </a:solidFill>
              </a:rPr>
              <a:t>Randomized trials are the clean benchmark. Observational estimation must recreate the missing comparability through assumptions + adjustment.</a:t>
            </a:r>
          </a:p>
        </p:txBody>
      </p:sp>
    </p:spTree>
    <p:extLst>
      <p:ext uri="{BB962C8B-B14F-4D97-AF65-F5344CB8AC3E}">
        <p14:creationId xmlns:p14="http://schemas.microsoft.com/office/powerpoint/2010/main" val="3734695145"/>
      </p:ext>
    </p:extLst>
  </p:cSld>
  <p:clrMapOvr>
    <a:masterClrMapping/>
  </p:clrMapOvr>
</p:sld>
</file>

<file path=ppt/theme/theme1.xml><?xml version="1.0" encoding="utf-8"?>
<a:theme xmlns:a="http://schemas.openxmlformats.org/drawingml/2006/main" name="Ursula template">
  <a:themeElements>
    <a:clrScheme name="Custom 347">
      <a:dk1>
        <a:srgbClr val="000000"/>
      </a:dk1>
      <a:lt1>
        <a:srgbClr val="FFFFFF"/>
      </a:lt1>
      <a:dk2>
        <a:srgbClr val="D1D8DF"/>
      </a:dk2>
      <a:lt2>
        <a:srgbClr val="4F565C"/>
      </a:lt2>
      <a:accent1>
        <a:srgbClr val="71AEF0"/>
      </a:accent1>
      <a:accent2>
        <a:srgbClr val="88E6DC"/>
      </a:accent2>
      <a:accent3>
        <a:srgbClr val="A6D145"/>
      </a:accent3>
      <a:accent4>
        <a:srgbClr val="FFE000"/>
      </a:accent4>
      <a:accent5>
        <a:srgbClr val="FC765C"/>
      </a:accent5>
      <a:accent6>
        <a:srgbClr val="A693C9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5390</TotalTime>
  <Words>5424</Words>
  <Application>Microsoft Office PowerPoint</Application>
  <PresentationFormat>On-screen Show (16:9)</PresentationFormat>
  <Paragraphs>806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9" baseType="lpstr">
      <vt:lpstr>Consolas</vt:lpstr>
      <vt:lpstr>Georgia</vt:lpstr>
      <vt:lpstr>Sniglet</vt:lpstr>
      <vt:lpstr>Roboto Condensed</vt:lpstr>
      <vt:lpstr>Walbaum Text</vt:lpstr>
      <vt:lpstr>Walter Turncoat</vt:lpstr>
      <vt:lpstr>Arial</vt:lpstr>
      <vt:lpstr>Cambria Math</vt:lpstr>
      <vt:lpstr>Ursula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Samhita Pal</dc:creator>
  <cp:lastModifiedBy>Dhrubajyoti Ghosh</cp:lastModifiedBy>
  <cp:revision>131</cp:revision>
  <dcterms:modified xsi:type="dcterms:W3CDTF">2026-09-28T15:39:42Z</dcterms:modified>
</cp:coreProperties>
</file>