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37"/>
  </p:notesMasterIdLst>
  <p:sldIdLst>
    <p:sldId id="296" r:id="rId2"/>
    <p:sldId id="326" r:id="rId3"/>
    <p:sldId id="356" r:id="rId4"/>
    <p:sldId id="297" r:id="rId5"/>
    <p:sldId id="327" r:id="rId6"/>
    <p:sldId id="328" r:id="rId7"/>
    <p:sldId id="329" r:id="rId8"/>
    <p:sldId id="330" r:id="rId9"/>
    <p:sldId id="331" r:id="rId10"/>
    <p:sldId id="332" r:id="rId11"/>
    <p:sldId id="333" r:id="rId12"/>
    <p:sldId id="334" r:id="rId13"/>
    <p:sldId id="335" r:id="rId14"/>
    <p:sldId id="336" r:id="rId15"/>
    <p:sldId id="338" r:id="rId16"/>
    <p:sldId id="337" r:id="rId17"/>
    <p:sldId id="339" r:id="rId18"/>
    <p:sldId id="340" r:id="rId19"/>
    <p:sldId id="341" r:id="rId20"/>
    <p:sldId id="342" r:id="rId21"/>
    <p:sldId id="343" r:id="rId22"/>
    <p:sldId id="344" r:id="rId23"/>
    <p:sldId id="349" r:id="rId24"/>
    <p:sldId id="350" r:id="rId25"/>
    <p:sldId id="351" r:id="rId26"/>
    <p:sldId id="345" r:id="rId27"/>
    <p:sldId id="346" r:id="rId28"/>
    <p:sldId id="347" r:id="rId29"/>
    <p:sldId id="352" r:id="rId30"/>
    <p:sldId id="348" r:id="rId31"/>
    <p:sldId id="353" r:id="rId32"/>
    <p:sldId id="354" r:id="rId33"/>
    <p:sldId id="355" r:id="rId34"/>
    <p:sldId id="357" r:id="rId35"/>
    <p:sldId id="358" r:id="rId36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38"/>
    </p:embeddedFont>
    <p:embeddedFont>
      <p:font typeface="Sniglet" panose="020B0604020202020204" charset="0"/>
      <p:regular r:id="rId39"/>
    </p:embeddedFont>
    <p:embeddedFont>
      <p:font typeface="Walbaum Text" panose="02070503080703020303" pitchFamily="18" charset="0"/>
      <p:regular r:id="rId40"/>
      <p:bold r:id="rId41"/>
      <p:italic r:id="rId42"/>
      <p:boldItalic r:id="rId43"/>
    </p:embeddedFont>
    <p:embeddedFont>
      <p:font typeface="Walter Turncoat" panose="020B0604020202020204" charset="0"/>
      <p:regular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D0B942B-5FDC-419F-A31C-88048C057ADA}">
  <a:tblStyle styleId="{3D0B942B-5FDC-419F-A31C-88048C057A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F752B63-FEDA-48D4-B3B7-9A5BAED3138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3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-6025" y="967975"/>
            <a:ext cx="91560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563400"/>
            <a:ext cx="8229600" cy="25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✘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○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■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●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○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■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●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○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■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lvl="1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lvl="2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lvl="3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lvl="4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lvl="5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lvl="6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lvl="7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lvl="8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EA9790-8FD3-3CFF-298C-8576CD7777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</a:t>
            </a:fld>
            <a:endParaRPr lang="en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134EF000-1360-AEF0-B6CC-E38FC7950DC5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369955" y="294994"/>
            <a:ext cx="8229600" cy="19050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Walter Turncoat" panose="020B0604020202020204" charset="0"/>
              </a:rPr>
              <a:t>STAT 7900: Special Topic: </a:t>
            </a:r>
          </a:p>
          <a:p>
            <a:r>
              <a:rPr lang="en-US" dirty="0">
                <a:solidFill>
                  <a:schemeClr val="bg1"/>
                </a:solidFill>
                <a:latin typeface="Walter Turncoat" panose="020B0604020202020204" charset="0"/>
              </a:rPr>
              <a:t>Causal Analysis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6FDCB5-F084-8EE3-64F9-3FEEE886EC0D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738512" y="2356682"/>
            <a:ext cx="4013200" cy="182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0" indent="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None/>
              <a:defRPr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en-US" sz="1800" b="1" dirty="0">
                <a:solidFill>
                  <a:schemeClr val="bg1"/>
                </a:solidFill>
                <a:latin typeface="Walter Turncoat" panose="020B0604020202020204" charset="0"/>
              </a:rPr>
              <a:t>KENNESAW STATE UNIVERSITY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Walter Turncoat" panose="020B0604020202020204" charset="0"/>
              </a:rPr>
              <a:t>STAT 7900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58E625-98C4-4A42-C24D-4A91B5CF5611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-51800" y="2297602"/>
            <a:ext cx="4013200" cy="182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0" indent="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None/>
              <a:defRPr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en-US" sz="1800" b="1" dirty="0">
                <a:solidFill>
                  <a:schemeClr val="bg1"/>
                </a:solidFill>
                <a:latin typeface="Walter Turncoat" panose="020B0604020202020204" charset="0"/>
              </a:rPr>
              <a:t>Instructor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  <a:latin typeface="Walter Turncoat" panose="020B0604020202020204" charset="0"/>
              </a:rPr>
              <a:t> Dhrubajyoti Ghosh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93739B6-31BF-A8C0-52D4-A784612214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68895" y="2171700"/>
            <a:ext cx="847725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764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3D3BCA-7A41-C7CE-292D-854E941473F6}"/>
              </a:ext>
            </a:extLst>
          </p:cNvPr>
          <p:cNvSpPr txBox="1"/>
          <p:nvPr/>
        </p:nvSpPr>
        <p:spPr>
          <a:xfrm>
            <a:off x="350044" y="717233"/>
            <a:ext cx="866536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Introduce yourself.</a:t>
            </a:r>
          </a:p>
          <a:p>
            <a:pPr marL="571500" indent="-5715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3600" dirty="0">
              <a:solidFill>
                <a:schemeClr val="bg1"/>
              </a:solidFill>
            </a:endParaRPr>
          </a:p>
          <a:p>
            <a:pPr marL="571500" indent="-5715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Your program and year</a:t>
            </a:r>
          </a:p>
          <a:p>
            <a:pPr marL="571500" indent="-5715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3600" dirty="0">
              <a:solidFill>
                <a:schemeClr val="bg1"/>
              </a:solidFill>
            </a:endParaRPr>
          </a:p>
          <a:p>
            <a:pPr marL="571500" indent="-5715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One thing you hope to learn from this course</a:t>
            </a:r>
          </a:p>
        </p:txBody>
      </p:sp>
    </p:spTree>
    <p:extLst>
      <p:ext uri="{BB962C8B-B14F-4D97-AF65-F5344CB8AC3E}">
        <p14:creationId xmlns:p14="http://schemas.microsoft.com/office/powerpoint/2010/main" val="3100643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9C523-B128-D501-D99D-09F2781E5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FB0A5F-2E24-C84E-0986-ADFD34A176FC}"/>
              </a:ext>
            </a:extLst>
          </p:cNvPr>
          <p:cNvSpPr txBox="1"/>
          <p:nvPr/>
        </p:nvSpPr>
        <p:spPr>
          <a:xfrm>
            <a:off x="295180" y="473393"/>
            <a:ext cx="866536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Class Structure: In-person and online</a:t>
            </a:r>
          </a:p>
          <a:p>
            <a:pPr marL="571500" indent="-5715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3600" dirty="0">
              <a:solidFill>
                <a:schemeClr val="bg1"/>
              </a:solidFill>
            </a:endParaRPr>
          </a:p>
          <a:p>
            <a:pPr marL="571500" indent="-5715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Exams: 1 midterm and 1 final project.</a:t>
            </a:r>
          </a:p>
          <a:p>
            <a:pPr marL="571500" indent="-5715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3600" dirty="0">
              <a:solidFill>
                <a:schemeClr val="bg1"/>
              </a:solidFill>
            </a:endParaRPr>
          </a:p>
          <a:p>
            <a:pPr marL="571500" indent="-5715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Assignments: 3 over the semester</a:t>
            </a:r>
          </a:p>
          <a:p>
            <a:pPr marL="571500" indent="-5715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3600" dirty="0">
              <a:solidFill>
                <a:schemeClr val="bg1"/>
              </a:solidFill>
            </a:endParaRPr>
          </a:p>
          <a:p>
            <a:pPr marL="571500" indent="-5715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Quizzes: Daily quizzes on previous class content.</a:t>
            </a:r>
          </a:p>
        </p:txBody>
      </p:sp>
    </p:spTree>
    <p:extLst>
      <p:ext uri="{BB962C8B-B14F-4D97-AF65-F5344CB8AC3E}">
        <p14:creationId xmlns:p14="http://schemas.microsoft.com/office/powerpoint/2010/main" val="308895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5529B-7CFB-D282-82E6-291F0EC72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3D71B9-9921-6DB5-DB49-DA72B7FB4FC2}"/>
              </a:ext>
            </a:extLst>
          </p:cNvPr>
          <p:cNvSpPr txBox="1"/>
          <p:nvPr/>
        </p:nvSpPr>
        <p:spPr>
          <a:xfrm>
            <a:off x="177135" y="157985"/>
            <a:ext cx="8689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Walbaum Text" panose="02070503080703020303" pitchFamily="18" charset="0"/>
              </a:rPr>
              <a:t>Causal Analysis</a:t>
            </a:r>
            <a:endParaRPr lang="en-US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12D3EC-4FB2-4040-9915-4A565F5BE430}"/>
              </a:ext>
            </a:extLst>
          </p:cNvPr>
          <p:cNvSpPr txBox="1"/>
          <p:nvPr/>
        </p:nvSpPr>
        <p:spPr>
          <a:xfrm>
            <a:off x="444500" y="996592"/>
            <a:ext cx="814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Examples of causal questions: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2C493D0-0811-F65C-D3C2-2AA4C748D290}"/>
              </a:ext>
            </a:extLst>
          </p:cNvPr>
          <p:cNvSpPr/>
          <p:nvPr/>
        </p:nvSpPr>
        <p:spPr>
          <a:xfrm>
            <a:off x="933897" y="1678635"/>
            <a:ext cx="2914650" cy="1009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chemeClr val="tx1"/>
                </a:solidFill>
              </a:rPr>
              <a:t>Medicine</a:t>
            </a:r>
            <a:endParaRPr lang="en-US" u="sng" dirty="0"/>
          </a:p>
          <a:p>
            <a:pPr algn="ctr"/>
            <a:r>
              <a:rPr lang="en-US" dirty="0">
                <a:solidFill>
                  <a:schemeClr val="tx1"/>
                </a:solidFill>
              </a:rPr>
              <a:t>Would a new treatment reduce mortality?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C142895-4FE0-A66C-70D5-35FE2AD9EB57}"/>
              </a:ext>
            </a:extLst>
          </p:cNvPr>
          <p:cNvSpPr/>
          <p:nvPr/>
        </p:nvSpPr>
        <p:spPr>
          <a:xfrm>
            <a:off x="5470927" y="1678635"/>
            <a:ext cx="2914650" cy="1009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chemeClr val="tx1"/>
                </a:solidFill>
              </a:rPr>
              <a:t>Education</a:t>
            </a:r>
            <a:endParaRPr lang="en-US" u="sng" dirty="0"/>
          </a:p>
          <a:p>
            <a:pPr algn="ctr"/>
            <a:r>
              <a:rPr lang="en-US" dirty="0">
                <a:solidFill>
                  <a:schemeClr val="tx1"/>
                </a:solidFill>
              </a:rPr>
              <a:t>Would reducing a class size improve achievement?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596B50D-C613-DCEE-0A6D-EE3DC2A6C4BE}"/>
              </a:ext>
            </a:extLst>
          </p:cNvPr>
          <p:cNvSpPr/>
          <p:nvPr/>
        </p:nvSpPr>
        <p:spPr>
          <a:xfrm>
            <a:off x="933897" y="3423722"/>
            <a:ext cx="2914650" cy="1009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chemeClr val="tx1"/>
                </a:solidFill>
              </a:rPr>
              <a:t>Policy</a:t>
            </a:r>
            <a:endParaRPr lang="en-US" u="sng" dirty="0"/>
          </a:p>
          <a:p>
            <a:pPr algn="ctr"/>
            <a:r>
              <a:rPr lang="en-US" dirty="0">
                <a:solidFill>
                  <a:schemeClr val="tx1"/>
                </a:solidFill>
              </a:rPr>
              <a:t>Would raising a minimum wage affect employment?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F3EF2B1-F248-84E0-71E1-FA4F7B4EE9AE}"/>
              </a:ext>
            </a:extLst>
          </p:cNvPr>
          <p:cNvSpPr/>
          <p:nvPr/>
        </p:nvSpPr>
        <p:spPr>
          <a:xfrm>
            <a:off x="5470927" y="3423722"/>
            <a:ext cx="2914650" cy="1009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chemeClr val="tx1"/>
                </a:solidFill>
              </a:rPr>
              <a:t>Public Health</a:t>
            </a:r>
            <a:endParaRPr lang="en-US" u="sng" dirty="0"/>
          </a:p>
          <a:p>
            <a:pPr algn="ctr"/>
            <a:r>
              <a:rPr lang="en-US" dirty="0">
                <a:solidFill>
                  <a:schemeClr val="tx1"/>
                </a:solidFill>
              </a:rPr>
              <a:t>Would reducing air pollution lower asthma admissions?</a:t>
            </a:r>
          </a:p>
        </p:txBody>
      </p:sp>
    </p:spTree>
    <p:extLst>
      <p:ext uri="{BB962C8B-B14F-4D97-AF65-F5344CB8AC3E}">
        <p14:creationId xmlns:p14="http://schemas.microsoft.com/office/powerpoint/2010/main" val="1128711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29656-A542-CC83-BB27-5FCE46D20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482073-06E5-9591-565E-78311FD3A21E}"/>
              </a:ext>
            </a:extLst>
          </p:cNvPr>
          <p:cNvSpPr txBox="1"/>
          <p:nvPr/>
        </p:nvSpPr>
        <p:spPr>
          <a:xfrm>
            <a:off x="177135" y="157985"/>
            <a:ext cx="8689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Walbaum Text" panose="02070503080703020303" pitchFamily="18" charset="0"/>
              </a:rPr>
              <a:t>What is Causal Inference</a:t>
            </a:r>
            <a:endParaRPr lang="en-US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EB95F3-CD21-DA5A-74B5-51F9C9D10965}"/>
              </a:ext>
            </a:extLst>
          </p:cNvPr>
          <p:cNvSpPr txBox="1"/>
          <p:nvPr/>
        </p:nvSpPr>
        <p:spPr>
          <a:xfrm>
            <a:off x="457587" y="1763387"/>
            <a:ext cx="822882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500" dirty="0">
                <a:solidFill>
                  <a:schemeClr val="bg1"/>
                </a:solidFill>
              </a:rPr>
              <a:t>Learning the effect of a treatment, exposure, policy, or intervention on an outcome.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3438BAC-5BD0-C722-A741-3A4186EEA138}"/>
              </a:ext>
            </a:extLst>
          </p:cNvPr>
          <p:cNvSpPr/>
          <p:nvPr/>
        </p:nvSpPr>
        <p:spPr>
          <a:xfrm>
            <a:off x="636610" y="3264615"/>
            <a:ext cx="3048000" cy="8617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Treatment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4197246-8F15-72C6-ABE5-ED6D1615E634}"/>
              </a:ext>
            </a:extLst>
          </p:cNvPr>
          <p:cNvCxnSpPr/>
          <p:nvPr/>
        </p:nvCxnSpPr>
        <p:spPr>
          <a:xfrm>
            <a:off x="3811610" y="3671015"/>
            <a:ext cx="15303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8A9AD93-716B-1D4E-AA84-F5A1EC24C3D1}"/>
              </a:ext>
            </a:extLst>
          </p:cNvPr>
          <p:cNvSpPr/>
          <p:nvPr/>
        </p:nvSpPr>
        <p:spPr>
          <a:xfrm>
            <a:off x="5477039" y="3240128"/>
            <a:ext cx="3048000" cy="8617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Outcome</a:t>
            </a:r>
          </a:p>
        </p:txBody>
      </p:sp>
    </p:spTree>
    <p:extLst>
      <p:ext uri="{BB962C8B-B14F-4D97-AF65-F5344CB8AC3E}">
        <p14:creationId xmlns:p14="http://schemas.microsoft.com/office/powerpoint/2010/main" val="1928727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A7115-2B18-F976-719A-7044EBD75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6782E2-91C8-AB28-5C5F-617347300876}"/>
              </a:ext>
            </a:extLst>
          </p:cNvPr>
          <p:cNvSpPr txBox="1"/>
          <p:nvPr/>
        </p:nvSpPr>
        <p:spPr>
          <a:xfrm>
            <a:off x="177135" y="157985"/>
            <a:ext cx="8689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Walbaum Text" panose="02070503080703020303" pitchFamily="18" charset="0"/>
              </a:rPr>
              <a:t>Three Kinds of questions</a:t>
            </a:r>
            <a:endParaRPr lang="en-US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71FAAC2-79A4-01DE-8B96-7CC1B51CCF11}"/>
              </a:ext>
            </a:extLst>
          </p:cNvPr>
          <p:cNvSpPr/>
          <p:nvPr/>
        </p:nvSpPr>
        <p:spPr>
          <a:xfrm>
            <a:off x="393700" y="1212850"/>
            <a:ext cx="2451100" cy="34353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Descriptive</a:t>
            </a:r>
          </a:p>
          <a:p>
            <a:pPr algn="ctr"/>
            <a:endParaRPr lang="en-US" sz="2000" b="1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What is happening?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Example:</a:t>
            </a:r>
            <a:r>
              <a:rPr lang="en-US" dirty="0">
                <a:solidFill>
                  <a:schemeClr val="tx1"/>
                </a:solidFill>
              </a:rPr>
              <a:t> How does blood pressure differ between smokers and non-smokers?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EB2ED6A-3512-B47E-A619-70E1768EF8BB}"/>
              </a:ext>
            </a:extLst>
          </p:cNvPr>
          <p:cNvSpPr/>
          <p:nvPr/>
        </p:nvSpPr>
        <p:spPr>
          <a:xfrm>
            <a:off x="3346450" y="1212850"/>
            <a:ext cx="2451100" cy="34353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Predictive</a:t>
            </a:r>
          </a:p>
          <a:p>
            <a:pPr algn="ctr"/>
            <a:endParaRPr lang="en-US" sz="2000" b="1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What will happen?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Example:</a:t>
            </a:r>
            <a:r>
              <a:rPr lang="en-US" dirty="0">
                <a:solidFill>
                  <a:schemeClr val="tx1"/>
                </a:solidFill>
              </a:rPr>
              <a:t> Can age, BMI or smoking predict future blood pressure?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1F7F0C3-D1B5-84B3-D627-859A11974E60}"/>
              </a:ext>
            </a:extLst>
          </p:cNvPr>
          <p:cNvSpPr/>
          <p:nvPr/>
        </p:nvSpPr>
        <p:spPr>
          <a:xfrm>
            <a:off x="6357274" y="1212850"/>
            <a:ext cx="2451100" cy="34353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Causal</a:t>
            </a:r>
          </a:p>
          <a:p>
            <a:pPr algn="ctr"/>
            <a:endParaRPr lang="en-US" sz="2000" b="1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What would happen if we intervened?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Example:</a:t>
            </a:r>
            <a:r>
              <a:rPr lang="en-US" dirty="0">
                <a:solidFill>
                  <a:schemeClr val="tx1"/>
                </a:solidFill>
              </a:rPr>
              <a:t> Would smoking cessation lower blood pressure?</a:t>
            </a:r>
          </a:p>
        </p:txBody>
      </p:sp>
    </p:spTree>
    <p:extLst>
      <p:ext uri="{BB962C8B-B14F-4D97-AF65-F5344CB8AC3E}">
        <p14:creationId xmlns:p14="http://schemas.microsoft.com/office/powerpoint/2010/main" val="216284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5D112-0F18-A07E-0DEF-F1A060DF7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BC205C-65BD-031B-B2C1-623680D413F7}"/>
              </a:ext>
            </a:extLst>
          </p:cNvPr>
          <p:cNvSpPr txBox="1"/>
          <p:nvPr/>
        </p:nvSpPr>
        <p:spPr>
          <a:xfrm>
            <a:off x="177135" y="157985"/>
            <a:ext cx="8689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Walbaum Text" panose="02070503080703020303" pitchFamily="18" charset="0"/>
              </a:rPr>
              <a:t>Three Kinds of questions</a:t>
            </a:r>
            <a:endParaRPr lang="en-US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7EA434-AD5C-2CBF-4178-964DF6C02599}"/>
              </a:ext>
            </a:extLst>
          </p:cNvPr>
          <p:cNvSpPr txBox="1"/>
          <p:nvPr/>
        </p:nvSpPr>
        <p:spPr>
          <a:xfrm>
            <a:off x="476518" y="1101144"/>
            <a:ext cx="817218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We can have same dataset but different questions.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Imagine a cohort with diet, age, BMI, blood pressure, and future cardiovascular events.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rgbClr val="FF0000"/>
                </a:solidFill>
              </a:rPr>
              <a:t>Describe: </a:t>
            </a:r>
            <a:r>
              <a:rPr lang="en-US" sz="1800" dirty="0">
                <a:solidFill>
                  <a:schemeClr val="bg1"/>
                </a:solidFill>
              </a:rPr>
              <a:t>What is the average sodium intake?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rgbClr val="FF0000"/>
                </a:solidFill>
              </a:rPr>
              <a:t>Predict: </a:t>
            </a:r>
            <a:r>
              <a:rPr lang="en-US" sz="1800" dirty="0">
                <a:solidFill>
                  <a:schemeClr val="bg1"/>
                </a:solidFill>
              </a:rPr>
              <a:t>Who will develop hypertension?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rgbClr val="FF0000"/>
                </a:solidFill>
              </a:rPr>
              <a:t>Cause: </a:t>
            </a:r>
            <a:r>
              <a:rPr lang="en-US" sz="1800" dirty="0">
                <a:solidFill>
                  <a:schemeClr val="bg1"/>
                </a:solidFill>
              </a:rPr>
              <a:t>What would happen to blood pressure if sodium intake were reduced?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b="1" dirty="0">
                <a:solidFill>
                  <a:srgbClr val="00B0F0"/>
                </a:solidFill>
              </a:rPr>
              <a:t>The scientific question determines the analysis.</a:t>
            </a:r>
          </a:p>
        </p:txBody>
      </p:sp>
    </p:spTree>
    <p:extLst>
      <p:ext uri="{BB962C8B-B14F-4D97-AF65-F5344CB8AC3E}">
        <p14:creationId xmlns:p14="http://schemas.microsoft.com/office/powerpoint/2010/main" val="125325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F911D-6CC8-E4EF-A884-F706D150E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9349F8-7BE0-06CE-5E2D-06730A204944}"/>
              </a:ext>
            </a:extLst>
          </p:cNvPr>
          <p:cNvSpPr txBox="1"/>
          <p:nvPr/>
        </p:nvSpPr>
        <p:spPr>
          <a:xfrm>
            <a:off x="177135" y="157985"/>
            <a:ext cx="8689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Walbaum Text" panose="02070503080703020303" pitchFamily="18" charset="0"/>
              </a:rPr>
              <a:t>Simpson’s Paradox</a:t>
            </a:r>
            <a:endParaRPr lang="en-US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B74635-FC41-0437-84D7-D40835AAB5FE}"/>
              </a:ext>
            </a:extLst>
          </p:cNvPr>
          <p:cNvSpPr txBox="1"/>
          <p:nvPr/>
        </p:nvSpPr>
        <p:spPr>
          <a:xfrm>
            <a:off x="485909" y="1584102"/>
            <a:ext cx="817218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New disease: COVID-27.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Treatment T: A (0), B (1).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You need to decide which treatment to use for the country.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Condition C: mild (0), severe (1)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Outcome Y: alive (0), dead (1)</a:t>
            </a:r>
          </a:p>
        </p:txBody>
      </p:sp>
    </p:spTree>
    <p:extLst>
      <p:ext uri="{BB962C8B-B14F-4D97-AF65-F5344CB8AC3E}">
        <p14:creationId xmlns:p14="http://schemas.microsoft.com/office/powerpoint/2010/main" val="3618315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03011-4DD5-378F-0914-3351BDFC8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77F799-E5A0-CD41-577F-D652F21B4412}"/>
              </a:ext>
            </a:extLst>
          </p:cNvPr>
          <p:cNvSpPr txBox="1"/>
          <p:nvPr/>
        </p:nvSpPr>
        <p:spPr>
          <a:xfrm>
            <a:off x="177135" y="157985"/>
            <a:ext cx="8689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Walbaum Text" panose="02070503080703020303" pitchFamily="18" charset="0"/>
              </a:rPr>
              <a:t>Simpson’s Paradox: Mortality Rate Table</a:t>
            </a:r>
            <a:endParaRPr lang="en-US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0131B1-6A6B-270B-D23E-C3EB4A598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2591" y="1307206"/>
            <a:ext cx="4378817" cy="3226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3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1C8B6-1FFF-1996-720F-BFE3A4C00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695830-C433-1F0F-BB57-DDD5D7080871}"/>
              </a:ext>
            </a:extLst>
          </p:cNvPr>
          <p:cNvSpPr txBox="1"/>
          <p:nvPr/>
        </p:nvSpPr>
        <p:spPr>
          <a:xfrm>
            <a:off x="177135" y="157985"/>
            <a:ext cx="8689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Walbaum Text" panose="02070503080703020303" pitchFamily="18" charset="0"/>
              </a:rPr>
              <a:t>Simpson’s Paradox: Mortality Rate Table</a:t>
            </a:r>
            <a:endParaRPr lang="en-US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AB8A41-4CD0-44E4-8C11-118C89368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845" y="981305"/>
            <a:ext cx="5963238" cy="31420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53E5036-188A-85DC-ABE7-94CBADB6A578}"/>
                  </a:ext>
                </a:extLst>
              </p:cNvPr>
              <p:cNvSpPr txBox="1"/>
              <p:nvPr/>
            </p:nvSpPr>
            <p:spPr>
              <a:xfrm>
                <a:off x="1111250" y="4330700"/>
                <a:ext cx="7429500" cy="5014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1400</m:t>
                          </m:r>
                        </m:num>
                        <m:den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1500</m:t>
                          </m:r>
                        </m:den>
                      </m:f>
                      <m:r>
                        <a:rPr lang="en-US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0.15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num>
                        <m:den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1500</m:t>
                          </m:r>
                        </m:den>
                      </m:f>
                      <m:r>
                        <a:rPr lang="en-US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0.30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=0.16</m:t>
                      </m:r>
                      <m:r>
                        <a:rPr lang="en-US" b="0" i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                         ;                        </m:t>
                      </m:r>
                      <m:f>
                        <m:fPr>
                          <m:ctrlPr>
                            <a:rPr lang="en-US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50</m:t>
                          </m:r>
                        </m:num>
                        <m:den>
                          <m:r>
                            <a:rPr lang="en-US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550</m:t>
                          </m:r>
                        </m:den>
                      </m:f>
                      <m:d>
                        <m:dPr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0.10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500</m:t>
                          </m:r>
                        </m:num>
                        <m:den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550</m:t>
                          </m:r>
                        </m:den>
                      </m:f>
                      <m:r>
                        <a:rPr lang="en-US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0.20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=0.19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53E5036-188A-85DC-ABE7-94CBADB6A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250" y="4330700"/>
                <a:ext cx="7429500" cy="501419"/>
              </a:xfrm>
              <a:prstGeom prst="rect">
                <a:avLst/>
              </a:prstGeom>
              <a:blipFill>
                <a:blip r:embed="rId3"/>
                <a:stretch>
                  <a:fillRect b="-1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209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EF9EC-693A-1B93-238B-D0B378801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222159-78BA-5C07-CA7F-214DC480DA54}"/>
              </a:ext>
            </a:extLst>
          </p:cNvPr>
          <p:cNvSpPr txBox="1"/>
          <p:nvPr/>
        </p:nvSpPr>
        <p:spPr>
          <a:xfrm>
            <a:off x="177135" y="157985"/>
            <a:ext cx="8689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Walbaum Text" panose="02070503080703020303" pitchFamily="18" charset="0"/>
              </a:rPr>
              <a:t>Simpson’s Paradox: Which treatment is better? </a:t>
            </a:r>
            <a:endParaRPr lang="en-US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680490-596B-6680-CE9F-D6875738A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750" y="1222611"/>
            <a:ext cx="2341345" cy="1159981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B0DAEB4-F95B-BA79-5E8D-110F70059C5A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2805095" y="1802601"/>
            <a:ext cx="295820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CC2528F9-B163-40CF-2105-F6B27BFFB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7954" y="2571750"/>
            <a:ext cx="2580041" cy="230198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01425CCE-8C41-B1DB-6EA6-97E7C9C1714E}"/>
              </a:ext>
            </a:extLst>
          </p:cNvPr>
          <p:cNvSpPr/>
          <p:nvPr/>
        </p:nvSpPr>
        <p:spPr>
          <a:xfrm>
            <a:off x="5763296" y="1131384"/>
            <a:ext cx="2684413" cy="13424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Treatment B is better</a:t>
            </a:r>
          </a:p>
        </p:txBody>
      </p:sp>
    </p:spTree>
    <p:extLst>
      <p:ext uri="{BB962C8B-B14F-4D97-AF65-F5344CB8AC3E}">
        <p14:creationId xmlns:p14="http://schemas.microsoft.com/office/powerpoint/2010/main" val="2499875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21955-E76F-A2BF-6205-7A60F49B0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A77FB4-80EF-5BCC-24B5-6EDA118F0A2E}"/>
              </a:ext>
            </a:extLst>
          </p:cNvPr>
          <p:cNvSpPr txBox="1"/>
          <p:nvPr/>
        </p:nvSpPr>
        <p:spPr>
          <a:xfrm>
            <a:off x="177135" y="157985"/>
            <a:ext cx="8689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Walbaum Text" panose="02070503080703020303" pitchFamily="18" charset="0"/>
              </a:rPr>
              <a:t>Simpson’s Paradox: Which treatment is better? </a:t>
            </a:r>
            <a:endParaRPr lang="en-US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404E5B2-973B-482E-046B-D1424941BD56}"/>
              </a:ext>
            </a:extLst>
          </p:cNvPr>
          <p:cNvCxnSpPr>
            <a:cxnSpLocks/>
          </p:cNvCxnSpPr>
          <p:nvPr/>
        </p:nvCxnSpPr>
        <p:spPr>
          <a:xfrm>
            <a:off x="3264795" y="1643289"/>
            <a:ext cx="25822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12338DA-F8F3-DD4F-53F5-4C5986B04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6767" y="2631716"/>
            <a:ext cx="3226158" cy="21958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557B28-882C-3884-C335-F01B56982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39" y="979008"/>
            <a:ext cx="2813253" cy="1340544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959E6016-0C6A-D9E7-5FDC-A9AF7CABCFF8}"/>
              </a:ext>
            </a:extLst>
          </p:cNvPr>
          <p:cNvSpPr/>
          <p:nvPr/>
        </p:nvSpPr>
        <p:spPr>
          <a:xfrm>
            <a:off x="5847010" y="999559"/>
            <a:ext cx="2580041" cy="13477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Treatment A is better</a:t>
            </a:r>
          </a:p>
        </p:txBody>
      </p:sp>
    </p:spTree>
    <p:extLst>
      <p:ext uri="{BB962C8B-B14F-4D97-AF65-F5344CB8AC3E}">
        <p14:creationId xmlns:p14="http://schemas.microsoft.com/office/powerpoint/2010/main" val="3257823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B1474-56F6-9653-2888-EC283EB8D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29DBC8-FFF0-1354-588B-44C088E37D70}"/>
              </a:ext>
            </a:extLst>
          </p:cNvPr>
          <p:cNvSpPr txBox="1"/>
          <p:nvPr/>
        </p:nvSpPr>
        <p:spPr>
          <a:xfrm>
            <a:off x="177135" y="157985"/>
            <a:ext cx="8689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Walbaum Text" panose="02070503080703020303" pitchFamily="18" charset="0"/>
              </a:rPr>
              <a:t>Simpson’s Paradox: A Real dataset example</a:t>
            </a:r>
            <a:endParaRPr lang="en-US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78EA52-DC94-C590-8A26-84E7B1D79562}"/>
              </a:ext>
            </a:extLst>
          </p:cNvPr>
          <p:cNvSpPr txBox="1"/>
          <p:nvPr/>
        </p:nvSpPr>
        <p:spPr>
          <a:xfrm>
            <a:off x="524814" y="1171366"/>
            <a:ext cx="826179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R includes the classic 1973 Berkeley graduate admissions table as UCBAdmissions.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4526 Applicants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6 Departments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2 gender categories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2 Admission Outcomes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en-US" sz="1600" dirty="0">
                <a:solidFill>
                  <a:schemeClr val="bg1"/>
                </a:solidFill>
              </a:rPr>
              <a:t>Question: Were female applicants less likely to be admitted?</a:t>
            </a:r>
          </a:p>
        </p:txBody>
      </p:sp>
    </p:spTree>
    <p:extLst>
      <p:ext uri="{BB962C8B-B14F-4D97-AF65-F5344CB8AC3E}">
        <p14:creationId xmlns:p14="http://schemas.microsoft.com/office/powerpoint/2010/main" val="1722747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6B7E9-A94E-11F2-9055-1AFD75D46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87D033-E586-109F-E70D-C7D78D04B0CA}"/>
              </a:ext>
            </a:extLst>
          </p:cNvPr>
          <p:cNvSpPr txBox="1"/>
          <p:nvPr/>
        </p:nvSpPr>
        <p:spPr>
          <a:xfrm>
            <a:off x="177135" y="157985"/>
            <a:ext cx="8689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Walbaum Text" panose="02070503080703020303" pitchFamily="18" charset="0"/>
              </a:rPr>
              <a:t>Simpson’s Paradox: A Real dataset example</a:t>
            </a:r>
            <a:endParaRPr lang="en-US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786D644-02FB-1F1B-8488-F40190AC1A8A}"/>
                  </a:ext>
                </a:extLst>
              </p:cNvPr>
              <p:cNvSpPr txBox="1"/>
              <p:nvPr/>
            </p:nvSpPr>
            <p:spPr>
              <a:xfrm>
                <a:off x="604532" y="1663809"/>
                <a:ext cx="8261797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bg1"/>
                    </a:solidFill>
                  </a:rPr>
                  <a:t>Overall Admissions Rate:</a:t>
                </a:r>
              </a:p>
              <a:p>
                <a:endParaRPr lang="en-US" sz="1600" dirty="0">
                  <a:solidFill>
                    <a:schemeClr val="bg1"/>
                  </a:solidFill>
                </a:endParaRPr>
              </a:p>
              <a:p>
                <a:r>
                  <a:rPr lang="en-US" sz="1600" dirty="0">
                    <a:solidFill>
                      <a:schemeClr val="bg1"/>
                    </a:solidFill>
                  </a:rPr>
                  <a:t>Male applicants: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44.5%</m:t>
                    </m:r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  (1198 admitted out of 2691 applicants)</a:t>
                </a:r>
              </a:p>
              <a:p>
                <a:endParaRPr lang="en-US" sz="1600" dirty="0">
                  <a:solidFill>
                    <a:schemeClr val="bg1"/>
                  </a:solidFill>
                </a:endParaRPr>
              </a:p>
              <a:p>
                <a:r>
                  <a:rPr lang="en-US" sz="1600" dirty="0">
                    <a:solidFill>
                      <a:schemeClr val="bg1"/>
                    </a:solidFill>
                  </a:rPr>
                  <a:t>Female applicants: 30.4% (557 admitted out of 1835 applicants)</a:t>
                </a:r>
              </a:p>
              <a:p>
                <a:endParaRPr lang="en-US" sz="1600" dirty="0">
                  <a:solidFill>
                    <a:schemeClr val="bg1"/>
                  </a:solidFill>
                </a:endParaRPr>
              </a:p>
              <a:p>
                <a:r>
                  <a:rPr lang="en-US" sz="1600" dirty="0">
                    <a:solidFill>
                      <a:schemeClr val="bg1"/>
                    </a:solidFill>
                  </a:rPr>
                  <a:t>What would you conclude?</a:t>
                </a:r>
              </a:p>
              <a:p>
                <a:endParaRPr lang="en-US" sz="1600" dirty="0">
                  <a:solidFill>
                    <a:schemeClr val="bg1"/>
                  </a:solidFill>
                </a:endParaRPr>
              </a:p>
              <a:p>
                <a:r>
                  <a:rPr lang="en-US" sz="1600" dirty="0">
                    <a:solidFill>
                      <a:schemeClr val="bg1"/>
                    </a:solidFill>
                  </a:rPr>
                  <a:t>Does 44.5% vs 30.4% show that being female reduced the chance of admission?</a:t>
                </a:r>
              </a:p>
              <a:p>
                <a:endParaRPr lang="en-US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786D644-02FB-1F1B-8488-F40190AC1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532" y="1663809"/>
                <a:ext cx="8261797" cy="2554545"/>
              </a:xfrm>
              <a:prstGeom prst="rect">
                <a:avLst/>
              </a:prstGeom>
              <a:blipFill>
                <a:blip r:embed="rId2"/>
                <a:stretch>
                  <a:fillRect l="-369" t="-7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5126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DF326-8E06-7A5D-89BD-55AB5482D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87FEC0-F3DC-383F-7A54-C183891B2295}"/>
              </a:ext>
            </a:extLst>
          </p:cNvPr>
          <p:cNvSpPr txBox="1"/>
          <p:nvPr/>
        </p:nvSpPr>
        <p:spPr>
          <a:xfrm>
            <a:off x="177135" y="157985"/>
            <a:ext cx="8689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Walbaum Text" panose="02070503080703020303" pitchFamily="18" charset="0"/>
              </a:rPr>
              <a:t>Simpson’s Paradox: A Real dataset example</a:t>
            </a:r>
            <a:endParaRPr lang="en-US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C9B67C-ACAD-5DAB-71C2-B8CD18A4A6B3}"/>
              </a:ext>
            </a:extLst>
          </p:cNvPr>
          <p:cNvSpPr txBox="1"/>
          <p:nvPr/>
        </p:nvSpPr>
        <p:spPr>
          <a:xfrm>
            <a:off x="604532" y="1308701"/>
            <a:ext cx="826179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A hidden structure: Department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Applicants did not apply to the same department in the same proportions.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Departments also have different selectivity.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7FD3593-E373-2280-FA44-BCB9B61E00EB}"/>
              </a:ext>
            </a:extLst>
          </p:cNvPr>
          <p:cNvSpPr/>
          <p:nvPr/>
        </p:nvSpPr>
        <p:spPr>
          <a:xfrm>
            <a:off x="2526901" y="4132942"/>
            <a:ext cx="1280160" cy="658368"/>
          </a:xfrm>
          <a:prstGeom prst="ellipse">
            <a:avLst/>
          </a:prstGeom>
          <a:solidFill>
            <a:schemeClr val="accent1"/>
          </a:solidFill>
          <a:ln w="17780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252AF30-CBD1-3504-7FBA-F16022B1C79D}"/>
              </a:ext>
            </a:extLst>
          </p:cNvPr>
          <p:cNvSpPr/>
          <p:nvPr/>
        </p:nvSpPr>
        <p:spPr>
          <a:xfrm>
            <a:off x="2526901" y="428839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Gender</a:t>
            </a:r>
            <a:endParaRPr lang="en-US" sz="17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C888DD20-45BC-5F6D-843D-2E60DBBCF5D2}"/>
              </a:ext>
            </a:extLst>
          </p:cNvPr>
          <p:cNvSpPr/>
          <p:nvPr/>
        </p:nvSpPr>
        <p:spPr>
          <a:xfrm>
            <a:off x="2567006" y="3236589"/>
            <a:ext cx="1418122" cy="671361"/>
          </a:xfrm>
          <a:prstGeom prst="ellipse">
            <a:avLst/>
          </a:prstGeom>
          <a:solidFill>
            <a:schemeClr val="accent1"/>
          </a:solidFill>
          <a:ln w="17780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B08934E7-84A9-A604-51DD-EF97F2B8844C}"/>
              </a:ext>
            </a:extLst>
          </p:cNvPr>
          <p:cNvSpPr/>
          <p:nvPr/>
        </p:nvSpPr>
        <p:spPr>
          <a:xfrm>
            <a:off x="2635987" y="3406355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Department</a:t>
            </a:r>
            <a:endParaRPr lang="en-US" sz="170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24E3B965-0C0E-4E37-6B83-0D29D95EFC6A}"/>
              </a:ext>
            </a:extLst>
          </p:cNvPr>
          <p:cNvSpPr/>
          <p:nvPr/>
        </p:nvSpPr>
        <p:spPr>
          <a:xfrm>
            <a:off x="5403251" y="4022974"/>
            <a:ext cx="1280160" cy="658368"/>
          </a:xfrm>
          <a:prstGeom prst="ellipse">
            <a:avLst/>
          </a:prstGeom>
          <a:solidFill>
            <a:schemeClr val="accent1"/>
          </a:solidFill>
          <a:ln w="17780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18521B7F-E045-392B-4014-C1555E95CEA8}"/>
              </a:ext>
            </a:extLst>
          </p:cNvPr>
          <p:cNvSpPr/>
          <p:nvPr/>
        </p:nvSpPr>
        <p:spPr>
          <a:xfrm>
            <a:off x="5403251" y="417842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Admission</a:t>
            </a:r>
            <a:endParaRPr lang="en-US" sz="1700" dirty="0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0B7EBECA-3CF3-41A6-EA6A-3739574498A6}"/>
              </a:ext>
            </a:extLst>
          </p:cNvPr>
          <p:cNvSpPr/>
          <p:nvPr/>
        </p:nvSpPr>
        <p:spPr>
          <a:xfrm>
            <a:off x="3807061" y="4436379"/>
            <a:ext cx="1596189" cy="0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3535E18F-1D9E-C840-FFE6-81CFF8BD515C}"/>
              </a:ext>
            </a:extLst>
          </p:cNvPr>
          <p:cNvSpPr/>
          <p:nvPr/>
        </p:nvSpPr>
        <p:spPr>
          <a:xfrm>
            <a:off x="3985128" y="3642535"/>
            <a:ext cx="1418122" cy="658369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0858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6D2D0-5477-9CBF-1CEB-ACAFE661F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A2B2D4-E426-809D-F233-91A99BF28E06}"/>
              </a:ext>
            </a:extLst>
          </p:cNvPr>
          <p:cNvSpPr txBox="1"/>
          <p:nvPr/>
        </p:nvSpPr>
        <p:spPr>
          <a:xfrm>
            <a:off x="177135" y="157985"/>
            <a:ext cx="8689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Walbaum Text" panose="02070503080703020303" pitchFamily="18" charset="0"/>
              </a:rPr>
              <a:t>Simpson’s Paradox: A Real dataset example</a:t>
            </a:r>
            <a:endParaRPr lang="en-US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FE2C08-DD96-9847-6B8A-DAF9D5C96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922" y="785109"/>
            <a:ext cx="5006156" cy="4268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9112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A396D-9356-F740-AF8C-636323713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0B23B3-FD51-A5ED-8D7C-72C262FE3EA5}"/>
              </a:ext>
            </a:extLst>
          </p:cNvPr>
          <p:cNvSpPr txBox="1"/>
          <p:nvPr/>
        </p:nvSpPr>
        <p:spPr>
          <a:xfrm>
            <a:off x="177135" y="157985"/>
            <a:ext cx="8689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Walbaum Text" panose="02070503080703020303" pitchFamily="18" charset="0"/>
              </a:rPr>
              <a:t>Simpson’s Paradox: A Real dataset example</a:t>
            </a:r>
            <a:endParaRPr lang="en-US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9BD6A8-C5F2-E790-E90C-1B3346986A96}"/>
              </a:ext>
            </a:extLst>
          </p:cNvPr>
          <p:cNvSpPr txBox="1"/>
          <p:nvPr/>
        </p:nvSpPr>
        <p:spPr>
          <a:xfrm>
            <a:off x="604532" y="1308701"/>
            <a:ext cx="8261797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The aggregate comparison and the within group comparisons can point in different directions.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Overall:  Male 44.5%, Female 30.4%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When we consider within departments, the gap shrinks or reverses in several departments.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Departments had very different admission rates.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Male and female applicants applied to those departments in different proportions.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The overall rate is a weighted average of department-specific rates.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Changing the weights can change the apparent association.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15615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D3C8A-295C-3C8B-38C5-42EBFC89C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FDFCEB-1B28-4285-236D-D3F4E72ECAD3}"/>
              </a:ext>
            </a:extLst>
          </p:cNvPr>
          <p:cNvSpPr txBox="1"/>
          <p:nvPr/>
        </p:nvSpPr>
        <p:spPr>
          <a:xfrm>
            <a:off x="177135" y="157985"/>
            <a:ext cx="8689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Walbaum Text" panose="02070503080703020303" pitchFamily="18" charset="0"/>
              </a:rPr>
              <a:t>Correlation and Causation</a:t>
            </a:r>
            <a:endParaRPr lang="en-US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99CF76-C7CC-45A9-A0A8-5A4AC8BA2DEE}"/>
              </a:ext>
            </a:extLst>
          </p:cNvPr>
          <p:cNvSpPr txBox="1"/>
          <p:nvPr/>
        </p:nvSpPr>
        <p:spPr>
          <a:xfrm>
            <a:off x="390833" y="1160594"/>
            <a:ext cx="826179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Correlation does not imply causation.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Example 1: Sleeping with shoes on is strongly correlated with waking up with a headache.</a:t>
            </a:r>
          </a:p>
          <a:p>
            <a:r>
              <a:rPr lang="en-US" sz="1600" dirty="0">
                <a:solidFill>
                  <a:schemeClr val="bg1"/>
                </a:solidFill>
              </a:rPr>
              <a:t>Common Cause: Drinking the night before.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Shoe-sleepers differ from non-shoe sleepers in a key way.</a:t>
            </a:r>
          </a:p>
          <a:p>
            <a:r>
              <a:rPr lang="en-US" sz="1600" dirty="0">
                <a:solidFill>
                  <a:schemeClr val="bg1"/>
                </a:solidFill>
              </a:rPr>
              <a:t>This is called </a:t>
            </a:r>
            <a:r>
              <a:rPr lang="en-US" sz="1600" b="1" u="sng" dirty="0">
                <a:solidFill>
                  <a:schemeClr val="bg1"/>
                </a:solidFill>
              </a:rPr>
              <a:t>Confounding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Total association (e.g. Correlation): Mixture of causal and confounding association.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 </a:t>
            </a:r>
          </a:p>
          <a:p>
            <a:r>
              <a:rPr lang="en-US" sz="1600" dirty="0">
                <a:solidFill>
                  <a:schemeClr val="bg1"/>
                </a:solidFill>
              </a:rPr>
              <a:t>“Correlation = Causation” is a cognitive bias.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pPr algn="ctr"/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42876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0392F-09D1-72E3-669C-9801F3B75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A25878-6D1F-BE38-D33F-B5FD46C2570B}"/>
              </a:ext>
            </a:extLst>
          </p:cNvPr>
          <p:cNvSpPr txBox="1"/>
          <p:nvPr/>
        </p:nvSpPr>
        <p:spPr>
          <a:xfrm>
            <a:off x="177135" y="157985"/>
            <a:ext cx="8689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Walbaum Text" panose="02070503080703020303" pitchFamily="18" charset="0"/>
              </a:rPr>
              <a:t>Correlation and Causation</a:t>
            </a:r>
            <a:endParaRPr lang="en-US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77249A-8560-B223-EA2B-73BB44D0CCDD}"/>
              </a:ext>
            </a:extLst>
          </p:cNvPr>
          <p:cNvSpPr txBox="1"/>
          <p:nvPr/>
        </p:nvSpPr>
        <p:spPr>
          <a:xfrm>
            <a:off x="390833" y="1160594"/>
            <a:ext cx="826179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Different types of cognitive bias: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Availability heuristic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Motivated Reasoning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Anchoring bias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Confirmation bias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Apophenia</a:t>
            </a:r>
          </a:p>
        </p:txBody>
      </p:sp>
    </p:spTree>
    <p:extLst>
      <p:ext uri="{BB962C8B-B14F-4D97-AF65-F5344CB8AC3E}">
        <p14:creationId xmlns:p14="http://schemas.microsoft.com/office/powerpoint/2010/main" val="13161625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7B6F3-ECA1-3F3E-090D-02A26659B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8D0AAE-82DA-84F4-20FE-D25FC5C1234E}"/>
              </a:ext>
            </a:extLst>
          </p:cNvPr>
          <p:cNvSpPr txBox="1"/>
          <p:nvPr/>
        </p:nvSpPr>
        <p:spPr>
          <a:xfrm>
            <a:off x="177135" y="157985"/>
            <a:ext cx="8689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Walbaum Text" panose="02070503080703020303" pitchFamily="18" charset="0"/>
              </a:rPr>
              <a:t>Correlation and Causation</a:t>
            </a:r>
            <a:endParaRPr lang="en-US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F93C6-C5E5-FA8F-25FF-EAAABCB9B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6307"/>
            <a:ext cx="9144000" cy="4190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0086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CEBBE-B19F-68D0-2610-7B929B1F5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CFA293-1E41-1119-9726-767813BBDEAF}"/>
              </a:ext>
            </a:extLst>
          </p:cNvPr>
          <p:cNvSpPr txBox="1"/>
          <p:nvPr/>
        </p:nvSpPr>
        <p:spPr>
          <a:xfrm>
            <a:off x="177135" y="157985"/>
            <a:ext cx="8689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Walbaum Text" panose="02070503080703020303" pitchFamily="18" charset="0"/>
              </a:rPr>
              <a:t>Prediction and Causation</a:t>
            </a:r>
            <a:endParaRPr lang="en-US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373243F-8A76-6D9F-9344-561C740AB200}"/>
                  </a:ext>
                </a:extLst>
              </p:cNvPr>
              <p:cNvSpPr txBox="1"/>
              <p:nvPr/>
            </p:nvSpPr>
            <p:spPr>
              <a:xfrm>
                <a:off x="390833" y="1057563"/>
                <a:ext cx="8261797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bg1"/>
                    </a:solidFill>
                  </a:rPr>
                  <a:t>Prediction and Causation answer two different questions.</a:t>
                </a:r>
              </a:p>
              <a:p>
                <a:endParaRPr lang="en-US" sz="1600" dirty="0">
                  <a:solidFill>
                    <a:schemeClr val="bg1"/>
                  </a:solidFill>
                </a:endParaRPr>
              </a:p>
              <a:p>
                <a:r>
                  <a:rPr lang="en-US" sz="1600" dirty="0">
                    <a:solidFill>
                      <a:schemeClr val="bg1"/>
                    </a:solidFill>
                  </a:rPr>
                  <a:t>Prediction: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1600" dirty="0">
                  <a:solidFill>
                    <a:schemeClr val="bg1"/>
                  </a:solidFill>
                </a:endParaRPr>
              </a:p>
              <a:p>
                <a:endParaRPr lang="en-US" sz="1600" dirty="0">
                  <a:solidFill>
                    <a:schemeClr val="bg1"/>
                  </a:solidFill>
                </a:endParaRPr>
              </a:p>
              <a:p>
                <a:r>
                  <a:rPr lang="en-US" sz="1600" dirty="0">
                    <a:solidFill>
                      <a:schemeClr val="bg1"/>
                    </a:solidFill>
                  </a:rPr>
                  <a:t>Causation: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(0))</m:t>
                    </m:r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.</a:t>
                </a:r>
              </a:p>
              <a:p>
                <a:endParaRPr lang="en-US" sz="1600" dirty="0">
                  <a:solidFill>
                    <a:schemeClr val="bg1"/>
                  </a:solidFill>
                </a:endParaRPr>
              </a:p>
              <a:p>
                <a:r>
                  <a:rPr lang="en-US" sz="1600" dirty="0">
                    <a:solidFill>
                      <a:schemeClr val="bg1"/>
                    </a:solidFill>
                  </a:rPr>
                  <a:t>Suppose an electronic health record contains age, diagnosis, labs, treatment, and mortality.</a:t>
                </a:r>
              </a:p>
              <a:p>
                <a:endParaRPr lang="en-US" sz="1600" dirty="0">
                  <a:solidFill>
                    <a:schemeClr val="bg1"/>
                  </a:solidFill>
                </a:endParaRPr>
              </a:p>
              <a:p>
                <a:endParaRPr lang="en-US" sz="1600" dirty="0">
                  <a:solidFill>
                    <a:schemeClr val="bg1"/>
                  </a:solidFill>
                </a:endParaRPr>
              </a:p>
              <a:p>
                <a:r>
                  <a:rPr lang="en-US" sz="1600" dirty="0">
                    <a:solidFill>
                      <a:schemeClr val="bg1"/>
                    </a:solidFill>
                  </a:rPr>
                  <a:t>Prediction: Which patients are most likely to die?</a:t>
                </a:r>
              </a:p>
              <a:p>
                <a:r>
                  <a:rPr lang="en-US" sz="1600" dirty="0">
                    <a:solidFill>
                      <a:schemeClr val="bg1"/>
                    </a:solidFill>
                  </a:rPr>
                  <a:t>Causation: Would giving treatment A reduce mortality?</a:t>
                </a:r>
              </a:p>
              <a:p>
                <a:endParaRPr lang="en-US" sz="1600" dirty="0">
                  <a:solidFill>
                    <a:schemeClr val="bg1"/>
                  </a:solidFill>
                </a:endParaRPr>
              </a:p>
              <a:p>
                <a:r>
                  <a:rPr lang="en-US" sz="1600" dirty="0">
                    <a:solidFill>
                      <a:schemeClr val="bg1"/>
                    </a:solidFill>
                  </a:rPr>
                  <a:t>Treatment itself may be a strong predictor because the sickest patients receive it.</a:t>
                </a:r>
              </a:p>
              <a:p>
                <a:endParaRPr lang="en-US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373243F-8A76-6D9F-9344-561C740AB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833" y="1057563"/>
                <a:ext cx="8261797" cy="3785652"/>
              </a:xfrm>
              <a:prstGeom prst="rect">
                <a:avLst/>
              </a:prstGeom>
              <a:blipFill>
                <a:blip r:embed="rId2"/>
                <a:stretch>
                  <a:fillRect l="-369" t="-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77711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B1BE6-65A5-382F-2531-3B1D91F34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FC29BF-7C16-906C-B30A-0F44B3A5FBFF}"/>
              </a:ext>
            </a:extLst>
          </p:cNvPr>
          <p:cNvSpPr txBox="1"/>
          <p:nvPr/>
        </p:nvSpPr>
        <p:spPr>
          <a:xfrm>
            <a:off x="177135" y="157985"/>
            <a:ext cx="8689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Walbaum Text" panose="02070503080703020303" pitchFamily="18" charset="0"/>
              </a:rPr>
              <a:t>Prediction and Causation</a:t>
            </a:r>
            <a:endParaRPr lang="en-US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1268D6-0F4A-2287-C04F-F3CC0442AC2D}"/>
              </a:ext>
            </a:extLst>
          </p:cNvPr>
          <p:cNvSpPr txBox="1"/>
          <p:nvPr/>
        </p:nvSpPr>
        <p:spPr>
          <a:xfrm>
            <a:off x="390833" y="1366656"/>
            <a:ext cx="826179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High predictive accuracy does not establish a causal effect.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A model can perfectly learn patterns that are consequences of confounding, selection mechanisms, treatment decisions, post-treatment variables, etc.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Prediction asks whether the pattern repeats.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Causal inference asks what would change under intervention.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32105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DEAF7-6457-F9B4-E034-6642D4539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54A8CD-4D4E-863C-3EFA-D9F60E53F1A2}"/>
              </a:ext>
            </a:extLst>
          </p:cNvPr>
          <p:cNvSpPr txBox="1"/>
          <p:nvPr/>
        </p:nvSpPr>
        <p:spPr>
          <a:xfrm>
            <a:off x="177135" y="157985"/>
            <a:ext cx="8689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Walbaum Text" panose="02070503080703020303" pitchFamily="18" charset="0"/>
              </a:rPr>
              <a:t>Formulating a causal question</a:t>
            </a:r>
            <a:endParaRPr lang="en-US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D453E3-FAD7-AE4B-6CE5-5075E830F989}"/>
              </a:ext>
            </a:extLst>
          </p:cNvPr>
          <p:cNvSpPr txBox="1"/>
          <p:nvPr/>
        </p:nvSpPr>
        <p:spPr>
          <a:xfrm>
            <a:off x="390833" y="877259"/>
            <a:ext cx="826179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Can I meaningfully imaging changing the exposure?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pPr lvl="1"/>
            <a:r>
              <a:rPr lang="en-US" sz="16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Association: Are smokers less healthy?</a:t>
            </a:r>
          </a:p>
          <a:p>
            <a:pPr lvl="1"/>
            <a:r>
              <a:rPr lang="en-US" sz="1600" dirty="0">
                <a:solidFill>
                  <a:srgbClr val="00B0F0"/>
                </a:solidFill>
              </a:rPr>
              <a:t>Causal: What would happen to health if smokers stopped smoking?</a:t>
            </a:r>
          </a:p>
          <a:p>
            <a:pPr lvl="1"/>
            <a:endParaRPr lang="en-US" sz="1600" dirty="0">
              <a:solidFill>
                <a:schemeClr val="bg1"/>
              </a:solidFill>
            </a:endParaRPr>
          </a:p>
          <a:p>
            <a:pPr lvl="1"/>
            <a:r>
              <a:rPr lang="en-US" sz="16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Association: Are highly educated people wealthier?</a:t>
            </a:r>
          </a:p>
          <a:p>
            <a:pPr lvl="1"/>
            <a:r>
              <a:rPr lang="en-US" sz="1600" dirty="0">
                <a:solidFill>
                  <a:srgbClr val="00B0F0"/>
                </a:solidFill>
              </a:rPr>
              <a:t>Causal: What would earnings be if a person received one additional year of education?</a:t>
            </a:r>
          </a:p>
          <a:p>
            <a:pPr lvl="1"/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Association: Do people who exercise more have lower blood pressure?</a:t>
            </a:r>
          </a:p>
          <a:p>
            <a:r>
              <a:rPr lang="en-US" sz="1600" dirty="0">
                <a:solidFill>
                  <a:srgbClr val="00B0F0"/>
                </a:solidFill>
              </a:rPr>
              <a:t>Causal: What would happen to blood pressure if sedentary adults increased their exercise by 150 minutes per week?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Association: Are people who drink coffee less likely to develop Parkinson’s disease?</a:t>
            </a:r>
          </a:p>
          <a:p>
            <a:r>
              <a:rPr lang="en-US" sz="1600" dirty="0">
                <a:solidFill>
                  <a:srgbClr val="00B0F0"/>
                </a:solidFill>
              </a:rPr>
              <a:t>Causal: What would happen to Parkinson’s disease risk if people increased their coffee consumption?</a:t>
            </a:r>
          </a:p>
        </p:txBody>
      </p:sp>
    </p:spTree>
    <p:extLst>
      <p:ext uri="{BB962C8B-B14F-4D97-AF65-F5344CB8AC3E}">
        <p14:creationId xmlns:p14="http://schemas.microsoft.com/office/powerpoint/2010/main" val="8705867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12028-8EC1-0343-E695-8C72B192A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E8EA90-D8AE-7E22-0A7E-374B61F23345}"/>
              </a:ext>
            </a:extLst>
          </p:cNvPr>
          <p:cNvSpPr txBox="1"/>
          <p:nvPr/>
        </p:nvSpPr>
        <p:spPr>
          <a:xfrm>
            <a:off x="177135" y="157985"/>
            <a:ext cx="8689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Walbaum Text" panose="02070503080703020303" pitchFamily="18" charset="0"/>
              </a:rPr>
              <a:t>Formulating a causal question</a:t>
            </a:r>
            <a:endParaRPr lang="en-US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6B56762-1769-4C14-D7A4-42480B5CE863}"/>
              </a:ext>
            </a:extLst>
          </p:cNvPr>
          <p:cNvSpPr/>
          <p:nvPr/>
        </p:nvSpPr>
        <p:spPr>
          <a:xfrm>
            <a:off x="489666" y="1070020"/>
            <a:ext cx="8324850" cy="4762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Five ingredients of a causal question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5566A22-C29C-FB0B-22E2-F2432B96D959}"/>
              </a:ext>
            </a:extLst>
          </p:cNvPr>
          <p:cNvSpPr/>
          <p:nvPr/>
        </p:nvSpPr>
        <p:spPr>
          <a:xfrm>
            <a:off x="546816" y="2016170"/>
            <a:ext cx="1552441" cy="21018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Population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Who?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353AB2-B5B5-0BD8-B09E-944755CE998B}"/>
              </a:ext>
            </a:extLst>
          </p:cNvPr>
          <p:cNvSpPr/>
          <p:nvPr/>
        </p:nvSpPr>
        <p:spPr>
          <a:xfrm>
            <a:off x="2244681" y="2016170"/>
            <a:ext cx="1552441" cy="21018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Treatment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What intervention?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196A74A-5F6D-C81A-0653-78FC6087BD4E}"/>
              </a:ext>
            </a:extLst>
          </p:cNvPr>
          <p:cNvSpPr/>
          <p:nvPr/>
        </p:nvSpPr>
        <p:spPr>
          <a:xfrm>
            <a:off x="3942546" y="2016170"/>
            <a:ext cx="1552441" cy="21018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Comparator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Compared with what?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8015668-CD72-B139-C90F-2EB5CEE10FE6}"/>
              </a:ext>
            </a:extLst>
          </p:cNvPr>
          <p:cNvSpPr/>
          <p:nvPr/>
        </p:nvSpPr>
        <p:spPr>
          <a:xfrm>
            <a:off x="5640411" y="2016170"/>
            <a:ext cx="1552441" cy="21018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Outcome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What endpoint?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7AEA4CE-72FB-C406-F167-85782641E2FE}"/>
              </a:ext>
            </a:extLst>
          </p:cNvPr>
          <p:cNvSpPr/>
          <p:nvPr/>
        </p:nvSpPr>
        <p:spPr>
          <a:xfrm>
            <a:off x="7262075" y="2016170"/>
            <a:ext cx="1552441" cy="21018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5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Time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Over what horizon?</a:t>
            </a:r>
          </a:p>
        </p:txBody>
      </p:sp>
    </p:spTree>
    <p:extLst>
      <p:ext uri="{BB962C8B-B14F-4D97-AF65-F5344CB8AC3E}">
        <p14:creationId xmlns:p14="http://schemas.microsoft.com/office/powerpoint/2010/main" val="35329021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88727-55D3-8727-2B52-2CC8E1EC7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986BD4-DE2C-B32F-8230-E5643000FED1}"/>
              </a:ext>
            </a:extLst>
          </p:cNvPr>
          <p:cNvSpPr txBox="1"/>
          <p:nvPr/>
        </p:nvSpPr>
        <p:spPr>
          <a:xfrm>
            <a:off x="177135" y="157985"/>
            <a:ext cx="8689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Walbaum Text" panose="02070503080703020303" pitchFamily="18" charset="0"/>
              </a:rPr>
              <a:t>Formulating a causal question</a:t>
            </a:r>
            <a:endParaRPr lang="en-US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3A602F-58AA-744A-5F88-EDC4E709C04C}"/>
              </a:ext>
            </a:extLst>
          </p:cNvPr>
          <p:cNvSpPr txBox="1"/>
          <p:nvPr/>
        </p:nvSpPr>
        <p:spPr>
          <a:xfrm>
            <a:off x="441101" y="1579157"/>
            <a:ext cx="826179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Does tutoring help students?</a:t>
            </a:r>
          </a:p>
          <a:p>
            <a:pPr algn="ctr"/>
            <a:endParaRPr lang="en-US" sz="1600" dirty="0">
              <a:solidFill>
                <a:schemeClr val="bg1"/>
              </a:solidFill>
            </a:endParaRPr>
          </a:p>
          <a:p>
            <a:pPr algn="ctr"/>
            <a:endParaRPr lang="en-US" sz="1600" dirty="0">
              <a:solidFill>
                <a:schemeClr val="bg1"/>
              </a:solidFill>
            </a:endParaRPr>
          </a:p>
          <a:p>
            <a:pPr algn="ctr"/>
            <a:endParaRPr lang="en-US" sz="1600" dirty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Among students eligible for tutoring, what would be the difference in pass rates if all were assigned tutoring versus if none were assigned tutoring?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5CA3154-1F46-5BEA-C610-FCD770F208F1}"/>
              </a:ext>
            </a:extLst>
          </p:cNvPr>
          <p:cNvCxnSpPr/>
          <p:nvPr/>
        </p:nvCxnSpPr>
        <p:spPr>
          <a:xfrm>
            <a:off x="4571999" y="1996047"/>
            <a:ext cx="0" cy="730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32726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61059-D627-7270-A6DC-2595E2834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F8439A-8E2A-F738-A087-8D391D6046F2}"/>
              </a:ext>
            </a:extLst>
          </p:cNvPr>
          <p:cNvSpPr txBox="1"/>
          <p:nvPr/>
        </p:nvSpPr>
        <p:spPr>
          <a:xfrm>
            <a:off x="177135" y="157985"/>
            <a:ext cx="8689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Walbaum Text" panose="02070503080703020303" pitchFamily="18" charset="0"/>
              </a:rPr>
              <a:t>What implies causation?</a:t>
            </a:r>
            <a:endParaRPr lang="en-US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AE37B8-FE52-82B4-1F76-EFFE051CA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3918"/>
            <a:ext cx="9144000" cy="313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4528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35155-A2F1-2ABD-0663-FA99CF625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DEA7DB-45D3-06BE-3C56-F2DCA62E52C2}"/>
              </a:ext>
            </a:extLst>
          </p:cNvPr>
          <p:cNvSpPr txBox="1"/>
          <p:nvPr/>
        </p:nvSpPr>
        <p:spPr>
          <a:xfrm>
            <a:off x="177135" y="157985"/>
            <a:ext cx="8689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Walbaum Text" panose="02070503080703020303" pitchFamily="18" charset="0"/>
              </a:rPr>
              <a:t>What implies causation?</a:t>
            </a:r>
            <a:endParaRPr lang="en-US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1D7ADE-7EBA-7C52-D7D6-4B7441E9F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7182"/>
            <a:ext cx="9144000" cy="362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1247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5A3C6-5663-0253-6EC1-3A1F94C04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399EBF-ABDF-7590-5435-0ADD5F2608F3}"/>
              </a:ext>
            </a:extLst>
          </p:cNvPr>
          <p:cNvSpPr txBox="1"/>
          <p:nvPr/>
        </p:nvSpPr>
        <p:spPr>
          <a:xfrm>
            <a:off x="177135" y="157985"/>
            <a:ext cx="8689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Walbaum Text" panose="02070503080703020303" pitchFamily="18" charset="0"/>
              </a:rPr>
              <a:t>Potential Outcomes</a:t>
            </a:r>
            <a:endParaRPr lang="en-US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84403AB-82FF-A985-D23E-0A1C55430A2A}"/>
                  </a:ext>
                </a:extLst>
              </p:cNvPr>
              <p:cNvSpPr txBox="1"/>
              <p:nvPr/>
            </p:nvSpPr>
            <p:spPr>
              <a:xfrm>
                <a:off x="390833" y="1366656"/>
                <a:ext cx="8261797" cy="3340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bg1"/>
                    </a:solidFill>
                  </a:rPr>
                  <a:t>Suppose T is the treatment (=1 means treated, =0 means not treated).</a:t>
                </a:r>
              </a:p>
              <a:p>
                <a:endParaRPr lang="en-US" sz="1600" dirty="0">
                  <a:solidFill>
                    <a:schemeClr val="bg1"/>
                  </a:solidFill>
                </a:endParaRPr>
              </a:p>
              <a:p>
                <a:r>
                  <a:rPr lang="en-US" sz="1600" dirty="0">
                    <a:solidFill>
                      <a:schemeClr val="bg1"/>
                    </a:solidFill>
                  </a:rPr>
                  <a:t>Y: Observed outcomes,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 is used in subscript to denote a specific unit/ individual.</a:t>
                </a:r>
              </a:p>
              <a:p>
                <a:endParaRPr lang="en-US" sz="1600" dirty="0">
                  <a:solidFill>
                    <a:schemeClr val="bg1"/>
                  </a:solidFill>
                </a:endParaRPr>
              </a:p>
              <a:p>
                <a:r>
                  <a:rPr lang="en-US" sz="1600" dirty="0">
                    <a:solidFill>
                      <a:schemeClr val="bg1"/>
                    </a:solidFill>
                  </a:rPr>
                  <a:t>Take the pill: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𝑑𝑜</m:t>
                    </m:r>
                    <m:r>
                      <a:rPr lang="en-US" sz="1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, Outcome: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𝑑𝑜</m:t>
                        </m:r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=1)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sz="1600" dirty="0">
                  <a:solidFill>
                    <a:schemeClr val="bg1"/>
                  </a:solidFill>
                </a:endParaRPr>
              </a:p>
              <a:p>
                <a:endParaRPr lang="en-US" sz="1600" dirty="0">
                  <a:solidFill>
                    <a:schemeClr val="bg1"/>
                  </a:solidFill>
                </a:endParaRPr>
              </a:p>
              <a:p>
                <a:r>
                  <a:rPr lang="en-US" sz="1600" dirty="0">
                    <a:solidFill>
                      <a:schemeClr val="bg1"/>
                    </a:solidFill>
                  </a:rPr>
                  <a:t>Do not take the pill: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𝑑𝑜</m:t>
                    </m:r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=0)</m:t>
                    </m:r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, Outcome: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𝑑𝑜</m:t>
                        </m:r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=0)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endParaRPr lang="en-US" sz="1600" dirty="0">
                  <a:solidFill>
                    <a:schemeClr val="bg1"/>
                  </a:solidFill>
                </a:endParaRPr>
              </a:p>
              <a:p>
                <a:endParaRPr lang="en-US" sz="1600" dirty="0">
                  <a:solidFill>
                    <a:schemeClr val="bg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 is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𝒑𝒐𝒕𝒆𝒏𝒕𝒊𝒂𝒍</m:t>
                    </m:r>
                    <m:r>
                      <a:rPr lang="en-US" sz="1600" b="1" i="1" dirty="0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1" i="1" dirty="0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𝒐𝒖𝒕𝒄𝒐𝒎𝒆</m:t>
                    </m:r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 under treatment.</a:t>
                </a:r>
              </a:p>
              <a:p>
                <a:endParaRPr lang="en-US" sz="1600" dirty="0">
                  <a:solidFill>
                    <a:schemeClr val="bg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 is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𝒑𝒐𝒕𝒆𝒏𝒕𝒊𝒂𝒍</m:t>
                    </m:r>
                    <m:r>
                      <a:rPr lang="en-US" sz="1600" b="1" i="1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1" i="1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𝒐𝒖𝒕𝒄𝒐𝒎𝒆</m:t>
                    </m:r>
                  </m:oMath>
                </a14:m>
                <a:r>
                  <a:rPr lang="en-US" sz="1600" b="1" i="1" dirty="0">
                    <a:solidFill>
                      <a:schemeClr val="bg1"/>
                    </a:solidFill>
                  </a:rPr>
                  <a:t> </a:t>
                </a:r>
                <a:r>
                  <a:rPr lang="en-US" sz="1600" dirty="0">
                    <a:solidFill>
                      <a:schemeClr val="bg1"/>
                    </a:solidFill>
                  </a:rPr>
                  <a:t>under no treatment.</a:t>
                </a:r>
              </a:p>
              <a:p>
                <a:endParaRPr lang="en-US" sz="1600" b="1" i="1" dirty="0">
                  <a:solidFill>
                    <a:schemeClr val="bg1"/>
                  </a:solidFill>
                </a:endParaRPr>
              </a:p>
              <a:p>
                <a:r>
                  <a:rPr lang="en-US" sz="1600" b="1" i="1" dirty="0">
                    <a:solidFill>
                      <a:schemeClr val="bg1"/>
                    </a:solidFill>
                  </a:rPr>
                  <a:t>Causal Effect: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chemeClr val="accent5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accent5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accent5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solidFill>
                              <a:schemeClr val="accent5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accent5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chemeClr val="accent5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accent5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accent5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endParaRPr lang="en-US" sz="1600" i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84403AB-82FF-A985-D23E-0A1C55430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833" y="1366656"/>
                <a:ext cx="8261797" cy="3340658"/>
              </a:xfrm>
              <a:prstGeom prst="rect">
                <a:avLst/>
              </a:prstGeom>
              <a:blipFill>
                <a:blip r:embed="rId2"/>
                <a:stretch>
                  <a:fillRect l="-369" t="-547" b="-14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51301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876A9-220E-895B-6D62-5EF710B97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F250AD-8484-FA11-3CE0-9CA910E2D265}"/>
              </a:ext>
            </a:extLst>
          </p:cNvPr>
          <p:cNvSpPr txBox="1"/>
          <p:nvPr/>
        </p:nvSpPr>
        <p:spPr>
          <a:xfrm>
            <a:off x="177135" y="157985"/>
            <a:ext cx="8689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Walbaum Text" panose="02070503080703020303" pitchFamily="18" charset="0"/>
              </a:rPr>
              <a:t>Potential Outcomes</a:t>
            </a:r>
            <a:endParaRPr lang="en-US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8B718CA-53E1-7A45-B4C0-34D9F3C51E32}"/>
              </a:ext>
            </a:extLst>
          </p:cNvPr>
          <p:cNvSpPr/>
          <p:nvPr/>
        </p:nvSpPr>
        <p:spPr>
          <a:xfrm>
            <a:off x="835152" y="1030224"/>
            <a:ext cx="3358896" cy="34564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chemeClr val="tx1"/>
                </a:solidFill>
              </a:rPr>
              <a:t>World 1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Treatment Received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A = 1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Outcome: Y(1)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EFE41AC-9AA2-41EC-B123-E0B6924D7DA9}"/>
              </a:ext>
            </a:extLst>
          </p:cNvPr>
          <p:cNvSpPr/>
          <p:nvPr/>
        </p:nvSpPr>
        <p:spPr>
          <a:xfrm>
            <a:off x="4949954" y="1030224"/>
            <a:ext cx="3358896" cy="34564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chemeClr val="tx1"/>
                </a:solidFill>
              </a:rPr>
              <a:t>World 2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No treatment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A = 0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Outcome: Y(0)</a:t>
            </a:r>
          </a:p>
        </p:txBody>
      </p:sp>
    </p:spTree>
    <p:extLst>
      <p:ext uri="{BB962C8B-B14F-4D97-AF65-F5344CB8AC3E}">
        <p14:creationId xmlns:p14="http://schemas.microsoft.com/office/powerpoint/2010/main" val="39848066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6F924-9858-7335-8FE4-B323CDD56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44DE4D-E5A4-187C-562E-9E7A88012D35}"/>
              </a:ext>
            </a:extLst>
          </p:cNvPr>
          <p:cNvSpPr txBox="1"/>
          <p:nvPr/>
        </p:nvSpPr>
        <p:spPr>
          <a:xfrm>
            <a:off x="177135" y="157985"/>
            <a:ext cx="8689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Walbaum Text" panose="02070503080703020303" pitchFamily="18" charset="0"/>
              </a:rPr>
              <a:t>Potential Outcomes: Fundamental Problem</a:t>
            </a:r>
            <a:endParaRPr lang="en-US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78EDD9-7F6F-C613-661B-0DC8BAE79B45}"/>
                  </a:ext>
                </a:extLst>
              </p:cNvPr>
              <p:cNvSpPr txBox="1"/>
              <p:nvPr/>
            </p:nvSpPr>
            <p:spPr>
              <a:xfrm>
                <a:off x="390833" y="1366656"/>
                <a:ext cx="8261797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bg1"/>
                    </a:solidFill>
                  </a:rPr>
                  <a:t>You cannot observe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 at the same time.</a:t>
                </a:r>
              </a:p>
              <a:p>
                <a:endParaRPr lang="en-US" sz="1600" dirty="0">
                  <a:solidFill>
                    <a:schemeClr val="bg1"/>
                  </a:solidFill>
                </a:endParaRPr>
              </a:p>
              <a:p>
                <a:r>
                  <a:rPr lang="en-US" sz="1600" dirty="0">
                    <a:solidFill>
                      <a:schemeClr val="bg1"/>
                    </a:solidFill>
                  </a:rPr>
                  <a:t>You cannot be given treatment and not given treatment at the same time. </a:t>
                </a:r>
              </a:p>
              <a:p>
                <a:endParaRPr lang="en-US" sz="1600" dirty="0">
                  <a:solidFill>
                    <a:schemeClr val="bg1"/>
                  </a:solidFill>
                </a:endParaRPr>
              </a:p>
              <a:p>
                <a:r>
                  <a:rPr lang="en-US" sz="1600" dirty="0">
                    <a:solidFill>
                      <a:schemeClr val="bg1"/>
                    </a:solidFill>
                  </a:rPr>
                  <a:t>Example: If you are given treatment, you can only observe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.</a:t>
                </a:r>
              </a:p>
              <a:p>
                <a:endParaRPr lang="en-US" sz="1600" dirty="0">
                  <a:solidFill>
                    <a:schemeClr val="bg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 cannot be observed, and this is called counterfactual.</a:t>
                </a:r>
              </a:p>
              <a:p>
                <a:endParaRPr lang="en-US" sz="1600" dirty="0">
                  <a:solidFill>
                    <a:schemeClr val="bg1"/>
                  </a:solidFill>
                </a:endParaRPr>
              </a:p>
              <a:p>
                <a:r>
                  <a:rPr lang="en-US" sz="1600" dirty="0">
                    <a:solidFill>
                      <a:schemeClr val="bg1"/>
                    </a:solidFill>
                  </a:rPr>
                  <a:t>If A=1, observed Y(1). Then Y(0) is counterfactual.</a:t>
                </a:r>
              </a:p>
              <a:p>
                <a:r>
                  <a:rPr lang="en-US" sz="1600" dirty="0">
                    <a:solidFill>
                      <a:schemeClr val="bg1"/>
                    </a:solidFill>
                  </a:rPr>
                  <a:t>If A=0, observed Y(0). Then Y(1) is counterfactual.</a:t>
                </a:r>
              </a:p>
              <a:p>
                <a:endParaRPr lang="en-US" sz="1600" dirty="0">
                  <a:solidFill>
                    <a:schemeClr val="bg1"/>
                  </a:solidFill>
                </a:endParaRPr>
              </a:p>
              <a:p>
                <a:r>
                  <a:rPr lang="en-US" sz="1600" dirty="0">
                    <a:solidFill>
                      <a:schemeClr val="bg1"/>
                    </a:solidFill>
                  </a:rPr>
                  <a:t>Causal inference is the science of learning about those missing counterfactuals.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78EDD9-7F6F-C613-661B-0DC8BAE79B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833" y="1366656"/>
                <a:ext cx="8261797" cy="3046988"/>
              </a:xfrm>
              <a:prstGeom prst="rect">
                <a:avLst/>
              </a:prstGeom>
              <a:blipFill>
                <a:blip r:embed="rId2"/>
                <a:stretch>
                  <a:fillRect l="-369" t="-600" b="-1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85682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DFBA2-8B9D-C930-D53A-9DD4B8442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745905-8F27-F3EB-077D-CD32B84A9D6B}"/>
              </a:ext>
            </a:extLst>
          </p:cNvPr>
          <p:cNvSpPr txBox="1"/>
          <p:nvPr/>
        </p:nvSpPr>
        <p:spPr>
          <a:xfrm>
            <a:off x="177135" y="157985"/>
            <a:ext cx="8689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Walbaum Text" panose="02070503080703020303" pitchFamily="18" charset="0"/>
              </a:rPr>
              <a:t>Average Treatment Effect</a:t>
            </a:r>
            <a:endParaRPr lang="en-US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3184416-FDC3-741B-F57C-1275CCA2C59E}"/>
                  </a:ext>
                </a:extLst>
              </p:cNvPr>
              <p:cNvSpPr txBox="1"/>
              <p:nvPr/>
            </p:nvSpPr>
            <p:spPr>
              <a:xfrm>
                <a:off x="220145" y="966546"/>
                <a:ext cx="4284799" cy="353943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r>
                  <a:rPr lang="en-US" sz="1600" dirty="0">
                    <a:solidFill>
                      <a:schemeClr val="tx1"/>
                    </a:solidFill>
                  </a:rPr>
                  <a:t>T: Observed Treatment</a:t>
                </a: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r>
                  <a:rPr lang="en-US" sz="1600" dirty="0">
                    <a:solidFill>
                      <a:schemeClr val="tx1"/>
                    </a:solidFill>
                  </a:rPr>
                  <a:t>Y: Observed Outcome</a:t>
                </a: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: Used in subscript to denote a specific individual</a:t>
                </a: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Potential Outcome under treatment</a:t>
                </a: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: Potential Outcome under no treatment</a:t>
                </a: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Population-level potential outcome</a:t>
                </a: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3184416-FDC3-741B-F57C-1275CCA2C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145" y="966546"/>
                <a:ext cx="4284799" cy="3539430"/>
              </a:xfrm>
              <a:prstGeom prst="rect">
                <a:avLst/>
              </a:prstGeom>
              <a:blipFill>
                <a:blip r:embed="rId2"/>
                <a:stretch>
                  <a:fillRect l="-7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2B6A99B-F6D0-FFFC-4E37-52832A528624}"/>
                  </a:ext>
                </a:extLst>
              </p:cNvPr>
              <p:cNvSpPr txBox="1"/>
              <p:nvPr/>
            </p:nvSpPr>
            <p:spPr>
              <a:xfrm>
                <a:off x="4651248" y="966546"/>
                <a:ext cx="4284799" cy="3136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</a:rPr>
                  <a:t>Individual Treatment Effect (ITE):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endParaRPr lang="en-US" dirty="0">
                  <a:solidFill>
                    <a:schemeClr val="bg1"/>
                  </a:solidFill>
                </a:endParaRP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Average Treatment Effect (ATE):</a:t>
                </a:r>
              </a:p>
              <a:p>
                <a:endParaRPr lang="en-US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>
                  <a:solidFill>
                    <a:schemeClr val="bg1"/>
                  </a:solidFill>
                </a:endParaRPr>
              </a:p>
              <a:p>
                <a:endParaRPr lang="en-US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                                          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| 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endParaRPr lang="en-US" dirty="0">
                  <a:solidFill>
                    <a:schemeClr val="bg1"/>
                  </a:solidFill>
                </a:endParaRP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This is because Correlation is not equal to Causation.</a:t>
                </a:r>
              </a:p>
              <a:p>
                <a:endParaRPr lang="en-US" dirty="0">
                  <a:solidFill>
                    <a:schemeClr val="bg1"/>
                  </a:solidFill>
                </a:endParaRPr>
              </a:p>
              <a:p>
                <a:endParaRPr lang="en-US" dirty="0">
                  <a:solidFill>
                    <a:schemeClr val="bg1"/>
                  </a:solidFill>
                </a:endParaRPr>
              </a:p>
              <a:p>
                <a:endParaRPr lang="en-US" dirty="0">
                  <a:solidFill>
                    <a:schemeClr val="bg1"/>
                  </a:solidFill>
                </a:endParaRPr>
              </a:p>
              <a:p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2B6A99B-F6D0-FFFC-4E37-52832A528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1248" y="966546"/>
                <a:ext cx="4284799" cy="3136243"/>
              </a:xfrm>
              <a:prstGeom prst="rect">
                <a:avLst/>
              </a:prstGeom>
              <a:blipFill>
                <a:blip r:embed="rId3"/>
                <a:stretch>
                  <a:fillRect l="-427" t="-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C2CF06EA-1990-4645-11BB-DB4C21891A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26" t="2172" r="2056"/>
          <a:stretch>
            <a:fillRect/>
          </a:stretch>
        </p:blipFill>
        <p:spPr>
          <a:xfrm>
            <a:off x="5967984" y="3151036"/>
            <a:ext cx="1889760" cy="149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0327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C811B-DAA1-248D-8F8B-78BE3CD6C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4B4402-5FEF-441D-2F21-B4F1527035A0}"/>
              </a:ext>
            </a:extLst>
          </p:cNvPr>
          <p:cNvSpPr txBox="1"/>
          <p:nvPr/>
        </p:nvSpPr>
        <p:spPr>
          <a:xfrm>
            <a:off x="177135" y="157985"/>
            <a:ext cx="8689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Walbaum Text" panose="02070503080703020303" pitchFamily="18" charset="0"/>
              </a:rPr>
              <a:t>Average Treatment Effect: Randomized Control Trials</a:t>
            </a:r>
            <a:endParaRPr lang="en-US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84A1274-9905-19A6-955C-B7ECDCE8A93E}"/>
              </a:ext>
            </a:extLst>
          </p:cNvPr>
          <p:cNvSpPr/>
          <p:nvPr/>
        </p:nvSpPr>
        <p:spPr>
          <a:xfrm>
            <a:off x="1222248" y="1144298"/>
            <a:ext cx="932688" cy="8412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1A1BAD2-AF49-C340-98C2-BBCC98B3E06B}"/>
              </a:ext>
            </a:extLst>
          </p:cNvPr>
          <p:cNvSpPr/>
          <p:nvPr/>
        </p:nvSpPr>
        <p:spPr>
          <a:xfrm>
            <a:off x="289560" y="2376678"/>
            <a:ext cx="932688" cy="8412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A6DD7DE-A01F-7E27-0EBA-C9D5C8F308A8}"/>
              </a:ext>
            </a:extLst>
          </p:cNvPr>
          <p:cNvSpPr/>
          <p:nvPr/>
        </p:nvSpPr>
        <p:spPr>
          <a:xfrm>
            <a:off x="2359152" y="2376678"/>
            <a:ext cx="932688" cy="8412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Y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2DC5FE-16D9-5AF0-3321-B4AAA3E12EAD}"/>
              </a:ext>
            </a:extLst>
          </p:cNvPr>
          <p:cNvCxnSpPr>
            <a:stCxn id="7" idx="6"/>
            <a:endCxn id="10" idx="2"/>
          </p:cNvCxnSpPr>
          <p:nvPr/>
        </p:nvCxnSpPr>
        <p:spPr>
          <a:xfrm>
            <a:off x="1222248" y="2797302"/>
            <a:ext cx="11369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2CCF5EE-9DB9-F7B8-3D9A-EF547E7F5990}"/>
              </a:ext>
            </a:extLst>
          </p:cNvPr>
          <p:cNvCxnSpPr>
            <a:stCxn id="4" idx="5"/>
            <a:endCxn id="10" idx="1"/>
          </p:cNvCxnSpPr>
          <p:nvPr/>
        </p:nvCxnSpPr>
        <p:spPr>
          <a:xfrm>
            <a:off x="2018347" y="1862348"/>
            <a:ext cx="477394" cy="637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64F2F5E-7E9C-BAF6-12D1-731CF09FA612}"/>
                  </a:ext>
                </a:extLst>
              </p:cNvPr>
              <p:cNvSpPr txBox="1"/>
              <p:nvPr/>
            </p:nvSpPr>
            <p:spPr>
              <a:xfrm>
                <a:off x="3496056" y="926592"/>
                <a:ext cx="5297424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</a:rPr>
                  <a:t>Under confounding, we saw that ATE is not same as conditional expectation.</a:t>
                </a:r>
              </a:p>
              <a:p>
                <a:endParaRPr lang="en-US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(0)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endParaRPr lang="en-US" dirty="0">
                  <a:solidFill>
                    <a:schemeClr val="bg1"/>
                  </a:solidFill>
                </a:endParaRP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However, this is true for RCTs.</a:t>
                </a:r>
              </a:p>
              <a:p>
                <a:endParaRPr lang="en-US" dirty="0">
                  <a:solidFill>
                    <a:schemeClr val="bg1"/>
                  </a:solidFill>
                </a:endParaRP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RCT: Experimenter randomizes subjects into treatment groups or control group.</a:t>
                </a:r>
              </a:p>
              <a:p>
                <a:endParaRPr lang="en-US" dirty="0">
                  <a:solidFill>
                    <a:schemeClr val="bg1"/>
                  </a:solidFill>
                </a:endParaRP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T cannot have any causal parents, which means groups are comparable.</a:t>
                </a:r>
              </a:p>
              <a:p>
                <a:endParaRPr lang="en-US" dirty="0">
                  <a:solidFill>
                    <a:schemeClr val="bg1"/>
                  </a:solidFill>
                </a:endParaRP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Example: A drug is tested on a group of patients. The drug is administered approximately equally on males and females, so that there is no confounding due to age.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64F2F5E-7E9C-BAF6-12D1-731CF09FA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6056" y="926592"/>
                <a:ext cx="5297424" cy="3539430"/>
              </a:xfrm>
              <a:prstGeom prst="rect">
                <a:avLst/>
              </a:prstGeom>
              <a:blipFill>
                <a:blip r:embed="rId2"/>
                <a:stretch>
                  <a:fillRect l="-345" t="-344" r="-1151" b="-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47C8FC2D-FBA4-FCAE-1F69-7033EB5AECF4}"/>
              </a:ext>
            </a:extLst>
          </p:cNvPr>
          <p:cNvSpPr txBox="1"/>
          <p:nvPr/>
        </p:nvSpPr>
        <p:spPr>
          <a:xfrm>
            <a:off x="377952" y="3700272"/>
            <a:ext cx="28102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Under RCT, association can mean causation, if all confounding factors are appropriately taken care of.</a:t>
            </a:r>
          </a:p>
        </p:txBody>
      </p:sp>
    </p:spTree>
    <p:extLst>
      <p:ext uri="{BB962C8B-B14F-4D97-AF65-F5344CB8AC3E}">
        <p14:creationId xmlns:p14="http://schemas.microsoft.com/office/powerpoint/2010/main" val="37894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05A47-FF07-A4F2-BCF0-A3D116A27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F2F764-DAE8-DD88-F712-4DA3DE988348}"/>
              </a:ext>
            </a:extLst>
          </p:cNvPr>
          <p:cNvSpPr txBox="1"/>
          <p:nvPr/>
        </p:nvSpPr>
        <p:spPr>
          <a:xfrm>
            <a:off x="177135" y="157985"/>
            <a:ext cx="8689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Walbaum Text" panose="02070503080703020303" pitchFamily="18" charset="0"/>
              </a:rPr>
              <a:t>Average Treatment Effect: Observational Studies</a:t>
            </a:r>
            <a:endParaRPr lang="en-US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77824D-6F5A-D452-985C-93AEC207055C}"/>
              </a:ext>
            </a:extLst>
          </p:cNvPr>
          <p:cNvSpPr txBox="1"/>
          <p:nvPr/>
        </p:nvSpPr>
        <p:spPr>
          <a:xfrm>
            <a:off x="365760" y="920496"/>
            <a:ext cx="8601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Randomization of treatment is not always possible.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3575A7A-F995-6255-AF3B-77A00D355F71}"/>
              </a:ext>
            </a:extLst>
          </p:cNvPr>
          <p:cNvSpPr/>
          <p:nvPr/>
        </p:nvSpPr>
        <p:spPr>
          <a:xfrm>
            <a:off x="408432" y="1639824"/>
            <a:ext cx="2487168" cy="22494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Ethical</a:t>
            </a:r>
          </a:p>
          <a:p>
            <a:pPr algn="ctr"/>
            <a:endParaRPr lang="en-US" dirty="0"/>
          </a:p>
          <a:p>
            <a:pPr algn="ctr"/>
            <a:r>
              <a:rPr lang="en-US" dirty="0">
                <a:solidFill>
                  <a:schemeClr val="tx1"/>
                </a:solidFill>
              </a:rPr>
              <a:t>Unethical to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randomize people to smoke for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measuring effect on lung cancer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90B8F9A-1F62-7A8E-000C-219B4A49D185}"/>
              </a:ext>
            </a:extLst>
          </p:cNvPr>
          <p:cNvSpPr/>
          <p:nvPr/>
        </p:nvSpPr>
        <p:spPr>
          <a:xfrm>
            <a:off x="3328416" y="1638300"/>
            <a:ext cx="2487168" cy="22494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Infeasible</a:t>
            </a:r>
          </a:p>
          <a:p>
            <a:pPr algn="ctr"/>
            <a:endParaRPr lang="en-US" dirty="0"/>
          </a:p>
          <a:p>
            <a:pPr algn="ctr"/>
            <a:r>
              <a:rPr lang="en-US" dirty="0">
                <a:solidFill>
                  <a:schemeClr val="tx1"/>
                </a:solidFill>
              </a:rPr>
              <a:t>Cannot randomize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countries into communist/capitalist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systems to measure effect on GDP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AB1D2A3-EC06-922D-00FE-A236BA04B55B}"/>
              </a:ext>
            </a:extLst>
          </p:cNvPr>
          <p:cNvSpPr/>
          <p:nvPr/>
        </p:nvSpPr>
        <p:spPr>
          <a:xfrm>
            <a:off x="6181344" y="1638300"/>
            <a:ext cx="2487168" cy="22494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Impossible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>
                <a:solidFill>
                  <a:schemeClr val="tx1"/>
                </a:solidFill>
              </a:rPr>
              <a:t>Cannot change a living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person’s DNA at birth for measuring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effect on breast cancer</a:t>
            </a:r>
          </a:p>
        </p:txBody>
      </p:sp>
    </p:spTree>
    <p:extLst>
      <p:ext uri="{BB962C8B-B14F-4D97-AF65-F5344CB8AC3E}">
        <p14:creationId xmlns:p14="http://schemas.microsoft.com/office/powerpoint/2010/main" val="4856364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C39F6-08D4-AA5D-E30A-2A3051AF3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EA5A2-5A78-2378-CF74-3B5D2315652A}"/>
              </a:ext>
            </a:extLst>
          </p:cNvPr>
          <p:cNvSpPr txBox="1"/>
          <p:nvPr/>
        </p:nvSpPr>
        <p:spPr>
          <a:xfrm>
            <a:off x="177135" y="157985"/>
            <a:ext cx="8689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Walbaum Text" panose="02070503080703020303" pitchFamily="18" charset="0"/>
              </a:rPr>
              <a:t>Average Treatment Effect: Observational Studies</a:t>
            </a:r>
            <a:endParaRPr lang="en-US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78FA56-3BAB-5C6B-7586-F4619A575F32}"/>
              </a:ext>
            </a:extLst>
          </p:cNvPr>
          <p:cNvSpPr txBox="1"/>
          <p:nvPr/>
        </p:nvSpPr>
        <p:spPr>
          <a:xfrm>
            <a:off x="365760" y="920496"/>
            <a:ext cx="86014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Most real-world causal questions require observational causal inference.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Observational causal inference: When treatment is not randomized, treatment assignment itself carries information.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endParaRPr lang="en-US" sz="1800" dirty="0">
              <a:solidFill>
                <a:schemeClr val="bg1"/>
              </a:solidFill>
            </a:endParaRPr>
          </a:p>
          <a:p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59DD064-9DD2-94F4-6FD0-9C6976258FD3}"/>
              </a:ext>
            </a:extLst>
          </p:cNvPr>
          <p:cNvSpPr/>
          <p:nvPr/>
        </p:nvSpPr>
        <p:spPr>
          <a:xfrm>
            <a:off x="1298448" y="2418362"/>
            <a:ext cx="932688" cy="8412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80BB841-B286-3181-4A69-39C363D867ED}"/>
              </a:ext>
            </a:extLst>
          </p:cNvPr>
          <p:cNvSpPr/>
          <p:nvPr/>
        </p:nvSpPr>
        <p:spPr>
          <a:xfrm>
            <a:off x="365760" y="3650742"/>
            <a:ext cx="932688" cy="8412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E0F146C-54AA-27D8-0FA6-D8C9C45EF5E8}"/>
              </a:ext>
            </a:extLst>
          </p:cNvPr>
          <p:cNvSpPr/>
          <p:nvPr/>
        </p:nvSpPr>
        <p:spPr>
          <a:xfrm>
            <a:off x="2435352" y="3650742"/>
            <a:ext cx="932688" cy="8412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Y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DBFB4A1-6048-8C58-1972-4CE97ECF966F}"/>
              </a:ext>
            </a:extLst>
          </p:cNvPr>
          <p:cNvCxnSpPr>
            <a:stCxn id="6" idx="6"/>
            <a:endCxn id="7" idx="2"/>
          </p:cNvCxnSpPr>
          <p:nvPr/>
        </p:nvCxnSpPr>
        <p:spPr>
          <a:xfrm>
            <a:off x="1298448" y="4071366"/>
            <a:ext cx="11369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137B5F2-60CE-A8D7-583E-71727F856810}"/>
              </a:ext>
            </a:extLst>
          </p:cNvPr>
          <p:cNvCxnSpPr>
            <a:stCxn id="4" idx="5"/>
            <a:endCxn id="7" idx="1"/>
          </p:cNvCxnSpPr>
          <p:nvPr/>
        </p:nvCxnSpPr>
        <p:spPr>
          <a:xfrm>
            <a:off x="2094547" y="3136412"/>
            <a:ext cx="477394" cy="637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A8EB5D0-155E-FBA8-362F-64208D2982E9}"/>
              </a:ext>
            </a:extLst>
          </p:cNvPr>
          <p:cNvCxnSpPr>
            <a:stCxn id="4" idx="3"/>
            <a:endCxn id="6" idx="7"/>
          </p:cNvCxnSpPr>
          <p:nvPr/>
        </p:nvCxnSpPr>
        <p:spPr>
          <a:xfrm flipH="1">
            <a:off x="1161859" y="3136412"/>
            <a:ext cx="273178" cy="637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D8D2D97-EFA4-E0FC-D7FC-2B9434065357}"/>
              </a:ext>
            </a:extLst>
          </p:cNvPr>
          <p:cNvSpPr txBox="1"/>
          <p:nvPr/>
        </p:nvSpPr>
        <p:spPr>
          <a:xfrm>
            <a:off x="3578352" y="2814602"/>
            <a:ext cx="51998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The central question becomes: 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pPr algn="ctr"/>
            <a:r>
              <a:rPr lang="en-US" sz="1800" dirty="0">
                <a:solidFill>
                  <a:schemeClr val="bg1"/>
                </a:solidFill>
              </a:rPr>
              <a:t>Can we recover the causal comparison using </a:t>
            </a:r>
            <a:r>
              <a:rPr lang="en-US" sz="1800" u="sng" dirty="0">
                <a:solidFill>
                  <a:schemeClr val="bg1"/>
                </a:solidFill>
              </a:rPr>
              <a:t>assumptions</a:t>
            </a:r>
            <a:r>
              <a:rPr lang="en-US" sz="1800" dirty="0">
                <a:solidFill>
                  <a:schemeClr val="bg1"/>
                </a:solidFill>
              </a:rPr>
              <a:t> + observed data?</a:t>
            </a:r>
          </a:p>
        </p:txBody>
      </p:sp>
    </p:spTree>
    <p:extLst>
      <p:ext uri="{BB962C8B-B14F-4D97-AF65-F5344CB8AC3E}">
        <p14:creationId xmlns:p14="http://schemas.microsoft.com/office/powerpoint/2010/main" val="11240866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A6176-7F7D-FC57-1FF9-C62596026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5F7068-D72A-C13F-20EB-3730C6407678}"/>
              </a:ext>
            </a:extLst>
          </p:cNvPr>
          <p:cNvSpPr txBox="1"/>
          <p:nvPr/>
        </p:nvSpPr>
        <p:spPr>
          <a:xfrm>
            <a:off x="177135" y="157985"/>
            <a:ext cx="8689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Walbaum Text" panose="02070503080703020303" pitchFamily="18" charset="0"/>
              </a:rPr>
              <a:t>A simulated Experiment</a:t>
            </a:r>
            <a:endParaRPr lang="en-US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D23A155-1E38-81E9-4625-B6715DF37331}"/>
                  </a:ext>
                </a:extLst>
              </p:cNvPr>
              <p:cNvSpPr txBox="1"/>
              <p:nvPr/>
            </p:nvSpPr>
            <p:spPr>
              <a:xfrm>
                <a:off x="121920" y="999744"/>
                <a:ext cx="4011168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>
                    <a:solidFill>
                      <a:schemeClr val="bg1"/>
                    </a:solidFill>
                  </a:rPr>
                  <a:t>In simulation we can observe both potential outcomes.</a:t>
                </a: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  <a:p>
                <a:r>
                  <a:rPr lang="en-US" sz="1800" dirty="0">
                    <a:solidFill>
                      <a:schemeClr val="bg1"/>
                    </a:solidFill>
                  </a:rPr>
                  <a:t>We construct a world such that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=−3.</m:t>
                    </m:r>
                  </m:oMath>
                </a14:m>
                <a:endParaRPr lang="en-US" sz="1800" b="0" dirty="0">
                  <a:solidFill>
                    <a:schemeClr val="bg1"/>
                  </a:solidFill>
                </a:endParaRP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  <a:p>
                <a:r>
                  <a:rPr lang="en-US" sz="1800" dirty="0">
                    <a:solidFill>
                      <a:schemeClr val="bg1"/>
                    </a:solidFill>
                  </a:rPr>
                  <a:t>X is a common cause of treatment and the outcome.</a:t>
                </a: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  <a:p>
                <a:r>
                  <a:rPr lang="en-US" sz="1800" dirty="0">
                    <a:solidFill>
                      <a:schemeClr val="bg1"/>
                    </a:solidFill>
                  </a:rPr>
                  <a:t>Crude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=0)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does not give the true causal effect.</a:t>
                </a: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  <a:p>
                <a:r>
                  <a:rPr lang="en-US" sz="1800" dirty="0">
                    <a:solidFill>
                      <a:schemeClr val="bg1"/>
                    </a:solidFill>
                  </a:rPr>
                  <a:t>Adjustment for the right variable recovers the causal effect.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D23A155-1E38-81E9-4625-B6715DF373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" y="999744"/>
                <a:ext cx="4011168" cy="3970318"/>
              </a:xfrm>
              <a:prstGeom prst="rect">
                <a:avLst/>
              </a:prstGeom>
              <a:blipFill>
                <a:blip r:embed="rId2"/>
                <a:stretch>
                  <a:fillRect l="-1216" t="-768" r="-1672" b="-1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9657206E-3B0F-5678-9361-F98FB8C1D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063" y="987552"/>
            <a:ext cx="4461544" cy="380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474731"/>
      </p:ext>
    </p:extLst>
  </p:cSld>
  <p:clrMapOvr>
    <a:masterClrMapping/>
  </p:clrMapOvr>
</p:sld>
</file>

<file path=ppt/theme/theme1.xml><?xml version="1.0" encoding="utf-8"?>
<a:theme xmlns:a="http://schemas.openxmlformats.org/drawingml/2006/main" name="Ursula template">
  <a:themeElements>
    <a:clrScheme name="Custom 347">
      <a:dk1>
        <a:srgbClr val="000000"/>
      </a:dk1>
      <a:lt1>
        <a:srgbClr val="FFFFFF"/>
      </a:lt1>
      <a:dk2>
        <a:srgbClr val="D1D8DF"/>
      </a:dk2>
      <a:lt2>
        <a:srgbClr val="4F565C"/>
      </a:lt2>
      <a:accent1>
        <a:srgbClr val="71AEF0"/>
      </a:accent1>
      <a:accent2>
        <a:srgbClr val="88E6DC"/>
      </a:accent2>
      <a:accent3>
        <a:srgbClr val="A6D145"/>
      </a:accent3>
      <a:accent4>
        <a:srgbClr val="FFE000"/>
      </a:accent4>
      <a:accent5>
        <a:srgbClr val="FC765C"/>
      </a:accent5>
      <a:accent6>
        <a:srgbClr val="A693C9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9831</TotalTime>
  <Words>1628</Words>
  <Application>Microsoft Office PowerPoint</Application>
  <PresentationFormat>On-screen Show (16:9)</PresentationFormat>
  <Paragraphs>350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Sniglet</vt:lpstr>
      <vt:lpstr>Cambria Math</vt:lpstr>
      <vt:lpstr>Arial</vt:lpstr>
      <vt:lpstr>Walbaum Text</vt:lpstr>
      <vt:lpstr>Walter Turncoat</vt:lpstr>
      <vt:lpstr>Ursula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Samhita Pal</dc:creator>
  <cp:lastModifiedBy>Dhrubajyoti Ghosh</cp:lastModifiedBy>
  <cp:revision>120</cp:revision>
  <dcterms:modified xsi:type="dcterms:W3CDTF">2026-08-24T22:36:14Z</dcterms:modified>
</cp:coreProperties>
</file>