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83"/>
  </p:notesMasterIdLst>
  <p:sldIdLst>
    <p:sldId id="297" r:id="rId2"/>
    <p:sldId id="522" r:id="rId3"/>
    <p:sldId id="569" r:id="rId4"/>
    <p:sldId id="570" r:id="rId5"/>
    <p:sldId id="571" r:id="rId6"/>
    <p:sldId id="572" r:id="rId7"/>
    <p:sldId id="573" r:id="rId8"/>
    <p:sldId id="574" r:id="rId9"/>
    <p:sldId id="575" r:id="rId10"/>
    <p:sldId id="576" r:id="rId11"/>
    <p:sldId id="577" r:id="rId12"/>
    <p:sldId id="578" r:id="rId13"/>
    <p:sldId id="579" r:id="rId14"/>
    <p:sldId id="580" r:id="rId15"/>
    <p:sldId id="581" r:id="rId16"/>
    <p:sldId id="582" r:id="rId17"/>
    <p:sldId id="602" r:id="rId18"/>
    <p:sldId id="568" r:id="rId19"/>
    <p:sldId id="523" r:id="rId20"/>
    <p:sldId id="524" r:id="rId21"/>
    <p:sldId id="525" r:id="rId22"/>
    <p:sldId id="526" r:id="rId23"/>
    <p:sldId id="527" r:id="rId24"/>
    <p:sldId id="528" r:id="rId25"/>
    <p:sldId id="529" r:id="rId26"/>
    <p:sldId id="530" r:id="rId27"/>
    <p:sldId id="531" r:id="rId28"/>
    <p:sldId id="532" r:id="rId29"/>
    <p:sldId id="533" r:id="rId30"/>
    <p:sldId id="534" r:id="rId31"/>
    <p:sldId id="535" r:id="rId32"/>
    <p:sldId id="536" r:id="rId33"/>
    <p:sldId id="537" r:id="rId34"/>
    <p:sldId id="538" r:id="rId35"/>
    <p:sldId id="539" r:id="rId36"/>
    <p:sldId id="540" r:id="rId37"/>
    <p:sldId id="541" r:id="rId38"/>
    <p:sldId id="542" r:id="rId39"/>
    <p:sldId id="543" r:id="rId40"/>
    <p:sldId id="544" r:id="rId41"/>
    <p:sldId id="545" r:id="rId42"/>
    <p:sldId id="546" r:id="rId43"/>
    <p:sldId id="547" r:id="rId44"/>
    <p:sldId id="548" r:id="rId45"/>
    <p:sldId id="549" r:id="rId46"/>
    <p:sldId id="550" r:id="rId47"/>
    <p:sldId id="551" r:id="rId48"/>
    <p:sldId id="552" r:id="rId49"/>
    <p:sldId id="553" r:id="rId50"/>
    <p:sldId id="554" r:id="rId51"/>
    <p:sldId id="555" r:id="rId52"/>
    <p:sldId id="556" r:id="rId53"/>
    <p:sldId id="557" r:id="rId54"/>
    <p:sldId id="558" r:id="rId55"/>
    <p:sldId id="559" r:id="rId56"/>
    <p:sldId id="560" r:id="rId57"/>
    <p:sldId id="561" r:id="rId58"/>
    <p:sldId id="562" r:id="rId59"/>
    <p:sldId id="563" r:id="rId60"/>
    <p:sldId id="564" r:id="rId61"/>
    <p:sldId id="565" r:id="rId62"/>
    <p:sldId id="566" r:id="rId63"/>
    <p:sldId id="567" r:id="rId64"/>
    <p:sldId id="583" r:id="rId65"/>
    <p:sldId id="585" r:id="rId66"/>
    <p:sldId id="586" r:id="rId67"/>
    <p:sldId id="587" r:id="rId68"/>
    <p:sldId id="588" r:id="rId69"/>
    <p:sldId id="589" r:id="rId70"/>
    <p:sldId id="590" r:id="rId71"/>
    <p:sldId id="591" r:id="rId72"/>
    <p:sldId id="592" r:id="rId73"/>
    <p:sldId id="593" r:id="rId74"/>
    <p:sldId id="594" r:id="rId75"/>
    <p:sldId id="595" r:id="rId76"/>
    <p:sldId id="596" r:id="rId77"/>
    <p:sldId id="597" r:id="rId78"/>
    <p:sldId id="598" r:id="rId79"/>
    <p:sldId id="599" r:id="rId80"/>
    <p:sldId id="600" r:id="rId81"/>
    <p:sldId id="601" r:id="rId8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84"/>
    </p:embeddedFont>
    <p:embeddedFont>
      <p:font typeface="Consolas" panose="020B0609020204030204" pitchFamily="49" charset="0"/>
      <p:regular r:id="rId85"/>
      <p:bold r:id="rId86"/>
      <p:italic r:id="rId87"/>
      <p:boldItalic r:id="rId88"/>
    </p:embeddedFont>
    <p:embeddedFont>
      <p:font typeface="Sniglet" panose="020B0604020202020204" charset="0"/>
      <p:regular r:id="rId89"/>
    </p:embeddedFont>
    <p:embeddedFont>
      <p:font typeface="Walter Turncoat" panose="020B0604020202020204" charset="0"/>
      <p:regular r:id="rId9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0B942B-5FDC-419F-A31C-88048C057ADA}">
  <a:tblStyle styleId="{3D0B942B-5FDC-419F-A31C-88048C057A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F752B63-FEDA-48D4-B3B7-9A5BAED313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20" d="100"/>
          <a:sy n="120" d="100"/>
        </p:scale>
        <p:origin x="3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.fntdata"/><Relationship Id="rId89" Type="http://schemas.openxmlformats.org/officeDocument/2006/relationships/font" Target="fonts/font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7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2.fntdata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font" Target="fonts/font5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3.fntdata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✘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A9790-8FD3-3CFF-298C-8576CD777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34EF000-1360-AEF0-B6CC-E38FC7950DC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69955" y="294994"/>
            <a:ext cx="8229600" cy="19050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STAT 7900: Special Topic: </a:t>
            </a:r>
          </a:p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Causal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FDCB5-F084-8EE3-64F9-3FEEE886EC0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738512" y="235668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KENNESAW STATE UNIVERSITY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Walter Turncoat" panose="020B0604020202020204" charset="0"/>
              </a:rPr>
              <a:t>STAT 7900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58E625-98C4-4A42-C24D-4A91B5CF561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51800" y="229760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Instructor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Walter Turncoat" panose="020B0604020202020204" charset="0"/>
              </a:rPr>
              <a:t> Dhrubajyoti Ghosh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93739B6-31BF-A8C0-52D4-A78461221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895" y="2171700"/>
            <a:ext cx="8477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1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B4FA1-2FAC-89FB-8100-13FB513D4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C18088-17E1-E3C6-DE64-FC2C11575E7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Recap: Propensity Scores &amp; Matching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8DD07ED3-5614-68E2-3F5F-BFF355042A86}"/>
              </a:ext>
            </a:extLst>
          </p:cNvPr>
          <p:cNvSpPr/>
          <p:nvPr/>
        </p:nvSpPr>
        <p:spPr>
          <a:xfrm>
            <a:off x="63366" y="1070927"/>
            <a:ext cx="2819906" cy="264594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20392E-EA93-4E35-4FF7-071EFA93C61C}"/>
              </a:ext>
            </a:extLst>
          </p:cNvPr>
          <p:cNvSpPr txBox="1"/>
          <p:nvPr/>
        </p:nvSpPr>
        <p:spPr>
          <a:xfrm>
            <a:off x="190721" y="1252707"/>
            <a:ext cx="300837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rPr dirty="0"/>
              <a:t>1. Confounding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AD73B-AF2A-C3EC-97C5-99F002DBEA5F}"/>
              </a:ext>
            </a:extLst>
          </p:cNvPr>
          <p:cNvSpPr txBox="1"/>
          <p:nvPr/>
        </p:nvSpPr>
        <p:spPr>
          <a:xfrm>
            <a:off x="115935" y="1990229"/>
            <a:ext cx="3008376" cy="2167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F6F6F6"/>
                </a:solidFill>
                <a:latin typeface="Aptos"/>
              </a:defRPr>
            </a:pPr>
            <a:r>
              <a:rPr dirty="0"/>
              <a:t>Treatment groups differ before treatment.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9483CF86-EFDB-564B-0928-B4B9F2B9F4C1}"/>
              </a:ext>
            </a:extLst>
          </p:cNvPr>
          <p:cNvSpPr/>
          <p:nvPr/>
        </p:nvSpPr>
        <p:spPr>
          <a:xfrm>
            <a:off x="2998798" y="1062994"/>
            <a:ext cx="3113443" cy="268833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7CE4-12CD-F6A4-9724-B77890FE2411}"/>
              </a:ext>
            </a:extLst>
          </p:cNvPr>
          <p:cNvSpPr txBox="1"/>
          <p:nvPr/>
        </p:nvSpPr>
        <p:spPr>
          <a:xfrm>
            <a:off x="3152468" y="1233179"/>
            <a:ext cx="300837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2. Propensity score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11CF3C-E516-B624-AC14-3902D40048D4}"/>
              </a:ext>
            </a:extLst>
          </p:cNvPr>
          <p:cNvSpPr txBox="1"/>
          <p:nvPr/>
        </p:nvSpPr>
        <p:spPr>
          <a:xfrm>
            <a:off x="3275412" y="1973418"/>
            <a:ext cx="2744921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F6F6F6"/>
                </a:solidFill>
                <a:latin typeface="Aptos"/>
              </a:defRPr>
            </a:pPr>
            <a:r>
              <a:rPr dirty="0"/>
              <a:t>Summarize treatment assignment using baseline X.</a:t>
            </a: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6466F7B9-E2A2-841C-8804-BF85E9BAA2FC}"/>
              </a:ext>
            </a:extLst>
          </p:cNvPr>
          <p:cNvSpPr/>
          <p:nvPr/>
        </p:nvSpPr>
        <p:spPr>
          <a:xfrm>
            <a:off x="6227766" y="1062994"/>
            <a:ext cx="2852867" cy="268833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FA679-BAB3-2682-27A8-39DAB29E9FDD}"/>
              </a:ext>
            </a:extLst>
          </p:cNvPr>
          <p:cNvSpPr txBox="1"/>
          <p:nvPr/>
        </p:nvSpPr>
        <p:spPr>
          <a:xfrm>
            <a:off x="6592657" y="1210315"/>
            <a:ext cx="300837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3. Matching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896D9E-8A93-3E58-3419-9EDF2B15A0EB}"/>
              </a:ext>
            </a:extLst>
          </p:cNvPr>
          <p:cNvSpPr txBox="1"/>
          <p:nvPr/>
        </p:nvSpPr>
        <p:spPr>
          <a:xfrm>
            <a:off x="6483943" y="1894484"/>
            <a:ext cx="2340511" cy="1554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F6F6F6"/>
                </a:solidFill>
                <a:latin typeface="Aptos"/>
              </a:defRPr>
            </a:pPr>
            <a:r>
              <a:rPr dirty="0"/>
              <a:t>Compare treated and control units with similar treatment probabilities.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A716F6-85DB-7AAF-E699-2D2D3F0F7662}"/>
              </a:ext>
            </a:extLst>
          </p:cNvPr>
          <p:cNvSpPr txBox="1"/>
          <p:nvPr/>
        </p:nvSpPr>
        <p:spPr>
          <a:xfrm>
            <a:off x="169188" y="4199750"/>
            <a:ext cx="879515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>
                <a:solidFill>
                  <a:srgbClr val="F6B737"/>
                </a:solidFill>
                <a:latin typeface="Cambria Math"/>
              </a:defRPr>
            </a:pPr>
            <a:r>
              <a:rPr dirty="0"/>
              <a:t>Matching changes WHO we compare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5168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A5475-5B10-5522-8987-2F0AE3C2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54B6B-A91F-6DD1-A38C-A27806BFF09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Recap: Propensity Scores &amp; Matching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7B9627-7827-96E0-FEEE-93396B6E8E2B}"/>
              </a:ext>
            </a:extLst>
          </p:cNvPr>
          <p:cNvSpPr txBox="1"/>
          <p:nvPr/>
        </p:nvSpPr>
        <p:spPr>
          <a:xfrm>
            <a:off x="794672" y="894774"/>
            <a:ext cx="772964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>
                <a:solidFill>
                  <a:srgbClr val="64AEEB"/>
                </a:solidFill>
                <a:latin typeface="Cambria Math"/>
              </a:defRPr>
            </a:pPr>
            <a:r>
              <a:rPr dirty="0"/>
              <a:t>e(X) = P(T = 1 | X)</a:t>
            </a:r>
          </a:p>
        </p:txBody>
      </p:sp>
      <p:sp>
        <p:nvSpPr>
          <p:cNvPr id="40" name="Rounded Rectangle 5">
            <a:extLst>
              <a:ext uri="{FF2B5EF4-FFF2-40B4-BE49-F238E27FC236}">
                <a16:creationId xmlns:a16="http://schemas.microsoft.com/office/drawing/2014/main" id="{611B74C8-5E0F-BA87-EB14-04108034F5F7}"/>
              </a:ext>
            </a:extLst>
          </p:cNvPr>
          <p:cNvSpPr/>
          <p:nvPr/>
        </p:nvSpPr>
        <p:spPr>
          <a:xfrm>
            <a:off x="105254" y="1900729"/>
            <a:ext cx="2868651" cy="199288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B411BAC-A630-0E9C-8908-5DCDB7AE0AB5}"/>
                  </a:ext>
                </a:extLst>
              </p:cNvPr>
              <p:cNvSpPr txBox="1"/>
              <p:nvPr/>
            </p:nvSpPr>
            <p:spPr>
              <a:xfrm>
                <a:off x="269846" y="2010457"/>
                <a:ext cx="2564911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50" b="1">
                    <a:solidFill>
                      <a:srgbClr val="64AEEB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B411BAC-A630-0E9C-8908-5DCDB7AE0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46" y="2010457"/>
                <a:ext cx="2564911" cy="3462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E545C2F5-5A31-A0D6-AE90-1F7DCEE1E49A}"/>
              </a:ext>
            </a:extLst>
          </p:cNvPr>
          <p:cNvSpPr txBox="1"/>
          <p:nvPr/>
        </p:nvSpPr>
        <p:spPr>
          <a:xfrm>
            <a:off x="269846" y="2421937"/>
            <a:ext cx="2564911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Pre-treatment covariates used to model treatment assignment.</a:t>
            </a:r>
          </a:p>
        </p:txBody>
      </p:sp>
      <p:sp>
        <p:nvSpPr>
          <p:cNvPr id="46" name="Rounded Rectangle 8">
            <a:extLst>
              <a:ext uri="{FF2B5EF4-FFF2-40B4-BE49-F238E27FC236}">
                <a16:creationId xmlns:a16="http://schemas.microsoft.com/office/drawing/2014/main" id="{DAA78FC6-2374-E350-B24E-4438A3387CB4}"/>
              </a:ext>
            </a:extLst>
          </p:cNvPr>
          <p:cNvSpPr/>
          <p:nvPr/>
        </p:nvSpPr>
        <p:spPr>
          <a:xfrm>
            <a:off x="3076631" y="1900729"/>
            <a:ext cx="2744919" cy="199288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7CB7D0F-3407-8A8C-E738-0E4FFC738BB2}"/>
                  </a:ext>
                </a:extLst>
              </p:cNvPr>
              <p:cNvSpPr txBox="1"/>
              <p:nvPr/>
            </p:nvSpPr>
            <p:spPr>
              <a:xfrm>
                <a:off x="3206367" y="2010457"/>
                <a:ext cx="2485447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50" b="1">
                    <a:solidFill>
                      <a:srgbClr val="71CC94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7CB7D0F-3407-8A8C-E738-0E4FFC738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367" y="2010457"/>
                <a:ext cx="2485447" cy="346249"/>
              </a:xfrm>
              <a:prstGeom prst="rect">
                <a:avLst/>
              </a:prstGeom>
              <a:blipFill>
                <a:blip r:embed="rId3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E8294650-3B86-7E75-9CC9-EC2CC23AEE0E}"/>
              </a:ext>
            </a:extLst>
          </p:cNvPr>
          <p:cNvSpPr txBox="1"/>
          <p:nvPr/>
        </p:nvSpPr>
        <p:spPr>
          <a:xfrm>
            <a:off x="3206367" y="2421937"/>
            <a:ext cx="2485447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A single number between 0 and 1: estimated probability of treatment.</a:t>
            </a:r>
          </a:p>
        </p:txBody>
      </p:sp>
      <p:sp>
        <p:nvSpPr>
          <p:cNvPr id="52" name="Rounded Rectangle 11">
            <a:extLst>
              <a:ext uri="{FF2B5EF4-FFF2-40B4-BE49-F238E27FC236}">
                <a16:creationId xmlns:a16="http://schemas.microsoft.com/office/drawing/2014/main" id="{B637C0FD-974F-8DD0-84E7-E335287CAE93}"/>
              </a:ext>
            </a:extLst>
          </p:cNvPr>
          <p:cNvSpPr/>
          <p:nvPr/>
        </p:nvSpPr>
        <p:spPr>
          <a:xfrm>
            <a:off x="5924277" y="1876087"/>
            <a:ext cx="3079613" cy="200520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06ED30-60F1-C861-77AA-F5A163EFCED2}"/>
              </a:ext>
            </a:extLst>
          </p:cNvPr>
          <p:cNvSpPr txBox="1"/>
          <p:nvPr/>
        </p:nvSpPr>
        <p:spPr>
          <a:xfrm>
            <a:off x="6074195" y="2010457"/>
            <a:ext cx="277977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Goal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5F0891-393F-2142-7D7D-075EBE7B02FE}"/>
              </a:ext>
            </a:extLst>
          </p:cNvPr>
          <p:cNvSpPr txBox="1"/>
          <p:nvPr/>
        </p:nvSpPr>
        <p:spPr>
          <a:xfrm>
            <a:off x="6074195" y="2474011"/>
            <a:ext cx="2779776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Create treated/control groups comparable on baseline X.</a:t>
            </a:r>
          </a:p>
        </p:txBody>
      </p:sp>
      <p:sp>
        <p:nvSpPr>
          <p:cNvPr id="58" name="Rounded Rectangle 14">
            <a:extLst>
              <a:ext uri="{FF2B5EF4-FFF2-40B4-BE49-F238E27FC236}">
                <a16:creationId xmlns:a16="http://schemas.microsoft.com/office/drawing/2014/main" id="{03EBE6E6-14D0-5D00-BAEF-6D402361C3C2}"/>
              </a:ext>
            </a:extLst>
          </p:cNvPr>
          <p:cNvSpPr/>
          <p:nvPr/>
        </p:nvSpPr>
        <p:spPr>
          <a:xfrm>
            <a:off x="353265" y="4247053"/>
            <a:ext cx="8321040" cy="71323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380490-0AB1-8066-6BBD-204582F3F9A9}"/>
              </a:ext>
            </a:extLst>
          </p:cNvPr>
          <p:cNvSpPr txBox="1"/>
          <p:nvPr/>
        </p:nvSpPr>
        <p:spPr>
          <a:xfrm>
            <a:off x="517857" y="4411645"/>
            <a:ext cx="799185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It is a treatment-assignment score, not an outcome-risk score.</a:t>
            </a:r>
          </a:p>
        </p:txBody>
      </p:sp>
    </p:spTree>
    <p:extLst>
      <p:ext uri="{BB962C8B-B14F-4D97-AF65-F5344CB8AC3E}">
        <p14:creationId xmlns:p14="http://schemas.microsoft.com/office/powerpoint/2010/main" val="152613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D346-7423-0E0A-401C-4CD0ACB11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5BDD54-19FC-015D-D3FD-8FAE3873589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What the Propensity Score is, and is Not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DC334544-72EA-5BD0-3B2F-FE942A818255}"/>
              </a:ext>
            </a:extLst>
          </p:cNvPr>
          <p:cNvSpPr/>
          <p:nvPr/>
        </p:nvSpPr>
        <p:spPr>
          <a:xfrm>
            <a:off x="169188" y="1364438"/>
            <a:ext cx="3983712" cy="297942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970D85-DFA5-B518-CAF2-47F250512D5D}"/>
              </a:ext>
            </a:extLst>
          </p:cNvPr>
          <p:cNvSpPr txBox="1"/>
          <p:nvPr/>
        </p:nvSpPr>
        <p:spPr>
          <a:xfrm>
            <a:off x="146610" y="911407"/>
            <a:ext cx="427145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It 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C05343-9B47-4EC0-A426-30DCF94166D4}"/>
                  </a:ext>
                </a:extLst>
              </p:cNvPr>
              <p:cNvSpPr txBox="1"/>
              <p:nvPr/>
            </p:nvSpPr>
            <p:spPr>
              <a:xfrm>
                <a:off x="242331" y="1880814"/>
                <a:ext cx="3910570" cy="185435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=1 |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𝑏𝑎𝑠𝑒𝑙𝑖𝑛𝑒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endParaRPr lang="en-US" dirty="0"/>
              </a:p>
              <a:p>
                <a:pPr marL="285750" indent="-285750">
                  <a:spcAft>
                    <a:spcPts val="5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 balancing score under the usual assumptions</a:t>
                </a:r>
              </a:p>
              <a:p>
                <a:pPr marL="285750" indent="-285750">
                  <a:spcAft>
                    <a:spcPts val="5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 tool for matching, weighting, stratification, adjustment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C05343-9B47-4EC0-A426-30DCF9416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31" y="1880814"/>
                <a:ext cx="3910570" cy="1854354"/>
              </a:xfrm>
              <a:prstGeom prst="rect">
                <a:avLst/>
              </a:prstGeom>
              <a:blipFill>
                <a:blip r:embed="rId2"/>
                <a:stretch>
                  <a:fillRect l="-780" b="-3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C2AD5C0E-4893-DC96-4E17-2CE2972FB413}"/>
              </a:ext>
            </a:extLst>
          </p:cNvPr>
          <p:cNvSpPr/>
          <p:nvPr/>
        </p:nvSpPr>
        <p:spPr>
          <a:xfrm>
            <a:off x="4297366" y="1364437"/>
            <a:ext cx="4677446" cy="297942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73E0F1-733D-6578-4B60-EC3D9403298D}"/>
              </a:ext>
            </a:extLst>
          </p:cNvPr>
          <p:cNvSpPr txBox="1"/>
          <p:nvPr/>
        </p:nvSpPr>
        <p:spPr>
          <a:xfrm>
            <a:off x="4297366" y="911407"/>
            <a:ext cx="427145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E66767"/>
                </a:solidFill>
                <a:latin typeface="Aptos"/>
              </a:defRPr>
            </a:pPr>
            <a:r>
              <a:rPr dirty="0"/>
              <a:t>It is NOT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A2D6B01-C99A-F21C-C055-B1B300E11C75}"/>
                  </a:ext>
                </a:extLst>
              </p:cNvPr>
              <p:cNvSpPr txBox="1"/>
              <p:nvPr/>
            </p:nvSpPr>
            <p:spPr>
              <a:xfrm>
                <a:off x="4418065" y="1894910"/>
                <a:ext cx="4271455" cy="21800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=1 |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endParaRPr lang="en-US" dirty="0"/>
              </a:p>
              <a:p>
                <a:pPr marL="285750" indent="-285750">
                  <a:spcAft>
                    <a:spcPts val="5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Proof that exchangeability holds</a:t>
                </a:r>
              </a:p>
              <a:p>
                <a:pPr marL="285750" indent="-285750">
                  <a:spcAft>
                    <a:spcPts val="5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 magic cure for unmeasured confounding</a:t>
                </a:r>
              </a:p>
              <a:p>
                <a:pPr marL="285750" indent="-285750">
                  <a:spcAft>
                    <a:spcPts val="5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 reason to include post-treatment variables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A2D6B01-C99A-F21C-C055-B1B300E11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65" y="1894910"/>
                <a:ext cx="4271455" cy="2180084"/>
              </a:xfrm>
              <a:prstGeom prst="rect">
                <a:avLst/>
              </a:prstGeom>
              <a:blipFill>
                <a:blip r:embed="rId3"/>
                <a:stretch>
                  <a:fillRect l="-714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A7C2A2C-C2EE-90C8-079B-B03ADEE7BA08}"/>
              </a:ext>
            </a:extLst>
          </p:cNvPr>
          <p:cNvSpPr txBox="1"/>
          <p:nvPr/>
        </p:nvSpPr>
        <p:spPr>
          <a:xfrm>
            <a:off x="-167613" y="4520671"/>
            <a:ext cx="9441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6B737"/>
                </a:solidFill>
                <a:latin typeface="Cambria Math"/>
              </a:defRPr>
            </a:pPr>
            <a:r>
              <a:rPr sz="1800" dirty="0"/>
              <a:t>Propensity methods can balance measured covariates</a:t>
            </a:r>
            <a:r>
              <a:rPr lang="en-US" sz="1800" dirty="0"/>
              <a:t>,</a:t>
            </a:r>
            <a:r>
              <a:rPr sz="1800" dirty="0"/>
              <a:t> not variables you never measured.</a:t>
            </a:r>
          </a:p>
        </p:txBody>
      </p:sp>
    </p:spTree>
    <p:extLst>
      <p:ext uri="{BB962C8B-B14F-4D97-AF65-F5344CB8AC3E}">
        <p14:creationId xmlns:p14="http://schemas.microsoft.com/office/powerpoint/2010/main" val="133799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9E252-1CBC-AB1C-3519-F357E0D4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E850E2-31BF-DC5E-6E95-07BB4625CEB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Can One Number Help?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8D7CFB-0FDB-73C3-6764-E17F121BE56F}"/>
                  </a:ext>
                </a:extLst>
              </p:cNvPr>
              <p:cNvSpPr txBox="1"/>
              <p:nvPr/>
            </p:nvSpPr>
            <p:spPr>
              <a:xfrm>
                <a:off x="239038" y="1024890"/>
                <a:ext cx="851126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800">
                    <a:solidFill>
                      <a:srgbClr val="F6B73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⟂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  ⇒  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⟂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8D7CFB-0FDB-73C3-6764-E17F121BE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38" y="1024890"/>
                <a:ext cx="851126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1751C329-9505-ECCD-6071-A45BE8E16603}"/>
              </a:ext>
            </a:extLst>
          </p:cNvPr>
          <p:cNvSpPr/>
          <p:nvPr/>
        </p:nvSpPr>
        <p:spPr>
          <a:xfrm>
            <a:off x="87406" y="1906249"/>
            <a:ext cx="4409440" cy="211226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3914A3-770A-E620-5231-4991AA97284B}"/>
              </a:ext>
            </a:extLst>
          </p:cNvPr>
          <p:cNvSpPr txBox="1"/>
          <p:nvPr/>
        </p:nvSpPr>
        <p:spPr>
          <a:xfrm>
            <a:off x="251997" y="2015976"/>
            <a:ext cx="432000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5EC15-89DE-45DF-CEDC-1B0331008665}"/>
              </a:ext>
            </a:extLst>
          </p:cNvPr>
          <p:cNvSpPr txBox="1"/>
          <p:nvPr/>
        </p:nvSpPr>
        <p:spPr>
          <a:xfrm>
            <a:off x="251997" y="2427457"/>
            <a:ext cx="4320003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Matching directly on age, BP, diabetes, smoking, income, etc. quickly becomes difficult.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9F7E11DE-F982-7E43-8A04-871B45F9D159}"/>
              </a:ext>
            </a:extLst>
          </p:cNvPr>
          <p:cNvSpPr/>
          <p:nvPr/>
        </p:nvSpPr>
        <p:spPr>
          <a:xfrm>
            <a:off x="4661437" y="1924537"/>
            <a:ext cx="4313937" cy="209397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05BD5-3A38-6F5D-A413-EF371ADBE813}"/>
              </a:ext>
            </a:extLst>
          </p:cNvPr>
          <p:cNvSpPr txBox="1"/>
          <p:nvPr/>
        </p:nvSpPr>
        <p:spPr>
          <a:xfrm>
            <a:off x="4826030" y="2034266"/>
            <a:ext cx="3906335" cy="344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B2A6AA-596F-CBBA-B857-8E1D1DFB08CE}"/>
              </a:ext>
            </a:extLst>
          </p:cNvPr>
          <p:cNvSpPr txBox="1"/>
          <p:nvPr/>
        </p:nvSpPr>
        <p:spPr>
          <a:xfrm>
            <a:off x="4826030" y="2445745"/>
            <a:ext cx="3906335" cy="8733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Use e(X) as a scalar summary of treatment assignment to find comparable units.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7D66C54C-0552-5CF7-E57B-53EF2C54225A}"/>
              </a:ext>
            </a:extLst>
          </p:cNvPr>
          <p:cNvSpPr/>
          <p:nvPr/>
        </p:nvSpPr>
        <p:spPr>
          <a:xfrm>
            <a:off x="91440" y="4269746"/>
            <a:ext cx="8883372" cy="78485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644D5F-CB01-7B0A-E64E-F6E753BC7CE3}"/>
              </a:ext>
            </a:extLst>
          </p:cNvPr>
          <p:cNvSpPr txBox="1"/>
          <p:nvPr/>
        </p:nvSpPr>
        <p:spPr>
          <a:xfrm>
            <a:off x="63130" y="4308229"/>
            <a:ext cx="8863077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sz="2000" dirty="0"/>
              <a:t>Important: the balancing result depends on the causal assumptions and a useful propensity-score model.</a:t>
            </a:r>
          </a:p>
        </p:txBody>
      </p:sp>
    </p:spTree>
    <p:extLst>
      <p:ext uri="{BB962C8B-B14F-4D97-AF65-F5344CB8AC3E}">
        <p14:creationId xmlns:p14="http://schemas.microsoft.com/office/powerpoint/2010/main" val="56229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0A22B-51C8-64D8-A85C-8BF79A0C1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1C4789-405C-56D6-4443-165F8FA0486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Which Covariates Belong in the PS Model?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74E9A-6B54-6D53-C497-EE31BB321ADD}"/>
              </a:ext>
            </a:extLst>
          </p:cNvPr>
          <p:cNvSpPr/>
          <p:nvPr/>
        </p:nvSpPr>
        <p:spPr>
          <a:xfrm>
            <a:off x="87630" y="1287780"/>
            <a:ext cx="3145536" cy="24587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C3815B-F537-3710-6D93-885384801FF9}"/>
              </a:ext>
            </a:extLst>
          </p:cNvPr>
          <p:cNvSpPr txBox="1"/>
          <p:nvPr/>
        </p:nvSpPr>
        <p:spPr>
          <a:xfrm>
            <a:off x="252221" y="1397507"/>
            <a:ext cx="31455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Usually include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4E8A0-724C-0E13-D49F-26D23DD36459}"/>
              </a:ext>
            </a:extLst>
          </p:cNvPr>
          <p:cNvSpPr txBox="1"/>
          <p:nvPr/>
        </p:nvSpPr>
        <p:spPr>
          <a:xfrm>
            <a:off x="252221" y="1808988"/>
            <a:ext cx="2847538" cy="16979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True confounders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Strong baseline predictors of outcome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Pre-treatment variables related to treatment and/or outcome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BC43FA02-BBAC-16E2-F566-9F3D881D20DA}"/>
              </a:ext>
            </a:extLst>
          </p:cNvPr>
          <p:cNvSpPr/>
          <p:nvPr/>
        </p:nvSpPr>
        <p:spPr>
          <a:xfrm>
            <a:off x="3310382" y="1287780"/>
            <a:ext cx="2690368" cy="24587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B9E3E3-10CF-99F7-9952-C1C80E6533B5}"/>
              </a:ext>
            </a:extLst>
          </p:cNvPr>
          <p:cNvSpPr txBox="1"/>
          <p:nvPr/>
        </p:nvSpPr>
        <p:spPr>
          <a:xfrm>
            <a:off x="3474974" y="1397507"/>
            <a:ext cx="31455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F6B737"/>
                </a:solidFill>
                <a:latin typeface="Aptos"/>
              </a:defRPr>
            </a:pPr>
            <a:r>
              <a:t>Be cautious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202638-7A66-6D3D-8658-F8A611E1CF50}"/>
              </a:ext>
            </a:extLst>
          </p:cNvPr>
          <p:cNvSpPr txBox="1"/>
          <p:nvPr/>
        </p:nvSpPr>
        <p:spPr>
          <a:xfrm>
            <a:off x="3474974" y="1808988"/>
            <a:ext cx="2487867" cy="1772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500">
                <a:solidFill>
                  <a:srgbClr val="F6F6F6"/>
                </a:solidFill>
                <a:latin typeface="Aptos"/>
              </a:defRPr>
            </a:pPr>
            <a:r>
              <a:rPr dirty="0"/>
              <a:t>Weak instruments / treatment-only predictors can worsen variance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500">
                <a:solidFill>
                  <a:srgbClr val="F6F6F6"/>
                </a:solidFill>
                <a:latin typeface="Aptos"/>
              </a:defRPr>
            </a:pPr>
            <a:r>
              <a:rPr dirty="0"/>
              <a:t>Highly redundant predictors may not help balance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30881B34-ED54-A6BD-7773-6499C15F831F}"/>
              </a:ext>
            </a:extLst>
          </p:cNvPr>
          <p:cNvSpPr/>
          <p:nvPr/>
        </p:nvSpPr>
        <p:spPr>
          <a:xfrm>
            <a:off x="6077966" y="1287780"/>
            <a:ext cx="2978404" cy="24587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C2ED04-AD34-60AA-B5CF-685ABE02408F}"/>
              </a:ext>
            </a:extLst>
          </p:cNvPr>
          <p:cNvSpPr txBox="1"/>
          <p:nvPr/>
        </p:nvSpPr>
        <p:spPr>
          <a:xfrm>
            <a:off x="6242558" y="1397507"/>
            <a:ext cx="31455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rPr dirty="0"/>
              <a:t>Do NOT include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01AD62-FCA8-3466-45D2-2729B1B57E12}"/>
              </a:ext>
            </a:extLst>
          </p:cNvPr>
          <p:cNvSpPr txBox="1"/>
          <p:nvPr/>
        </p:nvSpPr>
        <p:spPr>
          <a:xfrm>
            <a:off x="6242558" y="1808988"/>
            <a:ext cx="2696239" cy="145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Post-treatment mediators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Post-treatment colliders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Variables caused by treatment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DB3FDD-AB29-CC18-31CA-FCEC4640E996}"/>
              </a:ext>
            </a:extLst>
          </p:cNvPr>
          <p:cNvSpPr txBox="1"/>
          <p:nvPr/>
        </p:nvSpPr>
        <p:spPr>
          <a:xfrm>
            <a:off x="252221" y="4269507"/>
            <a:ext cx="83947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>
                <a:solidFill>
                  <a:srgbClr val="64AEEB"/>
                </a:solidFill>
                <a:latin typeface="Cambria Math"/>
              </a:defRPr>
            </a:pPr>
            <a:r>
              <a:rPr dirty="0"/>
              <a:t>Use causal knowledge first; prediction accuracy is not the objective.</a:t>
            </a:r>
          </a:p>
        </p:txBody>
      </p:sp>
    </p:spTree>
    <p:extLst>
      <p:ext uri="{BB962C8B-B14F-4D97-AF65-F5344CB8AC3E}">
        <p14:creationId xmlns:p14="http://schemas.microsoft.com/office/powerpoint/2010/main" val="4201740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C8992-86A4-6696-585A-14E5B29DC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84C8B-F707-A36D-DCB2-5D283A11AAC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Estimating the Propensity Score in R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873CB720-5DC9-FC34-38A6-585C1ECA4727}"/>
              </a:ext>
            </a:extLst>
          </p:cNvPr>
          <p:cNvSpPr/>
          <p:nvPr/>
        </p:nvSpPr>
        <p:spPr>
          <a:xfrm>
            <a:off x="96520" y="982980"/>
            <a:ext cx="4274604" cy="252857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F4FD0-22F7-2F2D-2D26-FB96F1C3DBF8}"/>
              </a:ext>
            </a:extLst>
          </p:cNvPr>
          <p:cNvSpPr txBox="1"/>
          <p:nvPr/>
        </p:nvSpPr>
        <p:spPr>
          <a:xfrm>
            <a:off x="261112" y="1092707"/>
            <a:ext cx="51572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499EBD-3945-59A1-B0E7-4B23C5E38662}"/>
              </a:ext>
            </a:extLst>
          </p:cNvPr>
          <p:cNvSpPr txBox="1"/>
          <p:nvPr/>
        </p:nvSpPr>
        <p:spPr>
          <a:xfrm>
            <a:off x="124968" y="1683256"/>
            <a:ext cx="4543552" cy="10233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sz="1200" dirty="0">
                <a:latin typeface="Consolas" panose="020B0609020204030204" pitchFamily="49" charset="0"/>
              </a:rPr>
              <a:t>ps_mod &lt;- glm(T ~ age + bp + diabetes + smoking,</a:t>
            </a:r>
            <a:endParaRPr lang="en-US" sz="1200" dirty="0">
              <a:latin typeface="Consolas" panose="020B0609020204030204" pitchFamily="49" charset="0"/>
            </a:endParaRP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              data = dat, family = binomial())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endParaRPr sz="1200" dirty="0">
              <a:latin typeface="Consolas" panose="020B0609020204030204" pitchFamily="49" charset="0"/>
            </a:endParaRP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sz="1200" dirty="0">
                <a:latin typeface="Consolas" panose="020B0609020204030204" pitchFamily="49" charset="0"/>
              </a:rPr>
              <a:t>dat$ps &lt;- predict(ps_mod, type = "response")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334C1A27-5EF7-C035-9F38-40CD0CED31DE}"/>
              </a:ext>
            </a:extLst>
          </p:cNvPr>
          <p:cNvSpPr/>
          <p:nvPr/>
        </p:nvSpPr>
        <p:spPr>
          <a:xfrm>
            <a:off x="4503928" y="928116"/>
            <a:ext cx="4543552" cy="258343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BD54CA-4B32-AB7A-A674-BB1AF411DA48}"/>
              </a:ext>
            </a:extLst>
          </p:cNvPr>
          <p:cNvSpPr txBox="1"/>
          <p:nvPr/>
        </p:nvSpPr>
        <p:spPr>
          <a:xfrm>
            <a:off x="4668520" y="1037843"/>
            <a:ext cx="47000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4D2783-E21B-D955-7AF9-252C1EAAA610}"/>
              </a:ext>
            </a:extLst>
          </p:cNvPr>
          <p:cNvSpPr txBox="1"/>
          <p:nvPr/>
        </p:nvSpPr>
        <p:spPr>
          <a:xfrm>
            <a:off x="4668520" y="1449324"/>
            <a:ext cx="4246156" cy="16979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A patient with ps = 0.78 had an estimated 78% probability of receiving treatment, given measured baseline X.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Model can be logistic regression, GAM, trees, boosting, etc.</a:t>
            </a:r>
            <a:r>
              <a:rPr lang="en-US" dirty="0"/>
              <a:t>,</a:t>
            </a:r>
            <a:r>
              <a:rPr dirty="0"/>
              <a:t> but balance remains the target.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84A9AD61-6C0B-745D-829A-46E62FC1B46B}"/>
              </a:ext>
            </a:extLst>
          </p:cNvPr>
          <p:cNvSpPr/>
          <p:nvPr/>
        </p:nvSpPr>
        <p:spPr>
          <a:xfrm>
            <a:off x="320040" y="4109115"/>
            <a:ext cx="8503920" cy="5029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BA6A65-3AB9-036C-8089-5CBFE5352F65}"/>
              </a:ext>
            </a:extLst>
          </p:cNvPr>
          <p:cNvSpPr txBox="1"/>
          <p:nvPr/>
        </p:nvSpPr>
        <p:spPr>
          <a:xfrm>
            <a:off x="548132" y="4160520"/>
            <a:ext cx="817473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rPr sz="2000" dirty="0"/>
              <a:t>Do not choose a PS model only because it has the highest AUC.</a:t>
            </a:r>
          </a:p>
        </p:txBody>
      </p:sp>
    </p:spTree>
    <p:extLst>
      <p:ext uri="{BB962C8B-B14F-4D97-AF65-F5344CB8AC3E}">
        <p14:creationId xmlns:p14="http://schemas.microsoft.com/office/powerpoint/2010/main" val="965347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11635-1935-5D60-AECF-88F4C315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791BB9-91EA-65D0-384E-F7608BAFEAA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Poor Overlap: A Warning, Not Just a Nuisance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2D2C261-A71B-8BFA-6427-714E8DDE2396}"/>
              </a:ext>
            </a:extLst>
          </p:cNvPr>
          <p:cNvSpPr/>
          <p:nvPr/>
        </p:nvSpPr>
        <p:spPr>
          <a:xfrm>
            <a:off x="91440" y="1206500"/>
            <a:ext cx="4137660" cy="308569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2F208A-991C-A05A-87BD-CC4426859E88}"/>
              </a:ext>
            </a:extLst>
          </p:cNvPr>
          <p:cNvSpPr txBox="1"/>
          <p:nvPr/>
        </p:nvSpPr>
        <p:spPr>
          <a:xfrm>
            <a:off x="256032" y="1316228"/>
            <a:ext cx="46542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F472CF-13DC-5E49-FB4A-B3D2665CA31C}"/>
                  </a:ext>
                </a:extLst>
              </p:cNvPr>
              <p:cNvSpPr txBox="1"/>
              <p:nvPr/>
            </p:nvSpPr>
            <p:spPr>
              <a:xfrm>
                <a:off x="164592" y="1886457"/>
                <a:ext cx="3864347" cy="166968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Treated patient: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)=0.96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Nearest control: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)=0.42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endParaRPr dirty="0"/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These people did not have similar chances of receiving treatment.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F472CF-13DC-5E49-FB4A-B3D2665CA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" y="1886457"/>
                <a:ext cx="3864347" cy="1669688"/>
              </a:xfrm>
              <a:prstGeom prst="rect">
                <a:avLst/>
              </a:prstGeom>
              <a:blipFill>
                <a:blip r:embed="rId2"/>
                <a:stretch>
                  <a:fillRect l="-1262" t="-1460" b="-5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3955BB26-D96E-23CD-6D0E-D1DFEB996625}"/>
              </a:ext>
            </a:extLst>
          </p:cNvPr>
          <p:cNvSpPr/>
          <p:nvPr/>
        </p:nvSpPr>
        <p:spPr>
          <a:xfrm>
            <a:off x="4325112" y="1240028"/>
            <a:ext cx="4654296" cy="304622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70C073-CCEA-751E-DAE4-4A5587DAF347}"/>
              </a:ext>
            </a:extLst>
          </p:cNvPr>
          <p:cNvSpPr txBox="1"/>
          <p:nvPr/>
        </p:nvSpPr>
        <p:spPr>
          <a:xfrm>
            <a:off x="4489704" y="1349756"/>
            <a:ext cx="46542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F6B737"/>
                </a:solidFill>
                <a:latin typeface="Aptos"/>
              </a:defRPr>
            </a:pPr>
            <a:r>
              <a:t>What this means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A8F424-590F-3943-3B22-C9B59FED4A82}"/>
              </a:ext>
            </a:extLst>
          </p:cNvPr>
          <p:cNvSpPr txBox="1"/>
          <p:nvPr/>
        </p:nvSpPr>
        <p:spPr>
          <a:xfrm>
            <a:off x="4478832" y="1938243"/>
            <a:ext cx="4346856" cy="12670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The data provide little information about the missing counterfactual.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Matching may discard units.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IPW will later create extreme weights.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8E9357-959F-34D1-C5C4-ACDF51E19DCA}"/>
              </a:ext>
            </a:extLst>
          </p:cNvPr>
          <p:cNvSpPr txBox="1"/>
          <p:nvPr/>
        </p:nvSpPr>
        <p:spPr>
          <a:xfrm>
            <a:off x="164592" y="4504840"/>
            <a:ext cx="8750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64AEEB"/>
                </a:solidFill>
                <a:latin typeface="Cambria Math"/>
              </a:defRPr>
            </a:pPr>
            <a:r>
              <a:rPr dirty="0"/>
              <a:t>Positivity is a causal assumption; overlap is its empirical footprint.</a:t>
            </a:r>
          </a:p>
        </p:txBody>
      </p:sp>
    </p:spTree>
    <p:extLst>
      <p:ext uri="{BB962C8B-B14F-4D97-AF65-F5344CB8AC3E}">
        <p14:creationId xmlns:p14="http://schemas.microsoft.com/office/powerpoint/2010/main" val="493855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78C9-E8C5-5E7E-D9E7-95A57D0A4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F72B38-5C19-627F-2452-499E5D26FFD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Matching: The Core Idea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B3A8D001-68A7-1212-7737-8CE4AF21D2B9}"/>
              </a:ext>
            </a:extLst>
          </p:cNvPr>
          <p:cNvSpPr/>
          <p:nvPr/>
        </p:nvSpPr>
        <p:spPr>
          <a:xfrm>
            <a:off x="124598" y="1093724"/>
            <a:ext cx="2923262" cy="295605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58FA57-39FD-0D84-3DA2-6E50BD1BCD3C}"/>
              </a:ext>
            </a:extLst>
          </p:cNvPr>
          <p:cNvSpPr txBox="1"/>
          <p:nvPr/>
        </p:nvSpPr>
        <p:spPr>
          <a:xfrm>
            <a:off x="289189" y="1203452"/>
            <a:ext cx="3054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Treated patient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F7B47E-F65F-3C35-DEA5-BAA9D1D8FDDF}"/>
                  </a:ext>
                </a:extLst>
              </p:cNvPr>
              <p:cNvSpPr txBox="1"/>
              <p:nvPr/>
            </p:nvSpPr>
            <p:spPr>
              <a:xfrm>
                <a:off x="346315" y="1786076"/>
                <a:ext cx="2561961" cy="175691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Age 68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Diabetes: Yes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Baseline SBP: 158</a:t>
                </a:r>
                <a:endParaRPr lang="en-US"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)=0.73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F7B47E-F65F-3C35-DEA5-BAA9D1D8F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15" y="1786076"/>
                <a:ext cx="2561961" cy="1756918"/>
              </a:xfrm>
              <a:prstGeom prst="rect">
                <a:avLst/>
              </a:prstGeom>
              <a:blipFill>
                <a:blip r:embed="rId2"/>
                <a:stretch>
                  <a:fillRect l="-1667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0AA136A0-3E4A-0224-BF58-69C404876F6E}"/>
              </a:ext>
            </a:extLst>
          </p:cNvPr>
          <p:cNvSpPr/>
          <p:nvPr/>
        </p:nvSpPr>
        <p:spPr>
          <a:xfrm>
            <a:off x="3137038" y="1093724"/>
            <a:ext cx="2869924" cy="295605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688B52-3FCC-5A4B-0AAA-903AB67F6456}"/>
              </a:ext>
            </a:extLst>
          </p:cNvPr>
          <p:cNvSpPr txBox="1"/>
          <p:nvPr/>
        </p:nvSpPr>
        <p:spPr>
          <a:xfrm>
            <a:off x="3301630" y="1203452"/>
            <a:ext cx="3054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Bad control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D7B9B69-E329-E6A4-3AD6-D3D4E7897036}"/>
                  </a:ext>
                </a:extLst>
              </p:cNvPr>
              <p:cNvSpPr txBox="1"/>
              <p:nvPr/>
            </p:nvSpPr>
            <p:spPr>
              <a:xfrm>
                <a:off x="3301630" y="1786076"/>
                <a:ext cx="2597520" cy="175691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Age 35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Diabetes: No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Baseline SBP: 122</a:t>
                </a:r>
                <a:endParaRPr lang="en-US"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)=0.14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D7B9B69-E329-E6A4-3AD6-D3D4E7897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30" y="1786076"/>
                <a:ext cx="2597520" cy="1756918"/>
              </a:xfrm>
              <a:prstGeom prst="rect">
                <a:avLst/>
              </a:prstGeom>
              <a:blipFill>
                <a:blip r:embed="rId3"/>
                <a:stretch>
                  <a:fillRect l="-1643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81BD876A-A62C-016F-2D29-3FC4B2BDB29F}"/>
              </a:ext>
            </a:extLst>
          </p:cNvPr>
          <p:cNvSpPr/>
          <p:nvPr/>
        </p:nvSpPr>
        <p:spPr>
          <a:xfrm>
            <a:off x="6096140" y="1125221"/>
            <a:ext cx="2869924" cy="292455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896C95-1DAD-A193-4C8B-15236C7DC2BF}"/>
              </a:ext>
            </a:extLst>
          </p:cNvPr>
          <p:cNvSpPr txBox="1"/>
          <p:nvPr/>
        </p:nvSpPr>
        <p:spPr>
          <a:xfrm>
            <a:off x="6305322" y="1180085"/>
            <a:ext cx="3054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Better control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2ED3425-1079-DC0E-7A23-7A1513546DB7}"/>
                  </a:ext>
                </a:extLst>
              </p:cNvPr>
              <p:cNvSpPr txBox="1"/>
              <p:nvPr/>
            </p:nvSpPr>
            <p:spPr>
              <a:xfrm>
                <a:off x="6267694" y="1786076"/>
                <a:ext cx="2590688" cy="17209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Age 66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Diabetes: Yes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Baseline SBP: 154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)=0.70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2ED3425-1079-DC0E-7A23-7A1513546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694" y="1786076"/>
                <a:ext cx="2590688" cy="1720984"/>
              </a:xfrm>
              <a:prstGeom prst="rect">
                <a:avLst/>
              </a:prstGeom>
              <a:blipFill>
                <a:blip r:embed="rId4"/>
                <a:stretch>
                  <a:fillRect l="-1412" t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4B6F4926-A253-4595-1D98-F16FDD708EEE}"/>
              </a:ext>
            </a:extLst>
          </p:cNvPr>
          <p:cNvSpPr txBox="1"/>
          <p:nvPr/>
        </p:nvSpPr>
        <p:spPr>
          <a:xfrm>
            <a:off x="173562" y="4371033"/>
            <a:ext cx="87968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6B737"/>
                </a:solidFill>
                <a:latin typeface="Cambria Math"/>
              </a:defRPr>
            </a:pPr>
            <a:r>
              <a:rPr dirty="0"/>
              <a:t>Match people who had similar treatment probabilities before treatment.</a:t>
            </a:r>
          </a:p>
        </p:txBody>
      </p:sp>
    </p:spTree>
    <p:extLst>
      <p:ext uri="{BB962C8B-B14F-4D97-AF65-F5344CB8AC3E}">
        <p14:creationId xmlns:p14="http://schemas.microsoft.com/office/powerpoint/2010/main" val="3571684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F75C-7E71-7796-5A3E-9128DA554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987FA0-788E-28DF-C0B3-A22C1D26E65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Nearest-Neighbor Matching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5F5A92-D9DE-E69A-5F3B-A7D28713835B}"/>
                  </a:ext>
                </a:extLst>
              </p:cNvPr>
              <p:cNvSpPr txBox="1"/>
              <p:nvPr/>
            </p:nvSpPr>
            <p:spPr>
              <a:xfrm>
                <a:off x="181544" y="850454"/>
                <a:ext cx="8780912" cy="485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500">
                    <a:solidFill>
                      <a:srgbClr val="64AEEB"/>
                    </a:solidFill>
                    <a:latin typeface="Cambria Math"/>
                  </a:defRPr>
                </a:pPr>
                <a:r>
                  <a:rPr dirty="0"/>
                  <a:t>For treated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dirty="0"/>
                  <a:t>, choose control j minimizing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ᵢ) −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ⱼ) |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5F5A92-D9DE-E69A-5F3B-A7D287138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44" y="850454"/>
                <a:ext cx="8780912" cy="485261"/>
              </a:xfrm>
              <a:prstGeom prst="rect">
                <a:avLst/>
              </a:prstGeom>
              <a:blipFill>
                <a:blip r:embed="rId2"/>
                <a:stretch>
                  <a:fillRect t="-11392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E3B2A317-87AC-8ECF-993C-ECFCEB30913A}"/>
              </a:ext>
            </a:extLst>
          </p:cNvPr>
          <p:cNvSpPr/>
          <p:nvPr/>
        </p:nvSpPr>
        <p:spPr>
          <a:xfrm>
            <a:off x="168910" y="2039620"/>
            <a:ext cx="2656586" cy="201803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B5ED35-8250-FD53-7D1C-085091EB7CD3}"/>
              </a:ext>
            </a:extLst>
          </p:cNvPr>
          <p:cNvSpPr txBox="1"/>
          <p:nvPr/>
        </p:nvSpPr>
        <p:spPr>
          <a:xfrm>
            <a:off x="333502" y="2149348"/>
            <a:ext cx="28254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Treated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5C38B3-5AED-865F-408B-410C38C8E709}"/>
                  </a:ext>
                </a:extLst>
              </p:cNvPr>
              <p:cNvSpPr txBox="1"/>
              <p:nvPr/>
            </p:nvSpPr>
            <p:spPr>
              <a:xfrm>
                <a:off x="0" y="2708584"/>
                <a:ext cx="2825496" cy="49500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22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)=0.71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5C38B3-5AED-865F-408B-410C38C8E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08584"/>
                <a:ext cx="2825496" cy="4950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0E364AF1-0E65-00C0-65FC-1251BF06A6E6}"/>
              </a:ext>
            </a:extLst>
          </p:cNvPr>
          <p:cNvSpPr/>
          <p:nvPr/>
        </p:nvSpPr>
        <p:spPr>
          <a:xfrm>
            <a:off x="2990088" y="2060591"/>
            <a:ext cx="2990088" cy="201803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92F31-1E8A-44F4-009A-553028683FC7}"/>
              </a:ext>
            </a:extLst>
          </p:cNvPr>
          <p:cNvSpPr txBox="1"/>
          <p:nvPr/>
        </p:nvSpPr>
        <p:spPr>
          <a:xfrm>
            <a:off x="3154680" y="2170319"/>
            <a:ext cx="28254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Control 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A706D4-CC36-14AE-36BC-DAE27661FBEE}"/>
                  </a:ext>
                </a:extLst>
              </p:cNvPr>
              <p:cNvSpPr txBox="1"/>
              <p:nvPr/>
            </p:nvSpPr>
            <p:spPr>
              <a:xfrm>
                <a:off x="2990088" y="2743184"/>
                <a:ext cx="2825496" cy="49500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22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)=0.69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A706D4-CC36-14AE-36BC-DAE27661F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088" y="2743184"/>
                <a:ext cx="2825496" cy="4950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9D6FA3D3-6D75-8A8F-7621-917773F007E9}"/>
              </a:ext>
            </a:extLst>
          </p:cNvPr>
          <p:cNvSpPr/>
          <p:nvPr/>
        </p:nvSpPr>
        <p:spPr>
          <a:xfrm>
            <a:off x="6318506" y="2039620"/>
            <a:ext cx="2656584" cy="203900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CEBA11-FAB3-F659-73E0-33927E6E372E}"/>
              </a:ext>
            </a:extLst>
          </p:cNvPr>
          <p:cNvSpPr txBox="1"/>
          <p:nvPr/>
        </p:nvSpPr>
        <p:spPr>
          <a:xfrm>
            <a:off x="6483098" y="2149348"/>
            <a:ext cx="28254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Control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CF02BA-CD9E-1F27-A33B-444BAD2F3F28}"/>
                  </a:ext>
                </a:extLst>
              </p:cNvPr>
              <p:cNvSpPr txBox="1"/>
              <p:nvPr/>
            </p:nvSpPr>
            <p:spPr>
              <a:xfrm>
                <a:off x="6163758" y="2758734"/>
                <a:ext cx="2825496" cy="49500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22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)=0.43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CF02BA-CD9E-1F27-A33B-444BAD2F3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758" y="2758734"/>
                <a:ext cx="2825496" cy="4950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4AC1451B-A301-CA8B-1C8B-2BC5FCD777E3}"/>
              </a:ext>
            </a:extLst>
          </p:cNvPr>
          <p:cNvSpPr/>
          <p:nvPr/>
        </p:nvSpPr>
        <p:spPr>
          <a:xfrm>
            <a:off x="354462" y="4286306"/>
            <a:ext cx="8503920" cy="74980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6E226F-163D-9E7C-0852-A3EB682208F6}"/>
              </a:ext>
            </a:extLst>
          </p:cNvPr>
          <p:cNvSpPr txBox="1"/>
          <p:nvPr/>
        </p:nvSpPr>
        <p:spPr>
          <a:xfrm>
            <a:off x="519054" y="4450898"/>
            <a:ext cx="817473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Nearest neighbor would prefer Control A</a:t>
            </a:r>
            <a:r>
              <a:rPr lang="en-US" dirty="0"/>
              <a:t>:</a:t>
            </a:r>
            <a:r>
              <a:rPr dirty="0"/>
              <a:t> but 'nearest' does not guarantee 'close enough'.</a:t>
            </a:r>
          </a:p>
        </p:txBody>
      </p:sp>
    </p:spTree>
    <p:extLst>
      <p:ext uri="{BB962C8B-B14F-4D97-AF65-F5344CB8AC3E}">
        <p14:creationId xmlns:p14="http://schemas.microsoft.com/office/powerpoint/2010/main" val="3446043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6DFBD-B9AC-478B-FEAB-51DBA764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6F6096-222E-2F23-41D9-7EB865AFD16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Calipers: Prevent Terrible Matches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694D3C-26E2-A820-06F7-F8BB7FDCFBCE}"/>
                  </a:ext>
                </a:extLst>
              </p:cNvPr>
              <p:cNvSpPr txBox="1"/>
              <p:nvPr/>
            </p:nvSpPr>
            <p:spPr>
              <a:xfrm>
                <a:off x="125284" y="1064733"/>
                <a:ext cx="8764905" cy="5080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500">
                    <a:solidFill>
                      <a:srgbClr val="F6B737"/>
                    </a:solidFill>
                    <a:latin typeface="Cambria Math"/>
                  </a:defRPr>
                </a:pPr>
                <a:r>
                  <a:rPr lang="en-US" dirty="0"/>
                  <a:t>Accept match only if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i="1" dirty="0" smtClean="0">
                        <a:latin typeface="Cambria Math" panose="02040503050406030204" pitchFamily="18" charset="0"/>
                      </a:rPr>
                      <m:t>) −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i="1" dirty="0" smtClean="0"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en-US" dirty="0"/>
                  <a:t> &lt; caliper</a:t>
                </a:r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694D3C-26E2-A820-06F7-F8BB7FDCF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84" y="1064733"/>
                <a:ext cx="8764905" cy="508024"/>
              </a:xfrm>
              <a:prstGeom prst="rect">
                <a:avLst/>
              </a:prstGeom>
              <a:blipFill>
                <a:blip r:embed="rId2"/>
                <a:stretch>
                  <a:fillRect t="-10843" b="-21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E049A01A-7B6D-1455-75DB-D368B3B6857B}"/>
              </a:ext>
            </a:extLst>
          </p:cNvPr>
          <p:cNvSpPr/>
          <p:nvPr/>
        </p:nvSpPr>
        <p:spPr>
          <a:xfrm>
            <a:off x="92548" y="1752881"/>
            <a:ext cx="4271609" cy="239572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A4122E-B356-9AAA-8186-F64F4187FC8E}"/>
              </a:ext>
            </a:extLst>
          </p:cNvPr>
          <p:cNvSpPr txBox="1"/>
          <p:nvPr/>
        </p:nvSpPr>
        <p:spPr>
          <a:xfrm>
            <a:off x="236128" y="1862609"/>
            <a:ext cx="427160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Without a caliper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062CE9-0E42-52B1-B034-B06CD33A4B49}"/>
              </a:ext>
            </a:extLst>
          </p:cNvPr>
          <p:cNvSpPr txBox="1"/>
          <p:nvPr/>
        </p:nvSpPr>
        <p:spPr>
          <a:xfrm>
            <a:off x="236128" y="2274087"/>
            <a:ext cx="4271609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A treated unit may be matched to a distant control simply because that is the nearest available one.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ACE55F6E-529C-5ED6-EFB6-ABFCDA2092AF}"/>
              </a:ext>
            </a:extLst>
          </p:cNvPr>
          <p:cNvSpPr/>
          <p:nvPr/>
        </p:nvSpPr>
        <p:spPr>
          <a:xfrm>
            <a:off x="4471670" y="1777031"/>
            <a:ext cx="4579782" cy="2419879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7AB4E9-167E-D455-6060-2010E886CB8C}"/>
              </a:ext>
            </a:extLst>
          </p:cNvPr>
          <p:cNvSpPr txBox="1"/>
          <p:nvPr/>
        </p:nvSpPr>
        <p:spPr>
          <a:xfrm>
            <a:off x="4615250" y="1886760"/>
            <a:ext cx="427160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With a caliper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482CBC-C790-228D-DF37-74883ACF1DD3}"/>
              </a:ext>
            </a:extLst>
          </p:cNvPr>
          <p:cNvSpPr txBox="1"/>
          <p:nvPr/>
        </p:nvSpPr>
        <p:spPr>
          <a:xfrm>
            <a:off x="4615250" y="2298238"/>
            <a:ext cx="4271609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Poor matches are rejected. Some treated units may remain unmatched.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0B5B6BBB-E236-6EC7-995B-3445F8FEA9E0}"/>
              </a:ext>
            </a:extLst>
          </p:cNvPr>
          <p:cNvSpPr/>
          <p:nvPr/>
        </p:nvSpPr>
        <p:spPr>
          <a:xfrm>
            <a:off x="297995" y="4304243"/>
            <a:ext cx="8132323" cy="75917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8F9074-0349-26C1-F660-25242A5973A3}"/>
              </a:ext>
            </a:extLst>
          </p:cNvPr>
          <p:cNvSpPr txBox="1"/>
          <p:nvPr/>
        </p:nvSpPr>
        <p:spPr>
          <a:xfrm>
            <a:off x="441575" y="4468834"/>
            <a:ext cx="782415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sz="1800" dirty="0"/>
              <a:t>Trade-off: better comparability can reduce the matched sample size.</a:t>
            </a:r>
          </a:p>
        </p:txBody>
      </p:sp>
    </p:spTree>
    <p:extLst>
      <p:ext uri="{BB962C8B-B14F-4D97-AF65-F5344CB8AC3E}">
        <p14:creationId xmlns:p14="http://schemas.microsoft.com/office/powerpoint/2010/main" val="2078026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6E63-F599-F0F5-C7F5-F68F6A77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20A80D-0557-6CAD-D199-7E1FEA677B3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Matching Choices Change the Analysis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CF4726C-C116-CC7A-D13A-967FC6C5F68E}"/>
              </a:ext>
            </a:extLst>
          </p:cNvPr>
          <p:cNvSpPr/>
          <p:nvPr/>
        </p:nvSpPr>
        <p:spPr>
          <a:xfrm>
            <a:off x="55880" y="1215390"/>
            <a:ext cx="2960370" cy="27127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440455-11F6-782B-8D1A-CE56A1EDF7AE}"/>
                  </a:ext>
                </a:extLst>
              </p:cNvPr>
              <p:cNvSpPr txBox="1"/>
              <p:nvPr/>
            </p:nvSpPr>
            <p:spPr>
              <a:xfrm>
                <a:off x="220470" y="1325117"/>
                <a:ext cx="1195519" cy="34624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50" b="1">
                    <a:solidFill>
                      <a:srgbClr val="64AEEB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1:1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𝑣𝑠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1: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440455-11F6-782B-8D1A-CE56A1EDF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70" y="1325117"/>
                <a:ext cx="1195519" cy="3462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475FFC-F487-CE91-97D3-F98A358A91F3}"/>
                  </a:ext>
                </a:extLst>
              </p:cNvPr>
              <p:cNvSpPr txBox="1"/>
              <p:nvPr/>
            </p:nvSpPr>
            <p:spPr>
              <a:xfrm>
                <a:off x="220470" y="1846070"/>
                <a:ext cx="3099816" cy="114133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1:1</m:t>
                    </m:r>
                  </m:oMath>
                </a14:m>
                <a:r>
                  <a:rPr dirty="0"/>
                  <a:t> is simple.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Using multiple controls can improve precision if good controls exist.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475FFC-F487-CE91-97D3-F98A358A9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70" y="1846070"/>
                <a:ext cx="3099816" cy="1141338"/>
              </a:xfrm>
              <a:prstGeom prst="rect">
                <a:avLst/>
              </a:prstGeom>
              <a:blipFill>
                <a:blip r:embed="rId3"/>
                <a:stretch>
                  <a:fillRect l="-982" t="-160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E8033668-6529-569D-CBF6-B972D8EBF1B5}"/>
              </a:ext>
            </a:extLst>
          </p:cNvPr>
          <p:cNvSpPr/>
          <p:nvPr/>
        </p:nvSpPr>
        <p:spPr>
          <a:xfrm>
            <a:off x="3107182" y="1215390"/>
            <a:ext cx="3099816" cy="27127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1FC10D-81B0-AB1C-A8ED-F446E5CB1CF9}"/>
              </a:ext>
            </a:extLst>
          </p:cNvPr>
          <p:cNvSpPr txBox="1"/>
          <p:nvPr/>
        </p:nvSpPr>
        <p:spPr>
          <a:xfrm>
            <a:off x="3271773" y="1325117"/>
            <a:ext cx="30998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With replacement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B7229B-9C16-86BE-F4BD-F5FB8F040AF9}"/>
              </a:ext>
            </a:extLst>
          </p:cNvPr>
          <p:cNvSpPr txBox="1"/>
          <p:nvPr/>
        </p:nvSpPr>
        <p:spPr>
          <a:xfrm>
            <a:off x="3271773" y="1846070"/>
            <a:ext cx="3099816" cy="30358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A strong control can be reused.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Often improves match quality.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Requires correct variance handling.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F8907A78-FC5A-9025-CAD6-9BBDD00A1410}"/>
              </a:ext>
            </a:extLst>
          </p:cNvPr>
          <p:cNvSpPr/>
          <p:nvPr/>
        </p:nvSpPr>
        <p:spPr>
          <a:xfrm>
            <a:off x="6297930" y="1215390"/>
            <a:ext cx="2790190" cy="27127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884C2D-90A3-81A2-5921-335D78F8DB86}"/>
              </a:ext>
            </a:extLst>
          </p:cNvPr>
          <p:cNvSpPr txBox="1"/>
          <p:nvPr/>
        </p:nvSpPr>
        <p:spPr>
          <a:xfrm>
            <a:off x="6462521" y="1325117"/>
            <a:ext cx="30998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Without replacement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36FF9-E867-6E45-D109-6929DB9E3202}"/>
              </a:ext>
            </a:extLst>
          </p:cNvPr>
          <p:cNvSpPr txBox="1"/>
          <p:nvPr/>
        </p:nvSpPr>
        <p:spPr>
          <a:xfrm>
            <a:off x="6475224" y="1881376"/>
            <a:ext cx="2612896" cy="11413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Each control used once.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More intuitive sample, but later matches can become worse.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155C96-67D1-C37D-BDA0-D85616BA640C}"/>
              </a:ext>
            </a:extLst>
          </p:cNvPr>
          <p:cNvSpPr txBox="1"/>
          <p:nvPr/>
        </p:nvSpPr>
        <p:spPr>
          <a:xfrm>
            <a:off x="55880" y="4075974"/>
            <a:ext cx="899368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>
                <a:solidFill>
                  <a:srgbClr val="F6B737"/>
                </a:solidFill>
                <a:latin typeface="Cambria Math"/>
              </a:defRPr>
            </a:pPr>
            <a:r>
              <a:rPr dirty="0"/>
              <a:t>Matching is a design decision, not a single automatic procedure.</a:t>
            </a:r>
          </a:p>
        </p:txBody>
      </p:sp>
    </p:spTree>
    <p:extLst>
      <p:ext uri="{BB962C8B-B14F-4D97-AF65-F5344CB8AC3E}">
        <p14:creationId xmlns:p14="http://schemas.microsoft.com/office/powerpoint/2010/main" val="1589860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C6637-9E22-556F-220A-F9E56C16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BA7546-5FE7-3D40-A8D6-A4D045DBDEE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Before Matching vs After Matching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89176692-BBCC-0E4E-28D9-7E35C50BD4CF}"/>
              </a:ext>
            </a:extLst>
          </p:cNvPr>
          <p:cNvSpPr/>
          <p:nvPr/>
        </p:nvSpPr>
        <p:spPr>
          <a:xfrm>
            <a:off x="164592" y="1040617"/>
            <a:ext cx="4178300" cy="277116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18D8A3-26B0-A1AA-FB46-2D2A531DA98E}"/>
              </a:ext>
            </a:extLst>
          </p:cNvPr>
          <p:cNvSpPr txBox="1"/>
          <p:nvPr/>
        </p:nvSpPr>
        <p:spPr>
          <a:xfrm>
            <a:off x="329184" y="1150345"/>
            <a:ext cx="391440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Before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35AA10-4253-BA66-52DC-19E6138B05C3}"/>
                  </a:ext>
                </a:extLst>
              </p:cNvPr>
              <p:cNvSpPr txBox="1"/>
              <p:nvPr/>
            </p:nvSpPr>
            <p:spPr>
              <a:xfrm>
                <a:off x="329184" y="1561825"/>
                <a:ext cx="3914407" cy="198259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Treated mean age: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Control mean age: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Diabetes: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42%</m:t>
                    </m:r>
                  </m:oMath>
                </a14:m>
                <a:r>
                  <a:rPr dirty="0"/>
                  <a:t> vs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17%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Baseline SBP: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156</m:t>
                    </m:r>
                  </m:oMath>
                </a14:m>
                <a:r>
                  <a:rPr dirty="0"/>
                  <a:t> vs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139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Groups are not comparable.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35AA10-4253-BA66-52DC-19E6138B0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" y="1561825"/>
                <a:ext cx="3914407" cy="1982594"/>
              </a:xfrm>
              <a:prstGeom prst="rect">
                <a:avLst/>
              </a:prstGeom>
              <a:blipFill>
                <a:blip r:embed="rId2"/>
                <a:stretch>
                  <a:fillRect l="-935" t="-615" b="-3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381842E5-294A-C0E0-B3D3-FC7467CD1BE2}"/>
              </a:ext>
            </a:extLst>
          </p:cNvPr>
          <p:cNvSpPr/>
          <p:nvPr/>
        </p:nvSpPr>
        <p:spPr>
          <a:xfrm>
            <a:off x="4801108" y="1040617"/>
            <a:ext cx="4178300" cy="277116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A2D27D-743E-364F-C043-697487193101}"/>
              </a:ext>
            </a:extLst>
          </p:cNvPr>
          <p:cNvSpPr txBox="1"/>
          <p:nvPr/>
        </p:nvSpPr>
        <p:spPr>
          <a:xfrm>
            <a:off x="4965699" y="1150345"/>
            <a:ext cx="391440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After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C5B0F6-0AAF-8406-8CE6-8FDBA52973B8}"/>
                  </a:ext>
                </a:extLst>
              </p:cNvPr>
              <p:cNvSpPr txBox="1"/>
              <p:nvPr/>
            </p:nvSpPr>
            <p:spPr>
              <a:xfrm>
                <a:off x="4965699" y="1561825"/>
                <a:ext cx="3914407" cy="198259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Treated mean age: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Matched control: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Diabetes: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41%</m:t>
                    </m:r>
                  </m:oMath>
                </a14:m>
                <a:r>
                  <a:rPr dirty="0"/>
                  <a:t> vs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39%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Baseline SBP: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r>
                  <a:rPr dirty="0"/>
                  <a:t> vs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154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Much better baseline balance.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C5B0F6-0AAF-8406-8CE6-8FDBA5297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699" y="1561825"/>
                <a:ext cx="3914407" cy="1982594"/>
              </a:xfrm>
              <a:prstGeom prst="rect">
                <a:avLst/>
              </a:prstGeom>
              <a:blipFill>
                <a:blip r:embed="rId3"/>
                <a:stretch>
                  <a:fillRect l="-1090" t="-615" b="-3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6A4AB0B9-6446-076F-2A50-79C3D650CE0B}"/>
              </a:ext>
            </a:extLst>
          </p:cNvPr>
          <p:cNvSpPr/>
          <p:nvPr/>
        </p:nvSpPr>
        <p:spPr>
          <a:xfrm>
            <a:off x="1061720" y="4236699"/>
            <a:ext cx="7504430" cy="71630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10AD1B-B781-4C0B-B4E0-11F4F406E53F}"/>
              </a:ext>
            </a:extLst>
          </p:cNvPr>
          <p:cNvSpPr txBox="1"/>
          <p:nvPr/>
        </p:nvSpPr>
        <p:spPr>
          <a:xfrm>
            <a:off x="1226311" y="4401290"/>
            <a:ext cx="721078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rPr sz="1600" dirty="0"/>
              <a:t>Matching is successful only if it improves balance on the baseline covariates.</a:t>
            </a:r>
          </a:p>
        </p:txBody>
      </p:sp>
    </p:spTree>
    <p:extLst>
      <p:ext uri="{BB962C8B-B14F-4D97-AF65-F5344CB8AC3E}">
        <p14:creationId xmlns:p14="http://schemas.microsoft.com/office/powerpoint/2010/main" val="3135920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DC02-2315-DA5A-80EB-2024D8E3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722E9E-F944-A225-E885-FEFA2B1B428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What Estimand Does Matching Target?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C841D7-9E01-1436-533F-E104CE41EB86}"/>
              </a:ext>
            </a:extLst>
          </p:cNvPr>
          <p:cNvSpPr/>
          <p:nvPr/>
        </p:nvSpPr>
        <p:spPr>
          <a:xfrm>
            <a:off x="169188" y="947420"/>
            <a:ext cx="4294862" cy="309118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8EC0D-A46F-EA58-7583-835C47566F73}"/>
              </a:ext>
            </a:extLst>
          </p:cNvPr>
          <p:cNvSpPr txBox="1"/>
          <p:nvPr/>
        </p:nvSpPr>
        <p:spPr>
          <a:xfrm>
            <a:off x="333780" y="1057148"/>
            <a:ext cx="46542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Typical treated-to-control matching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21D9F-79BC-2268-367C-FE053F12D5FF}"/>
              </a:ext>
            </a:extLst>
          </p:cNvPr>
          <p:cNvSpPr txBox="1"/>
          <p:nvPr/>
        </p:nvSpPr>
        <p:spPr>
          <a:xfrm>
            <a:off x="333780" y="1468628"/>
            <a:ext cx="4654296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Start with treated units.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Find comparable controls.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Estimate effect in the matched treated population.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Often naturally targets ATT.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004A633E-4EBE-7709-6B38-CE7BE84D45AB}"/>
              </a:ext>
            </a:extLst>
          </p:cNvPr>
          <p:cNvSpPr/>
          <p:nvPr/>
        </p:nvSpPr>
        <p:spPr>
          <a:xfrm>
            <a:off x="4572000" y="947420"/>
            <a:ext cx="4464050" cy="309118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25DEF2-8BB4-59C5-29AB-6991D4F3E9E5}"/>
              </a:ext>
            </a:extLst>
          </p:cNvPr>
          <p:cNvSpPr txBox="1"/>
          <p:nvPr/>
        </p:nvSpPr>
        <p:spPr>
          <a:xfrm>
            <a:off x="4736592" y="1057148"/>
            <a:ext cx="46542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But not always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9ABC0A-3883-2E54-E7DC-748F79AA57DA}"/>
              </a:ext>
            </a:extLst>
          </p:cNvPr>
          <p:cNvSpPr txBox="1"/>
          <p:nvPr/>
        </p:nvSpPr>
        <p:spPr>
          <a:xfrm>
            <a:off x="4736592" y="1468628"/>
            <a:ext cx="4169177" cy="12670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Target depends on the matching design.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Trimming changes the population.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Full matching / weighting-like methods can target different estimands.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E2CF6D-8930-2960-5C51-612BEAA98122}"/>
              </a:ext>
            </a:extLst>
          </p:cNvPr>
          <p:cNvSpPr txBox="1"/>
          <p:nvPr/>
        </p:nvSpPr>
        <p:spPr>
          <a:xfrm>
            <a:off x="169188" y="4341600"/>
            <a:ext cx="86891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>
                <a:solidFill>
                  <a:srgbClr val="F6B737"/>
                </a:solidFill>
                <a:latin typeface="Cambria Math"/>
              </a:defRPr>
            </a:pPr>
            <a:r>
              <a:rPr dirty="0"/>
              <a:t>Always name the target population before interpreting the effect.</a:t>
            </a:r>
          </a:p>
        </p:txBody>
      </p:sp>
    </p:spTree>
    <p:extLst>
      <p:ext uri="{BB962C8B-B14F-4D97-AF65-F5344CB8AC3E}">
        <p14:creationId xmlns:p14="http://schemas.microsoft.com/office/powerpoint/2010/main" val="3597790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61F8F-481A-B958-E986-FB985181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CB77E8-CFA3-1C77-2B4C-23E38CD6681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What Matching Does NOT Solve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16454CCC-F867-F17E-8609-EE49C9037439}"/>
              </a:ext>
            </a:extLst>
          </p:cNvPr>
          <p:cNvSpPr/>
          <p:nvPr/>
        </p:nvSpPr>
        <p:spPr>
          <a:xfrm>
            <a:off x="61238" y="1135380"/>
            <a:ext cx="3043912" cy="19253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91E09-4647-70BB-F655-BA75A9B24D45}"/>
              </a:ext>
            </a:extLst>
          </p:cNvPr>
          <p:cNvSpPr txBox="1"/>
          <p:nvPr/>
        </p:nvSpPr>
        <p:spPr>
          <a:xfrm>
            <a:off x="225830" y="1245107"/>
            <a:ext cx="30998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Unmeasured confounding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BF4FC3-0F0E-99F0-31A8-C4DF56D54653}"/>
              </a:ext>
            </a:extLst>
          </p:cNvPr>
          <p:cNvSpPr txBox="1"/>
          <p:nvPr/>
        </p:nvSpPr>
        <p:spPr>
          <a:xfrm>
            <a:off x="225830" y="1656588"/>
            <a:ext cx="2812338" cy="11413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Matching balances measured X.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Hidden common causes can still bias the effect.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378ACB92-2DD1-9C40-DC03-F09D0DE9E0C5}"/>
              </a:ext>
            </a:extLst>
          </p:cNvPr>
          <p:cNvSpPr/>
          <p:nvPr/>
        </p:nvSpPr>
        <p:spPr>
          <a:xfrm>
            <a:off x="3243834" y="1135380"/>
            <a:ext cx="2745463" cy="19253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A97BE4-2032-D6EE-C21F-55DDE0BDB177}"/>
              </a:ext>
            </a:extLst>
          </p:cNvPr>
          <p:cNvSpPr txBox="1"/>
          <p:nvPr/>
        </p:nvSpPr>
        <p:spPr>
          <a:xfrm>
            <a:off x="3408426" y="1245107"/>
            <a:ext cx="268882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6B737"/>
                </a:solidFill>
                <a:latin typeface="Aptos"/>
              </a:defRPr>
            </a:pPr>
            <a:r>
              <a:t>Poor overlap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9569B5-D13C-4CFC-F1CC-F99702BEC43D}"/>
              </a:ext>
            </a:extLst>
          </p:cNvPr>
          <p:cNvSpPr txBox="1"/>
          <p:nvPr/>
        </p:nvSpPr>
        <p:spPr>
          <a:xfrm>
            <a:off x="3408426" y="1656588"/>
            <a:ext cx="2688821" cy="11413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Some units may have no credible match.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Discarding them changes the target population.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AF0444EC-C881-AA45-30F9-08278A6F93A8}"/>
              </a:ext>
            </a:extLst>
          </p:cNvPr>
          <p:cNvSpPr/>
          <p:nvPr/>
        </p:nvSpPr>
        <p:spPr>
          <a:xfrm>
            <a:off x="6072077" y="1104265"/>
            <a:ext cx="2997985" cy="195643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84D2B6-2425-366C-E1E3-8016D2041788}"/>
              </a:ext>
            </a:extLst>
          </p:cNvPr>
          <p:cNvSpPr txBox="1"/>
          <p:nvPr/>
        </p:nvSpPr>
        <p:spPr>
          <a:xfrm>
            <a:off x="6236437" y="1231057"/>
            <a:ext cx="30998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Bad causal variable choice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FEF32A-6AE0-4C10-E6AF-1FC41F100AC2}"/>
              </a:ext>
            </a:extLst>
          </p:cNvPr>
          <p:cNvSpPr txBox="1"/>
          <p:nvPr/>
        </p:nvSpPr>
        <p:spPr>
          <a:xfrm>
            <a:off x="6236668" y="1625473"/>
            <a:ext cx="2576104" cy="1387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Matching on mediators/colliders can create bias.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PS methods do not replace DAG reasoning.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647591-1BBD-5AFF-5DAD-0E6EF2768E8F}"/>
              </a:ext>
            </a:extLst>
          </p:cNvPr>
          <p:cNvSpPr txBox="1"/>
          <p:nvPr/>
        </p:nvSpPr>
        <p:spPr>
          <a:xfrm>
            <a:off x="169188" y="3780790"/>
            <a:ext cx="89008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64AEEB"/>
                </a:solidFill>
                <a:latin typeface="Cambria Math"/>
              </a:defRPr>
            </a:pPr>
            <a:r>
              <a:rPr dirty="0"/>
              <a:t>Matching can make groups look similar</a:t>
            </a:r>
            <a:r>
              <a:rPr lang="en-US" dirty="0"/>
              <a:t>.</a:t>
            </a:r>
            <a:r>
              <a:rPr dirty="0"/>
              <a:t> </a:t>
            </a:r>
            <a:endParaRPr lang="en-US" dirty="0"/>
          </a:p>
          <a:p>
            <a:pPr algn="ctr">
              <a:defRPr sz="2000">
                <a:solidFill>
                  <a:srgbClr val="64AEEB"/>
                </a:solidFill>
                <a:latin typeface="Cambria Math"/>
              </a:defRPr>
            </a:pPr>
            <a:r>
              <a:rPr lang="en-US" dirty="0"/>
              <a:t>C</a:t>
            </a:r>
            <a:r>
              <a:rPr dirty="0"/>
              <a:t>ausal validity still requires assumptions.</a:t>
            </a:r>
          </a:p>
        </p:txBody>
      </p:sp>
    </p:spTree>
    <p:extLst>
      <p:ext uri="{BB962C8B-B14F-4D97-AF65-F5344CB8AC3E}">
        <p14:creationId xmlns:p14="http://schemas.microsoft.com/office/powerpoint/2010/main" val="2792973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3D35D-286E-A039-1178-CAFC27077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29BBF8-707F-CAD8-F767-48BF831B669A}"/>
                  </a:ext>
                </a:extLst>
              </p:cNvPr>
              <p:cNvSpPr txBox="1"/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 sz="27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2800" dirty="0">
                    <a:solidFill>
                      <a:srgbClr val="F4F1EA"/>
                    </a:solidFill>
                  </a:rPr>
                  <a:t>Bridge: Matching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>
                    <a:solidFill>
                      <a:srgbClr val="F4F1EA"/>
                    </a:solidFill>
                  </a:rPr>
                  <a:t> IPW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>
                    <a:solidFill>
                      <a:srgbClr val="F4F1EA"/>
                    </a:solidFill>
                  </a:rPr>
                  <a:t> AIPW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29BBF8-707F-CAD8-F767-48BF831B6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blipFill>
                <a:blip r:embed="rId2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34E2DF-1D2C-D9BC-5188-C79829305806}"/>
              </a:ext>
            </a:extLst>
          </p:cNvPr>
          <p:cNvSpPr/>
          <p:nvPr/>
        </p:nvSpPr>
        <p:spPr>
          <a:xfrm>
            <a:off x="64770" y="895350"/>
            <a:ext cx="2926080" cy="324307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EABE6-6A52-DA56-9E20-FDEF8C2C7A74}"/>
              </a:ext>
            </a:extLst>
          </p:cNvPr>
          <p:cNvSpPr txBox="1"/>
          <p:nvPr/>
        </p:nvSpPr>
        <p:spPr>
          <a:xfrm>
            <a:off x="229362" y="1005078"/>
            <a:ext cx="319125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Matching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0E4E53-3B18-1CB6-9DB1-862B8D12831A}"/>
                  </a:ext>
                </a:extLst>
              </p:cNvPr>
              <p:cNvSpPr txBox="1"/>
              <p:nvPr/>
            </p:nvSpPr>
            <p:spPr>
              <a:xfrm>
                <a:off x="88265" y="1443990"/>
                <a:ext cx="3191256" cy="182614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Use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to FIND comparable units.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endParaRPr dirty="0"/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Some units may be discarded.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endParaRPr dirty="0"/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Often ATT-like.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0E4E53-3B18-1CB6-9DB1-862B8D128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65" y="1443990"/>
                <a:ext cx="3191256" cy="1826141"/>
              </a:xfrm>
              <a:prstGeom prst="rect">
                <a:avLst/>
              </a:prstGeom>
              <a:blipFill>
                <a:blip r:embed="rId3"/>
                <a:stretch>
                  <a:fillRect l="-954" t="-1003" b="-3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19D244F2-2A1B-5871-B6E3-E252AD56894C}"/>
              </a:ext>
            </a:extLst>
          </p:cNvPr>
          <p:cNvSpPr/>
          <p:nvPr/>
        </p:nvSpPr>
        <p:spPr>
          <a:xfrm>
            <a:off x="3048127" y="913638"/>
            <a:ext cx="3076575" cy="324307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F32BDF-0D2C-2AE6-DC18-81B141692896}"/>
              </a:ext>
            </a:extLst>
          </p:cNvPr>
          <p:cNvSpPr txBox="1"/>
          <p:nvPr/>
        </p:nvSpPr>
        <p:spPr>
          <a:xfrm>
            <a:off x="3212719" y="1023366"/>
            <a:ext cx="319125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IPW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32AC38-2302-CF5A-0E89-83290B009544}"/>
                  </a:ext>
                </a:extLst>
              </p:cNvPr>
              <p:cNvSpPr txBox="1"/>
              <p:nvPr/>
            </p:nvSpPr>
            <p:spPr>
              <a:xfrm>
                <a:off x="3101721" y="1462278"/>
                <a:ext cx="3025760" cy="207236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Use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to REWEIGHT units.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endParaRPr dirty="0"/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Keep units but change how much each counts.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endParaRPr dirty="0"/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Can target ATE/ATT with different weights.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32AC38-2302-CF5A-0E89-83290B009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721" y="1462278"/>
                <a:ext cx="3025760" cy="2072362"/>
              </a:xfrm>
              <a:prstGeom prst="rect">
                <a:avLst/>
              </a:prstGeom>
              <a:blipFill>
                <a:blip r:embed="rId4"/>
                <a:stretch>
                  <a:fillRect l="-1210" t="-882" b="-2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08DBF741-E5B5-7054-FE49-A3FA91EF89F1}"/>
              </a:ext>
            </a:extLst>
          </p:cNvPr>
          <p:cNvSpPr/>
          <p:nvPr/>
        </p:nvSpPr>
        <p:spPr>
          <a:xfrm>
            <a:off x="6178296" y="913638"/>
            <a:ext cx="2832977" cy="32613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9C9212-315E-32BE-DE48-5D471981F4AF}"/>
              </a:ext>
            </a:extLst>
          </p:cNvPr>
          <p:cNvSpPr txBox="1"/>
          <p:nvPr/>
        </p:nvSpPr>
        <p:spPr>
          <a:xfrm>
            <a:off x="6342888" y="1023366"/>
            <a:ext cx="319125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AIPW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F02CA3-4BCA-751B-1190-7A8823F15626}"/>
              </a:ext>
            </a:extLst>
          </p:cNvPr>
          <p:cNvSpPr txBox="1"/>
          <p:nvPr/>
        </p:nvSpPr>
        <p:spPr>
          <a:xfrm>
            <a:off x="6342888" y="1434844"/>
            <a:ext cx="2610612" cy="23185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Combine weighting with an outcome model.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Two modeling components.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Doubly robust under standard conditions.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73791D-34E4-48AA-8BF8-9DBE377532A0}"/>
              </a:ext>
            </a:extLst>
          </p:cNvPr>
          <p:cNvSpPr txBox="1"/>
          <p:nvPr/>
        </p:nvSpPr>
        <p:spPr>
          <a:xfrm>
            <a:off x="229362" y="4338917"/>
            <a:ext cx="88468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6B737"/>
                </a:solidFill>
                <a:latin typeface="Cambria Math"/>
              </a:defRPr>
            </a:pPr>
            <a:r>
              <a:rPr dirty="0"/>
              <a:t>Same propensity score idea</a:t>
            </a:r>
            <a:r>
              <a:rPr lang="en-US" dirty="0"/>
              <a:t>:</a:t>
            </a:r>
            <a:r>
              <a:rPr dirty="0"/>
              <a:t> three different ways to build the causal comparison.</a:t>
            </a:r>
          </a:p>
        </p:txBody>
      </p:sp>
    </p:spTree>
    <p:extLst>
      <p:ext uri="{BB962C8B-B14F-4D97-AF65-F5344CB8AC3E}">
        <p14:creationId xmlns:p14="http://schemas.microsoft.com/office/powerpoint/2010/main" val="2661545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6B174-E193-0D8F-5C45-74877A62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F269D8-4134-4CA2-B712-8535DCFA7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388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FD1C-12CE-DEE2-08DE-56BB8160E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91346-8A66-D56D-24F9-1EB72E04BA3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IPW: changing each person’s contribution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6C2B7F5-44E9-5047-9552-EE05BA947764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8988A3-86EB-75DD-B436-4624A81E0B84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Matching selects comparison participants.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1C80314-AC09-A14B-71F1-F76C4B57C563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1DAF80-0422-2B17-37FF-3D3463735396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Weighting assigns a numerical contribution to each observed participant.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77E1418-321F-2052-FA21-D90C399937CF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437DBD-E626-1005-D2A9-DD913A17A933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goal is to align covariate distributions for a chosen causal target.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306859D-1DA7-4998-2217-ADEE02E9EBE4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5B9241A-267A-84E9-0AA5-F21FB828E3A2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We continue with training, baseline X, and 1978 earnings.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7217EB8-42ED-AD68-E3E9-20E5F790C931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IPW uses treatment probabilities to construct the comparison.</a:t>
            </a:r>
          </a:p>
        </p:txBody>
      </p:sp>
    </p:spTree>
    <p:extLst>
      <p:ext uri="{BB962C8B-B14F-4D97-AF65-F5344CB8AC3E}">
        <p14:creationId xmlns:p14="http://schemas.microsoft.com/office/powerpoint/2010/main" val="283700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66AFE-5623-DB76-1408-B949A6D6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3203B0-929D-3A6B-61D1-1307189468D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inverse probabilities?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4FA30E-8C80-E0C5-D0A4-60A9DABE4A76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7A11789-5A2A-660A-D6FE-DD01864E34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 treated person with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= 0.20 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</a:t>
                </a: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represents a relatively rare assignment.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7A11789-5A2A-660A-D6FE-DD01864E34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80" b="-63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A1AEC5-D68A-32E3-7035-BCF1FE3D1D15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D9CE61-447E-0236-6740-9559B4EE78C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Giving that person weight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fPr>
                      <m:num>
                        <m:r>
                          <a:rPr lang="ar-AE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1</m:t>
                        </m:r>
                      </m:num>
                      <m:den>
                        <m:r>
                          <a:rPr lang="ar-AE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0.20</m:t>
                        </m:r>
                      </m:den>
                    </m:f>
                    <m:r>
                      <a:rPr lang="ar-AE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5</m:t>
                    </m:r>
                  </m:oMath>
                </a14:m>
                <a:r>
                  <a:rPr lang="ar-AE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</a:t>
                </a: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compensates for the selection probability.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D9CE61-447E-0236-6740-9559B4EE78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blipFill>
                <a:blip r:embed="rId3"/>
                <a:stretch>
                  <a:fillRect l="-4068" t="-2548" r="-2881" b="-1273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AB9F1E-C0BC-A6FF-C7E3-E2E0D4E00692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904733E-5EF8-E51A-2399-8FFB479972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279082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 treated person with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= 0.80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receives weight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1.25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904733E-5EF8-E51A-2399-8FFB479972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2790825"/>
                <a:ext cx="3600450" cy="962025"/>
              </a:xfrm>
              <a:prstGeom prst="rect">
                <a:avLst/>
              </a:prstGeom>
              <a:blipFill>
                <a:blip r:embed="rId4"/>
                <a:stretch>
                  <a:fillRect l="-4068" t="-822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A4682E4-27AA-8E34-AF9F-7B92B5B6E56D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D725C87-2BB9-CF65-FB8A-D17E99EC12C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279082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The same reasoning applies to controls using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1 − 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).</m:t>
                    </m:r>
                  </m:oMath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D725C87-2BB9-CF65-FB8A-D17E99EC1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2790825"/>
                <a:ext cx="3600450" cy="962025"/>
              </a:xfrm>
              <a:prstGeom prst="rect">
                <a:avLst/>
              </a:prstGeom>
              <a:blipFill>
                <a:blip r:embed="rId5"/>
                <a:stretch>
                  <a:fillRect l="-4068" t="-822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B10ADADD-ED68-6F57-694C-DBA9B657782D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Less likely observed assignments receive larger ATE weights.</a:t>
            </a:r>
          </a:p>
        </p:txBody>
      </p:sp>
    </p:spTree>
    <p:extLst>
      <p:ext uri="{BB962C8B-B14F-4D97-AF65-F5344CB8AC3E}">
        <p14:creationId xmlns:p14="http://schemas.microsoft.com/office/powerpoint/2010/main" val="3308433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97CE-5895-254D-D36D-B7020F20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23CD4-D00F-E8F9-7A81-431A03941A9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ATE weights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42F053E-5E67-4776-B82C-E7F75CF42470}"/>
                  </a:ext>
                </a:extLst>
              </p:cNvPr>
              <p:cNvGraphicFramePr/>
              <p:nvPr/>
            </p:nvGraphicFramePr>
            <p:xfrm>
              <a:off x="457200" y="1219200"/>
              <a:ext cx="8229600" cy="188595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Observed treatment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Probability of that assignment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ATE weight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𝑇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= 1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𝑒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(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𝑋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1/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𝑒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(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𝑋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𝑇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= 0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1 −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𝑒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(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𝑋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1/{1 −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𝑒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(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𝑋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)}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42F053E-5E67-4776-B82C-E7F75CF4247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63416306"/>
                  </p:ext>
                </p:extLst>
              </p:nvPr>
            </p:nvGraphicFramePr>
            <p:xfrm>
              <a:off x="457200" y="1219200"/>
              <a:ext cx="8229600" cy="188595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Observed treatment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Probability of that assignment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ATE weight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44" t="-101923" r="-200667" b="-100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44" t="-101923" r="-100667" b="-100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44" t="-101923" r="-667" b="-1009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44" t="-203883" r="-200667" b="-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44" t="-203883" r="-100667" b="-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44" t="-203883" r="-667" b="-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F1679A-A555-764C-4E01-02934C38E4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188" y="3866077"/>
                <a:ext cx="82296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72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72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𝒘</m:t>
                          </m:r>
                        </m:e>
                        <m:sub>
                          <m:r>
                            <a:rPr lang="en-US" sz="172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𝒊</m:t>
                          </m:r>
                        </m:sub>
                      </m:sSub>
                      <m:r>
                        <a:rPr lang="en-US" sz="172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</m:t>
                      </m:r>
                      <m:f>
                        <m:fPr>
                          <m:ctrlPr>
                            <a:rPr lang="en-US" sz="172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72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172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72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72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725" b="1" i="1" dirty="0" smtClean="0">
                                      <a:solidFill>
                                        <a:srgbClr val="F5B62D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725" b="1" i="1" dirty="0" smtClean="0">
                                      <a:solidFill>
                                        <a:srgbClr val="F5B62D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  <m:t>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72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  <m:r>
                        <a:rPr lang="en-US" sz="172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+</m:t>
                      </m:r>
                      <m:f>
                        <m:fPr>
                          <m:ctrlPr>
                            <a:rPr lang="en-US" sz="172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172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𝟏</m:t>
                          </m:r>
                          <m:r>
                            <a:rPr lang="en-US" sz="172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172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172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72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lang="en-US" sz="172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𝟏</m:t>
                          </m:r>
                          <m:r>
                            <a:rPr lang="en-US" sz="172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sz="1725" b="1" i="1" dirty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725" b="1" i="1" dirty="0">
                                      <a:solidFill>
                                        <a:srgbClr val="F5B62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725" b="1" i="1" dirty="0">
                                      <a:solidFill>
                                        <a:srgbClr val="F5B62D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725" b="1" i="1" dirty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1725" b="1" dirty="0">
                  <a:solidFill>
                    <a:srgbClr val="F5B62D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F1679A-A555-764C-4E01-02934C38E4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3866077"/>
                <a:ext cx="8229600" cy="495300"/>
              </a:xfrm>
              <a:prstGeom prst="rect">
                <a:avLst/>
              </a:prstGeom>
              <a:blipFill>
                <a:blip r:embed="rId3"/>
                <a:stretch>
                  <a:fillRect b="-987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1797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E400F-92E0-0CC4-B976-204E0DA84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0B8ED0-95B7-7C61-9529-8A2151AFDEE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Actual weights for job-training participants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1ADA54-B9AE-2E43-A0FC-07C83EF47B36}"/>
              </a:ext>
            </a:extLst>
          </p:cNvPr>
          <p:cNvGraphicFramePr/>
          <p:nvPr/>
        </p:nvGraphicFramePr>
        <p:xfrm>
          <a:off x="457200" y="1109729"/>
          <a:ext cx="8229600" cy="276225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Participant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Estimated score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ATE weight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NSW1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0.639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1.57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NSW11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0.689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1.45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PSID1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0.026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PSID16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0.056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0E42B4-F7A2-B563-5F25-586E96C5F160}"/>
              </a:ext>
            </a:extLst>
          </p:cNvPr>
          <p:cNvSpPr>
            <a:spLocks noGrp="1"/>
          </p:cNvSpPr>
          <p:nvPr/>
        </p:nvSpPr>
        <p:spPr>
          <a:xfrm>
            <a:off x="457200" y="4291079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For an untreated participant, use 1/(1 − score), not 1/score.</a:t>
            </a:r>
          </a:p>
        </p:txBody>
      </p:sp>
    </p:spTree>
    <p:extLst>
      <p:ext uri="{BB962C8B-B14F-4D97-AF65-F5344CB8AC3E}">
        <p14:creationId xmlns:p14="http://schemas.microsoft.com/office/powerpoint/2010/main" val="4253051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E5EF2-68DC-D415-A998-4394D33C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52C966-FEC1-74EF-346B-969389CBCF3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weighting balances the population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203471-E6A6-5B88-D979-055D4C40AF30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CCAF7C6-770A-8DE3-229E-588119B15A5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The observed treated covariate density is proportional 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𝑓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CCAF7C6-770A-8DE3-229E-588119B15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80" r="-118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F87967F-4060-0E29-5EF1-314D4789C35E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635D575-41E7-5623-CFE6-61E42EFC7D9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1/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leaves a density proportional 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𝑓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635D575-41E7-5623-CFE6-61E42EFC7D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blipFill>
                <a:blip r:embed="rId3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73ACFDF-2B63-8B5C-41B8-D5635F115695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6D45135-A529-7970-5538-5E226F10D3E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279082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The control density is proportional 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{1 − 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)}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𝑓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).</m:t>
                    </m:r>
                  </m:oMath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6D45135-A529-7970-5538-5E226F10D3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2790825"/>
                <a:ext cx="3600450" cy="962025"/>
              </a:xfrm>
              <a:prstGeom prst="rect">
                <a:avLst/>
              </a:prstGeom>
              <a:blipFill>
                <a:blip r:embed="rId4"/>
                <a:stretch>
                  <a:fillRect l="-4068" t="-8228" r="-101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C4EA597-917E-730F-A728-CFE2798239C8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AF9013D-B4CE-A6C2-8E79-4683A97D7DB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279082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1/{1 − 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)} 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also leaves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𝑓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AF9013D-B4CE-A6C2-8E79-4683A97D7D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2790825"/>
                <a:ext cx="3600450" cy="962025"/>
              </a:xfrm>
              <a:prstGeom prst="rect">
                <a:avLst/>
              </a:prstGeom>
              <a:blipFill>
                <a:blip r:embed="rId5"/>
                <a:stretch>
                  <a:fillRect l="-4068" t="-822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3805011-2F89-1779-104A-24FFAB2EFB7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With the true probabilities, both ATE-weighted arms target the same </a:t>
                </a:r>
                <a14:m>
                  <m:oMath xmlns:m="http://schemas.openxmlformats.org/officeDocument/2006/math"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𝒇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𝒙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3805011-2F89-1779-104A-24FFAB2EF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blipFill>
                <a:blip r:embed="rId6"/>
                <a:stretch>
                  <a:fillRect t="-135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2655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B06C6-E128-CCA6-AA85-E12694B96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8D4F8B-A180-3616-3CBA-D246E75238E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IPW identifies a treatment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2FB0494-8B78-BADF-7021-AEE066DA0D1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[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𝑇𝑌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/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𝑒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|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] =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[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|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1,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].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2FB0494-8B78-BADF-7021-AEE066DA0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E3FF32A-B760-C354-EEBE-66A2E007630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𝐸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𝑇𝑌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|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] =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𝐸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𝑌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|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1,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].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E3FF32A-B760-C354-EEBE-66A2E00763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 l="-1905"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FE81E3C-351E-637E-67C7-826CA698AFF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Averaging over X gives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𝐸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𝑇𝑌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/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)] =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𝐸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𝑌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(1)].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FE81E3C-351E-637E-67C7-826CA698A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blipFill>
                <a:blip r:embed="rId4"/>
                <a:stretch>
                  <a:fillRect l="-1905"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248F692-FFEF-FAD9-9305-CA0B4056633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The control expression identifies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𝐸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𝑌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(0)] </m:t>
                    </m:r>
                  </m:oMath>
                </a14:m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in the same way.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248F692-FFEF-FAD9-9305-CA0B405663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blipFill>
                <a:blip r:embed="rId5"/>
                <a:stretch>
                  <a:fillRect l="-1905" t="-10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DB09D33-8F4A-CEE2-D6CF-71AE142F5FBD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Exchangeability, consistency, and positivity justify the causal equality.</a:t>
            </a:r>
          </a:p>
        </p:txBody>
      </p:sp>
    </p:spTree>
    <p:extLst>
      <p:ext uri="{BB962C8B-B14F-4D97-AF65-F5344CB8AC3E}">
        <p14:creationId xmlns:p14="http://schemas.microsoft.com/office/powerpoint/2010/main" val="1516428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CEC4-A82C-C645-E88D-3BCD77872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0920F-C225-17EA-303D-683CD223930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Weighted mean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F5C0435-502A-2059-B57E-6EA6C172288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Horvitz-Thompson: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𝑛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⁻¹ </m:t>
                    </m:r>
                    <m:r>
                      <m:rPr>
                        <m:sty m:val="p"/>
                      </m:rPr>
                      <a:rPr lang="el-GR" sz="1950" b="0" i="0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Σ</m:t>
                    </m:r>
                    <m:r>
                      <a:rPr lang="el-GR" sz="195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</m:t>
                    </m:r>
                    <m:sSub>
                      <m:sSubPr>
                        <m:ctrlPr>
                          <a:rPr lang="el-GR" sz="195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l-GR" sz="195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𝑇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95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95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𝑌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/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F5C0435-502A-2059-B57E-6EA6C17228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 l="-1905" t="-10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B01E21-1BA1-83AC-1A8C-4D2AE90FFC3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Normalized mean: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r>
                      <m:rPr>
                        <m:sty m:val="p"/>
                      </m:rPr>
                      <a:rPr lang="el-GR" sz="1950" b="0" i="0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Σ</m:t>
                    </m:r>
                    <m:r>
                      <a:rPr lang="el-GR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</m:t>
                    </m:r>
                    <m:sSub>
                      <m:sSubPr>
                        <m:ctrlPr>
                          <a:rPr lang="el-GR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l-GR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𝑇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𝑌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/</m:t>
                    </m:r>
                    <m:sSub>
                      <m:sSubPr>
                        <m:ctrlPr>
                          <a:rPr lang="en-US" sz="195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i="1" dirty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50" i="1" dirty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95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÷ </m:t>
                    </m:r>
                    <m:r>
                      <m:rPr>
                        <m:sty m:val="p"/>
                      </m:rPr>
                      <a:rPr lang="el-GR" sz="1950" b="0" i="0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Σ</m:t>
                    </m:r>
                    <m:r>
                      <a:rPr lang="el-GR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</m:t>
                    </m:r>
                    <m:sSub>
                      <m:sSubPr>
                        <m:ctrlPr>
                          <a:rPr lang="el-GR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l-GR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𝑇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/</m:t>
                    </m:r>
                    <m:sSub>
                      <m:sSubPr>
                        <m:ctrlPr>
                          <a:rPr lang="en-US" sz="195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i="1" dirty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50" i="1" dirty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95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.</m:t>
                    </m:r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</a:t>
                </a:r>
                <a:r>
                  <a:rPr lang="en-US" sz="1950" dirty="0">
                    <a:solidFill>
                      <a:srgbClr val="F4F1EA"/>
                    </a:solidFill>
                  </a:rPr>
                  <a:t>(Hajek)</a:t>
                </a:r>
                <a:endParaRPr lang="en-US"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B01E21-1BA1-83AC-1A8C-4D2AE90FFC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 l="-1905"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1B11821-458B-B7D1-86C7-A9D46BB3DD2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Compute the corresponding control mean using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1 −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1B11821-458B-B7D1-86C7-A9D46BB3DD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blipFill>
                <a:blip r:embed="rId4"/>
                <a:stretch>
                  <a:fillRect l="-1905"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7C32F53-59F4-9584-C624-B0901BAB19F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The effect estimate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𝜏</m:t>
                        </m:r>
                      </m:e>
                    </m:acc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−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7C32F53-59F4-9584-C624-B0901BAB19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blipFill>
                <a:blip r:embed="rId5"/>
                <a:stretch>
                  <a:fillRect l="-1905" t="-10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4BBBA076-3EFB-2781-740C-4D37A578C235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Our real-data calculations use normalized weighted means.</a:t>
            </a:r>
          </a:p>
        </p:txBody>
      </p:sp>
    </p:spTree>
    <p:extLst>
      <p:ext uri="{BB962C8B-B14F-4D97-AF65-F5344CB8AC3E}">
        <p14:creationId xmlns:p14="http://schemas.microsoft.com/office/powerpoint/2010/main" val="3531141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6BC3F-A35A-78CF-DA63-30391C337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AD0976-E2CC-23C4-D51C-ED74E01B057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estimate the assignment model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363663-AFC8-CE5D-3D23-BB7153C85627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FEAFD2-5885-D779-E302-24AA2503D05C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library(MatchIt)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data("lalonde", package = "MatchIt")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 &lt;- lalonde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ps_fit &lt;- glm(treat ~ age + educ + race + married +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nodegree + re74 + re75,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family = binomial(), data = d)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d$ps &lt;- predict(ps_fit, type = "response")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stopifnot(all(d$ps &gt; 0 &amp; d$ps &lt; 1))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C819CF-F12A-68AF-757D-B8C3CA6DD7DC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This check prevents invalid denominators. It does not verify population positivity.</a:t>
            </a:r>
          </a:p>
        </p:txBody>
      </p:sp>
    </p:spTree>
    <p:extLst>
      <p:ext uri="{BB962C8B-B14F-4D97-AF65-F5344CB8AC3E}">
        <p14:creationId xmlns:p14="http://schemas.microsoft.com/office/powerpoint/2010/main" val="1923725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7C5EF-4592-BC4F-0C76-F6942685B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5E53CF-5412-3A5B-1B64-A8E96394C1B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ATE weights and point estimate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0AE5A5-467B-A8DE-4DA4-7BA4278EAD99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2D9297-3B75-3DEF-3AFA-0D8FB0BFFE81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d$w_ate &lt;- ifelse(d$treat == 1,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      1 / d$ps, 1 / (1 - d$ps))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mu1 &lt;- with(d, weighted.mean(re78[treat == 1],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               w_ate[treat == 1]))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mu0 &lt;- with(d, weighted.mean(re78[treat == 0],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               w_ate[treat == 0]))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ate_ipw &lt;- mu1 - mu0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c(mu1 = mu1, mu0 = mu0, ATE = ate_ipw)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29928C-F0E7-031C-1A89-9B8F1CCA36E2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target is the overall population represented by these study data.</a:t>
            </a:r>
          </a:p>
        </p:txBody>
      </p:sp>
    </p:spTree>
    <p:extLst>
      <p:ext uri="{BB962C8B-B14F-4D97-AF65-F5344CB8AC3E}">
        <p14:creationId xmlns:p14="http://schemas.microsoft.com/office/powerpoint/2010/main" val="3117266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5AE92-F00D-A417-F88A-97894CD2E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BA7BCD-EC6A-EFF9-7E66-28FE1CA1EE2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ATE weighting: real-data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A8A550-83F3-F085-BB72-CE75FEA83FFD}"/>
              </a:ext>
            </a:extLst>
          </p:cNvPr>
          <p:cNvGraphicFramePr/>
          <p:nvPr/>
        </p:nvGraphicFramePr>
        <p:xfrm>
          <a:off x="457200" y="1219200"/>
          <a:ext cx="8229600" cy="2514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Estimate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Weighted training mean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$6,648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Weighted comparison mean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$6,423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Weighted difference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About +$225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C91D70C-593D-C736-B72B-C697914555A5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This is an estimate under the proposed model and assumptions, not a validated causal conclusion.</a:t>
            </a:r>
          </a:p>
        </p:txBody>
      </p:sp>
    </p:spTree>
    <p:extLst>
      <p:ext uri="{BB962C8B-B14F-4D97-AF65-F5344CB8AC3E}">
        <p14:creationId xmlns:p14="http://schemas.microsoft.com/office/powerpoint/2010/main" val="3869801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252C-31EB-049C-9C64-5D7A842E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82DF7-0DAF-679B-A5B0-CFF2DF1F048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ATT weighting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70C58F1-9CD0-22FA-564E-7B8257A5B143}"/>
                  </a:ext>
                </a:extLst>
              </p:cNvPr>
              <p:cNvGraphicFramePr/>
              <p:nvPr/>
            </p:nvGraphicFramePr>
            <p:xfrm>
              <a:off x="457200" y="1219200"/>
              <a:ext cx="8229600" cy="188595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Observed treatment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 dirty="0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ATT weight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Purpose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𝑇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= 1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Retain the treated population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𝑇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= 0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𝑒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(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𝑋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)/{1 −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𝑒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(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𝑋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)}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Make controls resemble treated units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70C58F1-9CD0-22FA-564E-7B8257A5B1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40350463"/>
                  </p:ext>
                </p:extLst>
              </p:nvPr>
            </p:nvGraphicFramePr>
            <p:xfrm>
              <a:off x="457200" y="1219200"/>
              <a:ext cx="8229600" cy="188595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Observed treatment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 dirty="0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ATT weight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Purpose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44" t="-101923" r="-200667" b="-106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44" t="-101923" r="-100667" b="-106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Retain the treated population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44" t="-203883" r="-200667" b="-7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44" t="-203883" r="-100667" b="-7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Make controls resemble treated units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6D585563-E512-E6C6-15B2-194BC7770508}"/>
              </a:ext>
            </a:extLst>
          </p:cNvPr>
          <p:cNvSpPr>
            <a:spLocks noGrp="1"/>
          </p:cNvSpPr>
          <p:nvPr/>
        </p:nvSpPr>
        <p:spPr>
          <a:xfrm>
            <a:off x="457200" y="392430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ATT weights target the treated covariate distribution, not the full-population ATE.</a:t>
            </a:r>
          </a:p>
        </p:txBody>
      </p:sp>
    </p:spTree>
    <p:extLst>
      <p:ext uri="{BB962C8B-B14F-4D97-AF65-F5344CB8AC3E}">
        <p14:creationId xmlns:p14="http://schemas.microsoft.com/office/powerpoint/2010/main" val="1175728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2D2A5-D220-F135-1DED-DFE755977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6AC960-8ED5-1CC8-09ED-9AEBE8E3C57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ATT weights and point estimate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0D91DD-3E92-07E6-0F52-B6F5EE894E0A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B926B1-9555-7115-81D4-82FD48DEDD02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d$w_att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&lt;- ifelse(d$treat == 1,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      1, d$ps / (1 - d$ps))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mu1_att &lt;- with(d, weighted.mean(re78[treat == 1],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                  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w_att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[treat == 1]))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mu0_att &lt;- with(d, weighted.mean(re78[treat == 0],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                  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w_att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[treat == 0]))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att_ipw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&lt;- mu1_att - mu0_att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c(mu1 = mu1_att, mu0 = mu0_att, ATT =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att_ipw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123F2E-C663-2BB9-F1AF-96FD3CAD2D9D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Here the treated mean stays $6,349. The weighted control mean is about $5,135.</a:t>
            </a:r>
          </a:p>
        </p:txBody>
      </p:sp>
    </p:spTree>
    <p:extLst>
      <p:ext uri="{BB962C8B-B14F-4D97-AF65-F5344CB8AC3E}">
        <p14:creationId xmlns:p14="http://schemas.microsoft.com/office/powerpoint/2010/main" val="886195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1BA7C-D1F4-A726-354F-D7230FF95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B1DC3B-643A-09A9-E3D3-8FC1326A231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ATE and ATT answer different questions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3326A2-3C62-BA40-F913-3787855737BC}"/>
              </a:ext>
            </a:extLst>
          </p:cNvPr>
          <p:cNvGraphicFramePr/>
          <p:nvPr/>
        </p:nvGraphicFramePr>
        <p:xfrm>
          <a:off x="457200" y="1219200"/>
          <a:ext cx="8229600" cy="1885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Weighting estimate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Whose effect?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ATE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About +$225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Overall study population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ATT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About +$1,214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Treated participants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F8291FE-547E-8374-E31A-4B4097315C9B}"/>
              </a:ext>
            </a:extLst>
          </p:cNvPr>
          <p:cNvSpPr>
            <a:spLocks noGrp="1"/>
          </p:cNvSpPr>
          <p:nvPr/>
        </p:nvSpPr>
        <p:spPr>
          <a:xfrm>
            <a:off x="457200" y="4001305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Different targets can produce different effects, even with the same data and propensity model.</a:t>
            </a:r>
          </a:p>
        </p:txBody>
      </p:sp>
    </p:spTree>
    <p:extLst>
      <p:ext uri="{BB962C8B-B14F-4D97-AF65-F5344CB8AC3E}">
        <p14:creationId xmlns:p14="http://schemas.microsoft.com/office/powerpoint/2010/main" val="3509238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822D1-C90C-B07C-C029-13D8FCFA1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AEE7E-10FA-728F-2E69-12FC9E6FF31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Stabilized ATE weights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459365-5C26-C9BD-D441-020ADB9EBBDF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9F295EF-3F86-666C-6966-93271A2F393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85825" y="1509712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Treated: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𝑃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1)/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9F295EF-3F86-666C-6966-93271A2F3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5" y="1509712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3892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B74656-3A3D-91F9-EE20-98F63B0DF652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F31694-708C-DE44-B7E4-D7ED4BE4001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05882" y="1528762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Control: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𝑃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0)/{1 − 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)}.</m:t>
                    </m:r>
                  </m:oMath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F31694-708C-DE44-B7E4-D7ED4BE400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882" y="1528762"/>
                <a:ext cx="3600450" cy="962025"/>
              </a:xfrm>
              <a:prstGeom prst="rect">
                <a:avLst/>
              </a:prstGeom>
              <a:blipFill>
                <a:blip r:embed="rId3"/>
                <a:stretch>
                  <a:fillRect l="-4061" t="-822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2716335-BC20-AF76-C8FF-4CFDE8028A9C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77511-4D0D-9799-C549-1EB1024EE4DF}"/>
              </a:ext>
            </a:extLst>
          </p:cNvPr>
          <p:cNvSpPr>
            <a:spLocks noGrp="1"/>
          </p:cNvSpPr>
          <p:nvPr/>
        </p:nvSpPr>
        <p:spPr>
          <a:xfrm>
            <a:off x="485775" y="29051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Use the observed treatment fraction to estimate the numerators.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71EAB0-26C8-C8A9-C1AC-42CE1F0F8098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E74194-BB8B-1EEF-1B12-30A00DF440D4}"/>
              </a:ext>
            </a:extLst>
          </p:cNvPr>
          <p:cNvSpPr>
            <a:spLocks noGrp="1"/>
          </p:cNvSpPr>
          <p:nvPr/>
        </p:nvSpPr>
        <p:spPr>
          <a:xfrm>
            <a:off x="5057775" y="2762249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numerators multiply all weights within an arm by the same constant.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F5BA69-941D-7480-090E-FAA185F95B10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Normalized arm means are unchanged. Stabilization does not fix poor overlap.</a:t>
            </a:r>
          </a:p>
        </p:txBody>
      </p:sp>
    </p:spTree>
    <p:extLst>
      <p:ext uri="{BB962C8B-B14F-4D97-AF65-F5344CB8AC3E}">
        <p14:creationId xmlns:p14="http://schemas.microsoft.com/office/powerpoint/2010/main" val="3534239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E2CE-2CEE-FD85-D91B-91BECEEF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7BA048-E0C2-BB05-47F4-74CD9C2B60F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Extreme weights and influence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AECDA3-5A95-64A4-B4D5-55CEC4F9F9BA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2EB60D6-080F-98BE-F36B-8D8AA588ECF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432909"/>
                <a:ext cx="3800475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For a treated person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𝑒</m:t>
                        </m:r>
                      </m:e>
                    </m:acc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= 0.025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, the ATE weight is about 40.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2EB60D6-080F-98BE-F36B-8D8AA588EC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432909"/>
                <a:ext cx="3800475" cy="962025"/>
              </a:xfrm>
              <a:prstGeom prst="rect">
                <a:avLst/>
              </a:prstGeom>
              <a:blipFill>
                <a:blip r:embed="rId2"/>
                <a:stretch>
                  <a:fillRect l="-3852" t="-8228" r="-256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4A909A-5EA1-3C6A-65CE-B575739EE9CE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0819ED7-3BC0-7938-9C15-C1BDD073542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1432908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In this real dataset, the maximum treated ATE weight is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40.08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0819ED7-3BC0-7938-9C15-C1BDD07354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1432908"/>
                <a:ext cx="3600450" cy="962025"/>
              </a:xfrm>
              <a:prstGeom prst="rect">
                <a:avLst/>
              </a:prstGeom>
              <a:blipFill>
                <a:blip r:embed="rId3"/>
                <a:stretch>
                  <a:fillRect l="-4068" t="-822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01FC3C-EF2E-DF61-C1A1-1D6D6DF03299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7E2E7E-C409-AB30-7552-78CBA240B165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 small number of low-score treated people can drive the weighted treated mean.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50F571-A777-1630-6701-6A4F1AFD04EA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3947C0-C512-F18B-6DE9-18BF4761773F}"/>
              </a:ext>
            </a:extLst>
          </p:cNvPr>
          <p:cNvSpPr>
            <a:spLocks noGrp="1"/>
          </p:cNvSpPr>
          <p:nvPr/>
        </p:nvSpPr>
        <p:spPr>
          <a:xfrm>
            <a:off x="5086350" y="2837912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Check the weight distribution separately in each arm.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2CE974-B1E0-370F-56DD-026F8FA34146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Retaining everyone does not mean everyone contributes equally.</a:t>
            </a:r>
          </a:p>
        </p:txBody>
      </p:sp>
    </p:spTree>
    <p:extLst>
      <p:ext uri="{BB962C8B-B14F-4D97-AF65-F5344CB8AC3E}">
        <p14:creationId xmlns:p14="http://schemas.microsoft.com/office/powerpoint/2010/main" val="1777700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F18EC-48B9-6D08-E183-B12871EA0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04FEB7-8266-EE5E-694C-212EC88F4A4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Effective sample size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4514BF-6EDB-0668-9BDF-D21B3DC8307D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27F71C9-9A98-C331-D457-3559D7C533F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4859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l-GR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𝐸𝑆𝑆</m:t>
                      </m:r>
                      <m:r>
                        <a:rPr lang="el-GR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(</m:t>
                      </m:r>
                      <m:r>
                        <m:rPr>
                          <m:sty m:val="p"/>
                        </m:rPr>
                        <a:rPr lang="el-GR" sz="1800" b="0" i="0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Σ</m:t>
                      </m:r>
                      <m:r>
                        <a:rPr lang="el-GR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</m:t>
                      </m:r>
                      <m:sSub>
                        <m:sSubPr>
                          <m:ctrlPr>
                            <a:rPr lang="el-GR" sz="180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l-GR" sz="180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𝑤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l-GR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)² / </m:t>
                      </m:r>
                      <m:r>
                        <m:rPr>
                          <m:sty m:val="p"/>
                        </m:rPr>
                        <a:rPr lang="el-GR" sz="1800" b="0" i="0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Σ</m:t>
                      </m:r>
                      <m:r>
                        <a:rPr lang="el-GR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</m:t>
                      </m:r>
                      <m:sSub>
                        <m:sSubPr>
                          <m:ctrlPr>
                            <a:rPr lang="el-GR" sz="180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l-GR" sz="180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𝑤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l-GR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².</m:t>
                      </m:r>
                    </m:oMath>
                  </m:oMathPara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27F71C9-9A98-C331-D457-3559D7C533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485900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t="-189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E428CB-1705-5D79-B121-7801E9B7C0F0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94EE99-9593-BCC5-225F-2875EA222C26}"/>
              </a:ext>
            </a:extLst>
          </p:cNvPr>
          <p:cNvSpPr>
            <a:spLocks noGrp="1"/>
          </p:cNvSpPr>
          <p:nvPr/>
        </p:nvSpPr>
        <p:spPr>
          <a:xfrm>
            <a:off x="5057775" y="1376362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Equal weights give ESS equal to the observed sample size.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1229289-5372-0979-31C1-9DABB0676C42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8D9DCA-2D3B-6E86-D54F-E87C747B1DEF}"/>
              </a:ext>
            </a:extLst>
          </p:cNvPr>
          <p:cNvSpPr>
            <a:spLocks noGrp="1"/>
          </p:cNvSpPr>
          <p:nvPr/>
        </p:nvSpPr>
        <p:spPr>
          <a:xfrm>
            <a:off x="485775" y="3048000"/>
            <a:ext cx="3800475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 few dominant weights lower ESS.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6C37625-6ED6-C93D-AC97-F54895B4992C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62A056-CF88-AA44-4291-C552D0ED486D}"/>
              </a:ext>
            </a:extLst>
          </p:cNvPr>
          <p:cNvSpPr>
            <a:spLocks noGrp="1"/>
          </p:cNvSpPr>
          <p:nvPr/>
        </p:nvSpPr>
        <p:spPr>
          <a:xfrm>
            <a:off x="5086350" y="2919412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Compute ESS within each treatment arm.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51065A-2D39-E15D-C906-EEB9A50DBAFD}"/>
              </a:ext>
            </a:extLst>
          </p:cNvPr>
          <p:cNvSpPr>
            <a:spLocks noGrp="1"/>
          </p:cNvSpPr>
          <p:nvPr/>
        </p:nvSpPr>
        <p:spPr>
          <a:xfrm>
            <a:off x="255163" y="4400550"/>
            <a:ext cx="8603087" cy="59941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ESS describes weight concentration, not a new count of independent participants.</a:t>
            </a:r>
          </a:p>
        </p:txBody>
      </p:sp>
    </p:spTree>
    <p:extLst>
      <p:ext uri="{BB962C8B-B14F-4D97-AF65-F5344CB8AC3E}">
        <p14:creationId xmlns:p14="http://schemas.microsoft.com/office/powerpoint/2010/main" val="34393411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8C6D3-DB08-82F3-BF47-DD871FA3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BEE5E5-DE7F-E371-A4F2-22A4322DE9E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Weight diagnostics in the real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31C9C1-FC7A-F125-E9EC-64580628D882}"/>
              </a:ext>
            </a:extLst>
          </p:cNvPr>
          <p:cNvGraphicFramePr/>
          <p:nvPr/>
        </p:nvGraphicFramePr>
        <p:xfrm>
          <a:off x="457200" y="1219200"/>
          <a:ext cx="8229600" cy="188595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Design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Treated n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Treated ESS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Control n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Control ESS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ATE weights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185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58.3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429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329.0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ATT weights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185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185.0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429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99.8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8124DBD-D2A2-9081-4295-7696AF238BC4}"/>
              </a:ext>
            </a:extLst>
          </p:cNvPr>
          <p:cNvSpPr>
            <a:spLocks noGrp="1"/>
          </p:cNvSpPr>
          <p:nvPr/>
        </p:nvSpPr>
        <p:spPr>
          <a:xfrm>
            <a:off x="457200" y="4007745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ATE weights concentrate influence among treated units. ATT weights concentrate it among controls.</a:t>
            </a:r>
          </a:p>
        </p:txBody>
      </p:sp>
    </p:spTree>
    <p:extLst>
      <p:ext uri="{BB962C8B-B14F-4D97-AF65-F5344CB8AC3E}">
        <p14:creationId xmlns:p14="http://schemas.microsoft.com/office/powerpoint/2010/main" val="33377150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43CF5-D49E-E1C9-CE81-00ACFCF8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ADAD4B-93F1-7939-03CE-BB32E03CEF3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inspect weights and ESS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E06CC6-D9A0-3846-DF52-51F8457E74AF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B3AEC4-9365-0686-5BED-9B0C73A57BBD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ess &lt;- function(w) sum(w)^2 / sum(w^2)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q &lt;- c(0, .5, .9, .95, .99, 1)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tapply(d$w_ate, d$treat, quantile, probs = q)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tapply(d$w_ate, d$treat, ess)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tapply(d$w_att, d$treat, ess)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# Largest ATE weights and their underlying scores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ix &lt;- order(d$w_ate, decreasing = TRUE)[1:5]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d[ix, c("treat", "ps", "w_ate", "age", "re74", "re75")]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2A1DFE-A18B-24F6-448C-B7AE6D8118AE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Inspect the people behind the largest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42651881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F445-9D07-4D5F-038B-D5341FE4C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2C110F-FEB5-73B5-1CF7-E34C4FF1C5F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calculate the chart’s balance values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049369-9EE2-AA9C-006D-DA71FA2E8FA3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CA8B29-FFD3-195A-43A4-C1D4146E32BF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X &lt;- data.frame(age=d$age, educ=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d$educ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, married=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d$married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nodegree=d$nodegree, re74=d$re74, re75=d$re75,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black=as.numeric(d$race == "black"))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A &lt;- d$treat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sref &lt;- sapply(X[A == 1, ], sd)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smd &lt;- function(w) sapply(seq_along(X), function(j) {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x &lt;- X[[j]]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abs(weighted.mean(x[A == 1], w[A == 1]) -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weighted.mean(x[A == 0], w[A == 0])) / sref[j]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})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D1B4A9-BFD7-989B-B848-5492D2F2EB8F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Use one fixed denominator before and after weighting.</a:t>
            </a:r>
          </a:p>
        </p:txBody>
      </p:sp>
    </p:spTree>
    <p:extLst>
      <p:ext uri="{BB962C8B-B14F-4D97-AF65-F5344CB8AC3E}">
        <p14:creationId xmlns:p14="http://schemas.microsoft.com/office/powerpoint/2010/main" val="22557562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97D6-B79C-145F-C7C0-29651C51F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5CFDDA-5996-6819-E044-D7F8CFCF7DE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reproduce the balance plot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52BE93-86A4-F8A4-06DF-B09B39186340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96C3F9-6CDE-B745-9A4D-8B6FA01A97A1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balance &lt;- rbind(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Before =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smd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(rep(1,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nrow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(d))),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ATE = smd(d$w_ate), ATT = smd(d$w_att))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barplot(balance, beside = TRUE,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names.arg = names(X), cex.names = .75,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col = c("grey70", "#71AFE8", "#7CCB91"),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ylab = "Absolute SMD",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ylim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= c(0, 2),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legend.text = rownames(balance),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args.legend = list(x = "top",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bty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= "n"))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abline(h = .10,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lty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= 2, col = "red")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00EBA6-729D-41F8-0BD6-E1FF5C6608F8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dashed 0.10 line is a guideline, not a test of exchangeability.</a:t>
            </a:r>
          </a:p>
        </p:txBody>
      </p:sp>
    </p:spTree>
    <p:extLst>
      <p:ext uri="{BB962C8B-B14F-4D97-AF65-F5344CB8AC3E}">
        <p14:creationId xmlns:p14="http://schemas.microsoft.com/office/powerpoint/2010/main" val="37625214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4FA9B-6096-F87A-A295-E122E49C1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DEF909-C920-4913-474A-FEF3C84D9E8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Balance after weighting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EEA55-A6A2-23D2-0E15-2E32027E3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438" y="759886"/>
            <a:ext cx="5981123" cy="424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359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FA4E4-E3B4-EB41-CB3F-946D41198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0274C2-C11D-9874-5D53-FA03EFB0702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Poor overlap: possible responses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6F5FFB-F75A-197D-6CAB-88DE3DA44B80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13336B-F9AD-2E39-BE93-A5A26149AB34}"/>
              </a:ext>
            </a:extLst>
          </p:cNvPr>
          <p:cNvSpPr>
            <a:spLocks noGrp="1"/>
          </p:cNvSpPr>
          <p:nvPr/>
        </p:nvSpPr>
        <p:spPr>
          <a:xfrm>
            <a:off x="485775" y="1432909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Reconsider whether the full-population ATE is supported.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CC66A9-8BA3-446E-B5E6-897E20F8E6A9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1949D8-9CCC-D47B-7022-2260D1E97595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Improve the propensity specification if important modeled terms are missing.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AAFA294-9C61-EBA7-8E95-2889EF21FFB3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1461F1-74F4-6E87-84B2-129879600C79}"/>
              </a:ext>
            </a:extLst>
          </p:cNvPr>
          <p:cNvSpPr>
            <a:spLocks noGrp="1"/>
          </p:cNvSpPr>
          <p:nvPr/>
        </p:nvSpPr>
        <p:spPr>
          <a:xfrm>
            <a:off x="556609" y="2812692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Restriction changes the target population. Weight capping can introduce bias.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D7CFD15-FF0D-30E0-14F7-6B113458A2BC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E1DA43-4C12-E9AA-6884-D09E3ECA8620}"/>
              </a:ext>
            </a:extLst>
          </p:cNvPr>
          <p:cNvSpPr>
            <a:spLocks noGrp="1"/>
          </p:cNvSpPr>
          <p:nvPr/>
        </p:nvSpPr>
        <p:spPr>
          <a:xfrm>
            <a:off x="5086350" y="2919413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Recheck balance and sensitivity after any change.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F1E872-F25D-372D-B0F4-B9ACB87C714F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A numerical weight modification cannot restore missing support.</a:t>
            </a:r>
          </a:p>
        </p:txBody>
      </p:sp>
    </p:spTree>
    <p:extLst>
      <p:ext uri="{BB962C8B-B14F-4D97-AF65-F5344CB8AC3E}">
        <p14:creationId xmlns:p14="http://schemas.microsoft.com/office/powerpoint/2010/main" val="3102853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64339-7F96-0DA6-C509-70A2691F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C005E4-A337-B1EC-CB0E-35AA6782CE4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Uncertainty and the next estimator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875B21-536F-B7E3-5C1E-24C225A3B834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7650D9-1DDD-72A7-E892-591CF6592AD3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Use inference that accounts for the weighting analysis and any clustering.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63BB5E4-5805-8C19-0D46-4E19328EB499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21CC5F-312E-06E1-6F49-F0A9E8DB2FB7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 suitable refitting bootstrap can include propensity-model estimation for smooth IPW.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1BF219-3F01-A31B-6097-3D152F6BA706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F13A78-D482-1B04-065B-ECAEF339AE35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Sampling intervals do not quantify unmeasured confounding.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63EA754-6505-493E-7033-58E6C9DEAE20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9D941F-8913-4A8F-5F44-C357BDEBCAD7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Next, AIPW combines outcome predictions with weighted residual corrections.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C14703-A61D-CE65-6C49-179B4F96526C}"/>
              </a:ext>
            </a:extLst>
          </p:cNvPr>
          <p:cNvSpPr>
            <a:spLocks noGrp="1"/>
          </p:cNvSpPr>
          <p:nvPr/>
        </p:nvSpPr>
        <p:spPr>
          <a:xfrm>
            <a:off x="313194" y="4400550"/>
            <a:ext cx="8517612" cy="523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IPW depends on the treatment model. AIPW adds an outcome-model safeguard.</a:t>
            </a:r>
          </a:p>
        </p:txBody>
      </p:sp>
    </p:spTree>
    <p:extLst>
      <p:ext uri="{BB962C8B-B14F-4D97-AF65-F5344CB8AC3E}">
        <p14:creationId xmlns:p14="http://schemas.microsoft.com/office/powerpoint/2010/main" val="20445314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D3B5C-CD32-522B-6436-0B722C44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BE7891-AE28-0606-1E9D-173C3C41CA1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AIPW: why combine the two approaches?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A69B89-C93C-B383-0D94-485FF11C838F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C25A95-0A44-7B65-0D09-1AB99CF90335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G-computation predicts outcomes under training and no training.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B5A17B-BE49-B393-8A75-D1B87788D6E1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D386B2-CB00-6A0B-3B53-6009CF1B3499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IPW uses treatment probabilities to reconstruct comparable populations.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1B556E2-BF1C-6384-F884-A795305D1A43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1700F2-C24F-8F26-B26D-139767985975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Each approach depends on a different statistical model.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96F1FA-AB48-F887-C7C2-619A90AF9C39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18243E-68E2-81D3-2C65-97E3D097A245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AIPW combines predictions with weighted observed prediction errors.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8C5125-298C-D3B5-8399-058D6DAA8B0C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Our target in this section is the same full-study-population ATE.</a:t>
            </a:r>
          </a:p>
        </p:txBody>
      </p:sp>
    </p:spTree>
    <p:extLst>
      <p:ext uri="{BB962C8B-B14F-4D97-AF65-F5344CB8AC3E}">
        <p14:creationId xmlns:p14="http://schemas.microsoft.com/office/powerpoint/2010/main" val="33172141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053C7-DBF0-E9BD-161E-451ECEEEB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D56E79-1B30-8A12-2257-5CA2CABAB94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The two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B6179A-CF3A-C1A0-2A04-182AEB8A470E}"/>
                  </a:ext>
                </a:extLst>
              </p:cNvPr>
              <p:cNvGraphicFramePr/>
              <p:nvPr/>
            </p:nvGraphicFramePr>
            <p:xfrm>
              <a:off x="457200" y="1219200"/>
              <a:ext cx="8229600" cy="188595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5911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272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Model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Definition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In the job-training data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Outcome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𝑚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ₜ(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𝑥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) =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𝐸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[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𝑌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|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𝑇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=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𝑡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,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𝑋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=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𝑥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Predict 1978 earnings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Treatment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𝑒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(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𝑥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) =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𝑃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(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𝑇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=1 |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𝑋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=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𝑥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Predict training membership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B6179A-CF3A-C1A0-2A04-182AEB8A470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89062453"/>
                  </p:ext>
                </p:extLst>
              </p:nvPr>
            </p:nvGraphicFramePr>
            <p:xfrm>
              <a:off x="457200" y="1219200"/>
              <a:ext cx="8229600" cy="188595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5911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272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Model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Definition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In the job-training data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Outcome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375" t="-101923" r="-92537" b="-106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Predict 1978 earnings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Treatment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375" t="-203883" r="-92537" b="-7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Predict training membership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59DBB9D-F6E5-F7F0-7F2A-ACD06341B452}"/>
              </a:ext>
            </a:extLst>
          </p:cNvPr>
          <p:cNvSpPr>
            <a:spLocks noGrp="1"/>
          </p:cNvSpPr>
          <p:nvPr/>
        </p:nvSpPr>
        <p:spPr>
          <a:xfrm>
            <a:off x="515155" y="4027063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Both models use the baseline adjustment set justified by the causal question.</a:t>
            </a:r>
          </a:p>
        </p:txBody>
      </p:sp>
    </p:spTree>
    <p:extLst>
      <p:ext uri="{BB962C8B-B14F-4D97-AF65-F5344CB8AC3E}">
        <p14:creationId xmlns:p14="http://schemas.microsoft.com/office/powerpoint/2010/main" val="13421185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1417C-70A6-ABDB-111E-7CD9DAAD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5B5AC2-FFE1-1C1F-B010-FA33F28F223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Start with outcome predictions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6C9891-9D1F-1151-BEAF-1A82B58F8CD5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40ACCC-A497-D350-1450-A1B7D554F7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37291" y="143827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For each person,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cs typeface="Arial"/>
                      </a:rPr>
                      <m:t>(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𝑋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cs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F4F1EA"/>
                    </a:solidFill>
                  </a:rPr>
                  <a:t> </a:t>
                </a: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under training.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40ACCC-A497-D350-1450-A1B7D554F7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91" y="1438275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3892" t="-822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EEFC37-C987-CC16-F50D-552F89536ECD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747D7A5-CEDC-BAE5-192F-702F5D4B6A6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67245" y="143827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Also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ᵢ)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under no training.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747D7A5-CEDC-BAE5-192F-702F5D4B6A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245" y="1438275"/>
                <a:ext cx="3600450" cy="962025"/>
              </a:xfrm>
              <a:prstGeom prst="rect">
                <a:avLst/>
              </a:prstGeom>
              <a:blipFill>
                <a:blip r:embed="rId3"/>
                <a:stretch>
                  <a:fillRect l="-4068" t="-822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1FE01E0-43C7-BA9C-2CB0-0B9613EC15C1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2D9148-8571-C954-5698-31BA58BB18B8}"/>
              </a:ext>
            </a:extLst>
          </p:cNvPr>
          <p:cNvSpPr>
            <a:spLocks noGrp="1"/>
          </p:cNvSpPr>
          <p:nvPr/>
        </p:nvSpPr>
        <p:spPr>
          <a:xfrm>
            <a:off x="537291" y="29337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G-computation averages these predictions over all participants.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1B5143-DBA8-952E-5864-72FAA83ED6F7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0C13AA-F2EE-CE3E-8F70-03F7E7D6B500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If the outcome model is wrong, prediction errors may systematically affect the mean.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23AFB6-B911-84C8-EFA9-748D2807E3AA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AIPW starts with the same predictions, then adds a correction.</a:t>
            </a:r>
          </a:p>
        </p:txBody>
      </p:sp>
    </p:spTree>
    <p:extLst>
      <p:ext uri="{BB962C8B-B14F-4D97-AF65-F5344CB8AC3E}">
        <p14:creationId xmlns:p14="http://schemas.microsoft.com/office/powerpoint/2010/main" val="4936743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1FE17-90CB-1999-9AD8-6E9C2476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A817B4-F666-78E2-A307-D5BAADEF0F8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Observed residuals supply the correction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9817F7-2482-56CB-9DBF-192B117E7EC8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AF1F863-5D19-EFCB-C0E2-761EC7D6FB6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For a treated person, the observed training residual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−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𝑋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).</m:t>
                    </m:r>
                  </m:oMath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AF1F863-5D19-EFCB-C0E2-761EC7D6F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80" r="-339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E0A5CC-C482-3757-4B70-67B44E7B8713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A8F1DEB-4815-BAF8-185F-D48AF8C0721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For a control, the observed no-training residual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−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𝑋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).</m:t>
                    </m:r>
                  </m:oMath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A8F1DEB-4815-BAF8-185F-D48AF8C07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blipFill>
                <a:blip r:embed="rId3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5422505-28C0-8C2E-53CD-DED16F22DBC7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02A5DC-6FF3-6CF1-4827-21AC0AE58E97}"/>
              </a:ext>
            </a:extLst>
          </p:cNvPr>
          <p:cNvSpPr>
            <a:spLocks noGrp="1"/>
          </p:cNvSpPr>
          <p:nvPr/>
        </p:nvSpPr>
        <p:spPr>
          <a:xfrm>
            <a:off x="556609" y="290123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We only observe the residual in the arm </a:t>
            </a:r>
            <a:r>
              <a:rPr lang="en-US"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received</a:t>
            </a: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D0C3DD2-67B0-F41D-FEF8-F3E3173A4BF6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52F590-2C3C-BD90-E4F1-4082865948B4}"/>
              </a:ext>
            </a:extLst>
          </p:cNvPr>
          <p:cNvSpPr>
            <a:spLocks noGrp="1"/>
          </p:cNvSpPr>
          <p:nvPr/>
        </p:nvSpPr>
        <p:spPr>
          <a:xfrm>
            <a:off x="5057775" y="2901234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Inverse probabilities adjust which people supply those residuals.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7F1BEB-336A-2F12-0C28-19CF91507DA8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correction uses observed outcomes without inventing missing residuals.</a:t>
            </a:r>
          </a:p>
        </p:txBody>
      </p:sp>
    </p:spTree>
    <p:extLst>
      <p:ext uri="{BB962C8B-B14F-4D97-AF65-F5344CB8AC3E}">
        <p14:creationId xmlns:p14="http://schemas.microsoft.com/office/powerpoint/2010/main" val="17582888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35B5-EA9E-D159-E96E-139CE3449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D33BF1-E92D-795C-2B77-0E1E0DB61E7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The augmented training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4C9EE2-1316-C9FF-F99A-97795BFA47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29540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𝜓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</m:t>
                          </m:r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𝑋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+ 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𝑇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{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𝑌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−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𝑋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)}/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4C9EE2-1316-C9FF-F99A-97795BFA4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295400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 t="-970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CFDDC630-8BA3-1FF4-6040-CC785A822904}"/>
              </a:ext>
            </a:extLst>
          </p:cNvPr>
          <p:cNvSpPr>
            <a:spLocks noGrp="1"/>
          </p:cNvSpPr>
          <p:nvPr/>
        </p:nvSpPr>
        <p:spPr>
          <a:xfrm>
            <a:off x="571500" y="1924050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Every person contributes a predicted training outcome.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1D6A0B-61FA-C3D0-562B-2BA0C138D03D}"/>
              </a:ext>
            </a:extLst>
          </p:cNvPr>
          <p:cNvSpPr>
            <a:spLocks noGrp="1"/>
          </p:cNvSpPr>
          <p:nvPr/>
        </p:nvSpPr>
        <p:spPr>
          <a:xfrm>
            <a:off x="571500" y="2657475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Only treated people contribute a training residual correction.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451F14A-C454-EF99-46D0-3B6DBEF0DA5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  <m:r>
                            <a:rPr lang="el-GR" sz="195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sz="195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𝐴𝐼𝑃𝑊</m:t>
                          </m:r>
                        </m:sub>
                      </m:sSub>
                      <m:r>
                        <a:rPr lang="el-GR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sSup>
                        <m:sSupPr>
                          <m:ctrlPr>
                            <a:rPr lang="el-GR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pPr>
                        <m:e>
                          <m:r>
                            <a:rPr lang="el-GR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l-GR" sz="1950" b="0" i="0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950" b="0" i="0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Σ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</m:t>
                      </m:r>
                      <m:sSub>
                        <m:sSubPr>
                          <m:ctrlPr>
                            <a:rPr lang="en-US" sz="195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𝜓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</m:t>
                          </m:r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451F14A-C454-EF99-46D0-3B6DBEF0DA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 t="-970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C2BFADFC-B6E0-8F22-DF12-66C853362F0C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Prediction + inverse-probability-weighted residual</a:t>
            </a:r>
          </a:p>
        </p:txBody>
      </p:sp>
    </p:spTree>
    <p:extLst>
      <p:ext uri="{BB962C8B-B14F-4D97-AF65-F5344CB8AC3E}">
        <p14:creationId xmlns:p14="http://schemas.microsoft.com/office/powerpoint/2010/main" val="8426725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52BF8-6EE2-E916-3313-9B0BF73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E086D4-1842-0E39-3F45-DD8607EBFED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The augmented no-training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8D32FBC-3C49-8F2C-8A44-079EBC58DE0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29540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𝜓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</m:t>
                          </m:r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𝑋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+(1−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𝑇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){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𝑌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−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𝑋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)}/(1−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8D32FBC-3C49-8F2C-8A44-079EBC58DE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295400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 t="-970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FC6032E-04F7-A819-C457-E8D7F070A728}"/>
              </a:ext>
            </a:extLst>
          </p:cNvPr>
          <p:cNvSpPr>
            <a:spLocks noGrp="1"/>
          </p:cNvSpPr>
          <p:nvPr/>
        </p:nvSpPr>
        <p:spPr>
          <a:xfrm>
            <a:off x="571500" y="1924050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Every person contributes a predicted </a:t>
            </a:r>
            <a:r>
              <a:rPr lang="en-US"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no-</a:t>
            </a:r>
            <a:r>
              <a:rPr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training outcome.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59F1A3-0FCE-667E-870C-14A735EF57F2}"/>
              </a:ext>
            </a:extLst>
          </p:cNvPr>
          <p:cNvSpPr>
            <a:spLocks noGrp="1"/>
          </p:cNvSpPr>
          <p:nvPr/>
        </p:nvSpPr>
        <p:spPr>
          <a:xfrm>
            <a:off x="571500" y="2657475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Only </a:t>
            </a:r>
            <a:r>
              <a:rPr lang="en-US"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controls </a:t>
            </a:r>
            <a:r>
              <a:rPr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contribute a </a:t>
            </a:r>
            <a:r>
              <a:rPr lang="en-US"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no-</a:t>
            </a:r>
            <a:r>
              <a:rPr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training residual correction.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C23832D-74EA-831B-5EF5-5B181294F12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  <m:r>
                            <a:rPr lang="el-GR" sz="195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sz="195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𝐴𝐼𝑃𝑊</m:t>
                          </m:r>
                        </m:sub>
                      </m:sSub>
                      <m:r>
                        <a:rPr lang="el-GR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sSup>
                        <m:sSupPr>
                          <m:ctrlPr>
                            <a:rPr lang="el-GR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pPr>
                        <m:e>
                          <m:r>
                            <a:rPr lang="el-GR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𝑛</m:t>
                          </m:r>
                        </m:e>
                        <m:sup>
                          <m:r>
                            <a:rPr lang="el-GR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l-GR" sz="1950" b="0" i="0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950" b="0" i="0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Σ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</m:t>
                      </m:r>
                      <m:sSub>
                        <m:sSubPr>
                          <m:ctrlPr>
                            <a:rPr lang="en-US" sz="195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𝜓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0</m:t>
                          </m:r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C23832D-74EA-831B-5EF5-5B181294F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 t="-970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15041B3-BF94-E746-A533-09B975D6403F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F5B62D"/>
                </a:solidFill>
              </a:rPr>
              <a:t>Both means average over the same target population.</a:t>
            </a:r>
          </a:p>
        </p:txBody>
      </p:sp>
    </p:spTree>
    <p:extLst>
      <p:ext uri="{BB962C8B-B14F-4D97-AF65-F5344CB8AC3E}">
        <p14:creationId xmlns:p14="http://schemas.microsoft.com/office/powerpoint/2010/main" val="36019504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2EE8D-1AA0-6B8D-75C8-04CD6EB4B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AD0C08-169A-55A1-6880-E24427E1D06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AIPW 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7D8BC16-A3E7-D194-7E95-AC59C8A3F1B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𝐴𝐼𝑃𝑊</m:t>
                          </m:r>
                        </m:sub>
                      </m:sSub>
                      <m:r>
                        <a:rPr lang="el-GR" sz="195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sSup>
                        <m:sSupPr>
                          <m:ctrlPr>
                            <a:rPr lang="el-GR" sz="195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pPr>
                        <m:e>
                          <m:r>
                            <a:rPr lang="el-GR" sz="195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−</m:t>
                          </m:r>
                          <m:r>
                            <a:rPr lang="el-GR" sz="195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l-GR" sz="1950" b="0" i="0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950" b="0" i="0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Σ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95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95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950" b="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1950" b="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1950" b="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1</m:t>
                              </m:r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95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1950" b="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1950" b="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1950" b="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0</m:t>
                              </m:r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95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7D8BC16-A3E7-D194-7E95-AC59C8A3F1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 t="-48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6F48AA9-4B3C-7422-94DF-DEE08E76D41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Prediction contrast: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−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6F48AA9-4B3C-7422-94DF-DEE08E76D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FACB888-5E46-2DB5-BB58-C3454958D52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Add the treated residual correction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𝑇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{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𝑌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−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𝑋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)}/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FACB888-5E46-2DB5-BB58-C3454958D5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blipFill>
                <a:blip r:embed="rId4"/>
                <a:stretch>
                  <a:fillRect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AE3495F-DE13-D684-3DDD-972163DE35E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Subtract the control residual correction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dPr>
                      <m:e>
                        <m:r>
                          <a:rPr lang="ar-AE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1 − </m:t>
                        </m:r>
                        <m:sSub>
                          <m:sSubPr>
                            <m:ctrlPr>
                              <a:rPr lang="ar-AE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ar-AE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{</m:t>
                    </m:r>
                    <m:sSub>
                      <m:sSubPr>
                        <m:ctrlPr>
                          <a:rPr lang="ar-AE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ar-AE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𝑌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−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𝑋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)}/(1 −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AE3495F-DE13-D684-3DDD-972163DE35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blipFill>
                <a:blip r:embed="rId5"/>
                <a:stretch>
                  <a:fillRect l="-686" t="-10680" r="-61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F82E8F5D-4E85-02C1-9FD2-FB19EB367357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control correction enters with a minus sign.</a:t>
            </a:r>
          </a:p>
        </p:txBody>
      </p:sp>
    </p:spTree>
    <p:extLst>
      <p:ext uri="{BB962C8B-B14F-4D97-AF65-F5344CB8AC3E}">
        <p14:creationId xmlns:p14="http://schemas.microsoft.com/office/powerpoint/2010/main" val="32082027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829C3-48DE-957C-E4C8-22A792C4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98C5CA-CC9E-CAF4-061A-B9DA3BD4681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Worked real participant: NSW1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FCC6297-4DF1-A891-8D4C-AF5412B33D6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42667612"/>
                  </p:ext>
                </p:extLst>
              </p:nvPr>
            </p:nvGraphicFramePr>
            <p:xfrm>
              <a:off x="457200" y="1219200"/>
              <a:ext cx="8229600" cy="2762250"/>
            </p:xfrm>
            <a:graphic>
              <a:graphicData uri="http://schemas.openxmlformats.org/drawingml/2006/table">
                <a:tbl>
                  <a:tblPr/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52450"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Quantity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50" b="1" dirty="0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Value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Treatment and observed earnings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𝑇</m:t>
                                </m:r>
                                <m:r>
                                  <a:rPr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=1, </m:t>
                                </m:r>
                                <m:r>
                                  <a:rPr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𝑌</m:t>
                                </m:r>
                                <m:r>
                                  <a:rPr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=$9,930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Predicted training earnings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$5,964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Estimated treatment probability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0.639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Augmented training contribution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5964 + (9930 − 5964)/0.639 ≈ $12,173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FCC6297-4DF1-A891-8D4C-AF5412B33D6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42667612"/>
                  </p:ext>
                </p:extLst>
              </p:nvPr>
            </p:nvGraphicFramePr>
            <p:xfrm>
              <a:off x="457200" y="1219200"/>
              <a:ext cx="8229600" cy="2762250"/>
            </p:xfrm>
            <a:graphic>
              <a:graphicData uri="http://schemas.openxmlformats.org/drawingml/2006/table">
                <a:tbl>
                  <a:tblPr/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52450"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Quantity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50" b="1" dirty="0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Value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Treatment and observed earnings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96" t="-103297" r="-444" b="-3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Predicted training earnings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96" t="-205556" r="-444" b="-2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Estimated treatment probability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96" t="-302198" r="-444" b="-10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Augmented training contribution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5964 + (9930 − 5964)/0.639 ≈ $12,173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79443EF-8030-3A27-3BB9-5B100F98B3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Its control contribution is the prediction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725" b="1" i="1" dirty="0" smtClean="0">
                                <a:solidFill>
                                  <a:srgbClr val="F5B62D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725" b="1" i="1" dirty="0" smtClean="0">
                                <a:solidFill>
                                  <a:srgbClr val="F5B62D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𝒎</m:t>
                            </m:r>
                          </m:e>
                        </m:acc>
                      </m:e>
                      <m:sub>
                        <m: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𝟎</m:t>
                        </m:r>
                      </m:sub>
                    </m:sSub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𝑿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≈ $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𝟒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,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𝟒𝟏𝟔</m:t>
                    </m:r>
                  </m:oMath>
                </a14:m>
                <a:r>
                  <a:rPr lang="en-US"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.</a:t>
                </a:r>
                <a:endParaRPr sz="1725" b="1" dirty="0">
                  <a:solidFill>
                    <a:srgbClr val="F5B62D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79443EF-8030-3A27-3BB9-5B100F98B3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blipFill>
                <a:blip r:embed="rId3"/>
                <a:stretch>
                  <a:fillRect t="-135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918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B0092-EFE3-4540-931C-79ADBA1D3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37E053-2A83-F636-5B44-ADD7C10573D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Worked real participant: PSID1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4D600A-FA14-2FD5-B557-A59CFD93A6CC}"/>
              </a:ext>
            </a:extLst>
          </p:cNvPr>
          <p:cNvGraphicFramePr/>
          <p:nvPr/>
        </p:nvGraphicFramePr>
        <p:xfrm>
          <a:off x="457200" y="1219200"/>
          <a:ext cx="8229600" cy="28041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Treatment and observed earnings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T=0, Y=$25,565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Predicted no-training earnings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$15,935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Estimated treatment probability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0.026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Augmented control contribution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15935 + (25565 − 15935)/(1 − 0.026) ≈ $25,823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2A5D79-21C8-C739-C2A6-395CB50102B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Its training contribution is the prediction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725" b="1" i="1" dirty="0" smtClean="0">
                                <a:solidFill>
                                  <a:srgbClr val="F5B62D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725" b="1" i="1" dirty="0" smtClean="0">
                                <a:solidFill>
                                  <a:srgbClr val="F5B62D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𝒎</m:t>
                            </m:r>
                          </m:e>
                        </m:acc>
                      </m:e>
                      <m:sub>
                        <m: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𝟏</m:t>
                        </m:r>
                      </m:sub>
                    </m:sSub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𝑿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≈ $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𝟏𝟕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,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𝟒𝟖𝟑</m:t>
                    </m:r>
                  </m:oMath>
                </a14:m>
                <a:r>
                  <a:rPr lang="en-US"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.</a:t>
                </a:r>
                <a:endParaRPr sz="1725" b="1" dirty="0">
                  <a:solidFill>
                    <a:srgbClr val="F5B62D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2A5D79-21C8-C739-C2A6-395CB50102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blipFill>
                <a:blip r:embed="rId2"/>
                <a:stretch>
                  <a:fillRect t="-135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7547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E1D8-87EC-A5AD-562F-FAA61CEAA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6F25F2-D922-BFE5-DAD6-0B2237FA3A5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it works: a correct outcome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8286288-63B5-DABA-7DB7-41D3C10BD7C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converges to the true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𝑚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8286288-63B5-DABA-7DB7-41D3C10BD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 t="-10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3934224-BD52-0E12-84FA-4575A20AA88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𝐸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𝑌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− 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𝑚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|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=1,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] = 0.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3934224-BD52-0E12-84FA-4575A20AA8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8F5B2F76-2A4D-3DC1-AB90-F74094B2029C}"/>
              </a:ext>
            </a:extLst>
          </p:cNvPr>
          <p:cNvSpPr>
            <a:spLocks noGrp="1"/>
          </p:cNvSpPr>
          <p:nvPr/>
        </p:nvSpPr>
        <p:spPr>
          <a:xfrm>
            <a:off x="571500" y="2657475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weighted residual correction has conditional expectation zero.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C4767B-6758-6DF4-D806-BCD4E95A226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The average prediction identifies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𝐸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𝑌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(1)].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C4767B-6758-6DF4-D806-BCD4E95A22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blipFill>
                <a:blip r:embed="rId4"/>
                <a:stretch>
                  <a:fillRect t="-10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3B8C6712-D918-0278-E5BF-1E766F088AEB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A correct outcome model makes the correction mean-zero.</a:t>
            </a:r>
          </a:p>
        </p:txBody>
      </p:sp>
    </p:spTree>
    <p:extLst>
      <p:ext uri="{BB962C8B-B14F-4D97-AF65-F5344CB8AC3E}">
        <p14:creationId xmlns:p14="http://schemas.microsoft.com/office/powerpoint/2010/main" val="14507810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B927C-D98B-C357-C4D8-F1481265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04B7C3-EC7D-3696-2A59-783FA428690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it works: a correct propensity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CA2F153-4F56-F25C-88FA-779496E127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Suppose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𝑒</m:t>
                        </m:r>
                      </m:e>
                    </m:acc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converges to the true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CA2F153-4F56-F25C-88FA-779496E12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 t="-10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452EEC-E2E1-75DA-3D2C-B85648AA09A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be a possibly wrong outcome-model limit.</a:t>
                </a:r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452EEC-E2E1-75DA-3D2C-B85648AA09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4E1AA0-DF2B-F8E7-3E27-74496CA0378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[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+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{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−</m:t>
                      </m:r>
                      <m:sSub>
                        <m:sSubPr>
                          <m:ctrlPr>
                            <a:rPr lang="en-US" sz="195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95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95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95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95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5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95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)}/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𝑒</m:t>
                      </m:r>
                      <m:d>
                        <m:d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𝑋</m:t>
                          </m:r>
                        </m:e>
                      </m:d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|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]  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4E1AA0-DF2B-F8E7-3E27-74496CA037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blipFill>
                <a:blip r:embed="rId4"/>
                <a:stretch>
                  <a:fillRect t="-776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938C39D-8F98-2101-44DD-DB2A2CEDCA3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-US" sz="195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95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95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95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95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5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+ 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𝑚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−</m:t>
                      </m:r>
                      <m:sSub>
                        <m:sSubPr>
                          <m:ctrlPr>
                            <a:rPr lang="en-US" sz="195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95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95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95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95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5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95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)= </m:t>
                      </m:r>
                      <m:sSub>
                        <m:sSub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𝑚</m:t>
                          </m:r>
                        </m:e>
                        <m:sub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</m:t>
                          </m:r>
                        </m:sub>
                      </m:sSub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938C39D-8F98-2101-44DD-DB2A2CEDCA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blipFill>
                <a:blip r:embed="rId5"/>
                <a:stretch>
                  <a:fillRect t="-679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9E829C37-973E-4816-8E75-A56EC6279FE8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Correct assignment probabilities remove the limiting prediction error.</a:t>
            </a:r>
          </a:p>
        </p:txBody>
      </p:sp>
    </p:spTree>
    <p:extLst>
      <p:ext uri="{BB962C8B-B14F-4D97-AF65-F5344CB8AC3E}">
        <p14:creationId xmlns:p14="http://schemas.microsoft.com/office/powerpoint/2010/main" val="27199886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79D74-A94D-33C0-9160-D2A923F19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45EB09-7B9A-1BF5-C3E7-7BDDAFAA3AB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Two errors interact in the remaining bias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963614-41B6-FA52-D8F9-26EB3F5EF686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Let g(X) be the propensity-model limit.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4D745D6-5BFF-4E5A-C6A8-F4562C9ECBE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50" b="0" i="1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950" b="0" i="1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cs typeface="Arial"/>
                      </a:rPr>
                      <m:t>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cs typeface="Arial"/>
                      </a:rPr>
                      <m:t>)</m:t>
                    </m:r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be the outcome-model limit.</a:t>
                </a:r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4D745D6-5BFF-4E5A-C6A8-F4562C9ECB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A26F2031-B78E-398A-2A19-4A27BA52DCB1}"/>
              </a:ext>
            </a:extLst>
          </p:cNvPr>
          <p:cNvSpPr>
            <a:spLocks noGrp="1"/>
          </p:cNvSpPr>
          <p:nvPr/>
        </p:nvSpPr>
        <p:spPr>
          <a:xfrm>
            <a:off x="571500" y="2657475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Bias of the augmented training mean: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02B65F-9F32-B733-A437-FA64B14ED2C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950" b="0" i="1" dirty="0" smtClean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sz="1950" b="0" i="1" dirty="0" smtClean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  <m:t>𝑋</m:t>
                                      </m:r>
                                    </m:e>
                                  </m:d>
                                  <m:r>
                                    <a:rPr lang="en-US" sz="1950" b="0" i="1" dirty="0" smtClean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  <m:t>− </m:t>
                                  </m:r>
                                  <m:r>
                                    <a:rPr lang="en-US" sz="1950" b="0" i="1" dirty="0" smtClean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  <m:t>𝑒</m:t>
                                  </m:r>
                                  <m:d>
                                    <m:dPr>
                                      <m:ctrlP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950" b="0" i="1" dirty="0" smtClean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950" b="0" i="1" dirty="0" smtClean="0">
                                              <a:solidFill>
                                                <a:srgbClr val="F4F1EA"/>
                                              </a:solidFill>
                                              <a:latin typeface="Cambria Math" panose="02040503050406030204" pitchFamily="18" charset="0"/>
                                              <a:ea typeface="Arial"/>
                                              <a:cs typeface="Arial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950" b="0" i="1" dirty="0" smtClean="0">
                                              <a:solidFill>
                                                <a:srgbClr val="F4F1EA"/>
                                              </a:solidFill>
                                              <a:latin typeface="Cambria Math" panose="02040503050406030204" pitchFamily="18" charset="0"/>
                                              <a:ea typeface="Arial"/>
                                              <a:cs typeface="Arial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  <m:t>𝑋</m:t>
                                      </m:r>
                                    </m:e>
                                  </m:d>
                                  <m:r>
                                    <a:rPr lang="en-US" sz="1950" b="0" i="1" dirty="0" smtClean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950" b="0" i="1" dirty="0" smtClean="0">
                                          <a:solidFill>
                                            <a:srgbClr val="F4F1EA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1950" b="0" i="1" dirty="0" smtClean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sz="1950" b="0" i="1" dirty="0" smtClean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  <m:t>𝑋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02B65F-9F32-B733-A437-FA64B14ED2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 b="-679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004CB485-29FF-D10F-DC10-D8E4C4E4C86A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If either error is zero, this bias term vanishes.</a:t>
            </a:r>
          </a:p>
        </p:txBody>
      </p:sp>
    </p:spTree>
    <p:extLst>
      <p:ext uri="{BB962C8B-B14F-4D97-AF65-F5344CB8AC3E}">
        <p14:creationId xmlns:p14="http://schemas.microsoft.com/office/powerpoint/2010/main" val="41553032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FF183-3C44-B466-0226-C9C52FCB2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DA5D41-F041-3B24-160A-C87A5076A6D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What double robustness does not fix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E392AC-B4DB-6CFE-2825-59D954D6CF5E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1B378C-ABFE-0192-C798-9C1E7B0910F1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An unmeasured confounder can invalidate both model-based causal interpretations.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D2B377-0D71-6955-033D-2FAE23F3926A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0CB6AF-8354-8109-AA2E-F95AD9927073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Missing support can prevent identification for part of the target population.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EEE5B9B-A8E8-DD6D-D7F3-D63CE2D833CA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026ABD-4F94-0346-99CC-78A00D3E8CD5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Scores near 0 or 1 can create extreme residual corrections.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E94B69E-B013-2C3A-CE15-825AA0B5A67D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62B07F-8978-4CD1-AB71-92C275495438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Two misspecified models can still yield a biased estimate.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6557C3-D3E5-27DF-5276-1DAC6C59FC8D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Double robustness concerns statistical models, not a replacement for causal assumptions.</a:t>
            </a:r>
          </a:p>
        </p:txBody>
      </p:sp>
    </p:spTree>
    <p:extLst>
      <p:ext uri="{BB962C8B-B14F-4D97-AF65-F5344CB8AC3E}">
        <p14:creationId xmlns:p14="http://schemas.microsoft.com/office/powerpoint/2010/main" val="1278045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20E7F-0AF1-0EFA-07B5-117D6F4C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364000-F91D-63A4-003D-6B9C2D3DBED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fit the outcome and treatment models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F9AF282-7D83-D828-66ED-4D8106F7B4B3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312339-D84B-EC05-88F1-0AB785E9E144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library(MatchIt)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data("lalonde", package = "MatchIt")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 &lt;- lalonde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f_x &lt;- ~ age + educ + race + married + nodegree + re74 + re75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fit_y &lt;- lm(update(f_x, re78 ~ treat + .), data = d)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fit_e &lt;- glm(update(f_x, treat ~ .),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family = binomial(), data = d)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m1 &lt;- predict(fit_y, transform(d, treat = 1))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m0 &lt;- predict(fit_y, transform(d, treat = 0))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e &lt;- predict(fit_e, type = "response")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B5BCE3-234E-BB19-83FF-22F0EA7990F7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outcome model predicts earnings. The treatment model predicts assignment.</a:t>
            </a:r>
          </a:p>
        </p:txBody>
      </p:sp>
    </p:spTree>
    <p:extLst>
      <p:ext uri="{BB962C8B-B14F-4D97-AF65-F5344CB8AC3E}">
        <p14:creationId xmlns:p14="http://schemas.microsoft.com/office/powerpoint/2010/main" val="10996937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55E8-2C04-7634-77FC-2D863A08D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FEA645-63F7-D387-2D7F-84EB553850E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calculate augmented contributions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9D4AC1-FD1C-FAE6-2C43-9BA19AE5EF9F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3A97E3-ECEA-E9F3-F365-6DDF0EDCBB56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A &lt;- d$treat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Y &lt;- d$re78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stopifnot(all(e &gt; 0 &amp; e &lt; 1))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psi1 &lt;- m1 + A * (Y - m1) / e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psi0 &lt;- m0 + (1 - A) * (Y - m0) / (1 - e)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psi &lt;- psi1 - psi0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ate_aipw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&lt;- mean(psi)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c(mu1 = mean(psi1), mu0 = mean(psi0), ATE =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ate_aipw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26731D-78B5-A5D1-0DA7-667A4F90E78E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Prediction errors use observed minus predicted outcomes.</a:t>
            </a:r>
          </a:p>
        </p:txBody>
      </p:sp>
    </p:spTree>
    <p:extLst>
      <p:ext uri="{BB962C8B-B14F-4D97-AF65-F5344CB8AC3E}">
        <p14:creationId xmlns:p14="http://schemas.microsoft.com/office/powerpoint/2010/main" val="529314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0EEA1-295F-6437-26FC-B4505046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0D13D9-8851-B1E2-AE81-2882BA58213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compare the same ATE target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541DA6-6320-53E7-1A3A-5F71CD40BC4E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AD250-9A18-4488-16B7-A35408144A13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ate_g &lt;- mean(m1 - m0)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w &lt;- ifelse(A == 1, 1 / e, 1 / (1 - e))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ate_ipw &lt;- weighted.mean(Y[A == 1], w[A == 1]) -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weighted.mean(Y[A == 0], w[A == 0])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c(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G_computation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= ate_g,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IPW_normalized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= ate_ipw,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AIPW = ate_aipw)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D07FB0-B768-E2CA-AECB-650D70A23806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All three calculations target the overall study-population ATE.</a:t>
            </a:r>
          </a:p>
        </p:txBody>
      </p:sp>
    </p:spTree>
    <p:extLst>
      <p:ext uri="{BB962C8B-B14F-4D97-AF65-F5344CB8AC3E}">
        <p14:creationId xmlns:p14="http://schemas.microsoft.com/office/powerpoint/2010/main" val="22779753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89BC5-CB2D-7B2C-2253-FD43D60C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A174CD-685D-1371-1101-680B7B37DAC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Real-data estimates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03168C-DEF9-12D8-9885-9B6C89B7E04E}"/>
              </a:ext>
            </a:extLst>
          </p:cNvPr>
          <p:cNvGraphicFramePr/>
          <p:nvPr/>
        </p:nvGraphicFramePr>
        <p:xfrm>
          <a:off x="457200" y="1219200"/>
          <a:ext cx="8229600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ATE estimate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Main statistical dependence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G-computation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About +$1,548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Outcome model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Normalized IPW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About +$225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Propensity model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AIPW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About +$887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Either model for consistency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8B89C44-2F68-D451-FFCF-2631B765D3F5}"/>
              </a:ext>
            </a:extLst>
          </p:cNvPr>
          <p:cNvSpPr>
            <a:spLocks noGrp="1"/>
          </p:cNvSpPr>
          <p:nvPr/>
        </p:nvSpPr>
        <p:spPr>
          <a:xfrm>
            <a:off x="313194" y="4400548"/>
            <a:ext cx="8517612" cy="52321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AIPW’s position between these estimates does not prove it is closest to the truth.</a:t>
            </a:r>
          </a:p>
        </p:txBody>
      </p:sp>
    </p:spTree>
    <p:extLst>
      <p:ext uri="{BB962C8B-B14F-4D97-AF65-F5344CB8AC3E}">
        <p14:creationId xmlns:p14="http://schemas.microsoft.com/office/powerpoint/2010/main" val="32036710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CEB3-8F14-C071-616F-7B05337B7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242331-32C4-E58A-9BC3-F5F4EB17AAD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What changed relative to g-computation?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DCDE127-90B6-37C9-ABC6-55C893C1665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Average predicted training earnings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≈ $7,875</m:t>
                    </m:r>
                  </m:oMath>
                </a14:m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DCDE127-90B6-37C9-ABC6-55C893C166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 t="-10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39DBCB-92E3-B9EC-5D54-2B9964F5A5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Training residual correction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≈ −$557, </m:t>
                    </m:r>
                  </m:oMath>
                </a14:m>
                <a:r>
                  <a:rPr lang="en-US" sz="1950" b="0" i="0" dirty="0">
                    <a:solidFill>
                      <a:srgbClr val="F4F1EA"/>
                    </a:solidFill>
                    <a:latin typeface="+mj-lt"/>
                    <a:ea typeface="Arial"/>
                    <a:cs typeface="Arial"/>
                  </a:rPr>
                  <a:t>giving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$7,318</m:t>
                    </m:r>
                  </m:oMath>
                </a14:m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39DBCB-92E3-B9EC-5D54-2B9964F5A5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DCCE1ED-064E-697F-B219-9D6CE751E91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Average predicted control earnings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≈ $6,326.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DCCE1ED-064E-697F-B219-9D6CE751E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blipFill>
                <a:blip r:embed="rId4"/>
                <a:stretch>
                  <a:fillRect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AC02BA7-7765-368D-86E3-AB22D89E191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Control residual correction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≈ +$104</m:t>
                    </m:r>
                  </m:oMath>
                </a14:m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$6,431</m:t>
                    </m:r>
                  </m:oMath>
                </a14:m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AC02BA7-7765-368D-86E3-AB22D89E19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blipFill>
                <a:blip r:embed="rId5"/>
                <a:stretch>
                  <a:fillRect t="-10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CF1C94C-9C00-CD19-3818-F78529242B9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AIPW difference: </a:t>
                </a:r>
                <a14:m>
                  <m:oMath xmlns:m="http://schemas.openxmlformats.org/officeDocument/2006/math"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𝟕𝟑𝟏𝟖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− 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𝟔𝟒𝟑𝟏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≈ $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𝟖𝟖𝟕</m:t>
                    </m:r>
                  </m:oMath>
                </a14:m>
                <a:r>
                  <a:rPr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CF1C94C-9C00-CD19-3818-F78529242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blipFill>
                <a:blip r:embed="rId6"/>
                <a:stretch>
                  <a:fillRect t="-135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15001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487DE-38B2-1773-0599-354139510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BC0CC6-CABC-FF48-B2E3-DC100860FDA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Uncertainty: what the simple score SE requires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098AC3-2E1B-7F8A-BD14-1041FF15953A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When both nuisance functions are consistently estimated and suitable regularity holds: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25375AE-E150-27C6-760D-A542A6B3AED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𝜙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𝜓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−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𝐴𝐼𝑃𝑊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 </m:t>
                    </m:r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approximates an influence contribution.</a:t>
                </a:r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25375AE-E150-27C6-760D-A542A6B3A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322C8FD-EC2F-75A1-D1BC-647D47E445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𝑆𝐸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≈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𝑠𝑑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𝜓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)/</m:t>
                    </m:r>
                    <m:rad>
                      <m:radPr>
                        <m:degHide m:val="on"/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radPr>
                      <m:deg/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, with a normal confidence interval.</a:t>
                </a:r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322C8FD-EC2F-75A1-D1BC-647D47E44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05909F80-6F9B-6FAA-8E07-5AD6507846B0}"/>
              </a:ext>
            </a:extLst>
          </p:cNvPr>
          <p:cNvSpPr>
            <a:spLocks noGrp="1"/>
          </p:cNvSpPr>
          <p:nvPr/>
        </p:nvSpPr>
        <p:spPr>
          <a:xfrm>
            <a:off x="342900" y="3524250"/>
            <a:ext cx="852098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Consistency with one correct model alone does not justify this SE universally.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B2A4F1-B268-8AC7-35B2-36CD81ABE733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Use a variance procedure justified for the fitted models and target.</a:t>
            </a:r>
          </a:p>
        </p:txBody>
      </p:sp>
    </p:spTree>
    <p:extLst>
      <p:ext uri="{BB962C8B-B14F-4D97-AF65-F5344CB8AC3E}">
        <p14:creationId xmlns:p14="http://schemas.microsoft.com/office/powerpoint/2010/main" val="1507299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EBDC2-43E6-FAEE-E391-D6DAC537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770372-A874-FE94-4EA6-C61A6408C69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a refitting bootstrap function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0AB80E-B023-8F7B-285A-F969B5FF112E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DE30D8-A589-85C0-C141-7C66589DE72D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estimate_aipw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&lt;- function(z) {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fy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&lt;- lm(re78 ~ treat + age + educ + race + married +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nodegree + re74 + re75, data = z)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fe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&lt;- glm(treat ~ age + educ + race + married +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nodegree + re74 + re75, binomial(), data = z)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p &lt;- predict(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fe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, type = "response")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y1 &lt;- predict(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fy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, transform(z, treat = 1))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y0 &lt;- predict(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fy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, transform(z, treat = 0))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A &lt;-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z$treat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; Y &lt;- z$re78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mean(y1 - y0 + A*(Y-y1)/p - (1-A)*(Y-y0)/(1-p))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EA57CF-0EB5-5F39-5F2D-6C72C07BBD5F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Each resample refits both models before calculating AIPW.</a:t>
            </a:r>
          </a:p>
        </p:txBody>
      </p:sp>
    </p:spTree>
    <p:extLst>
      <p:ext uri="{BB962C8B-B14F-4D97-AF65-F5344CB8AC3E}">
        <p14:creationId xmlns:p14="http://schemas.microsoft.com/office/powerpoint/2010/main" val="27291877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26741-7FA7-64A4-CA66-FFF3363E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A10706-240B-A9ED-F31B-5DEE67C8634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bootstrap uncertainty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B044E0-1AB0-C232-12A1-59DB44071813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4B349-2C2B-6E53-6655-4DF4B33E97C8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set.seed(7900)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B &lt;- 500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boot_est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&lt;- replicate(B, {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idx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&lt;- sample.int(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nrow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(d), replace = TRUE)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estimate_aipw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(d[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idx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, ])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})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stopifnot(all(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is.finite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boot_est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)))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boot_se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&lt;- sd(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boot_est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ci &lt;- ate_aipw + c(-1, 1) *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qnorm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(.975) *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boot_se</a:t>
            </a:r>
            <a:endParaRPr sz="1575" b="0" dirty="0">
              <a:solidFill>
                <a:srgbClr val="F4F1EA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c(ATE = ate_aipw, SE =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boot_se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, lower = ci[1], upper = ci[2])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4CFCC-EC14-E6C2-14F5-E79D06F06CA7}"/>
              </a:ext>
            </a:extLst>
          </p:cNvPr>
          <p:cNvSpPr>
            <a:spLocks noGrp="1"/>
          </p:cNvSpPr>
          <p:nvPr/>
        </p:nvSpPr>
        <p:spPr>
          <a:xfrm>
            <a:off x="160986" y="4476749"/>
            <a:ext cx="8983014" cy="523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Inspect resampling stability and convergence warnings before reporting the interval.</a:t>
            </a:r>
          </a:p>
        </p:txBody>
      </p:sp>
    </p:spTree>
    <p:extLst>
      <p:ext uri="{BB962C8B-B14F-4D97-AF65-F5344CB8AC3E}">
        <p14:creationId xmlns:p14="http://schemas.microsoft.com/office/powerpoint/2010/main" val="1198788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E2CB3-23D7-09E1-D1F1-CD4821902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3AECB-3A61-00CD-FB9A-73FDAA7165F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Flexible models and cross-fitting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B8D334-8106-A5AF-C383-0AA6E8ADDD4B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A0C10F-A319-A1DA-5831-4572D61561AC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Flexible models can estimate nonlinear outcome and assignment functions.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7F0B2F-431E-9CE7-9214-6B94DAFEE3BF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3AB084-2A45-B6A6-5288-06D23F37C15F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Fit nuisance models outside each held-out fold.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B5D683-D2A7-16D0-5C65-3E235A5C0D07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00100E-A866-E518-0CA5-82EF4F7FF126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Compute each held-out participant’s score using those excluded-data fits.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2F36446-52C5-99CB-C598-24CBC031081C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B31EF7-E927-A834-3762-7130E3F6D016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Average all held-out scores and assess the required convergence conditions.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BB1D44-AC0F-149B-A8F1-0A7E07074E30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Cross-fitting limits overfitting effects. It does not fix confounding or support.</a:t>
            </a:r>
          </a:p>
        </p:txBody>
      </p:sp>
    </p:spTree>
    <p:extLst>
      <p:ext uri="{BB962C8B-B14F-4D97-AF65-F5344CB8AC3E}">
        <p14:creationId xmlns:p14="http://schemas.microsoft.com/office/powerpoint/2010/main" val="16530468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19D86-97AD-4263-849E-12E7B1950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0A1253-09CA-AA37-90D7-0A7CFE3FC51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AIPW: the main lesson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3128EB-1B92-9125-F512-692F11EA3555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E8B96D-93EF-3E47-71B1-5E173679098D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Outcome predictions supply the treatment and control means.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2B80A6-04C7-EBC9-0467-617AC037CB67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5AE671-41E9-AE00-317E-588FF00F76BB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Weighted factual residuals correct systematic prediction errors.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32A14EC-DE80-33E3-3901-D8F7B83B12D9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53C19F-6EFF-11DF-D0ED-1A0499280CED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Either correctly specified nuisance side can protect consistency.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0A3342F-6147-6BEF-0E28-A9F835E6A79C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687F03-3B67-0AB7-FFBC-0B0C1497A372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Causal assumptions, overlap, and suitable uncertainty quantification remain essential.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7258C9-1F9E-66B8-B3A5-1BFC2759AC63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final report should state the target, models, diagnostics, estimate, and limitations.</a:t>
            </a:r>
          </a:p>
        </p:txBody>
      </p:sp>
    </p:spTree>
    <p:extLst>
      <p:ext uri="{BB962C8B-B14F-4D97-AF65-F5344CB8AC3E}">
        <p14:creationId xmlns:p14="http://schemas.microsoft.com/office/powerpoint/2010/main" val="8562428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A0611-A13B-13A0-6010-EBF88185E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556E4F-7CAF-E43D-763F-59232F9563C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Does the Treatment Effect Differ Across People?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1DDC5-5A7E-B529-C7F7-FC50EBE18ED0}"/>
              </a:ext>
            </a:extLst>
          </p:cNvPr>
          <p:cNvSpPr txBox="1"/>
          <p:nvPr/>
        </p:nvSpPr>
        <p:spPr>
          <a:xfrm>
            <a:off x="344170" y="955863"/>
            <a:ext cx="862838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>
                <a:solidFill>
                  <a:srgbClr val="F6B737"/>
                </a:solidFill>
                <a:latin typeface="Cambria Math"/>
              </a:defRPr>
            </a:pPr>
            <a:r>
              <a:rPr dirty="0"/>
              <a:t>ATE = E[Y(1) − Y(0)]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CDA2F7-5A4C-4BCE-9263-8C60008D6E95}"/>
              </a:ext>
            </a:extLst>
          </p:cNvPr>
          <p:cNvSpPr/>
          <p:nvPr/>
        </p:nvSpPr>
        <p:spPr>
          <a:xfrm>
            <a:off x="169188" y="2071370"/>
            <a:ext cx="4307840" cy="221488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5A4352-BAB6-A466-3B79-9106A117DCC4}"/>
              </a:ext>
            </a:extLst>
          </p:cNvPr>
          <p:cNvSpPr txBox="1"/>
          <p:nvPr/>
        </p:nvSpPr>
        <p:spPr>
          <a:xfrm>
            <a:off x="333780" y="2181098"/>
            <a:ext cx="402328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So far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F8EBDF-6BEF-2F44-EABF-7852802981F9}"/>
              </a:ext>
            </a:extLst>
          </p:cNvPr>
          <p:cNvSpPr txBox="1"/>
          <p:nvPr/>
        </p:nvSpPr>
        <p:spPr>
          <a:xfrm>
            <a:off x="333780" y="2601722"/>
            <a:ext cx="4023285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F6F6F6"/>
                </a:solidFill>
                <a:latin typeface="Aptos"/>
              </a:defRPr>
            </a:pPr>
            <a:r>
              <a:t>Estimate one average causal effect for the target population.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8DDFFDF6-B84C-84AD-37CC-41E25EE8EA9D}"/>
              </a:ext>
            </a:extLst>
          </p:cNvPr>
          <p:cNvSpPr/>
          <p:nvPr/>
        </p:nvSpPr>
        <p:spPr>
          <a:xfrm>
            <a:off x="4572000" y="2050542"/>
            <a:ext cx="4470400" cy="221488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5BC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5FCB6F-0A79-DF01-9B87-BCC725978176}"/>
              </a:ext>
            </a:extLst>
          </p:cNvPr>
          <p:cNvSpPr txBox="1"/>
          <p:nvPr/>
        </p:nvSpPr>
        <p:spPr>
          <a:xfrm>
            <a:off x="4736592" y="2160270"/>
            <a:ext cx="46542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5BC7C2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7D9A47-D973-ED41-E58E-04ECE2CBDF7E}"/>
              </a:ext>
            </a:extLst>
          </p:cNvPr>
          <p:cNvSpPr txBox="1"/>
          <p:nvPr/>
        </p:nvSpPr>
        <p:spPr>
          <a:xfrm>
            <a:off x="4736592" y="2580894"/>
            <a:ext cx="4654296" cy="1609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F6F6F6"/>
                </a:solidFill>
                <a:latin typeface="Aptos"/>
              </a:defRPr>
            </a:pPr>
            <a:r>
              <a:t>Ask whether the effect changes with baseline characteristics X.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247E6A-EA13-65EB-AB83-350D52F880A7}"/>
              </a:ext>
            </a:extLst>
          </p:cNvPr>
          <p:cNvSpPr txBox="1"/>
          <p:nvPr/>
        </p:nvSpPr>
        <p:spPr>
          <a:xfrm>
            <a:off x="868045" y="4395978"/>
            <a:ext cx="7407910" cy="46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>
                <a:solidFill>
                  <a:srgbClr val="71CC94"/>
                </a:solidFill>
                <a:latin typeface="Cambria Math"/>
              </a:defRPr>
            </a:pPr>
            <a:r>
              <a:t>This is heterogeneous treatment effect (HTE) analysis.</a:t>
            </a:r>
          </a:p>
        </p:txBody>
      </p:sp>
    </p:spTree>
    <p:extLst>
      <p:ext uri="{BB962C8B-B14F-4D97-AF65-F5344CB8AC3E}">
        <p14:creationId xmlns:p14="http://schemas.microsoft.com/office/powerpoint/2010/main" val="27140591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48E2-734C-D9D0-4FC1-190E23FA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0AD4D4-4B32-90DB-3B3F-1D60BD4DDEA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the Average Can Be Misleading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2E4622-9671-C057-45B6-56EE3D652639}"/>
              </a:ext>
            </a:extLst>
          </p:cNvPr>
          <p:cNvSpPr/>
          <p:nvPr/>
        </p:nvSpPr>
        <p:spPr>
          <a:xfrm>
            <a:off x="85091" y="1144524"/>
            <a:ext cx="4155440" cy="188442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43F1BD-E3D6-C859-0E9D-BA50623A66FE}"/>
              </a:ext>
            </a:extLst>
          </p:cNvPr>
          <p:cNvSpPr txBox="1"/>
          <p:nvPr/>
        </p:nvSpPr>
        <p:spPr>
          <a:xfrm>
            <a:off x="262382" y="1217676"/>
            <a:ext cx="45628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Subgroup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EA3883-2477-50BC-39DD-A9B5E66C3A64}"/>
              </a:ext>
            </a:extLst>
          </p:cNvPr>
          <p:cNvSpPr txBox="1"/>
          <p:nvPr/>
        </p:nvSpPr>
        <p:spPr>
          <a:xfrm>
            <a:off x="262383" y="1638300"/>
            <a:ext cx="3852418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>
                <a:solidFill>
                  <a:srgbClr val="F6F6F6"/>
                </a:solidFill>
                <a:latin typeface="Aptos"/>
              </a:defRPr>
            </a:pPr>
            <a:r>
              <a:t>Treatment effect = +10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ABCF34A9-6BD7-AEB5-D940-EF5511ED0548}"/>
              </a:ext>
            </a:extLst>
          </p:cNvPr>
          <p:cNvSpPr/>
          <p:nvPr/>
        </p:nvSpPr>
        <p:spPr>
          <a:xfrm>
            <a:off x="4617721" y="1133348"/>
            <a:ext cx="4350257" cy="189560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1BBC88-34D7-DA5F-09D0-988C9923F77E}"/>
              </a:ext>
            </a:extLst>
          </p:cNvPr>
          <p:cNvSpPr txBox="1"/>
          <p:nvPr/>
        </p:nvSpPr>
        <p:spPr>
          <a:xfrm>
            <a:off x="4782313" y="1243076"/>
            <a:ext cx="45628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Subgroup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2212CA-5DC8-3CBC-804A-9FB4BCA391F4}"/>
              </a:ext>
            </a:extLst>
          </p:cNvPr>
          <p:cNvSpPr txBox="1"/>
          <p:nvPr/>
        </p:nvSpPr>
        <p:spPr>
          <a:xfrm>
            <a:off x="4782313" y="1663700"/>
            <a:ext cx="3760215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>
                <a:solidFill>
                  <a:srgbClr val="F6F6F6"/>
                </a:solidFill>
                <a:latin typeface="Aptos"/>
              </a:defRPr>
            </a:pPr>
            <a:r>
              <a:rPr dirty="0"/>
              <a:t>Treatment effect = −10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1B1D21-ABEC-24C5-607D-6206D49949A2}"/>
              </a:ext>
            </a:extLst>
          </p:cNvPr>
          <p:cNvSpPr txBox="1"/>
          <p:nvPr/>
        </p:nvSpPr>
        <p:spPr>
          <a:xfrm>
            <a:off x="313829" y="3639820"/>
            <a:ext cx="8600162" cy="57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>
                <a:solidFill>
                  <a:srgbClr val="F6B737"/>
                </a:solidFill>
                <a:latin typeface="Cambria Math"/>
              </a:defRPr>
            </a:pPr>
            <a:r>
              <a:rPr dirty="0"/>
              <a:t>If both groups are equally common: ATE = 0</a:t>
            </a: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5D84F819-5765-AF82-2358-2DE523E5B024}"/>
              </a:ext>
            </a:extLst>
          </p:cNvPr>
          <p:cNvSpPr/>
          <p:nvPr/>
        </p:nvSpPr>
        <p:spPr>
          <a:xfrm>
            <a:off x="262382" y="4427960"/>
            <a:ext cx="8556498" cy="589259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5BC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3D0CC0-759D-CD22-7C0D-CEA4D0AA834F}"/>
              </a:ext>
            </a:extLst>
          </p:cNvPr>
          <p:cNvSpPr txBox="1"/>
          <p:nvPr/>
        </p:nvSpPr>
        <p:spPr>
          <a:xfrm>
            <a:off x="430845" y="4535403"/>
            <a:ext cx="828231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400">
                <a:solidFill>
                  <a:srgbClr val="F6F6F6"/>
                </a:solidFill>
                <a:latin typeface="Aptos"/>
              </a:defRPr>
            </a:pPr>
            <a:r>
              <a:rPr sz="1800" dirty="0"/>
              <a:t>An average effect of zero does not mean the treatment does nothing for everyone.</a:t>
            </a:r>
          </a:p>
        </p:txBody>
      </p:sp>
    </p:spTree>
    <p:extLst>
      <p:ext uri="{BB962C8B-B14F-4D97-AF65-F5344CB8AC3E}">
        <p14:creationId xmlns:p14="http://schemas.microsoft.com/office/powerpoint/2010/main" val="1317591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9F846-2E81-2F37-7EEC-FFB26F6F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DFF71E-5CE6-91B1-8BF9-144A072C015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From ATE to CATE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C88601-8F9F-20E8-15C6-79268E45F448}"/>
                  </a:ext>
                </a:extLst>
              </p:cNvPr>
              <p:cNvSpPr txBox="1"/>
              <p:nvPr/>
            </p:nvSpPr>
            <p:spPr>
              <a:xfrm>
                <a:off x="977900" y="1274727"/>
                <a:ext cx="73152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3000">
                    <a:solidFill>
                      <a:srgbClr val="5BC7C2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𝐶𝐴𝑇𝐸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(1) −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(0) |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C88601-8F9F-20E8-15C6-79268E45F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00" y="1274727"/>
                <a:ext cx="7315200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9F02723F-CCAE-D4EC-B939-2B62550DFF9B}"/>
              </a:ext>
            </a:extLst>
          </p:cNvPr>
          <p:cNvSpPr/>
          <p:nvPr/>
        </p:nvSpPr>
        <p:spPr>
          <a:xfrm>
            <a:off x="64770" y="2133601"/>
            <a:ext cx="2889504" cy="149225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CFA13D-A24F-CC73-7C4E-A738F2007F65}"/>
              </a:ext>
            </a:extLst>
          </p:cNvPr>
          <p:cNvSpPr txBox="1"/>
          <p:nvPr/>
        </p:nvSpPr>
        <p:spPr>
          <a:xfrm>
            <a:off x="229362" y="2243328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D57F3D-7B42-F0DD-19B7-7CB5A9FA4FB2}"/>
              </a:ext>
            </a:extLst>
          </p:cNvPr>
          <p:cNvSpPr txBox="1"/>
          <p:nvPr/>
        </p:nvSpPr>
        <p:spPr>
          <a:xfrm>
            <a:off x="102108" y="2688211"/>
            <a:ext cx="3054096" cy="1655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How much does treatment help on average?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56354560-FFE6-3D40-6A5C-4DA356854D25}"/>
              </a:ext>
            </a:extLst>
          </p:cNvPr>
          <p:cNvSpPr/>
          <p:nvPr/>
        </p:nvSpPr>
        <p:spPr>
          <a:xfrm>
            <a:off x="3007358" y="2154429"/>
            <a:ext cx="2948431" cy="149225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24D49C-392A-AF27-6391-547C1C6D051F}"/>
              </a:ext>
            </a:extLst>
          </p:cNvPr>
          <p:cNvSpPr txBox="1"/>
          <p:nvPr/>
        </p:nvSpPr>
        <p:spPr>
          <a:xfrm>
            <a:off x="3171951" y="2264157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CATE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F75F9F-736C-8625-139B-4D45C520D9EF}"/>
                  </a:ext>
                </a:extLst>
              </p:cNvPr>
              <p:cNvSpPr txBox="1"/>
              <p:nvPr/>
            </p:nvSpPr>
            <p:spPr>
              <a:xfrm>
                <a:off x="3112515" y="2721358"/>
                <a:ext cx="2877566" cy="64633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How much does treatment help for people with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dirty="0"/>
                  <a:t>?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F75F9F-736C-8625-139B-4D45C520D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515" y="2721358"/>
                <a:ext cx="2877566" cy="646331"/>
              </a:xfrm>
              <a:prstGeom prst="rect">
                <a:avLst/>
              </a:prstGeom>
              <a:blipFill>
                <a:blip r:embed="rId3"/>
                <a:stretch>
                  <a:fillRect l="-1907" t="-3774" r="-1271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97B6EEE8-E42D-C476-DFE7-14CC3F5BBCD4}"/>
              </a:ext>
            </a:extLst>
          </p:cNvPr>
          <p:cNvSpPr/>
          <p:nvPr/>
        </p:nvSpPr>
        <p:spPr>
          <a:xfrm>
            <a:off x="6043673" y="2154430"/>
            <a:ext cx="2998219" cy="149225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DEBCAD-8F7E-7EAF-D2B6-2907A15C7826}"/>
              </a:ext>
            </a:extLst>
          </p:cNvPr>
          <p:cNvSpPr txBox="1"/>
          <p:nvPr/>
        </p:nvSpPr>
        <p:spPr>
          <a:xfrm>
            <a:off x="6208265" y="2239671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Examples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734DBF-F4BD-526A-E4B6-720FD6719193}"/>
              </a:ext>
            </a:extLst>
          </p:cNvPr>
          <p:cNvSpPr txBox="1"/>
          <p:nvPr/>
        </p:nvSpPr>
        <p:spPr>
          <a:xfrm>
            <a:off x="6253985" y="2660295"/>
            <a:ext cx="3054096" cy="1655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Age, disease severity, biomarker, baseline risk.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BF316A-65F0-2103-4402-A4AA79C02A95}"/>
              </a:ext>
            </a:extLst>
          </p:cNvPr>
          <p:cNvSpPr txBox="1"/>
          <p:nvPr/>
        </p:nvSpPr>
        <p:spPr>
          <a:xfrm>
            <a:off x="385063" y="4027556"/>
            <a:ext cx="83324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>
                <a:solidFill>
                  <a:srgbClr val="F6B737"/>
                </a:solidFill>
                <a:latin typeface="Cambria Math"/>
              </a:defRPr>
            </a:pPr>
            <a:r>
              <a:t>ATE averages over X; CATE conditions on X.</a:t>
            </a:r>
          </a:p>
        </p:txBody>
      </p:sp>
    </p:spTree>
    <p:extLst>
      <p:ext uri="{BB962C8B-B14F-4D97-AF65-F5344CB8AC3E}">
        <p14:creationId xmlns:p14="http://schemas.microsoft.com/office/powerpoint/2010/main" val="5688302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E49DE-3EDA-1A98-DB37-787AC9FBA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4ED0D7-84C2-8B0E-5878-B356C67E275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CATE Is Not an Individual Treatment Effect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23B82C5-564D-C7D1-4625-BBF6B63F4EB0}"/>
              </a:ext>
            </a:extLst>
          </p:cNvPr>
          <p:cNvSpPr/>
          <p:nvPr/>
        </p:nvSpPr>
        <p:spPr>
          <a:xfrm>
            <a:off x="117118" y="1614170"/>
            <a:ext cx="4501594" cy="217678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778713-109F-7FDB-8F99-ECD1764A925F}"/>
              </a:ext>
            </a:extLst>
          </p:cNvPr>
          <p:cNvSpPr txBox="1"/>
          <p:nvPr/>
        </p:nvSpPr>
        <p:spPr>
          <a:xfrm>
            <a:off x="158242" y="1723898"/>
            <a:ext cx="4745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Individual treatment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5C2DE9-11EC-DDC8-6172-B76114C36BB4}"/>
                  </a:ext>
                </a:extLst>
              </p:cNvPr>
              <p:cNvSpPr txBox="1"/>
              <p:nvPr/>
            </p:nvSpPr>
            <p:spPr>
              <a:xfrm>
                <a:off x="158242" y="2144522"/>
                <a:ext cx="4407408" cy="128447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i="1" dirty="0" smtClean="0">
                          <a:latin typeface="Cambria Math" panose="02040503050406030204" pitchFamily="18" charset="0"/>
                        </a:rPr>
                        <m:t>(1) − </m:t>
                      </m:r>
                      <m:sSub>
                        <m:sSubPr>
                          <m:ctrlPr>
                            <a:rPr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i="1" dirty="0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Defined for one specific person.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Fundamentally unobservable without strong structural assumptions.</a:t>
                </a:r>
                <a:endParaRPr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5C2DE9-11EC-DDC8-6172-B76114C36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42" y="2144522"/>
                <a:ext cx="4407408" cy="1284478"/>
              </a:xfrm>
              <a:prstGeom prst="rect">
                <a:avLst/>
              </a:prstGeom>
              <a:blipFill>
                <a:blip r:embed="rId2"/>
                <a:stretch>
                  <a:fillRect l="-968" b="-4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FB15F38-5AF6-6470-06AA-AA0679442D8D}"/>
              </a:ext>
            </a:extLst>
          </p:cNvPr>
          <p:cNvSpPr/>
          <p:nvPr/>
        </p:nvSpPr>
        <p:spPr>
          <a:xfrm>
            <a:off x="4730242" y="1614170"/>
            <a:ext cx="4283940" cy="217678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20A619-AAF4-4A67-DC66-7F560C33F352}"/>
              </a:ext>
            </a:extLst>
          </p:cNvPr>
          <p:cNvSpPr txBox="1"/>
          <p:nvPr/>
        </p:nvSpPr>
        <p:spPr>
          <a:xfrm>
            <a:off x="4894834" y="1723898"/>
            <a:ext cx="4745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CATE(x)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E088C4-A7EA-E418-C4CF-79AB2496DF01}"/>
                  </a:ext>
                </a:extLst>
              </p:cNvPr>
              <p:cNvSpPr txBox="1"/>
              <p:nvPr/>
            </p:nvSpPr>
            <p:spPr>
              <a:xfrm>
                <a:off x="4903978" y="2238726"/>
                <a:ext cx="4006063" cy="126701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Average treatment effect among people with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dirty="0"/>
                  <a:t>.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Still an average, just a more local one.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Usually a more realistic statistical target.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E088C4-A7EA-E418-C4CF-79AB2496D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978" y="2238726"/>
                <a:ext cx="4006063" cy="1267014"/>
              </a:xfrm>
              <a:prstGeom prst="rect">
                <a:avLst/>
              </a:prstGeom>
              <a:blipFill>
                <a:blip r:embed="rId3"/>
                <a:stretch>
                  <a:fillRect l="-912" t="-962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10816328-EF1A-2717-96CB-D7C52BA56694}"/>
              </a:ext>
            </a:extLst>
          </p:cNvPr>
          <p:cNvSpPr txBox="1"/>
          <p:nvPr/>
        </p:nvSpPr>
        <p:spPr>
          <a:xfrm>
            <a:off x="273050" y="4043680"/>
            <a:ext cx="8441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6B737"/>
                </a:solidFill>
                <a:latin typeface="Cambria Math"/>
              </a:defRPr>
            </a:pPr>
            <a:r>
              <a:rPr dirty="0"/>
              <a:t>HTE typically means variation in average effects across covariate profiles.</a:t>
            </a:r>
          </a:p>
        </p:txBody>
      </p:sp>
    </p:spTree>
    <p:extLst>
      <p:ext uri="{BB962C8B-B14F-4D97-AF65-F5344CB8AC3E}">
        <p14:creationId xmlns:p14="http://schemas.microsoft.com/office/powerpoint/2010/main" val="17190432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1BF6C-C1C1-DC7C-BD3A-106E51992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6CFD3C-D155-58BD-F83D-081CC671FC32}"/>
                  </a:ext>
                </a:extLst>
              </p:cNvPr>
              <p:cNvSpPr txBox="1"/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 sz="27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2800" dirty="0">
                    <a:solidFill>
                      <a:srgbClr val="F4F1EA"/>
                    </a:solidFill>
                  </a:rPr>
                  <a:t>Effect Modifier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800" dirty="0">
                    <a:solidFill>
                      <a:srgbClr val="F4F1EA"/>
                    </a:solidFill>
                  </a:rPr>
                  <a:t> Confounder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6CFD3C-D155-58BD-F83D-081CC671F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blipFill>
                <a:blip r:embed="rId2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3539130D-F960-4092-7559-B03734A304C3}"/>
              </a:ext>
            </a:extLst>
          </p:cNvPr>
          <p:cNvSpPr/>
          <p:nvPr/>
        </p:nvSpPr>
        <p:spPr>
          <a:xfrm>
            <a:off x="83820" y="1300480"/>
            <a:ext cx="4394198" cy="21793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F357E-3220-D650-F5F2-ED633DE5E14F}"/>
              </a:ext>
            </a:extLst>
          </p:cNvPr>
          <p:cNvSpPr txBox="1"/>
          <p:nvPr/>
        </p:nvSpPr>
        <p:spPr>
          <a:xfrm>
            <a:off x="248412" y="1410207"/>
            <a:ext cx="48371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Confounder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0E8E3E-9024-91BF-3043-82F50D8DCC91}"/>
              </a:ext>
            </a:extLst>
          </p:cNvPr>
          <p:cNvSpPr txBox="1"/>
          <p:nvPr/>
        </p:nvSpPr>
        <p:spPr>
          <a:xfrm>
            <a:off x="248412" y="1830831"/>
            <a:ext cx="4278047" cy="12670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Affects treatment assignment and outcome.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Creates a noncausal backdoor path.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Needs control for identification.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4392E728-D9DC-7147-07B0-3E4B44ED6299}"/>
              </a:ext>
            </a:extLst>
          </p:cNvPr>
          <p:cNvSpPr/>
          <p:nvPr/>
        </p:nvSpPr>
        <p:spPr>
          <a:xfrm>
            <a:off x="4641852" y="1273810"/>
            <a:ext cx="4394198" cy="220599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50F712-CAD3-6E7F-CF85-781D862DDF1E}"/>
              </a:ext>
            </a:extLst>
          </p:cNvPr>
          <p:cNvSpPr txBox="1"/>
          <p:nvPr/>
        </p:nvSpPr>
        <p:spPr>
          <a:xfrm>
            <a:off x="4806443" y="1383537"/>
            <a:ext cx="411421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Effect modifier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CDCB93-C502-12C6-DB68-6ED52CBE3C8F}"/>
              </a:ext>
            </a:extLst>
          </p:cNvPr>
          <p:cNvSpPr txBox="1"/>
          <p:nvPr/>
        </p:nvSpPr>
        <p:spPr>
          <a:xfrm>
            <a:off x="4806443" y="1804161"/>
            <a:ext cx="4114214" cy="1528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Changes the magnitude or direction of the treatment effect.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Answers: 'For whom does treatment work better?'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May or may not also be a confounder.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1B5EBF7C-9129-4C3C-88A0-A1835727BA25}"/>
              </a:ext>
            </a:extLst>
          </p:cNvPr>
          <p:cNvSpPr/>
          <p:nvPr/>
        </p:nvSpPr>
        <p:spPr>
          <a:xfrm>
            <a:off x="45720" y="3950970"/>
            <a:ext cx="8971280" cy="87247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34E4E8-5B93-F028-E967-1D2F2F0DDBD0}"/>
              </a:ext>
            </a:extLst>
          </p:cNvPr>
          <p:cNvSpPr txBox="1"/>
          <p:nvPr/>
        </p:nvSpPr>
        <p:spPr>
          <a:xfrm>
            <a:off x="210312" y="4115561"/>
            <a:ext cx="8723376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rPr sz="2000" dirty="0"/>
              <a:t>A variable can be both</a:t>
            </a:r>
            <a:r>
              <a:rPr lang="en-US" sz="2000" dirty="0"/>
              <a:t>: </a:t>
            </a:r>
            <a:r>
              <a:rPr sz="2000" dirty="0"/>
              <a:t>but confounding and effect modification are different causal roles.</a:t>
            </a:r>
          </a:p>
        </p:txBody>
      </p:sp>
    </p:spTree>
    <p:extLst>
      <p:ext uri="{BB962C8B-B14F-4D97-AF65-F5344CB8AC3E}">
        <p14:creationId xmlns:p14="http://schemas.microsoft.com/office/powerpoint/2010/main" val="13735900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79F9B-91D2-D41B-9CFC-A1389F8C2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CBFD35-0B96-37E9-83FC-23865912653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Real-World Heterogeneity: Medicine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E37135-9FDA-6F2A-B0EB-093106115550}"/>
              </a:ext>
            </a:extLst>
          </p:cNvPr>
          <p:cNvSpPr/>
          <p:nvPr/>
        </p:nvSpPr>
        <p:spPr>
          <a:xfrm>
            <a:off x="58420" y="1284320"/>
            <a:ext cx="3008376" cy="190973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F9970-19E0-FD62-C971-260543208C3D}"/>
              </a:ext>
            </a:extLst>
          </p:cNvPr>
          <p:cNvSpPr txBox="1"/>
          <p:nvPr/>
        </p:nvSpPr>
        <p:spPr>
          <a:xfrm>
            <a:off x="223012" y="1405001"/>
            <a:ext cx="30083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Baseline risk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E88282-498B-9984-EC1D-542580285A86}"/>
              </a:ext>
            </a:extLst>
          </p:cNvPr>
          <p:cNvSpPr txBox="1"/>
          <p:nvPr/>
        </p:nvSpPr>
        <p:spPr>
          <a:xfrm>
            <a:off x="121539" y="1962785"/>
            <a:ext cx="288213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A statin may prevent more absolute events in high-risk patients.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2D1E1ABB-C94B-AF81-EDD6-87C5060ADECA}"/>
              </a:ext>
            </a:extLst>
          </p:cNvPr>
          <p:cNvSpPr/>
          <p:nvPr/>
        </p:nvSpPr>
        <p:spPr>
          <a:xfrm>
            <a:off x="3105150" y="1284319"/>
            <a:ext cx="3008376" cy="193435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188D3E-7E92-99D5-BCE9-6F21641DEDF1}"/>
              </a:ext>
            </a:extLst>
          </p:cNvPr>
          <p:cNvSpPr txBox="1"/>
          <p:nvPr/>
        </p:nvSpPr>
        <p:spPr>
          <a:xfrm>
            <a:off x="3269741" y="1402873"/>
            <a:ext cx="30083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Biomarker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F56037-21DE-B9F0-0692-B1F7EB88F47B}"/>
              </a:ext>
            </a:extLst>
          </p:cNvPr>
          <p:cNvSpPr txBox="1"/>
          <p:nvPr/>
        </p:nvSpPr>
        <p:spPr>
          <a:xfrm>
            <a:off x="3250691" y="1865723"/>
            <a:ext cx="2736597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A targeted cancer therapy may work mainly in biomarker-positive tumors.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86B098BB-B709-D3AD-93D5-3D6F42A4A4C9}"/>
              </a:ext>
            </a:extLst>
          </p:cNvPr>
          <p:cNvSpPr/>
          <p:nvPr/>
        </p:nvSpPr>
        <p:spPr>
          <a:xfrm>
            <a:off x="6151880" y="1285941"/>
            <a:ext cx="2870582" cy="196732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D6FAC4-8EA7-BE0F-95E3-A9352EB2450B}"/>
              </a:ext>
            </a:extLst>
          </p:cNvPr>
          <p:cNvSpPr txBox="1"/>
          <p:nvPr/>
        </p:nvSpPr>
        <p:spPr>
          <a:xfrm>
            <a:off x="6316470" y="1336546"/>
            <a:ext cx="258745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Age / frailty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BF09C5-4624-70DF-1BD1-9D012132EA1D}"/>
              </a:ext>
            </a:extLst>
          </p:cNvPr>
          <p:cNvSpPr txBox="1"/>
          <p:nvPr/>
        </p:nvSpPr>
        <p:spPr>
          <a:xfrm>
            <a:off x="6316470" y="1957315"/>
            <a:ext cx="2587457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Benefit and toxicity may differ across age or frailty levels.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8B9F88-72AC-211B-91E3-88929EF4E8FD}"/>
              </a:ext>
            </a:extLst>
          </p:cNvPr>
          <p:cNvSpPr txBox="1"/>
          <p:nvPr/>
        </p:nvSpPr>
        <p:spPr>
          <a:xfrm>
            <a:off x="663575" y="3897135"/>
            <a:ext cx="78168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>
                <a:solidFill>
                  <a:srgbClr val="F6B737"/>
                </a:solidFill>
                <a:latin typeface="Cambria Math"/>
              </a:defRPr>
            </a:pPr>
            <a:r>
              <a:t>Clinical decisions are often about who benefits most.</a:t>
            </a:r>
          </a:p>
        </p:txBody>
      </p:sp>
    </p:spTree>
    <p:extLst>
      <p:ext uri="{BB962C8B-B14F-4D97-AF65-F5344CB8AC3E}">
        <p14:creationId xmlns:p14="http://schemas.microsoft.com/office/powerpoint/2010/main" val="29970810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E02E-E953-6BC3-D0B6-3410D4F9E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CD2490-436F-75F1-85A3-62A6BB9D0B8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Real-World Heterogeneity: Education and Policy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2E720AE7-826E-8353-A818-2BBBA8A57106}"/>
              </a:ext>
            </a:extLst>
          </p:cNvPr>
          <p:cNvSpPr/>
          <p:nvPr/>
        </p:nvSpPr>
        <p:spPr>
          <a:xfrm>
            <a:off x="83820" y="1272774"/>
            <a:ext cx="4392930" cy="189587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63553-0B91-7836-2736-49F5FF588656}"/>
              </a:ext>
            </a:extLst>
          </p:cNvPr>
          <p:cNvSpPr txBox="1"/>
          <p:nvPr/>
        </p:nvSpPr>
        <p:spPr>
          <a:xfrm>
            <a:off x="248412" y="1382501"/>
            <a:ext cx="4745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A691FD-C42D-D9C0-EE55-DEDED0129818}"/>
              </a:ext>
            </a:extLst>
          </p:cNvPr>
          <p:cNvSpPr txBox="1"/>
          <p:nvPr/>
        </p:nvSpPr>
        <p:spPr>
          <a:xfrm>
            <a:off x="248412" y="1803125"/>
            <a:ext cx="4323588" cy="12028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Tutoring may benefit lower-performing students more.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Technology interventions may differ by prior achievement or access.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EFD7F3CE-3A95-063A-775E-3CA700067B7B}"/>
              </a:ext>
            </a:extLst>
          </p:cNvPr>
          <p:cNvSpPr/>
          <p:nvPr/>
        </p:nvSpPr>
        <p:spPr>
          <a:xfrm>
            <a:off x="4572000" y="1245575"/>
            <a:ext cx="4438650" cy="192307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F6E6FB-633C-3461-7CE0-405EC8816ED4}"/>
              </a:ext>
            </a:extLst>
          </p:cNvPr>
          <p:cNvSpPr txBox="1"/>
          <p:nvPr/>
        </p:nvSpPr>
        <p:spPr>
          <a:xfrm>
            <a:off x="4812792" y="1382501"/>
            <a:ext cx="4745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Policy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E3CBED-8F85-5362-B124-5908FB38F2A5}"/>
              </a:ext>
            </a:extLst>
          </p:cNvPr>
          <p:cNvSpPr txBox="1"/>
          <p:nvPr/>
        </p:nvSpPr>
        <p:spPr>
          <a:xfrm>
            <a:off x="4736592" y="1775926"/>
            <a:ext cx="3708908" cy="12028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Job training may help workers with weak labor-market attachment more.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Cash transfers may have different effects by baseline income.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C7D78A-35B4-DD45-A494-EB60FA537C68}"/>
              </a:ext>
            </a:extLst>
          </p:cNvPr>
          <p:cNvSpPr txBox="1"/>
          <p:nvPr/>
        </p:nvSpPr>
        <p:spPr>
          <a:xfrm>
            <a:off x="482600" y="3774672"/>
            <a:ext cx="8375782" cy="422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>
                <a:solidFill>
                  <a:srgbClr val="F6B737"/>
                </a:solidFill>
                <a:latin typeface="Cambria Math"/>
              </a:defRPr>
            </a:pPr>
            <a:r>
              <a:rPr dirty="0"/>
              <a:t>HTE turns one average policy effect into a targeting question.</a:t>
            </a:r>
          </a:p>
        </p:txBody>
      </p:sp>
    </p:spTree>
    <p:extLst>
      <p:ext uri="{BB962C8B-B14F-4D97-AF65-F5344CB8AC3E}">
        <p14:creationId xmlns:p14="http://schemas.microsoft.com/office/powerpoint/2010/main" val="37080737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29D59-E335-018E-6BC6-A9B5A3A96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4C2928-F44D-1449-F092-1971EB698F2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 Simple Two-Subgroup Example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E4A2704-9310-6969-A860-F22EE0729C32}"/>
              </a:ext>
            </a:extLst>
          </p:cNvPr>
          <p:cNvSpPr/>
          <p:nvPr/>
        </p:nvSpPr>
        <p:spPr>
          <a:xfrm>
            <a:off x="169188" y="1112520"/>
            <a:ext cx="2161262" cy="5943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BF97B-FB5C-D67D-1129-2E6F5A7DA307}"/>
              </a:ext>
            </a:extLst>
          </p:cNvPr>
          <p:cNvSpPr txBox="1"/>
          <p:nvPr/>
        </p:nvSpPr>
        <p:spPr>
          <a:xfrm>
            <a:off x="333780" y="1222248"/>
            <a:ext cx="2459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Group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3938248-E2E0-A7E6-B734-287832DB3ABC}"/>
              </a:ext>
            </a:extLst>
          </p:cNvPr>
          <p:cNvSpPr/>
          <p:nvPr/>
        </p:nvSpPr>
        <p:spPr>
          <a:xfrm>
            <a:off x="2432329" y="1118235"/>
            <a:ext cx="1965682" cy="5943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A264C-A4B5-FCF4-554E-F1EF37E0D7D0}"/>
              </a:ext>
            </a:extLst>
          </p:cNvPr>
          <p:cNvSpPr txBox="1"/>
          <p:nvPr/>
        </p:nvSpPr>
        <p:spPr>
          <a:xfrm>
            <a:off x="2596920" y="1227963"/>
            <a:ext cx="2048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Control mean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A6B63334-68F2-478F-5DFA-0AE7AD21179F}"/>
              </a:ext>
            </a:extLst>
          </p:cNvPr>
          <p:cNvSpPr/>
          <p:nvPr/>
        </p:nvSpPr>
        <p:spPr>
          <a:xfrm>
            <a:off x="4480585" y="1112519"/>
            <a:ext cx="1975103" cy="60007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0DB5E2-A7DD-377C-EE49-5196691A15D7}"/>
              </a:ext>
            </a:extLst>
          </p:cNvPr>
          <p:cNvSpPr txBox="1"/>
          <p:nvPr/>
        </p:nvSpPr>
        <p:spPr>
          <a:xfrm>
            <a:off x="4604028" y="1258943"/>
            <a:ext cx="185166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Treatment mean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AD6DA2C5-78FC-627F-5061-97B60D799DE0}"/>
              </a:ext>
            </a:extLst>
          </p:cNvPr>
          <p:cNvSpPr/>
          <p:nvPr/>
        </p:nvSpPr>
        <p:spPr>
          <a:xfrm>
            <a:off x="6563662" y="1118235"/>
            <a:ext cx="2377440" cy="5943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913974-FEED-4BC7-FA30-90ACE9C015C1}"/>
              </a:ext>
            </a:extLst>
          </p:cNvPr>
          <p:cNvSpPr txBox="1"/>
          <p:nvPr/>
        </p:nvSpPr>
        <p:spPr>
          <a:xfrm>
            <a:off x="6728254" y="1227963"/>
            <a:ext cx="2048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F6B737"/>
                </a:solidFill>
                <a:latin typeface="Aptos"/>
              </a:defRPr>
            </a:pPr>
            <a:r>
              <a:t>Effect</a:t>
            </a: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3CECCEB1-20AA-7E2F-7D24-194F1AACBC9F}"/>
              </a:ext>
            </a:extLst>
          </p:cNvPr>
          <p:cNvSpPr/>
          <p:nvPr/>
        </p:nvSpPr>
        <p:spPr>
          <a:xfrm>
            <a:off x="169188" y="1844040"/>
            <a:ext cx="2161262" cy="7772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BA320F-917A-DC2A-95F1-5D8CD4DC6F48}"/>
              </a:ext>
            </a:extLst>
          </p:cNvPr>
          <p:cNvSpPr txBox="1"/>
          <p:nvPr/>
        </p:nvSpPr>
        <p:spPr>
          <a:xfrm>
            <a:off x="333780" y="2008632"/>
            <a:ext cx="2459736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Low baseline risk</a:t>
            </a:r>
          </a:p>
        </p:txBody>
      </p:sp>
      <p:sp>
        <p:nvSpPr>
          <p:cNvPr id="31" name="Rounded Rectangle 14">
            <a:extLst>
              <a:ext uri="{FF2B5EF4-FFF2-40B4-BE49-F238E27FC236}">
                <a16:creationId xmlns:a16="http://schemas.microsoft.com/office/drawing/2014/main" id="{E326EE90-BD7B-F1FF-B207-C4F7E9E8F7CC}"/>
              </a:ext>
            </a:extLst>
          </p:cNvPr>
          <p:cNvSpPr/>
          <p:nvPr/>
        </p:nvSpPr>
        <p:spPr>
          <a:xfrm>
            <a:off x="2432329" y="1849755"/>
            <a:ext cx="1965682" cy="7772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123676B-98FC-D307-6651-1250F67ED992}"/>
                  </a:ext>
                </a:extLst>
              </p:cNvPr>
              <p:cNvSpPr txBox="1"/>
              <p:nvPr/>
            </p:nvSpPr>
            <p:spPr>
              <a:xfrm>
                <a:off x="2596920" y="2014347"/>
                <a:ext cx="1719073" cy="43345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123676B-98FC-D307-6651-1250F67ED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920" y="2014347"/>
                <a:ext cx="1719073" cy="4334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16">
            <a:extLst>
              <a:ext uri="{FF2B5EF4-FFF2-40B4-BE49-F238E27FC236}">
                <a16:creationId xmlns:a16="http://schemas.microsoft.com/office/drawing/2014/main" id="{A525DB37-81F3-5A5C-64CB-7D9638D9EE5C}"/>
              </a:ext>
            </a:extLst>
          </p:cNvPr>
          <p:cNvSpPr/>
          <p:nvPr/>
        </p:nvSpPr>
        <p:spPr>
          <a:xfrm>
            <a:off x="4480585" y="1844039"/>
            <a:ext cx="1975103" cy="78295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5D9A205-C168-DF4E-3720-566335D7D4C6}"/>
                  </a:ext>
                </a:extLst>
              </p:cNvPr>
              <p:cNvSpPr txBox="1"/>
              <p:nvPr/>
            </p:nvSpPr>
            <p:spPr>
              <a:xfrm>
                <a:off x="4645176" y="2008631"/>
                <a:ext cx="1609574" cy="43345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5D9A205-C168-DF4E-3720-566335D7D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176" y="2008631"/>
                <a:ext cx="1609574" cy="433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ounded Rectangle 18">
            <a:extLst>
              <a:ext uri="{FF2B5EF4-FFF2-40B4-BE49-F238E27FC236}">
                <a16:creationId xmlns:a16="http://schemas.microsoft.com/office/drawing/2014/main" id="{812D81BB-6EB8-CD22-3F0E-527EA87829A6}"/>
              </a:ext>
            </a:extLst>
          </p:cNvPr>
          <p:cNvSpPr/>
          <p:nvPr/>
        </p:nvSpPr>
        <p:spPr>
          <a:xfrm>
            <a:off x="6563662" y="1849755"/>
            <a:ext cx="2377440" cy="7772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302B31-734F-24E3-953D-1697DFD79F79}"/>
                  </a:ext>
                </a:extLst>
              </p:cNvPr>
              <p:cNvSpPr txBox="1"/>
              <p:nvPr/>
            </p:nvSpPr>
            <p:spPr>
              <a:xfrm>
                <a:off x="6728254" y="2014347"/>
                <a:ext cx="2048256" cy="43345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302B31-734F-24E3-953D-1697DFD79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254" y="2014347"/>
                <a:ext cx="2048256" cy="433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ounded Rectangle 20">
            <a:extLst>
              <a:ext uri="{FF2B5EF4-FFF2-40B4-BE49-F238E27FC236}">
                <a16:creationId xmlns:a16="http://schemas.microsoft.com/office/drawing/2014/main" id="{FE0A1415-FB9F-525E-938E-F0E7DA6D0118}"/>
              </a:ext>
            </a:extLst>
          </p:cNvPr>
          <p:cNvSpPr/>
          <p:nvPr/>
        </p:nvSpPr>
        <p:spPr>
          <a:xfrm>
            <a:off x="169188" y="2895600"/>
            <a:ext cx="2161262" cy="7772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A4A733-A83C-AABA-955D-2BC0E5183C9C}"/>
              </a:ext>
            </a:extLst>
          </p:cNvPr>
          <p:cNvSpPr txBox="1"/>
          <p:nvPr/>
        </p:nvSpPr>
        <p:spPr>
          <a:xfrm>
            <a:off x="333780" y="3060192"/>
            <a:ext cx="2459736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High baseline risk</a:t>
            </a:r>
          </a:p>
        </p:txBody>
      </p:sp>
      <p:sp>
        <p:nvSpPr>
          <p:cNvPr id="47" name="Rounded Rectangle 22">
            <a:extLst>
              <a:ext uri="{FF2B5EF4-FFF2-40B4-BE49-F238E27FC236}">
                <a16:creationId xmlns:a16="http://schemas.microsoft.com/office/drawing/2014/main" id="{6BE9E073-4E1C-BFA5-2123-E2066B8797A8}"/>
              </a:ext>
            </a:extLst>
          </p:cNvPr>
          <p:cNvSpPr/>
          <p:nvPr/>
        </p:nvSpPr>
        <p:spPr>
          <a:xfrm>
            <a:off x="2432329" y="2901315"/>
            <a:ext cx="1965682" cy="7772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FC66A8C-4856-82DE-326C-53FEA4CE04C0}"/>
                  </a:ext>
                </a:extLst>
              </p:cNvPr>
              <p:cNvSpPr txBox="1"/>
              <p:nvPr/>
            </p:nvSpPr>
            <p:spPr>
              <a:xfrm>
                <a:off x="2596920" y="3065907"/>
                <a:ext cx="1719073" cy="43345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FC66A8C-4856-82DE-326C-53FEA4CE0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920" y="3065907"/>
                <a:ext cx="1719073" cy="433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ounded Rectangle 24">
            <a:extLst>
              <a:ext uri="{FF2B5EF4-FFF2-40B4-BE49-F238E27FC236}">
                <a16:creationId xmlns:a16="http://schemas.microsoft.com/office/drawing/2014/main" id="{24F64B8F-ECA8-2C55-FFA9-2F3C0D06A215}"/>
              </a:ext>
            </a:extLst>
          </p:cNvPr>
          <p:cNvSpPr/>
          <p:nvPr/>
        </p:nvSpPr>
        <p:spPr>
          <a:xfrm>
            <a:off x="4480585" y="2895600"/>
            <a:ext cx="1975103" cy="77152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FB77F1C-7CBC-F708-CA56-69F892DC6772}"/>
                  </a:ext>
                </a:extLst>
              </p:cNvPr>
              <p:cNvSpPr txBox="1"/>
              <p:nvPr/>
            </p:nvSpPr>
            <p:spPr>
              <a:xfrm>
                <a:off x="4645176" y="3060191"/>
                <a:ext cx="1706374" cy="43345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FB77F1C-7CBC-F708-CA56-69F892DC6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176" y="3060191"/>
                <a:ext cx="1706374" cy="4334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ounded Rectangle 26">
            <a:extLst>
              <a:ext uri="{FF2B5EF4-FFF2-40B4-BE49-F238E27FC236}">
                <a16:creationId xmlns:a16="http://schemas.microsoft.com/office/drawing/2014/main" id="{AA3EAC00-2F8E-10A2-B658-FA52051502FC}"/>
              </a:ext>
            </a:extLst>
          </p:cNvPr>
          <p:cNvSpPr/>
          <p:nvPr/>
        </p:nvSpPr>
        <p:spPr>
          <a:xfrm>
            <a:off x="6563662" y="2901315"/>
            <a:ext cx="2377440" cy="7772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B25795E-54CB-7985-C27D-DB8D317AB725}"/>
                  </a:ext>
                </a:extLst>
              </p:cNvPr>
              <p:cNvSpPr txBox="1"/>
              <p:nvPr/>
            </p:nvSpPr>
            <p:spPr>
              <a:xfrm>
                <a:off x="6728254" y="3065907"/>
                <a:ext cx="2048256" cy="43345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B25795E-54CB-7985-C27D-DB8D317AB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254" y="3065907"/>
                <a:ext cx="2048256" cy="433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680CB39E-40F5-10CC-AE85-854217900BC2}"/>
              </a:ext>
            </a:extLst>
          </p:cNvPr>
          <p:cNvSpPr txBox="1"/>
          <p:nvPr/>
        </p:nvSpPr>
        <p:spPr>
          <a:xfrm>
            <a:off x="184150" y="4211066"/>
            <a:ext cx="87757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>
                <a:solidFill>
                  <a:srgbClr val="5BC7C2"/>
                </a:solidFill>
                <a:latin typeface="Cambria Math"/>
              </a:defRPr>
            </a:pPr>
            <a:r>
              <a:rPr dirty="0"/>
              <a:t>Same treatment, different causal effect across baseline risk.</a:t>
            </a:r>
          </a:p>
        </p:txBody>
      </p:sp>
    </p:spTree>
    <p:extLst>
      <p:ext uri="{BB962C8B-B14F-4D97-AF65-F5344CB8AC3E}">
        <p14:creationId xmlns:p14="http://schemas.microsoft.com/office/powerpoint/2010/main" val="24927818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12D3E-3516-B6A7-D832-F3FA022B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F72B0D-3623-654B-CDF4-C166D5AF6605}"/>
                  </a:ext>
                </a:extLst>
              </p:cNvPr>
              <p:cNvSpPr txBox="1"/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 sz="27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2800" dirty="0">
                    <a:solidFill>
                      <a:srgbClr val="F4F1EA"/>
                    </a:solidFill>
                  </a:rPr>
                  <a:t>Starting Point: Treatment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solidFill>
                      <a:srgbClr val="F4F1EA"/>
                    </a:solidFill>
                  </a:rPr>
                  <a:t> Covariate Interaction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F72B0D-3623-654B-CDF4-C166D5AF6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blipFill>
                <a:blip r:embed="rId2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B4E9F7-2CEB-A95E-0B0D-71B0A5771A2C}"/>
                  </a:ext>
                </a:extLst>
              </p:cNvPr>
              <p:cNvSpPr txBox="1"/>
              <p:nvPr/>
            </p:nvSpPr>
            <p:spPr>
              <a:xfrm>
                <a:off x="228600" y="1160780"/>
                <a:ext cx="84277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700">
                    <a:solidFill>
                      <a:srgbClr val="F6B73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₀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₁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₂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+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B4E9F7-2CEB-A95E-0B0D-71B0A5771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160780"/>
                <a:ext cx="842772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0966B296-9212-7E84-6E87-2B5B3B50D288}"/>
              </a:ext>
            </a:extLst>
          </p:cNvPr>
          <p:cNvSpPr/>
          <p:nvPr/>
        </p:nvSpPr>
        <p:spPr>
          <a:xfrm>
            <a:off x="45721" y="2101849"/>
            <a:ext cx="2679446" cy="1822429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0EC59B-94D9-F70B-6F55-E3C39449E8E5}"/>
                  </a:ext>
                </a:extLst>
              </p:cNvPr>
              <p:cNvSpPr txBox="1"/>
              <p:nvPr/>
            </p:nvSpPr>
            <p:spPr>
              <a:xfrm>
                <a:off x="1275080" y="2234840"/>
                <a:ext cx="442749" cy="34624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50" b="1">
                    <a:solidFill>
                      <a:srgbClr val="64AEEB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₁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0EC59B-94D9-F70B-6F55-E3C39449E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080" y="2234840"/>
                <a:ext cx="442749" cy="346249"/>
              </a:xfrm>
              <a:prstGeom prst="rect">
                <a:avLst/>
              </a:prstGeom>
              <a:blipFill>
                <a:blip r:embed="rId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E9EB6F-47F6-85B9-5351-C7158710D6AE}"/>
                  </a:ext>
                </a:extLst>
              </p:cNvPr>
              <p:cNvSpPr txBox="1"/>
              <p:nvPr/>
            </p:nvSpPr>
            <p:spPr>
              <a:xfrm>
                <a:off x="210312" y="2632202"/>
                <a:ext cx="2595119" cy="64633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Treatment effect when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E9EB6F-47F6-85B9-5351-C7158710D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12" y="2632202"/>
                <a:ext cx="2595119" cy="646331"/>
              </a:xfrm>
              <a:prstGeom prst="rect">
                <a:avLst/>
              </a:prstGeom>
              <a:blipFill>
                <a:blip r:embed="rId5"/>
                <a:stretch>
                  <a:fillRect l="-2118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F16586D3-A081-029B-D851-217BBB3C5428}"/>
              </a:ext>
            </a:extLst>
          </p:cNvPr>
          <p:cNvSpPr/>
          <p:nvPr/>
        </p:nvSpPr>
        <p:spPr>
          <a:xfrm>
            <a:off x="2831339" y="2101850"/>
            <a:ext cx="2883662" cy="182243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8FCA8A-619A-325E-00B6-C5069B33C0D9}"/>
                  </a:ext>
                </a:extLst>
              </p:cNvPr>
              <p:cNvSpPr txBox="1"/>
              <p:nvPr/>
            </p:nvSpPr>
            <p:spPr>
              <a:xfrm>
                <a:off x="3999711" y="2219887"/>
                <a:ext cx="442749" cy="34624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50" b="1">
                    <a:solidFill>
                      <a:srgbClr val="C093E2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₂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8FCA8A-619A-325E-00B6-C5069B33C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711" y="2219887"/>
                <a:ext cx="442749" cy="346249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A6521B6-F21D-C93F-E735-D520C237C7CC}"/>
              </a:ext>
            </a:extLst>
          </p:cNvPr>
          <p:cNvSpPr txBox="1"/>
          <p:nvPr/>
        </p:nvSpPr>
        <p:spPr>
          <a:xfrm>
            <a:off x="2995931" y="2632202"/>
            <a:ext cx="252857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Outcome association with X in the control arm.</a:t>
            </a: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A5861464-3E33-FFE1-778E-F47E251C6340}"/>
              </a:ext>
            </a:extLst>
          </p:cNvPr>
          <p:cNvSpPr/>
          <p:nvPr/>
        </p:nvSpPr>
        <p:spPr>
          <a:xfrm>
            <a:off x="5821173" y="2089813"/>
            <a:ext cx="3112515" cy="184650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A96C08E-0561-BB4C-4AF9-6FC1AD501724}"/>
                  </a:ext>
                </a:extLst>
              </p:cNvPr>
              <p:cNvSpPr txBox="1"/>
              <p:nvPr/>
            </p:nvSpPr>
            <p:spPr>
              <a:xfrm>
                <a:off x="7156055" y="2200764"/>
                <a:ext cx="442749" cy="34624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50" b="1">
                    <a:solidFill>
                      <a:srgbClr val="71CC94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A96C08E-0561-BB4C-4AF9-6FC1AD501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055" y="2200764"/>
                <a:ext cx="442749" cy="346249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784BFA48-BA5E-BB87-F894-29AD2849587E}"/>
              </a:ext>
            </a:extLst>
          </p:cNvPr>
          <p:cNvSpPr txBox="1"/>
          <p:nvPr/>
        </p:nvSpPr>
        <p:spPr>
          <a:xfrm>
            <a:off x="5985765" y="2620165"/>
            <a:ext cx="3054096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How the treatment effect changes as X changes.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745D737-DF23-2803-1AE4-B2DF58B1E955}"/>
                  </a:ext>
                </a:extLst>
              </p:cNvPr>
              <p:cNvSpPr txBox="1"/>
              <p:nvPr/>
            </p:nvSpPr>
            <p:spPr>
              <a:xfrm>
                <a:off x="457200" y="4342126"/>
                <a:ext cx="8199120" cy="530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800">
                    <a:solidFill>
                      <a:srgbClr val="5BC7C2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₁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745D737-DF23-2803-1AE4-B2DF58B1E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42126"/>
                <a:ext cx="8199120" cy="5303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1929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70860-D6C3-86B4-E69B-437CF5F64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4AC6D-FBE9-4214-34B8-E934BF40B0D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How to Read an Interaction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BDEE41-8103-0C9F-4964-790D6C865AED}"/>
              </a:ext>
            </a:extLst>
          </p:cNvPr>
          <p:cNvSpPr/>
          <p:nvPr/>
        </p:nvSpPr>
        <p:spPr>
          <a:xfrm>
            <a:off x="822960" y="1417320"/>
            <a:ext cx="3310890" cy="192913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27BF28-4A27-FE0F-BC5C-E95EA3B06E90}"/>
              </a:ext>
            </a:extLst>
          </p:cNvPr>
          <p:cNvSpPr txBox="1"/>
          <p:nvPr/>
        </p:nvSpPr>
        <p:spPr>
          <a:xfrm>
            <a:off x="987552" y="1527048"/>
            <a:ext cx="46542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Suppose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ED8499-8BC9-CB43-A443-865251337C24}"/>
                  </a:ext>
                </a:extLst>
              </p:cNvPr>
              <p:cNvSpPr txBox="1"/>
              <p:nvPr/>
            </p:nvSpPr>
            <p:spPr>
              <a:xfrm>
                <a:off x="987552" y="1947672"/>
                <a:ext cx="4654296" cy="40011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2000">
                    <a:solidFill>
                      <a:srgbClr val="F6F6F6"/>
                    </a:solidFill>
                    <a:latin typeface="Aptos"/>
                  </a:defRPr>
                </a:pP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₁ = −2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₃ = −1.5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ED8499-8BC9-CB43-A443-865251337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552" y="1947672"/>
                <a:ext cx="4654296" cy="400110"/>
              </a:xfrm>
              <a:prstGeom prst="rect">
                <a:avLst/>
              </a:prstGeom>
              <a:blipFill>
                <a:blip r:embed="rId2"/>
                <a:stretch>
                  <a:fillRect l="-524" t="-7692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39605CF9-FCA9-B1B9-80EF-A51578662615}"/>
              </a:ext>
            </a:extLst>
          </p:cNvPr>
          <p:cNvSpPr/>
          <p:nvPr/>
        </p:nvSpPr>
        <p:spPr>
          <a:xfrm>
            <a:off x="4298442" y="1417320"/>
            <a:ext cx="3435858" cy="192913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66C76-52FA-2914-A366-F3590287C1E9}"/>
              </a:ext>
            </a:extLst>
          </p:cNvPr>
          <p:cNvSpPr txBox="1"/>
          <p:nvPr/>
        </p:nvSpPr>
        <p:spPr>
          <a:xfrm>
            <a:off x="4463034" y="1527048"/>
            <a:ext cx="46542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Then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88FDB6-85A9-6269-E4EE-45AFC4E0E483}"/>
                  </a:ext>
                </a:extLst>
              </p:cNvPr>
              <p:cNvSpPr txBox="1"/>
              <p:nvPr/>
            </p:nvSpPr>
            <p:spPr>
              <a:xfrm>
                <a:off x="4463034" y="1947672"/>
                <a:ext cx="3169666" cy="109773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: effect =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dirty="0"/>
                  <a:t>: effect =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−3.5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dirty="0"/>
                  <a:t>: effect =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88FDB6-85A9-6269-E4EE-45AFC4E0E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034" y="1947672"/>
                <a:ext cx="3169666" cy="1097736"/>
              </a:xfrm>
              <a:prstGeom prst="rect">
                <a:avLst/>
              </a:prstGeom>
              <a:blipFill>
                <a:blip r:embed="rId3"/>
                <a:stretch>
                  <a:fillRect l="-1731" t="-2778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FFD8CB1B-3C70-B7D3-0940-744B54EA0372}"/>
              </a:ext>
            </a:extLst>
          </p:cNvPr>
          <p:cNvSpPr/>
          <p:nvPr/>
        </p:nvSpPr>
        <p:spPr>
          <a:xfrm>
            <a:off x="169188" y="3931920"/>
            <a:ext cx="8686800" cy="76809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1B533E-6809-0A5E-B275-832318824266}"/>
              </a:ext>
            </a:extLst>
          </p:cNvPr>
          <p:cNvSpPr txBox="1"/>
          <p:nvPr/>
        </p:nvSpPr>
        <p:spPr>
          <a:xfrm>
            <a:off x="326112" y="4153661"/>
            <a:ext cx="8357616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A nonzero interaction means the treatment effect changes with X.</a:t>
            </a:r>
          </a:p>
        </p:txBody>
      </p:sp>
    </p:spTree>
    <p:extLst>
      <p:ext uri="{BB962C8B-B14F-4D97-AF65-F5344CB8AC3E}">
        <p14:creationId xmlns:p14="http://schemas.microsoft.com/office/powerpoint/2010/main" val="3339566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1FC8D-58A1-545F-A598-EF5E50DB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66E3CE-546D-7EA5-DB25-0DABDEC0B89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Binary Effect Modifier Example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FAA85418-39F6-C199-5295-C7D038DAAAF9}"/>
              </a:ext>
            </a:extLst>
          </p:cNvPr>
          <p:cNvSpPr/>
          <p:nvPr/>
        </p:nvSpPr>
        <p:spPr>
          <a:xfrm>
            <a:off x="83373" y="1581150"/>
            <a:ext cx="4145280" cy="152400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343B3A-DF0F-BED1-42E4-AE7E20B3396C}"/>
                  </a:ext>
                </a:extLst>
              </p:cNvPr>
              <p:cNvSpPr txBox="1"/>
              <p:nvPr/>
            </p:nvSpPr>
            <p:spPr>
              <a:xfrm>
                <a:off x="247965" y="1690878"/>
                <a:ext cx="2094804" cy="34624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50" b="1">
                    <a:solidFill>
                      <a:srgbClr val="64AEEB"/>
                    </a:solidFill>
                    <a:latin typeface="Aptos"/>
                  </a:defRPr>
                </a:pPr>
                <a:r>
                  <a:rPr dirty="0"/>
                  <a:t>No diabetes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343B3A-DF0F-BED1-42E4-AE7E20B33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65" y="1690878"/>
                <a:ext cx="2094804" cy="346249"/>
              </a:xfrm>
              <a:prstGeom prst="rect">
                <a:avLst/>
              </a:prstGeom>
              <a:blipFill>
                <a:blip r:embed="rId2"/>
                <a:stretch>
                  <a:fillRect l="-1749" t="-3509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DDE6F6-BC2C-D831-5FA7-9B157D928655}"/>
                  </a:ext>
                </a:extLst>
              </p:cNvPr>
              <p:cNvSpPr txBox="1"/>
              <p:nvPr/>
            </p:nvSpPr>
            <p:spPr>
              <a:xfrm>
                <a:off x="247965" y="2188806"/>
                <a:ext cx="3815588" cy="76944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22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Estimated treatment effect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= −3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𝑚𝑚𝐻𝑔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DDE6F6-BC2C-D831-5FA7-9B157D928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65" y="2188806"/>
                <a:ext cx="3815588" cy="769441"/>
              </a:xfrm>
              <a:prstGeom prst="rect">
                <a:avLst/>
              </a:prstGeom>
              <a:blipFill>
                <a:blip r:embed="rId3"/>
                <a:stretch>
                  <a:fillRect l="-2077" t="-5556" b="-8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6FD0E811-EC8E-08CA-D2EE-8B932EC6FF9C}"/>
              </a:ext>
            </a:extLst>
          </p:cNvPr>
          <p:cNvSpPr/>
          <p:nvPr/>
        </p:nvSpPr>
        <p:spPr>
          <a:xfrm>
            <a:off x="4387403" y="1581150"/>
            <a:ext cx="4508632" cy="152400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2F9259-0F7F-9D20-5E56-F98F69482078}"/>
                  </a:ext>
                </a:extLst>
              </p:cNvPr>
              <p:cNvSpPr txBox="1"/>
              <p:nvPr/>
            </p:nvSpPr>
            <p:spPr>
              <a:xfrm>
                <a:off x="4542667" y="1690878"/>
                <a:ext cx="4392606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50" b="1">
                    <a:solidFill>
                      <a:srgbClr val="71CC94"/>
                    </a:solidFill>
                    <a:latin typeface="Aptos"/>
                  </a:defRPr>
                </a:pPr>
                <a:r>
                  <a:rPr dirty="0"/>
                  <a:t>Diabetes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2F9259-0F7F-9D20-5E56-F98F69482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667" y="1690878"/>
                <a:ext cx="4392606" cy="347472"/>
              </a:xfrm>
              <a:prstGeom prst="rect">
                <a:avLst/>
              </a:prstGeom>
              <a:blipFill>
                <a:blip r:embed="rId4"/>
                <a:stretch>
                  <a:fillRect l="-832" t="-3509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8C2055-9E59-94C9-5082-30C69C8D64AA}"/>
                  </a:ext>
                </a:extLst>
              </p:cNvPr>
              <p:cNvSpPr txBox="1"/>
              <p:nvPr/>
            </p:nvSpPr>
            <p:spPr>
              <a:xfrm>
                <a:off x="4542667" y="2187029"/>
                <a:ext cx="3821313" cy="76944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22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Estimated treatment effect =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−8 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𝑚𝑚𝐻𝑔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8C2055-9E59-94C9-5082-30C69C8D6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667" y="2187029"/>
                <a:ext cx="3821313" cy="769441"/>
              </a:xfrm>
              <a:prstGeom prst="rect">
                <a:avLst/>
              </a:prstGeom>
              <a:blipFill>
                <a:blip r:embed="rId5"/>
                <a:stretch>
                  <a:fillRect l="-2073" t="-5556" b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35D0CBF-0FD7-10DD-FA92-999A7497770D}"/>
              </a:ext>
            </a:extLst>
          </p:cNvPr>
          <p:cNvSpPr txBox="1"/>
          <p:nvPr/>
        </p:nvSpPr>
        <p:spPr>
          <a:xfrm>
            <a:off x="218632" y="3526052"/>
            <a:ext cx="86480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>
                <a:solidFill>
                  <a:srgbClr val="F6B737"/>
                </a:solidFill>
                <a:latin typeface="Cambria Math"/>
              </a:defRPr>
            </a:pPr>
            <a:r>
              <a:rPr dirty="0"/>
              <a:t>Interaction asks whether −8 and −3 differ beyond sampling variation.</a:t>
            </a:r>
          </a:p>
        </p:txBody>
      </p:sp>
    </p:spTree>
    <p:extLst>
      <p:ext uri="{BB962C8B-B14F-4D97-AF65-F5344CB8AC3E}">
        <p14:creationId xmlns:p14="http://schemas.microsoft.com/office/powerpoint/2010/main" val="36056300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51951-7FE4-1237-6742-8C790A91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9930E5-37A5-7098-D53C-C5F42F0B6C4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Subgroup Analysis Can Go Wrong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D19D9FE-3525-DFAD-07CF-D326944D8F56}"/>
              </a:ext>
            </a:extLst>
          </p:cNvPr>
          <p:cNvSpPr/>
          <p:nvPr/>
        </p:nvSpPr>
        <p:spPr>
          <a:xfrm>
            <a:off x="169188" y="1789430"/>
            <a:ext cx="2847340" cy="172847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99AFB5-04EF-1D9B-E37D-C3EEF0DE9E93}"/>
              </a:ext>
            </a:extLst>
          </p:cNvPr>
          <p:cNvSpPr txBox="1"/>
          <p:nvPr/>
        </p:nvSpPr>
        <p:spPr>
          <a:xfrm>
            <a:off x="333780" y="1899157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Small subgroups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29FBB4-8317-ED54-21FD-389689912D77}"/>
              </a:ext>
            </a:extLst>
          </p:cNvPr>
          <p:cNvSpPr txBox="1"/>
          <p:nvPr/>
        </p:nvSpPr>
        <p:spPr>
          <a:xfrm>
            <a:off x="333780" y="2319781"/>
            <a:ext cx="2682748" cy="9592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Noisy estimates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Wide confidence intervals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Unstable signs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0B865D1A-B21F-15B3-8F0E-2F884495859A}"/>
              </a:ext>
            </a:extLst>
          </p:cNvPr>
          <p:cNvSpPr/>
          <p:nvPr/>
        </p:nvSpPr>
        <p:spPr>
          <a:xfrm>
            <a:off x="3107968" y="1789430"/>
            <a:ext cx="3032760" cy="172847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2B2724-DFD5-E518-D34A-11721F85A4AD}"/>
              </a:ext>
            </a:extLst>
          </p:cNvPr>
          <p:cNvSpPr txBox="1"/>
          <p:nvPr/>
        </p:nvSpPr>
        <p:spPr>
          <a:xfrm>
            <a:off x="3272560" y="1899157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F6B737"/>
                </a:solidFill>
                <a:latin typeface="Aptos"/>
              </a:defRPr>
            </a:pPr>
            <a:r>
              <a:t>Post hoc fishing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9FB30B-7E9F-8AA5-1861-3E2BAECAE3D6}"/>
              </a:ext>
            </a:extLst>
          </p:cNvPr>
          <p:cNvSpPr txBox="1"/>
          <p:nvPr/>
        </p:nvSpPr>
        <p:spPr>
          <a:xfrm>
            <a:off x="3207153" y="2351840"/>
            <a:ext cx="2957070" cy="895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Try enough subgroups and something will look significant.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False discoveries multiply.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1A80FEC0-CD0F-E92C-94AD-C2663528C5D4}"/>
              </a:ext>
            </a:extLst>
          </p:cNvPr>
          <p:cNvSpPr/>
          <p:nvPr/>
        </p:nvSpPr>
        <p:spPr>
          <a:xfrm>
            <a:off x="6229630" y="1789430"/>
            <a:ext cx="2847338" cy="172847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C8FE27-FD09-4617-C4E3-EF862D4CA3D7}"/>
              </a:ext>
            </a:extLst>
          </p:cNvPr>
          <p:cNvSpPr txBox="1"/>
          <p:nvPr/>
        </p:nvSpPr>
        <p:spPr>
          <a:xfrm>
            <a:off x="6394222" y="1899157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Arbitrary cutpoints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7319AA-A6F2-AA68-6B9A-B43FC34BA562}"/>
              </a:ext>
            </a:extLst>
          </p:cNvPr>
          <p:cNvSpPr txBox="1"/>
          <p:nvPr/>
        </p:nvSpPr>
        <p:spPr>
          <a:xfrm>
            <a:off x="6394222" y="2361814"/>
            <a:ext cx="2635756" cy="9592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Age 59 vs 60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Risk 9.9% vs 10.1%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Artificial discontinuities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BADE0E-0C9B-9393-F498-CD1DCFD65371}"/>
              </a:ext>
            </a:extLst>
          </p:cNvPr>
          <p:cNvSpPr txBox="1"/>
          <p:nvPr/>
        </p:nvSpPr>
        <p:spPr>
          <a:xfrm>
            <a:off x="863732" y="3869788"/>
            <a:ext cx="7994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5BC7C2"/>
                </a:solidFill>
                <a:latin typeface="Cambria Math"/>
              </a:defRPr>
            </a:pPr>
            <a:r>
              <a:rPr dirty="0"/>
              <a:t>HTE is harder than ATE because we estimate many local effects.</a:t>
            </a:r>
          </a:p>
        </p:txBody>
      </p:sp>
    </p:spTree>
    <p:extLst>
      <p:ext uri="{BB962C8B-B14F-4D97-AF65-F5344CB8AC3E}">
        <p14:creationId xmlns:p14="http://schemas.microsoft.com/office/powerpoint/2010/main" val="37508250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2F7CB-7CEB-28D5-C7DD-E7F96560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F15DBE-0A2C-C10A-2DF5-2C74899261B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Prediction Is Not Treatment-Effect Heterogeneity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AD8EB54B-FB67-AA2B-AB32-EEA8C225B6F5}"/>
              </a:ext>
            </a:extLst>
          </p:cNvPr>
          <p:cNvSpPr/>
          <p:nvPr/>
        </p:nvSpPr>
        <p:spPr>
          <a:xfrm>
            <a:off x="115570" y="1325880"/>
            <a:ext cx="4386580" cy="198247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80460-43DA-9A78-C2A4-1975C59009DB}"/>
              </a:ext>
            </a:extLst>
          </p:cNvPr>
          <p:cNvSpPr txBox="1"/>
          <p:nvPr/>
        </p:nvSpPr>
        <p:spPr>
          <a:xfrm>
            <a:off x="280162" y="1435607"/>
            <a:ext cx="4745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Prognostic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3754F0-8800-06EE-24E8-BA77BF371868}"/>
              </a:ext>
            </a:extLst>
          </p:cNvPr>
          <p:cNvSpPr txBox="1"/>
          <p:nvPr/>
        </p:nvSpPr>
        <p:spPr>
          <a:xfrm>
            <a:off x="280162" y="1856231"/>
            <a:ext cx="4221988" cy="12670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Predicts Y well.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Finds who is high risk.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High risk does not necessarily mean larger treatment benefit.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30C7EFA9-9532-3932-77A1-88575FAF4DF2}"/>
              </a:ext>
            </a:extLst>
          </p:cNvPr>
          <p:cNvSpPr/>
          <p:nvPr/>
        </p:nvSpPr>
        <p:spPr>
          <a:xfrm>
            <a:off x="4572000" y="1325880"/>
            <a:ext cx="4386580" cy="198247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570772-936F-BDEC-A93C-0AC46886EE65}"/>
              </a:ext>
            </a:extLst>
          </p:cNvPr>
          <p:cNvSpPr txBox="1"/>
          <p:nvPr/>
        </p:nvSpPr>
        <p:spPr>
          <a:xfrm>
            <a:off x="4736592" y="1435607"/>
            <a:ext cx="4745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HTE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A2427E-37C3-1F20-D5EF-8D62475BAF28}"/>
                  </a:ext>
                </a:extLst>
              </p:cNvPr>
              <p:cNvSpPr txBox="1"/>
              <p:nvPr/>
            </p:nvSpPr>
            <p:spPr>
              <a:xfrm>
                <a:off x="4736592" y="1856231"/>
                <a:ext cx="3912108" cy="126701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Targets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(1)−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dirty="0"/>
                  <a:t> as a function of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dirty="0"/>
                  <a:t>.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Finds who benefits more or less from treatment.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A2427E-37C3-1F20-D5EF-8D62475BA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592" y="1856231"/>
                <a:ext cx="3912108" cy="1267014"/>
              </a:xfrm>
              <a:prstGeom prst="rect">
                <a:avLst/>
              </a:prstGeom>
              <a:blipFill>
                <a:blip r:embed="rId2"/>
                <a:stretch>
                  <a:fillRect l="-935" t="-962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25039D7-01E5-C3E8-21B8-C99D46BC8DF0}"/>
                  </a:ext>
                </a:extLst>
              </p:cNvPr>
              <p:cNvSpPr txBox="1"/>
              <p:nvPr/>
            </p:nvSpPr>
            <p:spPr>
              <a:xfrm>
                <a:off x="391795" y="3967479"/>
                <a:ext cx="8045450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500">
                    <a:solidFill>
                      <a:srgbClr val="F6B737"/>
                    </a:solidFill>
                    <a:latin typeface="Cambria Math"/>
                  </a:defRPr>
                </a:pPr>
                <a:r>
                  <a:rPr dirty="0"/>
                  <a:t>High outcome risk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dirty="0"/>
                  <a:t> high treatment benefit.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25039D7-01E5-C3E8-21B8-C99D46BC8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95" y="3967479"/>
                <a:ext cx="8045450" cy="477054"/>
              </a:xfrm>
              <a:prstGeom prst="rect">
                <a:avLst/>
              </a:prstGeom>
              <a:blipFill>
                <a:blip r:embed="rId3"/>
                <a:stretch>
                  <a:fillRect t="-10256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6125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0363B-6ED9-81C0-7B49-A397003AF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22519A-2239-D5C6-3F60-3E17CCAB636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S-Learner: One Flexible Outcome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F6BC95-7D00-487E-4BF7-1170CBEF2BFA}"/>
                  </a:ext>
                </a:extLst>
              </p:cNvPr>
              <p:cNvSpPr txBox="1"/>
              <p:nvPr/>
            </p:nvSpPr>
            <p:spPr>
              <a:xfrm>
                <a:off x="628650" y="894238"/>
                <a:ext cx="8051800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600">
                    <a:solidFill>
                      <a:srgbClr val="64AEEB"/>
                    </a:solidFill>
                    <a:latin typeface="Cambria Math"/>
                  </a:defRPr>
                </a:pPr>
                <a:r>
                  <a:rPr dirty="0"/>
                  <a:t>Fit one model: 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F6BC95-7D00-487E-4BF7-1170CBEF2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894238"/>
                <a:ext cx="8051800" cy="492443"/>
              </a:xfrm>
              <a:prstGeom prst="rect">
                <a:avLst/>
              </a:prstGeom>
              <a:blipFill>
                <a:blip r:embed="rId2"/>
                <a:stretch>
                  <a:fillRect t="-12500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AF35FDFD-613C-94B8-6616-7B79F04B9B93}"/>
              </a:ext>
            </a:extLst>
          </p:cNvPr>
          <p:cNvSpPr/>
          <p:nvPr/>
        </p:nvSpPr>
        <p:spPr>
          <a:xfrm>
            <a:off x="52070" y="1855470"/>
            <a:ext cx="2995930" cy="196723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5E6DC-4C8B-946E-419C-465825F37631}"/>
              </a:ext>
            </a:extLst>
          </p:cNvPr>
          <p:cNvSpPr txBox="1"/>
          <p:nvPr/>
        </p:nvSpPr>
        <p:spPr>
          <a:xfrm>
            <a:off x="216662" y="1965198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3EC4D-2B20-B88D-2076-BFFB92C409B0}"/>
              </a:ext>
            </a:extLst>
          </p:cNvPr>
          <p:cNvSpPr txBox="1"/>
          <p:nvPr/>
        </p:nvSpPr>
        <p:spPr>
          <a:xfrm>
            <a:off x="216662" y="2385823"/>
            <a:ext cx="2761488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Fit one regression / ML model using T and X.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3818A70D-263F-761E-E3F5-BE0B8CAD9894}"/>
              </a:ext>
            </a:extLst>
          </p:cNvPr>
          <p:cNvSpPr/>
          <p:nvPr/>
        </p:nvSpPr>
        <p:spPr>
          <a:xfrm>
            <a:off x="3142742" y="1855470"/>
            <a:ext cx="3036062" cy="196723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48425C-0E1A-D484-FF43-529A7B22D90F}"/>
              </a:ext>
            </a:extLst>
          </p:cNvPr>
          <p:cNvSpPr txBox="1"/>
          <p:nvPr/>
        </p:nvSpPr>
        <p:spPr>
          <a:xfrm>
            <a:off x="3307334" y="1965198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Step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D74338-9FCA-F661-B780-37D6D6F2E33A}"/>
                  </a:ext>
                </a:extLst>
              </p:cNvPr>
              <p:cNvSpPr txBox="1"/>
              <p:nvPr/>
            </p:nvSpPr>
            <p:spPr>
              <a:xfrm>
                <a:off x="3307334" y="2385822"/>
                <a:ext cx="3054096" cy="87716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Predict each person twice: once with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dirty="0"/>
                  <a:t>, once with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D74338-9FCA-F661-B780-37D6D6F2E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334" y="2385822"/>
                <a:ext cx="3054096" cy="877163"/>
              </a:xfrm>
              <a:prstGeom prst="rect">
                <a:avLst/>
              </a:prstGeom>
              <a:blipFill>
                <a:blip r:embed="rId3"/>
                <a:stretch>
                  <a:fillRect l="-1397" t="-1389" b="-9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A5BA09C3-4D07-AB0D-2C87-DED9114E3D9A}"/>
              </a:ext>
            </a:extLst>
          </p:cNvPr>
          <p:cNvSpPr/>
          <p:nvPr/>
        </p:nvSpPr>
        <p:spPr>
          <a:xfrm>
            <a:off x="6273546" y="1855470"/>
            <a:ext cx="2690368" cy="196723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FD38C7-59D0-3548-7B84-4F2C05205284}"/>
              </a:ext>
            </a:extLst>
          </p:cNvPr>
          <p:cNvSpPr txBox="1"/>
          <p:nvPr/>
        </p:nvSpPr>
        <p:spPr>
          <a:xfrm>
            <a:off x="6438138" y="1965198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Step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ED2E9E-52B7-CE7B-2609-D86BC786C1EF}"/>
              </a:ext>
            </a:extLst>
          </p:cNvPr>
          <p:cNvSpPr txBox="1"/>
          <p:nvPr/>
        </p:nvSpPr>
        <p:spPr>
          <a:xfrm>
            <a:off x="6352794" y="2426970"/>
            <a:ext cx="2705862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Subtract the two predictions.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8E960B1-E225-22CC-71FC-F964AEA71783}"/>
                  </a:ext>
                </a:extLst>
              </p:cNvPr>
              <p:cNvSpPr txBox="1"/>
              <p:nvPr/>
            </p:nvSpPr>
            <p:spPr>
              <a:xfrm>
                <a:off x="587375" y="4249262"/>
                <a:ext cx="79692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800">
                    <a:solidFill>
                      <a:srgbClr val="5BC7C2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acc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=</m:t>
                      </m:r>
                      <m:acc>
                        <m:accPr>
                          <m:chr m:val="̂"/>
                          <m:ctrlPr>
                            <a:rPr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i="1" dirty="0" smtClean="0">
                          <a:latin typeface="Cambria Math" panose="02040503050406030204" pitchFamily="18" charset="0"/>
                        </a:rPr>
                        <m:t>(1,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−</m:t>
                      </m:r>
                      <m:acc>
                        <m:accPr>
                          <m:chr m:val="̂"/>
                          <m:ctrlPr>
                            <a:rPr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i="1" dirty="0" smtClean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8E960B1-E225-22CC-71FC-F964AEA71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75" y="4249262"/>
                <a:ext cx="79692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13394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D2492-8CF2-80F8-6959-4AA8B2D56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984C30-4F59-643E-7E2F-00D4FE65311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T-Learner: Separate Models by Treatment Arm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CCA518-50D4-1185-2826-E350760A6D9F}"/>
                  </a:ext>
                </a:extLst>
              </p:cNvPr>
              <p:cNvSpPr txBox="1"/>
              <p:nvPr/>
            </p:nvSpPr>
            <p:spPr>
              <a:xfrm>
                <a:off x="476250" y="940308"/>
                <a:ext cx="80518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400">
                    <a:solidFill>
                      <a:srgbClr val="F6B737"/>
                    </a:solidFill>
                    <a:latin typeface="Cambria Math"/>
                  </a:defRPr>
                </a:pP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₁(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dirty="0"/>
                  <a:t>     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₀(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=0,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CCA518-50D4-1185-2826-E350760A6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940308"/>
                <a:ext cx="8051800" cy="461665"/>
              </a:xfrm>
              <a:prstGeom prst="rect">
                <a:avLst/>
              </a:prstGeom>
              <a:blipFill>
                <a:blip r:embed="rId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CECBF276-9EB3-FF28-F1D7-39DF1AE43706}"/>
              </a:ext>
            </a:extLst>
          </p:cNvPr>
          <p:cNvSpPr/>
          <p:nvPr/>
        </p:nvSpPr>
        <p:spPr>
          <a:xfrm>
            <a:off x="131743" y="2007871"/>
            <a:ext cx="2981366" cy="192135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71FDFC-58A8-FB24-8BF7-4BA64198E4F1}"/>
              </a:ext>
            </a:extLst>
          </p:cNvPr>
          <p:cNvSpPr txBox="1"/>
          <p:nvPr/>
        </p:nvSpPr>
        <p:spPr>
          <a:xfrm>
            <a:off x="257229" y="2117598"/>
            <a:ext cx="269128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Treatment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D3FEB6-6CF0-103E-99E8-D1AFEB1FB5B4}"/>
              </a:ext>
            </a:extLst>
          </p:cNvPr>
          <p:cNvSpPr txBox="1"/>
          <p:nvPr/>
        </p:nvSpPr>
        <p:spPr>
          <a:xfrm>
            <a:off x="257229" y="2538223"/>
            <a:ext cx="2691287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Fit outcome model using treated observations only.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B7122CD2-D8EC-75E4-6167-7B5712F86AF9}"/>
              </a:ext>
            </a:extLst>
          </p:cNvPr>
          <p:cNvSpPr/>
          <p:nvPr/>
        </p:nvSpPr>
        <p:spPr>
          <a:xfrm>
            <a:off x="3238595" y="2007872"/>
            <a:ext cx="2691287" cy="192135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ADB149-5771-E436-9933-73F197D3C0AE}"/>
              </a:ext>
            </a:extLst>
          </p:cNvPr>
          <p:cNvSpPr txBox="1"/>
          <p:nvPr/>
        </p:nvSpPr>
        <p:spPr>
          <a:xfrm>
            <a:off x="3364081" y="2117599"/>
            <a:ext cx="269128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Control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FA3298-9A6B-667B-20BD-762D6A708C96}"/>
              </a:ext>
            </a:extLst>
          </p:cNvPr>
          <p:cNvSpPr txBox="1"/>
          <p:nvPr/>
        </p:nvSpPr>
        <p:spPr>
          <a:xfrm>
            <a:off x="3364081" y="2538224"/>
            <a:ext cx="2691287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Fit outcome model using control observations only.</a:t>
            </a: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A4567E46-7BEB-5628-9EEA-506F0277A6E9}"/>
              </a:ext>
            </a:extLst>
          </p:cNvPr>
          <p:cNvSpPr/>
          <p:nvPr/>
        </p:nvSpPr>
        <p:spPr>
          <a:xfrm>
            <a:off x="6055368" y="2007872"/>
            <a:ext cx="2855459" cy="192135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483D96-1A08-D2DE-0E6B-19802C5C4120}"/>
              </a:ext>
            </a:extLst>
          </p:cNvPr>
          <p:cNvSpPr txBox="1"/>
          <p:nvPr/>
        </p:nvSpPr>
        <p:spPr>
          <a:xfrm>
            <a:off x="6180854" y="2117599"/>
            <a:ext cx="269128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CATE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4F0A28A-9876-9B2B-D653-DB3199105A19}"/>
                  </a:ext>
                </a:extLst>
              </p:cNvPr>
              <p:cNvSpPr txBox="1"/>
              <p:nvPr/>
            </p:nvSpPr>
            <p:spPr>
              <a:xfrm>
                <a:off x="6008251" y="2679653"/>
                <a:ext cx="3036491" cy="4672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 ̂(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 ̂(1,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) −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 ̂(0,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4F0A28A-9876-9B2B-D653-DB3199105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251" y="2679653"/>
                <a:ext cx="3036491" cy="4672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14">
            <a:extLst>
              <a:ext uri="{FF2B5EF4-FFF2-40B4-BE49-F238E27FC236}">
                <a16:creationId xmlns:a16="http://schemas.microsoft.com/office/drawing/2014/main" id="{A3500FED-8AB1-5554-F0E8-A9BFDE1C334B}"/>
              </a:ext>
            </a:extLst>
          </p:cNvPr>
          <p:cNvSpPr/>
          <p:nvPr/>
        </p:nvSpPr>
        <p:spPr>
          <a:xfrm>
            <a:off x="761429" y="4322183"/>
            <a:ext cx="7896590" cy="64533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5BC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10515F-8D4B-2520-D3E2-F402F2578AAC}"/>
              </a:ext>
            </a:extLst>
          </p:cNvPr>
          <p:cNvSpPr txBox="1"/>
          <p:nvPr/>
        </p:nvSpPr>
        <p:spPr>
          <a:xfrm>
            <a:off x="886915" y="4486775"/>
            <a:ext cx="7606511" cy="3405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T-learner allows the two response surfaces to be very different.</a:t>
            </a:r>
          </a:p>
        </p:txBody>
      </p:sp>
    </p:spTree>
    <p:extLst>
      <p:ext uri="{BB962C8B-B14F-4D97-AF65-F5344CB8AC3E}">
        <p14:creationId xmlns:p14="http://schemas.microsoft.com/office/powerpoint/2010/main" val="38379376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2A771-8E8A-65C8-F789-F731FC04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7A3629-0FD5-E70C-EA5D-366C2853B69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Causal Forests: A Preview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FA66EB-714D-8BCF-F2E9-598D2F88413B}"/>
              </a:ext>
            </a:extLst>
          </p:cNvPr>
          <p:cNvSpPr/>
          <p:nvPr/>
        </p:nvSpPr>
        <p:spPr>
          <a:xfrm>
            <a:off x="44450" y="1027429"/>
            <a:ext cx="2813304" cy="213607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B99DF-48AC-A381-2912-ED3B3E2D87FB}"/>
              </a:ext>
            </a:extLst>
          </p:cNvPr>
          <p:cNvSpPr txBox="1"/>
          <p:nvPr/>
        </p:nvSpPr>
        <p:spPr>
          <a:xfrm>
            <a:off x="209042" y="1137157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Ordinary random forest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47A129-912E-0968-A7F1-E0973D454EDE}"/>
                  </a:ext>
                </a:extLst>
              </p:cNvPr>
              <p:cNvSpPr txBox="1"/>
              <p:nvPr/>
            </p:nvSpPr>
            <p:spPr>
              <a:xfrm>
                <a:off x="152654" y="1729483"/>
                <a:ext cx="3136646" cy="61555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Splits data to improve prediction of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47A129-912E-0968-A7F1-E0973D454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54" y="1729483"/>
                <a:ext cx="3136646" cy="615553"/>
              </a:xfrm>
              <a:prstGeom prst="rect">
                <a:avLst/>
              </a:prstGeom>
              <a:blipFill>
                <a:blip r:embed="rId2"/>
                <a:stretch>
                  <a:fillRect l="-1165" t="-2970" b="-12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2E8A9A82-4B50-E553-E3C3-1C20EF2FCA84}"/>
              </a:ext>
            </a:extLst>
          </p:cNvPr>
          <p:cNvSpPr/>
          <p:nvPr/>
        </p:nvSpPr>
        <p:spPr>
          <a:xfrm>
            <a:off x="2965958" y="1045207"/>
            <a:ext cx="2813304" cy="213607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941BCB-1C3F-2A20-9357-2F721716B1FC}"/>
              </a:ext>
            </a:extLst>
          </p:cNvPr>
          <p:cNvSpPr txBox="1"/>
          <p:nvPr/>
        </p:nvSpPr>
        <p:spPr>
          <a:xfrm>
            <a:off x="3130550" y="1154935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Causal forest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081B01-657F-710E-E70A-573C14CBC422}"/>
              </a:ext>
            </a:extLst>
          </p:cNvPr>
          <p:cNvSpPr txBox="1"/>
          <p:nvPr/>
        </p:nvSpPr>
        <p:spPr>
          <a:xfrm>
            <a:off x="3087890" y="1752623"/>
            <a:ext cx="2443143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Splits data to find regions where treatment effects differ.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289815BE-CBC1-2E6C-CE4E-B24ED89E5988}"/>
              </a:ext>
            </a:extLst>
          </p:cNvPr>
          <p:cNvSpPr/>
          <p:nvPr/>
        </p:nvSpPr>
        <p:spPr>
          <a:xfrm>
            <a:off x="5887466" y="1013654"/>
            <a:ext cx="3212084" cy="216762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ACDF86-DBF2-113D-9A16-EE676A56E333}"/>
              </a:ext>
            </a:extLst>
          </p:cNvPr>
          <p:cNvSpPr txBox="1"/>
          <p:nvPr/>
        </p:nvSpPr>
        <p:spPr>
          <a:xfrm>
            <a:off x="6052058" y="1123381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39DAFB-CDAD-FF4E-0380-9DA2D44EF460}"/>
              </a:ext>
            </a:extLst>
          </p:cNvPr>
          <p:cNvSpPr txBox="1"/>
          <p:nvPr/>
        </p:nvSpPr>
        <p:spPr>
          <a:xfrm>
            <a:off x="6052058" y="1544005"/>
            <a:ext cx="2867396" cy="1528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Estimated CATE by covariate profile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Variable importance for heterogeneity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Uncertainty tools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7B79B1-2D06-0357-4CF7-C9D1BF4B0F11}"/>
              </a:ext>
            </a:extLst>
          </p:cNvPr>
          <p:cNvSpPr txBox="1"/>
          <p:nvPr/>
        </p:nvSpPr>
        <p:spPr>
          <a:xfrm>
            <a:off x="260350" y="3865556"/>
            <a:ext cx="865910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>
                <a:solidFill>
                  <a:srgbClr val="F6B737"/>
                </a:solidFill>
                <a:latin typeface="Cambria Math"/>
              </a:defRPr>
            </a:pPr>
            <a:r>
              <a:rPr dirty="0"/>
              <a:t>Goal: not </a:t>
            </a:r>
            <a:r>
              <a:rPr lang="en-US" dirty="0"/>
              <a:t>'</a:t>
            </a:r>
            <a:r>
              <a:rPr dirty="0"/>
              <a:t>who has high Y?</a:t>
            </a:r>
            <a:r>
              <a:rPr lang="en-US" dirty="0"/>
              <a:t>'</a:t>
            </a:r>
            <a:r>
              <a:rPr dirty="0"/>
              <a:t> but </a:t>
            </a:r>
            <a:r>
              <a:rPr lang="en-US" dirty="0"/>
              <a:t>'</a:t>
            </a:r>
            <a:r>
              <a:rPr dirty="0"/>
              <a:t>where is the treatment contrast different?</a:t>
            </a:r>
            <a:r>
              <a:rPr lang="en-US" dirty="0"/>
              <a:t>'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83268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AE088-7FA8-7C92-A634-02D821FA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701365-A0EA-D166-0163-DFDB807ADCE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HTE Still Needs the Same Causal Assumptions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9899BD-6AE4-B2BC-A557-6B72B1F46B3C}"/>
                  </a:ext>
                </a:extLst>
              </p:cNvPr>
              <p:cNvSpPr txBox="1"/>
              <p:nvPr/>
            </p:nvSpPr>
            <p:spPr>
              <a:xfrm>
                <a:off x="908050" y="1045507"/>
                <a:ext cx="7905750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600">
                    <a:solidFill>
                      <a:srgbClr val="F6B737"/>
                    </a:solidFill>
                    <a:latin typeface="Cambria Math"/>
                  </a:defRPr>
                </a:pP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 ⟂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dirty="0"/>
                  <a:t>+   positivity   +   consistency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9899BD-6AE4-B2BC-A557-6B72B1F46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50" y="1045507"/>
                <a:ext cx="7905750" cy="492443"/>
              </a:xfrm>
              <a:prstGeom prst="rect">
                <a:avLst/>
              </a:prstGeom>
              <a:blipFill>
                <a:blip r:embed="rId2"/>
                <a:stretch>
                  <a:fillRect t="-12500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2D46874B-21A1-898F-C6F3-4210C44BE51B}"/>
              </a:ext>
            </a:extLst>
          </p:cNvPr>
          <p:cNvSpPr/>
          <p:nvPr/>
        </p:nvSpPr>
        <p:spPr>
          <a:xfrm>
            <a:off x="147320" y="2313178"/>
            <a:ext cx="2664309" cy="195402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711A3F-5101-B1EE-E27A-3CFD9C851601}"/>
              </a:ext>
            </a:extLst>
          </p:cNvPr>
          <p:cNvSpPr txBox="1"/>
          <p:nvPr/>
        </p:nvSpPr>
        <p:spPr>
          <a:xfrm>
            <a:off x="559562" y="2459482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Exchangeability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853B83-B5C1-3801-A2F7-D9C8F3306AAF}"/>
              </a:ext>
            </a:extLst>
          </p:cNvPr>
          <p:cNvSpPr txBox="1"/>
          <p:nvPr/>
        </p:nvSpPr>
        <p:spPr>
          <a:xfrm>
            <a:off x="311912" y="2843530"/>
            <a:ext cx="2664309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Within X, treated and untreated are comparable for potential outcomes.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445B5F41-5D22-3264-5152-6D1D6B8C54ED}"/>
              </a:ext>
            </a:extLst>
          </p:cNvPr>
          <p:cNvSpPr/>
          <p:nvPr/>
        </p:nvSpPr>
        <p:spPr>
          <a:xfrm>
            <a:off x="2880360" y="2306066"/>
            <a:ext cx="2940407" cy="196113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6F6EF-9BFE-10E2-76ED-E0CDF491A62F}"/>
              </a:ext>
            </a:extLst>
          </p:cNvPr>
          <p:cNvSpPr txBox="1"/>
          <p:nvPr/>
        </p:nvSpPr>
        <p:spPr>
          <a:xfrm>
            <a:off x="3044952" y="2415794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rPr dirty="0"/>
              <a:t>Positivity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89545B-410C-9B0D-D7E9-23B4842602F8}"/>
              </a:ext>
            </a:extLst>
          </p:cNvPr>
          <p:cNvSpPr txBox="1"/>
          <p:nvPr/>
        </p:nvSpPr>
        <p:spPr>
          <a:xfrm>
            <a:off x="3044952" y="2836418"/>
            <a:ext cx="2664309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Relevant X-profiles need treatment and control support.</a:t>
            </a: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8F0DF9E9-C61B-8E44-3B3B-8A03A90A8F13}"/>
              </a:ext>
            </a:extLst>
          </p:cNvPr>
          <p:cNvSpPr/>
          <p:nvPr/>
        </p:nvSpPr>
        <p:spPr>
          <a:xfrm>
            <a:off x="5873853" y="2331466"/>
            <a:ext cx="3153814" cy="193573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A1816F-69AE-E68B-DD76-26FFB23D3D1B}"/>
              </a:ext>
            </a:extLst>
          </p:cNvPr>
          <p:cNvSpPr txBox="1"/>
          <p:nvPr/>
        </p:nvSpPr>
        <p:spPr>
          <a:xfrm>
            <a:off x="6038445" y="2441194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Consistency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C69EED-FB86-6904-CBCB-8EB9D63ED65E}"/>
              </a:ext>
            </a:extLst>
          </p:cNvPr>
          <p:cNvSpPr txBox="1"/>
          <p:nvPr/>
        </p:nvSpPr>
        <p:spPr>
          <a:xfrm>
            <a:off x="6038445" y="2861818"/>
            <a:ext cx="284695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Observed outcome corresponds to the treatment actually received.</a:t>
            </a:r>
          </a:p>
        </p:txBody>
      </p:sp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32B49472-C87F-6E58-0DCF-33BEF424B466}"/>
              </a:ext>
            </a:extLst>
          </p:cNvPr>
          <p:cNvSpPr/>
          <p:nvPr/>
        </p:nvSpPr>
        <p:spPr>
          <a:xfrm>
            <a:off x="311912" y="4473671"/>
            <a:ext cx="8584438" cy="55513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7896B1-62B4-649A-F885-27F5EBC25F8D}"/>
              </a:ext>
            </a:extLst>
          </p:cNvPr>
          <p:cNvSpPr txBox="1"/>
          <p:nvPr/>
        </p:nvSpPr>
        <p:spPr>
          <a:xfrm>
            <a:off x="169188" y="4623816"/>
            <a:ext cx="88148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Flexible ML does not make unmeasured confounding disappear.</a:t>
            </a:r>
          </a:p>
        </p:txBody>
      </p:sp>
    </p:spTree>
    <p:extLst>
      <p:ext uri="{BB962C8B-B14F-4D97-AF65-F5344CB8AC3E}">
        <p14:creationId xmlns:p14="http://schemas.microsoft.com/office/powerpoint/2010/main" val="27999337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C8FC-12D2-3F9C-6731-40B905A7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DAF5C1-C4CF-730C-A0EE-67FE4826B3D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Next Class: HTE in Detail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AC23880A-6E89-439A-A930-3B1A1EB97097}"/>
              </a:ext>
            </a:extLst>
          </p:cNvPr>
          <p:cNvSpPr/>
          <p:nvPr/>
        </p:nvSpPr>
        <p:spPr>
          <a:xfrm>
            <a:off x="91440" y="1374140"/>
            <a:ext cx="3121660" cy="23952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A6C3C1-2283-9AD5-50B7-2E95E9BFEDCB}"/>
              </a:ext>
            </a:extLst>
          </p:cNvPr>
          <p:cNvSpPr txBox="1"/>
          <p:nvPr/>
        </p:nvSpPr>
        <p:spPr>
          <a:xfrm>
            <a:off x="256032" y="1483867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1. Regression interactions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F1816-F724-8873-6F3E-38D97CF9F4B0}"/>
              </a:ext>
            </a:extLst>
          </p:cNvPr>
          <p:cNvSpPr txBox="1"/>
          <p:nvPr/>
        </p:nvSpPr>
        <p:spPr>
          <a:xfrm>
            <a:off x="256032" y="1904491"/>
            <a:ext cx="2922771" cy="12054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Binary and continuous effect modifiers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How to plot τ(x)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Confidence intervals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EE46A7B7-F731-3188-0949-AE550D6FB479}"/>
              </a:ext>
            </a:extLst>
          </p:cNvPr>
          <p:cNvSpPr/>
          <p:nvPr/>
        </p:nvSpPr>
        <p:spPr>
          <a:xfrm>
            <a:off x="3282950" y="1374140"/>
            <a:ext cx="2838450" cy="23952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E26986-A9ED-159B-3D26-44A3E10CFA4B}"/>
              </a:ext>
            </a:extLst>
          </p:cNvPr>
          <p:cNvSpPr txBox="1"/>
          <p:nvPr/>
        </p:nvSpPr>
        <p:spPr>
          <a:xfrm>
            <a:off x="3447542" y="1483867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2. Meta-learners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A7836B-B3E9-F81D-1B9E-051AC07BF2EC}"/>
              </a:ext>
            </a:extLst>
          </p:cNvPr>
          <p:cNvSpPr txBox="1"/>
          <p:nvPr/>
        </p:nvSpPr>
        <p:spPr>
          <a:xfrm>
            <a:off x="3447542" y="1904491"/>
            <a:ext cx="2591308" cy="12695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S-learner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T-learner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X-learner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When each is useful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AEF0291F-D5BB-803F-BCE5-893EE24FC560}"/>
              </a:ext>
            </a:extLst>
          </p:cNvPr>
          <p:cNvSpPr/>
          <p:nvPr/>
        </p:nvSpPr>
        <p:spPr>
          <a:xfrm>
            <a:off x="6191250" y="1374140"/>
            <a:ext cx="2874010" cy="23952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0F8846-BCD9-82FC-514A-1E65550EADC2}"/>
              </a:ext>
            </a:extLst>
          </p:cNvPr>
          <p:cNvSpPr txBox="1"/>
          <p:nvPr/>
        </p:nvSpPr>
        <p:spPr>
          <a:xfrm>
            <a:off x="6355842" y="1483867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3. Modern HTE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88E9E3-995C-0F8A-508B-A0ED25BC4F60}"/>
              </a:ext>
            </a:extLst>
          </p:cNvPr>
          <p:cNvSpPr txBox="1"/>
          <p:nvPr/>
        </p:nvSpPr>
        <p:spPr>
          <a:xfrm>
            <a:off x="6355842" y="1941066"/>
            <a:ext cx="2605271" cy="151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Causal forests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Sample splitting / validation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Clinical targeting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R implementation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B4D7A5-A98E-115B-C80A-B78D1F41496D}"/>
              </a:ext>
            </a:extLst>
          </p:cNvPr>
          <p:cNvSpPr txBox="1"/>
          <p:nvPr/>
        </p:nvSpPr>
        <p:spPr>
          <a:xfrm>
            <a:off x="317500" y="4276694"/>
            <a:ext cx="8350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6B737"/>
                </a:solidFill>
                <a:latin typeface="Cambria Math"/>
              </a:defRPr>
            </a:pPr>
            <a:r>
              <a:rPr dirty="0"/>
              <a:t>For today, remember: 'For whom is the treatment effect different?'</a:t>
            </a:r>
          </a:p>
        </p:txBody>
      </p:sp>
    </p:spTree>
    <p:extLst>
      <p:ext uri="{BB962C8B-B14F-4D97-AF65-F5344CB8AC3E}">
        <p14:creationId xmlns:p14="http://schemas.microsoft.com/office/powerpoint/2010/main" val="435301638"/>
      </p:ext>
    </p:extLst>
  </p:cSld>
  <p:clrMapOvr>
    <a:masterClrMapping/>
  </p:clrMapOvr>
</p:sld>
</file>

<file path=ppt/theme/theme1.xml><?xml version="1.0" encoding="utf-8"?>
<a:theme xmlns:a="http://schemas.openxmlformats.org/drawingml/2006/main" name="Ursula template">
  <a:themeElements>
    <a:clrScheme name="Custom 347">
      <a:dk1>
        <a:srgbClr val="000000"/>
      </a:dk1>
      <a:lt1>
        <a:srgbClr val="FFFFFF"/>
      </a:lt1>
      <a:dk2>
        <a:srgbClr val="D1D8DF"/>
      </a:dk2>
      <a:lt2>
        <a:srgbClr val="4F565C"/>
      </a:lt2>
      <a:accent1>
        <a:srgbClr val="71AEF0"/>
      </a:accent1>
      <a:accent2>
        <a:srgbClr val="88E6DC"/>
      </a:accent2>
      <a:accent3>
        <a:srgbClr val="A6D145"/>
      </a:accent3>
      <a:accent4>
        <a:srgbClr val="FFE000"/>
      </a:accent4>
      <a:accent5>
        <a:srgbClr val="FC765C"/>
      </a:accent5>
      <a:accent6>
        <a:srgbClr val="A693C9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8934</TotalTime>
  <Words>5651</Words>
  <Application>Microsoft Office PowerPoint</Application>
  <PresentationFormat>On-screen Show (16:9)</PresentationFormat>
  <Paragraphs>755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7" baseType="lpstr">
      <vt:lpstr>Consolas</vt:lpstr>
      <vt:lpstr>Walter Turncoat</vt:lpstr>
      <vt:lpstr>Arial</vt:lpstr>
      <vt:lpstr>Sniglet</vt:lpstr>
      <vt:lpstr>Cambria Math</vt:lpstr>
      <vt:lpstr>Ursula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Samhita Pal</dc:creator>
  <cp:lastModifiedBy>Dhrubajyoti Ghosh</cp:lastModifiedBy>
  <cp:revision>137</cp:revision>
  <dcterms:modified xsi:type="dcterms:W3CDTF">2026-10-19T15:34:57Z</dcterms:modified>
</cp:coreProperties>
</file>