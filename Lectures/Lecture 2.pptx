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84"/>
  </p:notesMasterIdLst>
  <p:sldIdLst>
    <p:sldId id="297" r:id="rId2"/>
    <p:sldId id="301" r:id="rId3"/>
    <p:sldId id="381" r:id="rId4"/>
    <p:sldId id="380" r:id="rId5"/>
    <p:sldId id="304" r:id="rId6"/>
    <p:sldId id="302" r:id="rId7"/>
    <p:sldId id="303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5" r:id="rId18"/>
    <p:sldId id="316" r:id="rId19"/>
    <p:sldId id="314" r:id="rId20"/>
    <p:sldId id="317" r:id="rId21"/>
    <p:sldId id="318" r:id="rId22"/>
    <p:sldId id="319" r:id="rId23"/>
    <p:sldId id="320" r:id="rId24"/>
    <p:sldId id="321" r:id="rId25"/>
    <p:sldId id="322" r:id="rId26"/>
    <p:sldId id="324" r:id="rId27"/>
    <p:sldId id="323" r:id="rId28"/>
    <p:sldId id="325" r:id="rId29"/>
    <p:sldId id="326" r:id="rId30"/>
    <p:sldId id="327" r:id="rId31"/>
    <p:sldId id="328" r:id="rId32"/>
    <p:sldId id="329" r:id="rId33"/>
    <p:sldId id="330" r:id="rId34"/>
    <p:sldId id="331" r:id="rId35"/>
    <p:sldId id="334" r:id="rId36"/>
    <p:sldId id="332" r:id="rId37"/>
    <p:sldId id="333" r:id="rId38"/>
    <p:sldId id="335" r:id="rId39"/>
    <p:sldId id="336" r:id="rId40"/>
    <p:sldId id="338" r:id="rId41"/>
    <p:sldId id="337" r:id="rId42"/>
    <p:sldId id="339" r:id="rId43"/>
    <p:sldId id="340" r:id="rId44"/>
    <p:sldId id="341" r:id="rId45"/>
    <p:sldId id="342" r:id="rId46"/>
    <p:sldId id="343" r:id="rId47"/>
    <p:sldId id="344" r:id="rId48"/>
    <p:sldId id="345" r:id="rId49"/>
    <p:sldId id="346" r:id="rId50"/>
    <p:sldId id="347" r:id="rId51"/>
    <p:sldId id="348" r:id="rId52"/>
    <p:sldId id="349" r:id="rId53"/>
    <p:sldId id="350" r:id="rId54"/>
    <p:sldId id="351" r:id="rId55"/>
    <p:sldId id="352" r:id="rId56"/>
    <p:sldId id="353" r:id="rId57"/>
    <p:sldId id="354" r:id="rId58"/>
    <p:sldId id="356" r:id="rId59"/>
    <p:sldId id="355" r:id="rId60"/>
    <p:sldId id="357" r:id="rId61"/>
    <p:sldId id="358" r:id="rId62"/>
    <p:sldId id="359" r:id="rId63"/>
    <p:sldId id="360" r:id="rId64"/>
    <p:sldId id="361" r:id="rId65"/>
    <p:sldId id="362" r:id="rId66"/>
    <p:sldId id="363" r:id="rId67"/>
    <p:sldId id="364" r:id="rId68"/>
    <p:sldId id="365" r:id="rId69"/>
    <p:sldId id="366" r:id="rId70"/>
    <p:sldId id="367" r:id="rId71"/>
    <p:sldId id="371" r:id="rId72"/>
    <p:sldId id="368" r:id="rId73"/>
    <p:sldId id="369" r:id="rId74"/>
    <p:sldId id="370" r:id="rId75"/>
    <p:sldId id="372" r:id="rId76"/>
    <p:sldId id="373" r:id="rId77"/>
    <p:sldId id="374" r:id="rId78"/>
    <p:sldId id="375" r:id="rId79"/>
    <p:sldId id="376" r:id="rId80"/>
    <p:sldId id="377" r:id="rId81"/>
    <p:sldId id="378" r:id="rId82"/>
    <p:sldId id="379" r:id="rId8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85"/>
    </p:embeddedFont>
    <p:embeddedFont>
      <p:font typeface="Consolas" panose="020B0609020204030204" pitchFamily="49" charset="0"/>
      <p:regular r:id="rId86"/>
      <p:bold r:id="rId87"/>
      <p:italic r:id="rId88"/>
      <p:boldItalic r:id="rId89"/>
    </p:embeddedFont>
    <p:embeddedFont>
      <p:font typeface="Sniglet" panose="020B0604020202020204" charset="0"/>
      <p:regular r:id="rId90"/>
    </p:embeddedFont>
    <p:embeddedFont>
      <p:font typeface="Walbaum Text" panose="02070503080703020303" pitchFamily="18" charset="0"/>
      <p:regular r:id="rId91"/>
      <p:bold r:id="rId92"/>
      <p:italic r:id="rId93"/>
      <p:boldItalic r:id="rId94"/>
    </p:embeddedFont>
    <p:embeddedFont>
      <p:font typeface="Walter Turncoat" panose="020B0604020202020204" charset="0"/>
      <p:regular r:id="rId9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0B942B-5FDC-419F-A31C-88048C057ADA}">
  <a:tblStyle styleId="{3D0B942B-5FDC-419F-A31C-88048C057A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F752B63-FEDA-48D4-B3B7-9A5BAED3138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202" d="100"/>
          <a:sy n="202" d="100"/>
        </p:scale>
        <p:origin x="58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font" Target="fonts/font5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6.fntdata"/><Relationship Id="rId95" Type="http://schemas.openxmlformats.org/officeDocument/2006/relationships/font" Target="fonts/font11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4.fntdata"/><Relationship Id="rId91" Type="http://schemas.openxmlformats.org/officeDocument/2006/relationships/font" Target="fonts/font7.fntdata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2.fntdata"/><Relationship Id="rId94" Type="http://schemas.openxmlformats.org/officeDocument/2006/relationships/font" Target="fonts/font10.fntdata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8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3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9.fntdata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563400"/>
            <a:ext cx="8229600" cy="25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✘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A9790-8FD3-3CFF-298C-8576CD7777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134EF000-1360-AEF0-B6CC-E38FC7950DC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69955" y="294994"/>
            <a:ext cx="8229600" cy="19050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Walter Turncoat" panose="020B0604020202020204" charset="0"/>
              </a:rPr>
              <a:t>STAT 7900: Special Topic: </a:t>
            </a:r>
          </a:p>
          <a:p>
            <a:r>
              <a:rPr lang="en-US" dirty="0">
                <a:solidFill>
                  <a:schemeClr val="bg1"/>
                </a:solidFill>
                <a:latin typeface="Walter Turncoat" panose="020B0604020202020204" charset="0"/>
              </a:rPr>
              <a:t>Causal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FDCB5-F084-8EE3-64F9-3FEEE886EC0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738512" y="2356682"/>
            <a:ext cx="4013200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None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Walter Turncoat" panose="020B0604020202020204" charset="0"/>
              </a:rPr>
              <a:t>KENNESAW STATE UNIVERSITY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Walter Turncoat" panose="020B0604020202020204" charset="0"/>
              </a:rPr>
              <a:t>STAT 7900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58E625-98C4-4A42-C24D-4A91B5CF561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-51800" y="2297602"/>
            <a:ext cx="4013200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None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Walter Turncoat" panose="020B0604020202020204" charset="0"/>
              </a:rPr>
              <a:t>Instructor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Walter Turncoat" panose="020B0604020202020204" charset="0"/>
              </a:rPr>
              <a:t> Dhrubajyoti Ghosh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93739B6-31BF-A8C0-52D4-A784612214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8895" y="2171700"/>
            <a:ext cx="8477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017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F3B76-6745-D3C3-FD33-4E7928DD2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EEEEBC-3B07-64E3-7FD3-B5388AC46BBD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Final Project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CC3AA1-35CA-BBEC-EA84-DB6504DFD9C5}"/>
              </a:ext>
            </a:extLst>
          </p:cNvPr>
          <p:cNvSpPr txBox="1"/>
          <p:nvPr/>
        </p:nvSpPr>
        <p:spPr>
          <a:xfrm>
            <a:off x="295257" y="826120"/>
            <a:ext cx="8643590" cy="3997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Slide: Final Project Topics</a:t>
            </a:r>
          </a:p>
          <a:p>
            <a:pPr marL="285750" lvl="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1" u="sng" dirty="0">
                <a:solidFill>
                  <a:schemeClr val="bg1"/>
                </a:solidFill>
              </a:rPr>
              <a:t>Observational Causal Analysis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r>
              <a:rPr lang="en-US" sz="1800" dirty="0">
                <a:solidFill>
                  <a:schemeClr val="bg1"/>
                </a:solidFill>
              </a:rPr>
              <a:t> Estimate the causal effect of an exposure or treatment using real observational data and appropriate adjustment methods. </a:t>
            </a:r>
          </a:p>
          <a:p>
            <a:pPr marL="285750" lvl="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1" u="sng" dirty="0">
                <a:solidFill>
                  <a:schemeClr val="bg1"/>
                </a:solidFill>
              </a:rPr>
              <a:t>Heterogeneous Treatment Effects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r>
              <a:rPr lang="en-US" sz="1800" dirty="0">
                <a:solidFill>
                  <a:schemeClr val="bg1"/>
                </a:solidFill>
              </a:rPr>
              <a:t> Investigate how causal effects vary across individuals or subgroups. </a:t>
            </a:r>
          </a:p>
          <a:p>
            <a:pPr marL="285750" lvl="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1" u="sng" dirty="0">
                <a:solidFill>
                  <a:schemeClr val="bg1"/>
                </a:solidFill>
              </a:rPr>
              <a:t>Instrumental Variables / Natural Experiments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r>
              <a:rPr lang="en-US" sz="1800" dirty="0">
                <a:solidFill>
                  <a:schemeClr val="bg1"/>
                </a:solidFill>
              </a:rPr>
              <a:t> Estimate causal effects when treatment is confounded using a defensible instrumental-variable strategy. </a:t>
            </a:r>
          </a:p>
          <a:p>
            <a:pPr marL="285750" lvl="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1" u="sng" dirty="0">
                <a:solidFill>
                  <a:schemeClr val="bg1"/>
                </a:solidFill>
              </a:rPr>
              <a:t>Policy Evaluation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r>
              <a:rPr lang="en-US" sz="1800" dirty="0">
                <a:solidFill>
                  <a:schemeClr val="bg1"/>
                </a:solidFill>
              </a:rPr>
              <a:t> Evaluate the causal impact of a policy using Difference-in-Differences, event-study, or synthetic-control methods. </a:t>
            </a:r>
          </a:p>
          <a:p>
            <a:pPr marL="285750" lvl="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1" u="sng" dirty="0">
                <a:solidFill>
                  <a:schemeClr val="bg1"/>
                </a:solidFill>
              </a:rPr>
              <a:t>Causal Discovery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r>
              <a:rPr lang="en-US" sz="1800" dirty="0">
                <a:solidFill>
                  <a:schemeClr val="bg1"/>
                </a:solidFill>
              </a:rPr>
              <a:t> Use observational data to learn and evaluate plausible causal structures and relationships. </a:t>
            </a:r>
          </a:p>
          <a:p>
            <a:pPr marL="285750" lvl="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b="1" dirty="0">
                <a:solidFill>
                  <a:schemeClr val="bg1"/>
                </a:solidFill>
              </a:rPr>
              <a:t>Students may work individually or in teams of two. Applied, methodological or theoretical projects are all welcome.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719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22532-4D44-872B-3D62-14F751692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26A857-0A5A-7655-59DE-9230A1603E0C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Final Project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263DE3-6E04-B371-244B-4BD6DF531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268180"/>
              </p:ext>
            </p:extLst>
          </p:nvPr>
        </p:nvGraphicFramePr>
        <p:xfrm>
          <a:off x="399429" y="1039792"/>
          <a:ext cx="8229600" cy="280416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415836039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856695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Deadline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Deliverable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6424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October 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Project Proposal: topic, dataset, causal question/objective, treatment, outcome, target population and proposed approach.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622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November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Introduction &amp; Literature Review: motivation, existing literature, research gap and updated analysis plan.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9003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December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Final Project &amp; Presentation: complete paper, reproducible analysis/code and presentation.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346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C67FEA3-A573-B972-49C0-4B2610B9EC68}"/>
              </a:ext>
            </a:extLst>
          </p:cNvPr>
          <p:cNvSpPr txBox="1"/>
          <p:nvPr/>
        </p:nvSpPr>
        <p:spPr>
          <a:xfrm>
            <a:off x="207732" y="4163145"/>
            <a:ext cx="86129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bg1"/>
                </a:solidFill>
              </a:rPr>
              <a:t>Goal:</a:t>
            </a:r>
            <a:r>
              <a:rPr lang="en-US" sz="2000" dirty="0">
                <a:solidFill>
                  <a:schemeClr val="bg1"/>
                </a:solidFill>
              </a:rPr>
              <a:t> Develop the project in the format of a research study; particularly strong projects may be suitable for further development toward publication.</a:t>
            </a:r>
          </a:p>
        </p:txBody>
      </p:sp>
    </p:spTree>
    <p:extLst>
      <p:ext uri="{BB962C8B-B14F-4D97-AF65-F5344CB8AC3E}">
        <p14:creationId xmlns:p14="http://schemas.microsoft.com/office/powerpoint/2010/main" val="3268447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4796F-DFFA-1C0B-A7DC-9878A078C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149ED-8491-F2B9-2965-1827B4A3D997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Questions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427FC9-32FD-5878-77DB-7242F7DB30B7}"/>
              </a:ext>
            </a:extLst>
          </p:cNvPr>
          <p:cNvSpPr txBox="1"/>
          <p:nvPr/>
        </p:nvSpPr>
        <p:spPr>
          <a:xfrm>
            <a:off x="403510" y="738198"/>
            <a:ext cx="81407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 model predicts heart attack with AUC = 0.94 using smoking status. Does that establish a causal effect?</a:t>
            </a:r>
          </a:p>
          <a:p>
            <a:pPr marL="342900" indent="-342900">
              <a:buClr>
                <a:schemeClr val="bg1"/>
              </a:buClr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Why can Simpson’s paradox occur?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Write one predictive and one causal question about college GPA.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587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4EC2B-2692-1010-A18B-9A7C34213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97F4A7-308A-C998-595B-0E58A2FED21B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Questions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2DB026-0EF8-0725-C422-B7D127713D29}"/>
              </a:ext>
            </a:extLst>
          </p:cNvPr>
          <p:cNvSpPr txBox="1"/>
          <p:nvPr/>
        </p:nvSpPr>
        <p:spPr>
          <a:xfrm>
            <a:off x="403510" y="738198"/>
            <a:ext cx="81407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 model predicts heart attack with AUC = 0.94 using smoking status. Does that establish a causal effect?</a:t>
            </a:r>
          </a:p>
          <a:p>
            <a:pPr marL="342900" indent="-342900">
              <a:buClr>
                <a:schemeClr val="bg1"/>
              </a:buClr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b="1" dirty="0">
                <a:solidFill>
                  <a:schemeClr val="bg1"/>
                </a:solidFill>
              </a:rPr>
              <a:t>No.</a:t>
            </a:r>
            <a:r>
              <a:rPr lang="en-US" sz="1800" dirty="0">
                <a:solidFill>
                  <a:schemeClr val="bg1"/>
                </a:solidFill>
              </a:rPr>
              <a:t> High predictive accuracy does not establish that smoking causally affects heart attacks.</a:t>
            </a:r>
          </a:p>
          <a:p>
            <a:pPr marL="342900" indent="-342900"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Why can Simpson’s paradox occur?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Write one predictive and one causal question about college GPA.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942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B6AF3-8224-8386-1F39-83B242FDB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872EA0-2D9F-E45A-FAAA-B293E1160AD6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Questions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302D2C-BBD7-7054-9E30-B8942FA41C79}"/>
              </a:ext>
            </a:extLst>
          </p:cNvPr>
          <p:cNvSpPr txBox="1"/>
          <p:nvPr/>
        </p:nvSpPr>
        <p:spPr>
          <a:xfrm>
            <a:off x="403510" y="738198"/>
            <a:ext cx="81407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 model predicts heart attack with AUC = 0.94 using smoking status. Does that establish a causal effect?</a:t>
            </a:r>
          </a:p>
          <a:p>
            <a:pPr marL="342900" indent="-342900">
              <a:buClr>
                <a:schemeClr val="bg1"/>
              </a:buClr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b="1" dirty="0">
                <a:solidFill>
                  <a:schemeClr val="bg1"/>
                </a:solidFill>
              </a:rPr>
              <a:t>No.</a:t>
            </a:r>
            <a:r>
              <a:rPr lang="en-US" sz="1800" dirty="0">
                <a:solidFill>
                  <a:schemeClr val="bg1"/>
                </a:solidFill>
              </a:rPr>
              <a:t> High predictive accuracy does not establish that smoking causally affects heart attacks.</a:t>
            </a:r>
          </a:p>
          <a:p>
            <a:pPr marL="342900" indent="-342900"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Why can Simpson’s paradox occur?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1800" dirty="0">
                <a:solidFill>
                  <a:schemeClr val="bg1"/>
                </a:solidFill>
              </a:rPr>
              <a:t>Because a third variable can affect both group membership and the outcome, causing aggregate and within-group associations to differ.</a:t>
            </a:r>
          </a:p>
          <a:p>
            <a:pPr marL="342900" indent="-342900">
              <a:buClr>
                <a:schemeClr val="bg1"/>
              </a:buClr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Write one predictive and one causal question about college GPA.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714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CE75A-7C16-025D-1AD5-3850DF1EF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3E4410-026D-1818-480C-EC857FC3C0DC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Questions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5357AD-19D4-CBC2-B3E8-43584D7A31A9}"/>
              </a:ext>
            </a:extLst>
          </p:cNvPr>
          <p:cNvSpPr txBox="1"/>
          <p:nvPr/>
        </p:nvSpPr>
        <p:spPr>
          <a:xfrm>
            <a:off x="403510" y="738198"/>
            <a:ext cx="81407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 model predicts heart attack with AUC = 0.94 using smoking status. Does that establish a causal effect?</a:t>
            </a:r>
          </a:p>
          <a:p>
            <a:pPr marL="342900" indent="-342900">
              <a:buClr>
                <a:schemeClr val="bg1"/>
              </a:buClr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b="1" dirty="0">
                <a:solidFill>
                  <a:schemeClr val="bg1"/>
                </a:solidFill>
              </a:rPr>
              <a:t>No.</a:t>
            </a:r>
            <a:r>
              <a:rPr lang="en-US" sz="1800" dirty="0">
                <a:solidFill>
                  <a:schemeClr val="bg1"/>
                </a:solidFill>
              </a:rPr>
              <a:t> High predictive accuracy does not establish that smoking causally affects heart attacks.</a:t>
            </a:r>
          </a:p>
          <a:p>
            <a:pPr marL="342900" indent="-342900"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Why can Simpson’s paradox occur?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1800" dirty="0">
                <a:solidFill>
                  <a:schemeClr val="bg1"/>
                </a:solidFill>
              </a:rPr>
              <a:t>Because a third variable can affect both group membership and the outcome, causing aggregate and within-group associations to differ.</a:t>
            </a:r>
          </a:p>
          <a:p>
            <a:pPr marL="342900" indent="-342900">
              <a:buClr>
                <a:schemeClr val="bg1"/>
              </a:buClr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Write one predictive and one causal question about college GPA.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1800" b="1" dirty="0">
                <a:solidFill>
                  <a:schemeClr val="bg1"/>
                </a:solidFill>
              </a:rPr>
              <a:t>Predictive:</a:t>
            </a:r>
            <a:r>
              <a:rPr lang="en-US" sz="1800" dirty="0">
                <a:solidFill>
                  <a:schemeClr val="bg1"/>
                </a:solidFill>
              </a:rPr>
              <a:t> Can study hours predict college GPA? </a:t>
            </a:r>
            <a:r>
              <a:rPr lang="en-US" sz="1800" b="1" dirty="0">
                <a:solidFill>
                  <a:schemeClr val="bg1"/>
                </a:solidFill>
              </a:rPr>
              <a:t>Causal:</a:t>
            </a:r>
            <a:r>
              <a:rPr lang="en-US" sz="1800" dirty="0">
                <a:solidFill>
                  <a:schemeClr val="bg1"/>
                </a:solidFill>
              </a:rPr>
              <a:t> Would increasing study hours improve college GPA?</a:t>
            </a:r>
          </a:p>
        </p:txBody>
      </p:sp>
    </p:spTree>
    <p:extLst>
      <p:ext uri="{BB962C8B-B14F-4D97-AF65-F5344CB8AC3E}">
        <p14:creationId xmlns:p14="http://schemas.microsoft.com/office/powerpoint/2010/main" val="254742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A80CB-E004-3F4D-5805-08BB7BD12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523866-DBFB-3FED-62BF-3D2DC167303D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Recap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EC9DF8-A9C9-D14A-F71D-0D6A025B7234}"/>
              </a:ext>
            </a:extLst>
          </p:cNvPr>
          <p:cNvSpPr/>
          <p:nvPr/>
        </p:nvSpPr>
        <p:spPr>
          <a:xfrm>
            <a:off x="396240" y="1008992"/>
            <a:ext cx="3846786" cy="38152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Prediction</a:t>
            </a:r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pattern predict the outcome in new data?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predictive accuracy may reflect confounding, selection, or consequences of treatment.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36210E-1F79-0CAF-816C-D50649431B66}"/>
              </a:ext>
            </a:extLst>
          </p:cNvPr>
          <p:cNvSpPr/>
          <p:nvPr/>
        </p:nvSpPr>
        <p:spPr>
          <a:xfrm>
            <a:off x="4781156" y="1034217"/>
            <a:ext cx="3846786" cy="38152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Causation</a:t>
            </a:r>
          </a:p>
          <a:p>
            <a:pPr algn="ctr"/>
            <a:endParaRPr lang="en-US" b="1" dirty="0">
              <a:solidFill>
                <a:srgbClr val="111111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change if we intervened?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causal claim requires a counterfactual comparison plus assumptions.</a:t>
            </a:r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636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ADF5E-00D5-3524-F87B-75232DAAC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19EF63-F9E5-F10A-5C9D-84951D67A4CE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Recap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EB1A678-5339-F4D9-C704-FDF8A0397C35}"/>
              </a:ext>
            </a:extLst>
          </p:cNvPr>
          <p:cNvSpPr/>
          <p:nvPr/>
        </p:nvSpPr>
        <p:spPr>
          <a:xfrm>
            <a:off x="57550" y="1041249"/>
            <a:ext cx="8971352" cy="765172"/>
          </a:xfrm>
          <a:prstGeom prst="roundRect">
            <a:avLst>
              <a:gd name="adj" fmla="val 13333"/>
            </a:avLst>
          </a:prstGeom>
          <a:solidFill>
            <a:srgbClr val="FDBB30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1ED40F-89EC-82B8-7A8C-9F6EF683D4F4}"/>
              </a:ext>
            </a:extLst>
          </p:cNvPr>
          <p:cNvSpPr/>
          <p:nvPr/>
        </p:nvSpPr>
        <p:spPr>
          <a:xfrm>
            <a:off x="249382" y="1187552"/>
            <a:ext cx="8559822" cy="49311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scientific question determines the analysis.</a:t>
            </a:r>
            <a:endParaRPr lang="en-US" sz="2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E361FB-C699-97DC-3F05-CFF0CA3DE5D5}"/>
              </a:ext>
            </a:extLst>
          </p:cNvPr>
          <p:cNvSpPr txBox="1"/>
          <p:nvPr/>
        </p:nvSpPr>
        <p:spPr>
          <a:xfrm>
            <a:off x="1285275" y="2317834"/>
            <a:ext cx="618978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700" dirty="0">
                <a:solidFill>
                  <a:srgbClr val="F2F2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Association:   E[Y | T = 1] − E[Y | T = 0]</a:t>
            </a:r>
            <a:endParaRPr lang="en-US" sz="27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328C0C2A-EBC0-2D3C-3FB2-EF845DA4A054}"/>
              </a:ext>
            </a:extLst>
          </p:cNvPr>
          <p:cNvSpPr/>
          <p:nvPr/>
        </p:nvSpPr>
        <p:spPr>
          <a:xfrm>
            <a:off x="-461748" y="3031348"/>
            <a:ext cx="99669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700" dirty="0">
                <a:solidFill>
                  <a:srgbClr val="FDBB3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Causal effect:   E[Y(1)] − E[Y(0)]</a:t>
            </a:r>
            <a:endParaRPr lang="en-US" sz="27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A46506C-1623-0F0E-B54C-AC4249D8CF54}"/>
              </a:ext>
            </a:extLst>
          </p:cNvPr>
          <p:cNvSpPr/>
          <p:nvPr/>
        </p:nvSpPr>
        <p:spPr>
          <a:xfrm>
            <a:off x="981480" y="4280783"/>
            <a:ext cx="68491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i="1" dirty="0">
                <a:solidFill>
                  <a:srgbClr val="B9B9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two quantities can be very different.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72689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1F2E7-1885-C2B7-9CAE-5C36DD09A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CB1F1F-4BD5-043A-6899-A9355D87069A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What is Causal Effect?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85061-BDD9-BCA4-A23E-858968525BB7}"/>
              </a:ext>
            </a:extLst>
          </p:cNvPr>
          <p:cNvSpPr txBox="1"/>
          <p:nvPr/>
        </p:nvSpPr>
        <p:spPr>
          <a:xfrm>
            <a:off x="466026" y="949705"/>
            <a:ext cx="821900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causal effect compares two possible worlds that differ in the treatment.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CFBFB0-6D98-58C0-54C0-1196E32E970E}"/>
              </a:ext>
            </a:extLst>
          </p:cNvPr>
          <p:cNvSpPr/>
          <p:nvPr/>
        </p:nvSpPr>
        <p:spPr>
          <a:xfrm>
            <a:off x="1257683" y="2319539"/>
            <a:ext cx="2901248" cy="19311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World 1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The unit receives treatment.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 = 1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D92C364-02A3-DACB-5560-AAF496C3F23D}"/>
              </a:ext>
            </a:extLst>
          </p:cNvPr>
          <p:cNvSpPr/>
          <p:nvPr/>
        </p:nvSpPr>
        <p:spPr>
          <a:xfrm>
            <a:off x="4774651" y="2319538"/>
            <a:ext cx="2901248" cy="19311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World 0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The same unit does not.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 = 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954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89C85-60FF-08EC-3EB4-210881CFD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0CF295-A3AA-9EFE-52ED-45E5CB0E16F3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Example 1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A0F98A-4529-63E3-DBA8-0909A7CD8DF8}"/>
              </a:ext>
            </a:extLst>
          </p:cNvPr>
          <p:cNvSpPr txBox="1"/>
          <p:nvPr/>
        </p:nvSpPr>
        <p:spPr>
          <a:xfrm>
            <a:off x="462495" y="779261"/>
            <a:ext cx="821900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tutoring help Sarah?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3FD2FBD-6E61-17EB-6775-25E52EAA450C}"/>
              </a:ext>
            </a:extLst>
          </p:cNvPr>
          <p:cNvSpPr/>
          <p:nvPr/>
        </p:nvSpPr>
        <p:spPr>
          <a:xfrm>
            <a:off x="875564" y="1680519"/>
            <a:ext cx="7537622" cy="6771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attends tutoring and scores 88 on the final exam.</a:t>
            </a:r>
            <a:endParaRPr lang="en-US" sz="180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6651C9E9-5114-D3FD-A3E7-0513051B1991}"/>
              </a:ext>
            </a:extLst>
          </p:cNvPr>
          <p:cNvSpPr/>
          <p:nvPr/>
        </p:nvSpPr>
        <p:spPr>
          <a:xfrm>
            <a:off x="546875" y="2581777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cannot answer from 88 alone.</a:t>
            </a:r>
            <a:endParaRPr lang="en-US" sz="24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74A63BB0-0738-54D4-A2C6-5D11E9ABCF62}"/>
              </a:ext>
            </a:extLst>
          </p:cNvPr>
          <p:cNvSpPr/>
          <p:nvPr/>
        </p:nvSpPr>
        <p:spPr>
          <a:xfrm>
            <a:off x="-93205" y="320123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also need to know what Sarah would have scored without tutoring.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296066-0927-4183-AC24-C56E866B9AB0}"/>
                  </a:ext>
                </a:extLst>
              </p:cNvPr>
              <p:cNvSpPr txBox="1"/>
              <p:nvPr/>
            </p:nvSpPr>
            <p:spPr>
              <a:xfrm>
                <a:off x="338928" y="3964754"/>
                <a:ext cx="8279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Tutoring: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=88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, No tutoring: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(0) = ?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pPr algn="ctr"/>
                <a:endParaRPr lang="en-US" sz="18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Individual causal effect =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296066-0927-4183-AC24-C56E866B9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928" y="3964754"/>
                <a:ext cx="8279027" cy="923330"/>
              </a:xfrm>
              <a:prstGeom prst="rect">
                <a:avLst/>
              </a:prstGeom>
              <a:blipFill>
                <a:blip r:embed="rId2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9016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7D1E0-C6CF-1760-C5E8-C5BB54488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63303B-51AA-C811-A05B-9FE4A8B5FD78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Example 2: Medicine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E2E286FB-6A0C-5F21-B62F-26B137D6263A}"/>
                  </a:ext>
                </a:extLst>
              </p:cNvPr>
              <p:cNvSpPr/>
              <p:nvPr/>
            </p:nvSpPr>
            <p:spPr>
              <a:xfrm>
                <a:off x="742949" y="1295400"/>
                <a:ext cx="3632201" cy="18669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dirty="0">
                    <a:solidFill>
                      <a:schemeClr val="tx1"/>
                    </a:solidFill>
                  </a:rPr>
                  <a:t>Drug</a:t>
                </a:r>
              </a:p>
              <a:p>
                <a:pPr algn="ctr"/>
                <a:endParaRPr lang="en-US" sz="18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Systolic BP if patient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receives the drug</a:t>
                </a:r>
              </a:p>
            </p:txBody>
          </p:sp>
        </mc:Choice>
        <mc:Fallback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E2E286FB-6A0C-5F21-B62F-26B137D626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49" y="1295400"/>
                <a:ext cx="3632201" cy="18669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F1BDEE7E-6D7E-909D-396F-FC4C09DD513A}"/>
                  </a:ext>
                </a:extLst>
              </p:cNvPr>
              <p:cNvSpPr/>
              <p:nvPr/>
            </p:nvSpPr>
            <p:spPr>
              <a:xfrm>
                <a:off x="4895849" y="1295400"/>
                <a:ext cx="3632201" cy="18669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dirty="0">
                    <a:solidFill>
                      <a:schemeClr val="tx1"/>
                    </a:solidFill>
                  </a:rPr>
                  <a:t>No Drug</a:t>
                </a:r>
              </a:p>
              <a:p>
                <a:pPr algn="ctr"/>
                <a:endParaRPr lang="en-US" sz="18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Systolic BP if same patient </a:t>
                </a:r>
                <a:r>
                  <a:rPr lang="en-US" sz="1800" b="0" i="0" dirty="0">
                    <a:solidFill>
                      <a:schemeClr val="tx1"/>
                    </a:solidFill>
                    <a:latin typeface="+mj-lt"/>
                  </a:rPr>
                  <a:t>does not</a:t>
                </a:r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F1BDEE7E-6D7E-909D-396F-FC4C09DD51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849" y="1295400"/>
                <a:ext cx="3632201" cy="18669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9680D7-7309-BC4B-0396-D4E24CADB39E}"/>
                  </a:ext>
                </a:extLst>
              </p:cNvPr>
              <p:cNvSpPr txBox="1"/>
              <p:nvPr/>
            </p:nvSpPr>
            <p:spPr>
              <a:xfrm>
                <a:off x="1123950" y="3699133"/>
                <a:ext cx="7404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rgbClr val="FFFF0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=128</m:t>
                    </m:r>
                  </m:oMath>
                </a14:m>
                <a:r>
                  <a:rPr lang="en-US" sz="1800" dirty="0">
                    <a:solidFill>
                      <a:srgbClr val="FFFF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=142</m:t>
                    </m:r>
                  </m:oMath>
                </a14:m>
                <a:r>
                  <a:rPr lang="en-US" sz="1800" dirty="0">
                    <a:solidFill>
                      <a:srgbClr val="FFFF00"/>
                    </a:solidFill>
                  </a:rPr>
                  <a:t>, then the causal effect is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−14</m:t>
                    </m:r>
                  </m:oMath>
                </a14:m>
                <a:r>
                  <a:rPr lang="en-US" sz="1800" dirty="0">
                    <a:solidFill>
                      <a:srgbClr val="FFFF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9680D7-7309-BC4B-0396-D4E24CADB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950" y="3699133"/>
                <a:ext cx="7404100" cy="369332"/>
              </a:xfrm>
              <a:prstGeom prst="rect">
                <a:avLst/>
              </a:prstGeom>
              <a:blipFill>
                <a:blip r:embed="rId4"/>
                <a:stretch>
                  <a:fillRect l="-65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9672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B8D8C-C18B-2E89-123B-F2CB3A119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9C921B-99D6-9147-875C-AF27A8C82735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Example 3: Policy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429AB6-7594-E882-C39B-08B494BF3850}"/>
              </a:ext>
            </a:extLst>
          </p:cNvPr>
          <p:cNvSpPr txBox="1"/>
          <p:nvPr/>
        </p:nvSpPr>
        <p:spPr>
          <a:xfrm>
            <a:off x="1123950" y="3699133"/>
            <a:ext cx="740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</a:rPr>
              <a:t>The state cannot live through both versions of the same year.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39F881-BCE2-93F4-37F5-D85842D7B28D}"/>
              </a:ext>
            </a:extLst>
          </p:cNvPr>
          <p:cNvSpPr/>
          <p:nvPr/>
        </p:nvSpPr>
        <p:spPr>
          <a:xfrm>
            <a:off x="803189" y="1444367"/>
            <a:ext cx="7537622" cy="6771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raising a state minimum wage change employment next year?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6494F5-25C4-3DDE-A8CF-C5809E1A478C}"/>
                  </a:ext>
                </a:extLst>
              </p:cNvPr>
              <p:cNvSpPr txBox="1"/>
              <p:nvPr/>
            </p:nvSpPr>
            <p:spPr>
              <a:xfrm>
                <a:off x="723900" y="2457450"/>
                <a:ext cx="761691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Employment under the wage increase</a:t>
                </a:r>
              </a:p>
              <a:p>
                <a:pPr algn="ctr"/>
                <a:endParaRPr lang="en-US" sz="1800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Employment without the wage increase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6494F5-25C4-3DDE-A8CF-C5809E1A4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2457450"/>
                <a:ext cx="7616911" cy="923330"/>
              </a:xfrm>
              <a:prstGeom prst="rect">
                <a:avLst/>
              </a:prstGeom>
              <a:blipFill>
                <a:blip r:embed="rId2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8767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80185-F840-D0E1-A000-514D6D0B7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601616-448B-AC04-E626-3C720890064D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Example 4: Sports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F679624-41FB-F829-93B5-4FE70B316629}"/>
              </a:ext>
            </a:extLst>
          </p:cNvPr>
          <p:cNvSpPr/>
          <p:nvPr/>
        </p:nvSpPr>
        <p:spPr>
          <a:xfrm>
            <a:off x="755649" y="2276733"/>
            <a:ext cx="3632201" cy="1866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Observed Match</a:t>
            </a:r>
          </a:p>
          <a:p>
            <a:pPr algn="ctr"/>
            <a:endParaRPr lang="en-US" sz="1800" dirty="0">
              <a:solidFill>
                <a:schemeClr val="tx1"/>
              </a:solidFill>
            </a:endParaRPr>
          </a:p>
          <a:p>
            <a:pPr algn="ctr"/>
            <a:r>
              <a:rPr lang="en-US" sz="1800" b="0" i="0" dirty="0">
                <a:solidFill>
                  <a:schemeClr val="tx1"/>
                </a:solidFill>
                <a:latin typeface="+mj-lt"/>
              </a:rPr>
              <a:t>Red card occurred.</a:t>
            </a:r>
          </a:p>
          <a:p>
            <a:pPr algn="ctr"/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sz="1800" dirty="0">
                <a:solidFill>
                  <a:schemeClr val="tx1"/>
                </a:solidFill>
                <a:latin typeface="+mj-lt"/>
              </a:rPr>
              <a:t>Team Lost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320055-1B94-7C46-FA06-C983AF1C7334}"/>
              </a:ext>
            </a:extLst>
          </p:cNvPr>
          <p:cNvSpPr/>
          <p:nvPr/>
        </p:nvSpPr>
        <p:spPr>
          <a:xfrm>
            <a:off x="4908549" y="2276733"/>
            <a:ext cx="3632201" cy="1866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Counterfactual Match</a:t>
            </a:r>
          </a:p>
          <a:p>
            <a:pPr algn="ctr"/>
            <a:endParaRPr lang="en-US" sz="1800" dirty="0">
              <a:solidFill>
                <a:schemeClr val="tx1"/>
              </a:solidFill>
            </a:endParaRPr>
          </a:p>
          <a:p>
            <a:pPr algn="ctr"/>
            <a:r>
              <a:rPr lang="en-US" sz="1800" b="0" i="0" dirty="0">
                <a:solidFill>
                  <a:schemeClr val="tx1"/>
                </a:solidFill>
                <a:latin typeface="+mj-lt"/>
              </a:rPr>
              <a:t>No red card</a:t>
            </a:r>
          </a:p>
          <a:p>
            <a:pPr algn="ctr"/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sz="1800" dirty="0">
                <a:solidFill>
                  <a:schemeClr val="tx1"/>
                </a:solidFill>
                <a:latin typeface="+mj-lt"/>
              </a:rPr>
              <a:t>What would have happened?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EA4235-872B-9139-2657-D22A9E17F5D9}"/>
              </a:ext>
            </a:extLst>
          </p:cNvPr>
          <p:cNvSpPr/>
          <p:nvPr/>
        </p:nvSpPr>
        <p:spPr>
          <a:xfrm>
            <a:off x="752921" y="1109637"/>
            <a:ext cx="7537622" cy="6771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the team have won if the red card had not occurred?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22939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76F9E-1CC1-9975-87CF-94E79616B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D6B4B9-2732-6CF1-85FE-B52D5968D48A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Potential Outcomes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B462D5-BD8C-685A-9923-53C23535928C}"/>
                  </a:ext>
                </a:extLst>
              </p:cNvPr>
              <p:cNvSpPr txBox="1"/>
              <p:nvPr/>
            </p:nvSpPr>
            <p:spPr>
              <a:xfrm>
                <a:off x="311150" y="1009650"/>
                <a:ext cx="8413750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b="0" i="0" dirty="0">
                    <a:solidFill>
                      <a:schemeClr val="bg1"/>
                    </a:solidFill>
                    <a:latin typeface="+mj-lt"/>
                  </a:rPr>
                  <a:t> Outcome unit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would have under treatment</a:t>
                </a:r>
              </a:p>
              <a:p>
                <a:pPr algn="ctr"/>
                <a:endParaRPr lang="en-US" sz="1800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Outcome unit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would have under control</a:t>
                </a:r>
              </a:p>
              <a:p>
                <a:pPr algn="ctr"/>
                <a:endParaRPr lang="en-US" sz="18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Causal effect: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pPr algn="ctr"/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We observe only the potential outcome corresponding to the treatment received.</a:t>
                </a:r>
              </a:p>
              <a:p>
                <a:endParaRPr lang="en-US" sz="1800" dirty="0">
                  <a:solidFill>
                    <a:schemeClr val="bg1"/>
                  </a:solidFill>
                  <a:latin typeface="Arial" pitchFamily="34" charset="0"/>
                  <a:cs typeface="Arial" pitchFamily="34" charset="-120"/>
                </a:endParaRP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and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B462D5-BD8C-685A-9923-53C235359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50" y="1009650"/>
                <a:ext cx="8413750" cy="3693319"/>
              </a:xfrm>
              <a:prstGeom prst="rect">
                <a:avLst/>
              </a:prstGeom>
              <a:blipFill>
                <a:blip r:embed="rId2"/>
                <a:stretch>
                  <a:fillRect l="-580"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5025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68C7B-B0A0-26BC-5D9F-CE2D8FE13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536408-424F-81C7-525D-3DE130104609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Potential Outcomes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C04D16-BF70-F050-9090-F555D806D0E5}"/>
                  </a:ext>
                </a:extLst>
              </p:cNvPr>
              <p:cNvSpPr txBox="1"/>
              <p:nvPr/>
            </p:nvSpPr>
            <p:spPr>
              <a:xfrm>
                <a:off x="311150" y="1009650"/>
                <a:ext cx="841375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1800" dirty="0">
                    <a:solidFill>
                      <a:schemeClr val="bg1"/>
                    </a:solidFill>
                  </a:rPr>
                  <a:t>Binary treatment is just the simplest case.</a:t>
                </a:r>
              </a:p>
              <a:p>
                <a:pPr/>
                <a:endParaRPr lang="en-US" sz="1800" dirty="0">
                  <a:solidFill>
                    <a:schemeClr val="bg1"/>
                  </a:solidFill>
                </a:endParaRP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bg1"/>
                    </a:solidFill>
                  </a:rPr>
                  <a:t>Multi-level treatment: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chemeClr val="bg1"/>
                  </a:solidFill>
                </a:endParaRP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bg1"/>
                    </a:solidFill>
                  </a:rPr>
                  <a:t>Continuous Treatment: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for dose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chemeClr val="bg1"/>
                  </a:solidFill>
                </a:endParaRP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bg1"/>
                    </a:solidFill>
                  </a:rPr>
                  <a:t>Time-Varying treatment: Potential outcome depends on a treatment history.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chemeClr val="bg1"/>
                  </a:solidFill>
                </a:endParaRP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bg1"/>
                    </a:solidFill>
                  </a:rPr>
                  <a:t>Dynamic regimes: Treatment can depend on previous covariates or outcomes.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chemeClr val="bg1"/>
                  </a:solidFill>
                </a:endParaRPr>
              </a:p>
              <a:p>
                <a:pPr>
                  <a:buClr>
                    <a:schemeClr val="bg1"/>
                  </a:buClr>
                </a:pPr>
                <a:endParaRPr lang="en-US" sz="1800" dirty="0">
                  <a:solidFill>
                    <a:schemeClr val="bg1"/>
                  </a:solidFill>
                </a:endParaRPr>
              </a:p>
              <a:p>
                <a:pPr>
                  <a:buClr>
                    <a:schemeClr val="bg1"/>
                  </a:buClr>
                </a:pPr>
                <a:r>
                  <a:rPr lang="en-US" sz="1800" dirty="0">
                    <a:solidFill>
                      <a:schemeClr val="bg1"/>
                    </a:solidFill>
                  </a:rPr>
                  <a:t>We start with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because the causal logic is simplest there.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C04D16-BF70-F050-9090-F555D806D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50" y="1009650"/>
                <a:ext cx="8413750" cy="3416320"/>
              </a:xfrm>
              <a:prstGeom prst="rect">
                <a:avLst/>
              </a:prstGeom>
              <a:blipFill>
                <a:blip r:embed="rId2"/>
                <a:stretch>
                  <a:fillRect l="-580" t="-1071" r="-652" b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5517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FCE2-67D2-7ABC-246A-99BBFEAF2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D3499D-216E-48FF-8833-01A371FB504F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Individual Causal Effects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CB4CD160-9B6A-F958-D99F-2D38E4D0A40E}"/>
              </a:ext>
            </a:extLst>
          </p:cNvPr>
          <p:cNvSpPr/>
          <p:nvPr/>
        </p:nvSpPr>
        <p:spPr>
          <a:xfrm>
            <a:off x="553720" y="4194661"/>
            <a:ext cx="8094980" cy="702965"/>
          </a:xfrm>
          <a:prstGeom prst="roundRect">
            <a:avLst>
              <a:gd name="adj" fmla="val 16000"/>
            </a:avLst>
          </a:prstGeom>
          <a:solidFill>
            <a:srgbClr val="FDBB30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2">
                <a:extLst>
                  <a:ext uri="{FF2B5EF4-FFF2-40B4-BE49-F238E27FC236}">
                    <a16:creationId xmlns:a16="http://schemas.microsoft.com/office/drawing/2014/main" id="{76CC7CFF-CA5D-F43C-0AE4-64D253A4161A}"/>
                  </a:ext>
                </a:extLst>
              </p:cNvPr>
              <p:cNvSpPr/>
              <p:nvPr/>
            </p:nvSpPr>
            <p:spPr>
              <a:xfrm>
                <a:off x="739385" y="4344626"/>
                <a:ext cx="7723650" cy="403033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2100" dirty="0"/>
              </a:p>
            </p:txBody>
          </p:sp>
        </mc:Choice>
        <mc:Fallback>
          <p:sp>
            <p:nvSpPr>
              <p:cNvPr id="6" name="Text 2">
                <a:extLst>
                  <a:ext uri="{FF2B5EF4-FFF2-40B4-BE49-F238E27FC236}">
                    <a16:creationId xmlns:a16="http://schemas.microsoft.com/office/drawing/2014/main" id="{76CC7CFF-CA5D-F43C-0AE4-64D253A416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85" y="4344626"/>
                <a:ext cx="7723650" cy="403033"/>
              </a:xfrm>
              <a:prstGeom prst="rect">
                <a:avLst/>
              </a:prstGeom>
              <a:blipFill>
                <a:blip r:embed="rId2"/>
                <a:stretch>
                  <a:fillRect b="-2272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table">
            <a:extLst>
              <a:ext uri="{FF2B5EF4-FFF2-40B4-BE49-F238E27FC236}">
                <a16:creationId xmlns:a16="http://schemas.microsoft.com/office/drawing/2014/main" id="{1437475A-9E99-929B-7B30-22FB94E8E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272331"/>
            <a:ext cx="82296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210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768A7-C057-415A-C789-5610E9E82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972B63-1509-B8F0-5A2D-7C36445E6E0D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Individual Causal Effects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C1EC0A-8D84-3A4B-83E9-6D9549262646}"/>
              </a:ext>
            </a:extLst>
          </p:cNvPr>
          <p:cNvSpPr txBox="1"/>
          <p:nvPr/>
        </p:nvSpPr>
        <p:spPr>
          <a:xfrm>
            <a:off x="609600" y="882650"/>
            <a:ext cx="78534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We  can have same treatment, different responses.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“Does the treatment work?” is often an incomplete scientific question.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What should causal questions specify?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Population: For whom?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Treatment: Which intervention?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Comparator: Compared with what?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Outcome: What is being measured?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Time: Over what follow-up period?</a:t>
            </a:r>
          </a:p>
        </p:txBody>
      </p:sp>
    </p:spTree>
    <p:extLst>
      <p:ext uri="{BB962C8B-B14F-4D97-AF65-F5344CB8AC3E}">
        <p14:creationId xmlns:p14="http://schemas.microsoft.com/office/powerpoint/2010/main" val="3595087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9B9C7-2DE1-476F-E494-E5E12FD1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45DA5-2412-CB91-ADE5-FDDDAD99DFBA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What do we actually observe?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AD407B5A-0CFE-B498-2387-21F4E1E79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9" y="1054100"/>
            <a:ext cx="8721362" cy="2787650"/>
          </a:xfrm>
          <a:prstGeom prst="rect">
            <a:avLst/>
          </a:prstGeom>
        </p:spPr>
      </p:pic>
      <p:sp>
        <p:nvSpPr>
          <p:cNvPr id="5" name="Shape 1">
            <a:extLst>
              <a:ext uri="{FF2B5EF4-FFF2-40B4-BE49-F238E27FC236}">
                <a16:creationId xmlns:a16="http://schemas.microsoft.com/office/drawing/2014/main" id="{5FA3620B-C59D-9AE9-7036-2A6BA4FD2BF0}"/>
              </a:ext>
            </a:extLst>
          </p:cNvPr>
          <p:cNvSpPr/>
          <p:nvPr/>
        </p:nvSpPr>
        <p:spPr>
          <a:xfrm>
            <a:off x="325120" y="4191000"/>
            <a:ext cx="8094980" cy="702965"/>
          </a:xfrm>
          <a:prstGeom prst="roundRect">
            <a:avLst>
              <a:gd name="adj" fmla="val 16000"/>
            </a:avLst>
          </a:prstGeom>
          <a:solidFill>
            <a:srgbClr val="FDBB30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17EC4DA-DF60-2B80-772F-23FBDE4A935A}"/>
              </a:ext>
            </a:extLst>
          </p:cNvPr>
          <p:cNvSpPr/>
          <p:nvPr/>
        </p:nvSpPr>
        <p:spPr>
          <a:xfrm>
            <a:off x="553720" y="4344628"/>
            <a:ext cx="7723650" cy="40303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person is missing one potential outcome.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9875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7EB19-46D8-60DF-2CD7-B7880201C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0AD7C2-825B-C78E-CB4A-BFBA0B3EE520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Fundamental problem of causal inference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5D2AEDC-D76F-A5BA-1C89-E30DA0C9700B}"/>
              </a:ext>
            </a:extLst>
          </p:cNvPr>
          <p:cNvSpPr/>
          <p:nvPr/>
        </p:nvSpPr>
        <p:spPr>
          <a:xfrm>
            <a:off x="127001" y="1202690"/>
            <a:ext cx="8818214" cy="1210310"/>
          </a:xfrm>
          <a:prstGeom prst="roundRect">
            <a:avLst>
              <a:gd name="adj" fmla="val 11429"/>
            </a:avLst>
          </a:prstGeom>
          <a:solidFill>
            <a:srgbClr val="FDBB30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2">
                <a:extLst>
                  <a:ext uri="{FF2B5EF4-FFF2-40B4-BE49-F238E27FC236}">
                    <a16:creationId xmlns:a16="http://schemas.microsoft.com/office/drawing/2014/main" id="{385FF99A-C93D-8EA6-4614-29C40B88836E}"/>
                  </a:ext>
                </a:extLst>
              </p:cNvPr>
              <p:cNvSpPr/>
              <p:nvPr/>
            </p:nvSpPr>
            <p:spPr>
              <a:xfrm>
                <a:off x="198785" y="1348994"/>
                <a:ext cx="8517829" cy="898906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 fontScale="92500" lnSpcReduction="20000"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500" b="1" dirty="0">
                    <a:solidFill>
                      <a:srgbClr val="11111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For each unit, we can observe </a:t>
                </a:r>
                <a14:m>
                  <m:oMath xmlns:m="http://schemas.openxmlformats.org/officeDocument/2006/math">
                    <m:r>
                      <a:rPr lang="en-US" sz="2500" b="1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𝒀</m:t>
                    </m:r>
                    <m:r>
                      <a:rPr lang="en-US" sz="2500" b="1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ᵢ(</m:t>
                    </m:r>
                    <m:r>
                      <a:rPr lang="en-US" sz="2500" b="1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𝟏</m:t>
                    </m:r>
                    <m:r>
                      <a:rPr lang="en-US" sz="2500" b="1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</m:t>
                    </m:r>
                  </m:oMath>
                </a14:m>
                <a:r>
                  <a:rPr lang="en-US" sz="2500" b="1" dirty="0">
                    <a:solidFill>
                      <a:srgbClr val="11111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500" b="1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𝒀</m:t>
                    </m:r>
                    <m:r>
                      <a:rPr lang="en-US" sz="2500" b="1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ᵢ</m:t>
                    </m:r>
                    <m:d>
                      <m:dPr>
                        <m:ctrlPr>
                          <a:rPr lang="en-US" sz="2500" b="1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dPr>
                      <m:e>
                        <m:r>
                          <a:rPr lang="en-US" sz="2500" b="1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𝟎</m:t>
                        </m:r>
                      </m:e>
                    </m:d>
                    <m:r>
                      <a:rPr lang="en-US" sz="2500" b="1" i="0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</m:t>
                    </m:r>
                  </m:oMath>
                </a14:m>
                <a:r>
                  <a:rPr lang="en-US" sz="2500" b="1" dirty="0">
                    <a:solidFill>
                      <a:srgbClr val="11111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</a:p>
              <a:p>
                <a:pPr marL="0" indent="0" algn="ctr">
                  <a:buNone/>
                </a:pPr>
                <a:endParaRPr lang="en-US" sz="2500" b="1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  <a:p>
                <a:pPr marL="0" indent="0" algn="ctr">
                  <a:buNone/>
                </a:pPr>
                <a:r>
                  <a:rPr lang="en-US" sz="2500" b="1" dirty="0">
                    <a:solidFill>
                      <a:srgbClr val="11111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Never both at the same time.</a:t>
                </a:r>
                <a:endParaRPr lang="en-US" sz="2500" dirty="0"/>
              </a:p>
            </p:txBody>
          </p:sp>
        </mc:Choice>
        <mc:Fallback>
          <p:sp>
            <p:nvSpPr>
              <p:cNvPr id="7" name="Text 2">
                <a:extLst>
                  <a:ext uri="{FF2B5EF4-FFF2-40B4-BE49-F238E27FC236}">
                    <a16:creationId xmlns:a16="http://schemas.microsoft.com/office/drawing/2014/main" id="{385FF99A-C93D-8EA6-4614-29C40B8883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85" y="1348994"/>
                <a:ext cx="8517829" cy="898906"/>
              </a:xfrm>
              <a:prstGeom prst="rect">
                <a:avLst/>
              </a:prstGeom>
              <a:blipFill>
                <a:blip r:embed="rId2"/>
                <a:stretch>
                  <a:fillRect t="-14865" b="-1689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756C4F4-3DFB-4F9F-C9D5-F3D79C064813}"/>
              </a:ext>
            </a:extLst>
          </p:cNvPr>
          <p:cNvSpPr txBox="1"/>
          <p:nvPr/>
        </p:nvSpPr>
        <p:spPr>
          <a:xfrm>
            <a:off x="266700" y="3238500"/>
            <a:ext cx="84499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Observed: Factual Outcome.</a:t>
            </a:r>
          </a:p>
          <a:p>
            <a:pPr algn="ctr"/>
            <a:endParaRPr lang="en-US" sz="1800" dirty="0">
              <a:solidFill>
                <a:schemeClr val="bg1"/>
              </a:solidFill>
            </a:endParaRPr>
          </a:p>
          <a:p>
            <a:pPr algn="ctr"/>
            <a:r>
              <a:rPr lang="en-US" sz="1800" dirty="0">
                <a:solidFill>
                  <a:schemeClr val="bg1"/>
                </a:solidFill>
              </a:rPr>
              <a:t>Missing: Counterfactual Outcome.</a:t>
            </a:r>
          </a:p>
        </p:txBody>
      </p:sp>
    </p:spTree>
    <p:extLst>
      <p:ext uri="{BB962C8B-B14F-4D97-AF65-F5344CB8AC3E}">
        <p14:creationId xmlns:p14="http://schemas.microsoft.com/office/powerpoint/2010/main" val="2378638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BE58C-414C-A75F-5187-0AF04B4E1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BD5216-3105-85A3-C0E2-231E71B2522A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Fundamental problem of causal inference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2B1FC0-09CF-BA4F-DAB9-BCD73E751567}"/>
                  </a:ext>
                </a:extLst>
              </p:cNvPr>
              <p:cNvSpPr txBox="1"/>
              <p:nvPr/>
            </p:nvSpPr>
            <p:spPr>
              <a:xfrm>
                <a:off x="416415" y="1035050"/>
                <a:ext cx="8449914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</a:rPr>
                  <a:t>A causal inference problem is a missing-data problem.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pPr algn="ctr"/>
                <a:endParaRPr lang="en-US" sz="18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Observed: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pPr algn="ctr"/>
                <a:endParaRPr lang="en-US" sz="18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Missing: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pPr algn="ctr"/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The missingness is structural: every unit is missing exactly one potential outcome.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We cannot recover the missing value for an individual without very strong assumptions.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But we may identify averages by comparing suitable groups.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2B1FC0-09CF-BA4F-DAB9-BCD73E751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15" y="1035050"/>
                <a:ext cx="8449914" cy="3970318"/>
              </a:xfrm>
              <a:prstGeom prst="rect">
                <a:avLst/>
              </a:prstGeom>
              <a:blipFill>
                <a:blip r:embed="rId2"/>
                <a:stretch>
                  <a:fillRect l="-577" t="-922" b="-1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0075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DC11F-7EAF-1AA8-4026-11E157019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5BAEF7-9562-44CE-14D9-A8144105E7C3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How can Causal Inference be possible?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74B6E3A-F09F-8BAC-58CE-83C74A5D5F5F}"/>
                  </a:ext>
                </a:extLst>
              </p:cNvPr>
              <p:cNvSpPr txBox="1"/>
              <p:nvPr/>
            </p:nvSpPr>
            <p:spPr>
              <a:xfrm>
                <a:off x="416415" y="896183"/>
                <a:ext cx="8449914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</a:rPr>
                  <a:t>We stop trying to estimate individual causal effects.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Instead, we target population averages that can be identified under assumptions.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Average Treatment Effect (ATE):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14:m>
                  <m:oMathPara xmlns:m="http://schemas.openxmlformats.org/officeDocument/2006/math">
                    <m:oMath>
                      <m:r>
                        <a:rPr lang="en-US" sz="1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𝑨𝑻𝑬</m:t>
                      </m:r>
                      <m:r>
                        <a:rPr lang="en-US" sz="1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d>
                            <m:dPr>
                              <m:ctrlPr>
                                <a:rPr lang="en-US" sz="1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sz="1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d>
                            <m:dPr>
                              <m:ctrlPr>
                                <a:rPr lang="en-US" sz="1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</m:e>
                      </m:d>
                      <m:r>
                        <a:rPr lang="en-US" sz="1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d>
                            <m:dPr>
                              <m:ctrlPr>
                                <a:rPr lang="en-US" sz="1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d>
                      <m:r>
                        <a:rPr lang="en-US" sz="1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d>
                            <m:dPr>
                              <m:ctrlPr>
                                <a:rPr lang="en-US" sz="1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800" b="1" dirty="0">
                  <a:solidFill>
                    <a:schemeClr val="bg1"/>
                  </a:solidFill>
                </a:endParaRP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b="0" dirty="0">
                    <a:solidFill>
                      <a:srgbClr val="FFFF00"/>
                    </a:solidFill>
                  </a:rPr>
                  <a:t>Average effect if the target population were treated versus if the same target population were untreated.</a:t>
                </a:r>
              </a:p>
              <a:p>
                <a:endParaRPr lang="en-US" sz="1800" i="1" dirty="0">
                  <a:solidFill>
                    <a:srgbClr val="B9B9B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  <a:p>
                <a:r>
                  <a:rPr lang="en-US" sz="1800" i="1" dirty="0">
                    <a:solidFill>
                      <a:srgbClr val="B9B9B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ATE answers a population-level intervention question.</a:t>
                </a:r>
                <a:endParaRPr lang="en-US" sz="1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74B6E3A-F09F-8BAC-58CE-83C74A5D5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15" y="896183"/>
                <a:ext cx="8449914" cy="3970318"/>
              </a:xfrm>
              <a:prstGeom prst="rect">
                <a:avLst/>
              </a:prstGeom>
              <a:blipFill>
                <a:blip r:embed="rId2"/>
                <a:stretch>
                  <a:fillRect l="-577" t="-768" b="-1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8308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C4F4F-5434-EC2E-9621-B91DE69F5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5EA067-BA3A-2FC2-80EB-270F556249A8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ATE, ATT, ATC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1799850C-BA1F-FB74-2688-FA87A31B3F0C}"/>
                  </a:ext>
                </a:extLst>
              </p:cNvPr>
              <p:cNvSpPr/>
              <p:nvPr/>
            </p:nvSpPr>
            <p:spPr>
              <a:xfrm>
                <a:off x="431800" y="977900"/>
                <a:ext cx="8115300" cy="66675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rgbClr val="FF0000"/>
                    </a:solidFill>
                  </a:rPr>
                  <a:t>Average Treatment Effect</a:t>
                </a:r>
                <a:r>
                  <a:rPr lang="en-US" sz="1800" dirty="0">
                    <a:solidFill>
                      <a:schemeClr val="tx1"/>
                    </a:solidFill>
                  </a:rPr>
                  <a:t>: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𝐴𝑇𝐸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1799850C-BA1F-FB74-2688-FA87A31B3F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00" y="977900"/>
                <a:ext cx="8115300" cy="66675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02C0A71F-143B-549D-A9C9-31CD35383D8B}"/>
                  </a:ext>
                </a:extLst>
              </p:cNvPr>
              <p:cNvSpPr/>
              <p:nvPr/>
            </p:nvSpPr>
            <p:spPr>
              <a:xfrm>
                <a:off x="44450" y="2201863"/>
                <a:ext cx="9055100" cy="126047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rgbClr val="FF0000"/>
                    </a:solidFill>
                  </a:rPr>
                  <a:t>Average Treatment Effect on treated</a:t>
                </a:r>
                <a:r>
                  <a:rPr lang="en-US" sz="1800" dirty="0">
                    <a:solidFill>
                      <a:schemeClr val="tx1"/>
                    </a:solidFill>
                  </a:rPr>
                  <a:t>: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𝑇𝑇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 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algn="ctr"/>
                <a:endParaRPr lang="en-US" sz="1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800" dirty="0">
                    <a:solidFill>
                      <a:schemeClr val="tx1"/>
                    </a:solidFill>
                  </a:rPr>
                  <a:t>Among people who received treatment, how much did treatment change the outcome?</a:t>
                </a:r>
              </a:p>
            </p:txBody>
          </p:sp>
        </mc:Choice>
        <mc:Fallback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02C0A71F-143B-549D-A9C9-31CD35383D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" y="2201863"/>
                <a:ext cx="9055100" cy="126047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060CB1DA-7783-1BE4-53FF-06089962DCBE}"/>
                  </a:ext>
                </a:extLst>
              </p:cNvPr>
              <p:cNvSpPr/>
              <p:nvPr/>
            </p:nvSpPr>
            <p:spPr>
              <a:xfrm>
                <a:off x="44450" y="3668713"/>
                <a:ext cx="9055100" cy="126047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rgbClr val="FF0000"/>
                    </a:solidFill>
                  </a:rPr>
                  <a:t>Average Treatment Effect on Controls</a:t>
                </a:r>
                <a:r>
                  <a:rPr lang="en-US" sz="1800" dirty="0">
                    <a:solidFill>
                      <a:schemeClr val="tx1"/>
                    </a:solidFill>
                  </a:rPr>
                  <a:t>: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𝑇𝐶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 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algn="ctr"/>
                <a:endParaRPr lang="en-US" sz="1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800" dirty="0">
                    <a:solidFill>
                      <a:schemeClr val="tx1"/>
                    </a:solidFill>
                  </a:rPr>
                  <a:t>Among untreated patients, what would happen on average if they receive treatment?</a:t>
                </a:r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060CB1DA-7783-1BE4-53FF-06089962DC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" y="3668713"/>
                <a:ext cx="9055100" cy="126047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59573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F3DCB-85A9-5E21-A93D-AA5344264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F8BC84-48EE-70BB-9C6E-6F0048D0422C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Conditional Average Treatment Effect (CATE)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D906304-4783-F6C2-BE90-D9BFB8B64A78}"/>
              </a:ext>
            </a:extLst>
          </p:cNvPr>
          <p:cNvSpPr/>
          <p:nvPr/>
        </p:nvSpPr>
        <p:spPr>
          <a:xfrm>
            <a:off x="140002" y="971550"/>
            <a:ext cx="8863995" cy="78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300" dirty="0">
                <a:solidFill>
                  <a:srgbClr val="FDBB3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CATE(x) = E[Y(1) − Y(0) | X = x]</a:t>
            </a:r>
            <a:endParaRPr lang="en-US" sz="33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7DE6C8A-636B-5246-D83C-9B394C84F2CB}"/>
              </a:ext>
            </a:extLst>
          </p:cNvPr>
          <p:cNvSpPr/>
          <p:nvPr/>
        </p:nvSpPr>
        <p:spPr>
          <a:xfrm>
            <a:off x="296624" y="2101103"/>
            <a:ext cx="4238244" cy="2030730"/>
          </a:xfrm>
          <a:prstGeom prst="roundRect">
            <a:avLst>
              <a:gd name="adj" fmla="val 5581"/>
            </a:avLst>
          </a:prstGeom>
          <a:solidFill>
            <a:srgbClr val="6EA7E1">
              <a:alpha val="95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08795075-A533-444D-7062-4F1C1397DB96}"/>
              </a:ext>
            </a:extLst>
          </p:cNvPr>
          <p:cNvSpPr/>
          <p:nvPr/>
        </p:nvSpPr>
        <p:spPr>
          <a:xfrm>
            <a:off x="479504" y="2316908"/>
            <a:ext cx="3932785" cy="4250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8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3630A38-D2C5-DD6F-56A3-8597D14FA849}"/>
              </a:ext>
            </a:extLst>
          </p:cNvPr>
          <p:cNvSpPr/>
          <p:nvPr/>
        </p:nvSpPr>
        <p:spPr>
          <a:xfrm>
            <a:off x="570944" y="2844461"/>
            <a:ext cx="3780055" cy="10862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CATE(age &gt; 65) = −10 mmHg</a:t>
            </a:r>
            <a:endParaRPr lang="en-US" sz="24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BAE4E69-ADD2-20A4-6CB7-5E004C343311}"/>
              </a:ext>
            </a:extLst>
          </p:cNvPr>
          <p:cNvSpPr/>
          <p:nvPr/>
        </p:nvSpPr>
        <p:spPr>
          <a:xfrm>
            <a:off x="4717748" y="2101103"/>
            <a:ext cx="4238244" cy="2030730"/>
          </a:xfrm>
          <a:prstGeom prst="roundRect">
            <a:avLst>
              <a:gd name="adj" fmla="val 5581"/>
            </a:avLst>
          </a:prstGeom>
          <a:solidFill>
            <a:srgbClr val="FDBB30">
              <a:alpha val="95000"/>
            </a:srgbClr>
          </a:solidFill>
          <a:ln w="15240">
            <a:solidFill>
              <a:srgbClr val="FDBB3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6B2AC37-1490-5AAE-314D-C8E2E61F472E}"/>
              </a:ext>
            </a:extLst>
          </p:cNvPr>
          <p:cNvSpPr/>
          <p:nvPr/>
        </p:nvSpPr>
        <p:spPr>
          <a:xfrm>
            <a:off x="4900628" y="2316908"/>
            <a:ext cx="3932785" cy="4250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subgroup</a:t>
            </a:r>
            <a:endParaRPr lang="en-US" sz="18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A910D4C9-89FB-3438-F813-65A89B842B97}"/>
              </a:ext>
            </a:extLst>
          </p:cNvPr>
          <p:cNvSpPr/>
          <p:nvPr/>
        </p:nvSpPr>
        <p:spPr>
          <a:xfrm>
            <a:off x="4992068" y="2844461"/>
            <a:ext cx="3780055" cy="10862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solidFill>
                  <a:srgbClr val="15151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CATE(age &lt; 40) = −2 mmHg</a:t>
            </a:r>
            <a:endParaRPr lang="en-US" sz="240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E385A211-DD7F-F0E6-EE90-0E84A086A0A5}"/>
              </a:ext>
            </a:extLst>
          </p:cNvPr>
          <p:cNvSpPr/>
          <p:nvPr/>
        </p:nvSpPr>
        <p:spPr>
          <a:xfrm>
            <a:off x="340281" y="4234350"/>
            <a:ext cx="8615711" cy="598766"/>
          </a:xfrm>
          <a:prstGeom prst="roundRect">
            <a:avLst>
              <a:gd name="adj" fmla="val 16667"/>
            </a:avLst>
          </a:prstGeom>
          <a:solidFill>
            <a:srgbClr val="6EA7E1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06ADA368-DD87-67C0-7CC6-F4AB9D2FECEA}"/>
              </a:ext>
            </a:extLst>
          </p:cNvPr>
          <p:cNvSpPr/>
          <p:nvPr/>
        </p:nvSpPr>
        <p:spPr>
          <a:xfrm>
            <a:off x="496277" y="4360409"/>
            <a:ext cx="8220494" cy="33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language of treatment-effect heterogeneity.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20359627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B2AF1-CA7E-879A-DC60-70A1CA991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00CDC7-C9FE-BE3C-ADE2-E2741E7EEF50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Different estimands answer different questions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FCDC97F2-C229-E6DD-7DFB-49EEBA576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66" y="1574800"/>
            <a:ext cx="9145466" cy="250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54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4F72F-631E-5689-3E05-0C78D004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E69F9-A3F0-8313-EC0C-AD9C3B74F798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Worked Examples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4E5A8BEC-DFE9-6253-CD22-8283D71C4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70" y="1149350"/>
            <a:ext cx="530352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6221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30294-DFD8-C9DF-2472-E4A5B7453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268BA1-E125-FD2D-C26A-BE240E4155BC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Worked Examples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74273894-7F68-456B-1B50-1484CF6F5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70" y="1149350"/>
            <a:ext cx="5303520" cy="3200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1">
                <a:extLst>
                  <a:ext uri="{FF2B5EF4-FFF2-40B4-BE49-F238E27FC236}">
                    <a16:creationId xmlns:a16="http://schemas.microsoft.com/office/drawing/2014/main" id="{57697124-2903-48BA-1694-9CF6F6450E3A}"/>
                  </a:ext>
                </a:extLst>
              </p:cNvPr>
              <p:cNvSpPr/>
              <p:nvPr/>
            </p:nvSpPr>
            <p:spPr>
              <a:xfrm>
                <a:off x="5985510" y="1564640"/>
                <a:ext cx="2560320" cy="242316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500" b="1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𝑨𝑻𝑬</m:t>
                      </m:r>
                      <m:r>
                        <a:rPr lang="en-US" sz="2500" b="1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</m:t>
                      </m:r>
                      <m:r>
                        <a:rPr lang="en-US" sz="2500" b="1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𝟐</m:t>
                      </m:r>
                      <m:r>
                        <a:rPr lang="en-US" sz="2500" b="1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.</m:t>
                      </m:r>
                      <m:r>
                        <a:rPr lang="en-US" sz="2500" b="1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𝟓</m:t>
                      </m:r>
                    </m:oMath>
                  </m:oMathPara>
                </a14:m>
                <a:endParaRPr lang="en-US" sz="2500" dirty="0"/>
              </a:p>
              <a:p>
                <a:pPr marL="0" indent="0" algn="ctr">
                  <a:buNone/>
                </a:pPr>
                <a:endParaRPr lang="en-US" sz="25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500" b="1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𝑨𝑻𝑻</m:t>
                      </m:r>
                      <m:r>
                        <a:rPr lang="en-US" sz="2500" b="1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</m:t>
                      </m:r>
                      <m:r>
                        <a:rPr lang="en-US" sz="2500" b="1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𝟎</m:t>
                      </m:r>
                    </m:oMath>
                  </m:oMathPara>
                </a14:m>
                <a:endParaRPr lang="en-US" sz="2500" dirty="0"/>
              </a:p>
              <a:p>
                <a:pPr marL="0" indent="0" algn="ctr">
                  <a:buNone/>
                </a:pPr>
                <a:endParaRPr lang="en-US" sz="25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500" b="1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𝑨𝑻𝑪</m:t>
                      </m:r>
                      <m:r>
                        <a:rPr lang="en-US" sz="2500" b="1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</m:t>
                      </m:r>
                      <m:r>
                        <a:rPr lang="en-US" sz="2500" b="1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𝟓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>
          <p:sp>
            <p:nvSpPr>
              <p:cNvPr id="5" name="Text 1">
                <a:extLst>
                  <a:ext uri="{FF2B5EF4-FFF2-40B4-BE49-F238E27FC236}">
                    <a16:creationId xmlns:a16="http://schemas.microsoft.com/office/drawing/2014/main" id="{57697124-2903-48BA-1694-9CF6F6450E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510" y="1564640"/>
                <a:ext cx="2560320" cy="2423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941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80F6C-9E65-C3BA-B426-03D685E64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8D8130-FE43-E66A-C30D-C7FECCED03F7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Worked Examples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1">
                <a:extLst>
                  <a:ext uri="{FF2B5EF4-FFF2-40B4-BE49-F238E27FC236}">
                    <a16:creationId xmlns:a16="http://schemas.microsoft.com/office/drawing/2014/main" id="{E4DAF2AE-4B02-9AB3-B55F-21D1AA0CDAEF}"/>
                  </a:ext>
                </a:extLst>
              </p:cNvPr>
              <p:cNvSpPr/>
              <p:nvPr/>
            </p:nvSpPr>
            <p:spPr>
              <a:xfrm>
                <a:off x="450850" y="1125835"/>
                <a:ext cx="7962900" cy="70485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𝐴𝑇𝐸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𝑃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𝑇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=1)·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𝐴𝑇𝑇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+ 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𝑃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𝑇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=0)·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𝐴𝑇𝐶</m:t>
                      </m:r>
                    </m:oMath>
                  </m:oMathPara>
                </a14:m>
                <a:endParaRPr lang="en-US" sz="3100" dirty="0"/>
              </a:p>
            </p:txBody>
          </p:sp>
        </mc:Choice>
        <mc:Fallback>
          <p:sp>
            <p:nvSpPr>
              <p:cNvPr id="6" name="Text 1">
                <a:extLst>
                  <a:ext uri="{FF2B5EF4-FFF2-40B4-BE49-F238E27FC236}">
                    <a16:creationId xmlns:a16="http://schemas.microsoft.com/office/drawing/2014/main" id="{E4DAF2AE-4B02-9AB3-B55F-21D1AA0CDA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50" y="1125835"/>
                <a:ext cx="7962900" cy="7048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2">
            <a:extLst>
              <a:ext uri="{FF2B5EF4-FFF2-40B4-BE49-F238E27FC236}">
                <a16:creationId xmlns:a16="http://schemas.microsoft.com/office/drawing/2014/main" id="{E062628E-CA89-CB2D-55D7-A9817C9665DC}"/>
              </a:ext>
            </a:extLst>
          </p:cNvPr>
          <p:cNvSpPr/>
          <p:nvPr/>
        </p:nvSpPr>
        <p:spPr>
          <a:xfrm>
            <a:off x="30480" y="2272045"/>
            <a:ext cx="9083040" cy="704850"/>
          </a:xfrm>
          <a:prstGeom prst="roundRect">
            <a:avLst>
              <a:gd name="adj" fmla="val 13333"/>
            </a:avLst>
          </a:prstGeom>
          <a:solidFill>
            <a:srgbClr val="6EA7E1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CCA2B57B-A211-8105-E5BC-6934725C2264}"/>
              </a:ext>
            </a:extLst>
          </p:cNvPr>
          <p:cNvSpPr/>
          <p:nvPr/>
        </p:nvSpPr>
        <p:spPr>
          <a:xfrm>
            <a:off x="218532" y="2418349"/>
            <a:ext cx="8666387" cy="45423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previous example, half the population is treated and half untreated.</a:t>
            </a:r>
            <a:endParaRPr lang="en-US" sz="2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4">
                <a:extLst>
                  <a:ext uri="{FF2B5EF4-FFF2-40B4-BE49-F238E27FC236}">
                    <a16:creationId xmlns:a16="http://schemas.microsoft.com/office/drawing/2014/main" id="{C01B542E-5356-B9E5-10A4-50C8C1258F3A}"/>
                  </a:ext>
                </a:extLst>
              </p:cNvPr>
              <p:cNvSpPr/>
              <p:nvPr/>
            </p:nvSpPr>
            <p:spPr>
              <a:xfrm>
                <a:off x="607105" y="3357265"/>
                <a:ext cx="7889240" cy="70485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0.5(0) + 0.5(5) = 2.5</m:t>
                      </m:r>
                    </m:oMath>
                  </m:oMathPara>
                </a14:m>
                <a:endParaRPr lang="en-US" sz="3100" dirty="0"/>
              </a:p>
            </p:txBody>
          </p:sp>
        </mc:Choice>
        <mc:Fallback>
          <p:sp>
            <p:nvSpPr>
              <p:cNvPr id="12" name="Text 4">
                <a:extLst>
                  <a:ext uri="{FF2B5EF4-FFF2-40B4-BE49-F238E27FC236}">
                    <a16:creationId xmlns:a16="http://schemas.microsoft.com/office/drawing/2014/main" id="{C01B542E-5356-B9E5-10A4-50C8C1258F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05" y="3357265"/>
                <a:ext cx="7889240" cy="7048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8123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933AD-61BE-4549-13BC-2B00FF5CF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60C480-F247-538C-7378-4DD92AA7A004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Bias Decomposition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1">
                <a:extLst>
                  <a:ext uri="{FF2B5EF4-FFF2-40B4-BE49-F238E27FC236}">
                    <a16:creationId xmlns:a16="http://schemas.microsoft.com/office/drawing/2014/main" id="{77519FF2-5462-5283-C212-46B5D5A087C4}"/>
                  </a:ext>
                </a:extLst>
              </p:cNvPr>
              <p:cNvSpPr/>
              <p:nvPr/>
            </p:nvSpPr>
            <p:spPr>
              <a:xfrm>
                <a:off x="393700" y="815592"/>
                <a:ext cx="7975600" cy="3350915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1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|"/>
                          <m:ctrlPr>
                            <a:rPr lang="en-US" sz="31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1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31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31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1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=1] −</m:t>
                      </m:r>
                      <m:r>
                        <a:rPr lang="en-US" sz="31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|"/>
                          <m:ctrlPr>
                            <a:rPr lang="en-US" sz="31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1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31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31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1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=0]</m:t>
                      </m:r>
                    </m:oMath>
                  </m:oMathPara>
                </a14:m>
                <a:endParaRPr lang="en-US" sz="3100" b="0" i="1" dirty="0">
                  <a:solidFill>
                    <a:srgbClr val="FFFF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3100" b="0" i="1" dirty="0">
                  <a:solidFill>
                    <a:srgbClr val="FFFF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1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1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31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31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1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1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1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31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1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sz="31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31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r>
                            <a:rPr lang="en-US" sz="31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1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1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1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31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1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sz="31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31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</m:e>
                      </m:d>
                      <m:r>
                        <a:rPr lang="en-US" sz="31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100" dirty="0">
                  <a:solidFill>
                    <a:srgbClr val="FFFF00"/>
                  </a:solidFill>
                </a:endParaRPr>
              </a:p>
              <a:p>
                <a:pPr marL="0" indent="0" algn="ctr">
                  <a:buNone/>
                </a:pPr>
                <a:endParaRPr lang="en-US" sz="3100" dirty="0">
                  <a:solidFill>
                    <a:srgbClr val="FFFF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3100" dirty="0">
                    <a:solidFill>
                      <a:srgbClr val="FFFF00"/>
                    </a:solidFill>
                  </a:rPr>
                  <a:t>So, Observed treated control difference = ATT + Selection Bias</a:t>
                </a:r>
              </a:p>
            </p:txBody>
          </p:sp>
        </mc:Choice>
        <mc:Fallback>
          <p:sp>
            <p:nvSpPr>
              <p:cNvPr id="6" name="Text 1">
                <a:extLst>
                  <a:ext uri="{FF2B5EF4-FFF2-40B4-BE49-F238E27FC236}">
                    <a16:creationId xmlns:a16="http://schemas.microsoft.com/office/drawing/2014/main" id="{77519FF2-5462-5283-C212-46B5D5A087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00" y="815592"/>
                <a:ext cx="7975600" cy="33509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F2B8DC9-D9E3-6050-A871-03950B0A835B}"/>
              </a:ext>
            </a:extLst>
          </p:cNvPr>
          <p:cNvSpPr txBox="1"/>
          <p:nvPr/>
        </p:nvSpPr>
        <p:spPr>
          <a:xfrm>
            <a:off x="393700" y="4255407"/>
            <a:ext cx="8115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b="1" dirty="0">
                <a:solidFill>
                  <a:schemeClr val="bg1"/>
                </a:solidFill>
              </a:rPr>
              <a:t>The treated and untreated groups can differ for two reasons: treatment changed the outcome, and they were different even before treatment.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8561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99AD0-45B3-EE72-7C22-C19ECEEE1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47A9A0-759E-5956-85AB-58AD942FCD15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Bias Decomposition: Example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8B4AE3-EF02-2C87-2B72-9479310169C4}"/>
                  </a:ext>
                </a:extLst>
              </p:cNvPr>
              <p:cNvSpPr txBox="1"/>
              <p:nvPr/>
            </p:nvSpPr>
            <p:spPr>
              <a:xfrm>
                <a:off x="514350" y="908957"/>
                <a:ext cx="811530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</a:rPr>
                  <a:t>Suppose:  people who get treatment has an average outcome of 80 and untreated group has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=80−70=10</m:t>
                      </m:r>
                    </m:oMath>
                  </m:oMathPara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But suppose the people who got treatment would already have had an average outcome of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76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even without treatment.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(0)|</m:t>
                          </m:r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=76</m:t>
                      </m:r>
                    </m:oMath>
                  </m:oMathPara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Then: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𝐴𝑇𝑇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=80−76=4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and Baseline/Selection Difference: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76−70=6.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So the observed 10-point difference makes the treatment look like it helped by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, but only 4 points were actually treatment effect.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8B4AE3-EF02-2C87-2B72-947931016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0" y="908957"/>
                <a:ext cx="8115300" cy="3970318"/>
              </a:xfrm>
              <a:prstGeom prst="rect">
                <a:avLst/>
              </a:prstGeom>
              <a:blipFill>
                <a:blip r:embed="rId2"/>
                <a:stretch>
                  <a:fillRect l="-601" t="-768" r="-826" b="-1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3917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EA992-CAAA-4E23-609E-77EEABD69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AA15B0-BDAE-DEC9-0C93-07047F6B1C17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Bias Decomposition: Example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D0D148-5B07-D814-9684-517716822FFA}"/>
              </a:ext>
            </a:extLst>
          </p:cNvPr>
          <p:cNvSpPr txBox="1"/>
          <p:nvPr/>
        </p:nvSpPr>
        <p:spPr>
          <a:xfrm>
            <a:off x="514350" y="908957"/>
            <a:ext cx="81153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Suppose:  people are divided into two groups, exercise and no exercise.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Naive difference = 9 lbs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Should we conclude that the exercise program causes 9 lbs of additional weight loss?  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b="1" dirty="0">
                <a:solidFill>
                  <a:schemeClr val="bg1"/>
                </a:solidFill>
              </a:rPr>
              <a:t>Not yet. Check how treatment was assigned.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67E09A-3E5B-C805-A085-B075247CD7A0}"/>
              </a:ext>
            </a:extLst>
          </p:cNvPr>
          <p:cNvSpPr/>
          <p:nvPr/>
        </p:nvSpPr>
        <p:spPr>
          <a:xfrm>
            <a:off x="571500" y="1555750"/>
            <a:ext cx="8051800" cy="527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Observed mean weight loss: Exercise = 15 lbs, No exercise = 6 lbs.</a:t>
            </a:r>
          </a:p>
        </p:txBody>
      </p:sp>
    </p:spTree>
    <p:extLst>
      <p:ext uri="{BB962C8B-B14F-4D97-AF65-F5344CB8AC3E}">
        <p14:creationId xmlns:p14="http://schemas.microsoft.com/office/powerpoint/2010/main" val="30155884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5CBD7-5EA2-B8F4-23C7-2A2C9195A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965963-6D09-3FB3-7483-BEC1E98C1441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Bias Decomposition: Example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1895ADF5-9808-7C77-DCA0-3CE2CAC50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227272"/>
              </p:ext>
            </p:extLst>
          </p:nvPr>
        </p:nvGraphicFramePr>
        <p:xfrm>
          <a:off x="357505" y="1310024"/>
          <a:ext cx="8428990" cy="1762761"/>
        </p:xfrm>
        <a:graphic>
          <a:graphicData uri="http://schemas.openxmlformats.org/drawingml/2006/table">
            <a:tbl>
              <a:tblPr/>
              <a:tblGrid>
                <a:gridCol w="1855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6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5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 group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A7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Exercise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A7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exercise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A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5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40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people; mean loss = 17 lbs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people; mean loss = 14 lbs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5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40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people; mean loss = 7 lbs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people; mean loss = 4 lbs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1">
            <a:extLst>
              <a:ext uri="{FF2B5EF4-FFF2-40B4-BE49-F238E27FC236}">
                <a16:creationId xmlns:a16="http://schemas.microsoft.com/office/drawing/2014/main" id="{5D8245EB-06F9-030A-F132-080D7D9A1696}"/>
              </a:ext>
            </a:extLst>
          </p:cNvPr>
          <p:cNvSpPr/>
          <p:nvPr/>
        </p:nvSpPr>
        <p:spPr>
          <a:xfrm>
            <a:off x="1308100" y="3496459"/>
            <a:ext cx="6835140" cy="8001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FDBB3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Within each age group: effect = 3 lbs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604219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55E03-E427-E479-D1A0-7C16EFFB2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A2B7AA-09C5-2ACC-F5FF-C53B09B21A86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Standardization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1326DB-698B-548F-E69C-390D7E3A17C3}"/>
                  </a:ext>
                </a:extLst>
              </p:cNvPr>
              <p:cNvSpPr txBox="1"/>
              <p:nvPr/>
            </p:nvSpPr>
            <p:spPr>
              <a:xfrm>
                <a:off x="508000" y="913875"/>
                <a:ext cx="81280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</a:rPr>
                  <a:t>What if both groups had the same age distribution?</a:t>
                </a:r>
              </a:p>
              <a:p>
                <a:pPr algn="ctr"/>
                <a:endParaRPr lang="en-US" sz="18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Treated Mean: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0.5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+0.5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pPr algn="ctr"/>
                <a:endParaRPr lang="en-US" sz="18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Control Mean: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0.5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+0.5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pPr algn="ctr"/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So, the standardized treatment effect is </a:t>
                </a:r>
                <a:r>
                  <a:rPr lang="en-US" sz="1800" u="sng" dirty="0">
                    <a:solidFill>
                      <a:schemeClr val="bg1"/>
                    </a:solidFill>
                  </a:rPr>
                  <a:t>3 lbs</a:t>
                </a:r>
                <a:r>
                  <a:rPr lang="en-US" sz="1800" dirty="0">
                    <a:solidFill>
                      <a:schemeClr val="bg1"/>
                    </a:solidFill>
                  </a:rPr>
                  <a:t>, matching the within-age-group effect.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1326DB-698B-548F-E69C-390D7E3A1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913875"/>
                <a:ext cx="8128000" cy="2862322"/>
              </a:xfrm>
              <a:prstGeom prst="rect">
                <a:avLst/>
              </a:prstGeom>
              <a:blipFill>
                <a:blip r:embed="rId2"/>
                <a:stretch>
                  <a:fillRect l="-600" t="-1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CD90C31-84DB-0FAD-A4AD-4B613B9C3678}"/>
              </a:ext>
            </a:extLst>
          </p:cNvPr>
          <p:cNvSpPr/>
          <p:nvPr/>
        </p:nvSpPr>
        <p:spPr>
          <a:xfrm>
            <a:off x="444500" y="3776197"/>
            <a:ext cx="8324850" cy="946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Adjustment asks: what would the groups look like under a common covariate distribution?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7498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50F35-BFA9-0729-4ABE-B9EC3B367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8F4A44-5EA5-B315-3672-78B6B505C387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How do we recover Causal Effect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592C74-2831-58E3-9885-C82DA69F9D76}"/>
              </a:ext>
            </a:extLst>
          </p:cNvPr>
          <p:cNvSpPr txBox="1"/>
          <p:nvPr/>
        </p:nvSpPr>
        <p:spPr>
          <a:xfrm>
            <a:off x="508000" y="913875"/>
            <a:ext cx="8128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We saw that the observed treated-untreated difference can mix a causal effect with baseline differences. 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Now we ask what must be true for observed data to identify the missing counterfactual comparison.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AC8440C-DB36-074C-437D-2F1B10848DF4}"/>
              </a:ext>
            </a:extLst>
          </p:cNvPr>
          <p:cNvSpPr/>
          <p:nvPr/>
        </p:nvSpPr>
        <p:spPr>
          <a:xfrm>
            <a:off x="508000" y="2921000"/>
            <a:ext cx="2222500" cy="1555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the causal estimand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8FD3C95-EC34-8365-2F1C-7BC6D9E69FC7}"/>
              </a:ext>
            </a:extLst>
          </p:cNvPr>
          <p:cNvSpPr/>
          <p:nvPr/>
        </p:nvSpPr>
        <p:spPr>
          <a:xfrm>
            <a:off x="3460750" y="2921000"/>
            <a:ext cx="2222500" cy="1555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the causal assumptions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20BE2BF-33DC-6EAE-953C-459A6D35E42B}"/>
              </a:ext>
            </a:extLst>
          </p:cNvPr>
          <p:cNvSpPr/>
          <p:nvPr/>
        </p:nvSpPr>
        <p:spPr>
          <a:xfrm>
            <a:off x="6413500" y="2921000"/>
            <a:ext cx="2222500" cy="1555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Identify an observed-data quantity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2A1F923-B5D7-B401-9AB3-F0F9F48A76A4}"/>
              </a:ext>
            </a:extLst>
          </p:cNvPr>
          <p:cNvCxnSpPr>
            <a:cxnSpLocks/>
          </p:cNvCxnSpPr>
          <p:nvPr/>
        </p:nvCxnSpPr>
        <p:spPr>
          <a:xfrm>
            <a:off x="2781300" y="3714750"/>
            <a:ext cx="6794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58A6EB-B004-C124-A109-6A1A78C99C96}"/>
              </a:ext>
            </a:extLst>
          </p:cNvPr>
          <p:cNvCxnSpPr/>
          <p:nvPr/>
        </p:nvCxnSpPr>
        <p:spPr>
          <a:xfrm>
            <a:off x="5734050" y="3698875"/>
            <a:ext cx="6794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9836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852BA-DF59-D692-E940-1DB1D1FAD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05E88-04CF-2EE6-190A-B6B623FC91CC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Identifiability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0B8D2F-8253-2A05-F51D-B2B23A23BAB0}"/>
                  </a:ext>
                </a:extLst>
              </p:cNvPr>
              <p:cNvSpPr txBox="1"/>
              <p:nvPr/>
            </p:nvSpPr>
            <p:spPr>
              <a:xfrm>
                <a:off x="508000" y="1288525"/>
                <a:ext cx="81280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</a:rPr>
                  <a:t>Causal quantity: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Statistical quantity: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Statistical quantities can be estimated from the data, causal estimands cannot.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A causal quantity is identifiable if we can compute it from a purely statistical quantity (e.g.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).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For a causal quantity to be identifiable, we need some assumptions.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0B8D2F-8253-2A05-F51D-B2B23A23B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1288525"/>
                <a:ext cx="8128000" cy="2862322"/>
              </a:xfrm>
              <a:prstGeom prst="rect">
                <a:avLst/>
              </a:prstGeom>
              <a:blipFill>
                <a:blip r:embed="rId2"/>
                <a:stretch>
                  <a:fillRect l="-600" t="-1064" r="-600" b="-2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78050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4A6F5-C33D-0416-76A2-401872D5A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93EDB6-7D5A-20E1-8491-7E91023A6D5E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Standard Causal Assumptions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F0B2D-321C-7D63-58B7-6D24A5659049}"/>
              </a:ext>
            </a:extLst>
          </p:cNvPr>
          <p:cNvSpPr txBox="1"/>
          <p:nvPr/>
        </p:nvSpPr>
        <p:spPr>
          <a:xfrm>
            <a:off x="508000" y="1199625"/>
            <a:ext cx="8128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For the standard potential-outcomes framework, we need: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Consistency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Exchangeability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Positivity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No interference / SUTVA</a:t>
            </a:r>
          </a:p>
        </p:txBody>
      </p:sp>
    </p:spTree>
    <p:extLst>
      <p:ext uri="{BB962C8B-B14F-4D97-AF65-F5344CB8AC3E}">
        <p14:creationId xmlns:p14="http://schemas.microsoft.com/office/powerpoint/2010/main" val="2502807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10CD7-BE99-261E-19B8-57E77CDCE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936BFD-3EDD-E3D9-892E-E2130F6D1E3E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Exchangeability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B9DC4-46A5-28A8-485F-DC7D6AA1A824}"/>
              </a:ext>
            </a:extLst>
          </p:cNvPr>
          <p:cNvSpPr txBox="1"/>
          <p:nvPr/>
        </p:nvSpPr>
        <p:spPr>
          <a:xfrm>
            <a:off x="508000" y="1199625"/>
            <a:ext cx="8128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Exchangeability or Ignorability means that the treated and untreated groups are comparable with respect to their potential outcomes.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If treatment assignment were swapped between the groups, we would expect the same distribution of potential outcomes.</a:t>
            </a:r>
          </a:p>
          <a:p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787E4AB-BE5C-3F07-0842-057547A12139}"/>
              </a:ext>
            </a:extLst>
          </p:cNvPr>
          <p:cNvSpPr/>
          <p:nvPr/>
        </p:nvSpPr>
        <p:spPr>
          <a:xfrm>
            <a:off x="441325" y="3821445"/>
            <a:ext cx="8261350" cy="1164070"/>
          </a:xfrm>
          <a:prstGeom prst="roundRect">
            <a:avLst>
              <a:gd name="adj" fmla="val 9600"/>
            </a:avLst>
          </a:prstGeom>
          <a:solidFill>
            <a:srgbClr val="6EA7E1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070EBB7-678D-5D48-204D-70623528FD1E}"/>
              </a:ext>
            </a:extLst>
          </p:cNvPr>
          <p:cNvSpPr/>
          <p:nvPr/>
        </p:nvSpPr>
        <p:spPr>
          <a:xfrm>
            <a:off x="546361" y="3957019"/>
            <a:ext cx="7882389" cy="8660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treatment, randomized groups are comparable in expectation, including on unmeasured baseline causes.</a:t>
            </a:r>
            <a:endParaRPr lang="en-US" sz="2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3">
                <a:extLst>
                  <a:ext uri="{FF2B5EF4-FFF2-40B4-BE49-F238E27FC236}">
                    <a16:creationId xmlns:a16="http://schemas.microsoft.com/office/drawing/2014/main" id="{A2343C99-D877-19E6-A591-B7C512CDF4DF}"/>
                  </a:ext>
                </a:extLst>
              </p:cNvPr>
              <p:cNvSpPr/>
              <p:nvPr/>
            </p:nvSpPr>
            <p:spPr>
              <a:xfrm>
                <a:off x="317500" y="2724958"/>
                <a:ext cx="8886190" cy="68580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4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</m:t>
                      </m:r>
                      <m:r>
                        <a:rPr lang="en-US" sz="34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34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(1), </m:t>
                      </m:r>
                      <m:r>
                        <a:rPr lang="en-US" sz="34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34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(0)) ⫫ </m:t>
                      </m:r>
                      <m:r>
                        <a:rPr lang="en-US" sz="34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𝑇</m:t>
                      </m:r>
                    </m:oMath>
                  </m:oMathPara>
                </a14:m>
                <a:endParaRPr lang="en-US" sz="3400" dirty="0"/>
              </a:p>
            </p:txBody>
          </p:sp>
        </mc:Choice>
        <mc:Fallback>
          <p:sp>
            <p:nvSpPr>
              <p:cNvPr id="11" name="Text 3">
                <a:extLst>
                  <a:ext uri="{FF2B5EF4-FFF2-40B4-BE49-F238E27FC236}">
                    <a16:creationId xmlns:a16="http://schemas.microsoft.com/office/drawing/2014/main" id="{A2343C99-D877-19E6-A591-B7C512CDF4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00" y="2724958"/>
                <a:ext cx="8886190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3176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1E5E8-625D-44AE-E5DB-7957C766E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8141A8-80BB-FCBC-9C80-976C7217A116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Conditional Exchangeability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27E35B4-B169-90E4-B006-644A8D1878B1}"/>
              </a:ext>
            </a:extLst>
          </p:cNvPr>
          <p:cNvSpPr/>
          <p:nvPr/>
        </p:nvSpPr>
        <p:spPr>
          <a:xfrm>
            <a:off x="511175" y="2075195"/>
            <a:ext cx="8261350" cy="1164070"/>
          </a:xfrm>
          <a:prstGeom prst="roundRect">
            <a:avLst>
              <a:gd name="adj" fmla="val 9600"/>
            </a:avLst>
          </a:prstGeom>
          <a:solidFill>
            <a:srgbClr val="6EA7E1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ACD1A17-C29B-09E9-6CE7-26C937F45ACF}"/>
              </a:ext>
            </a:extLst>
          </p:cNvPr>
          <p:cNvSpPr/>
          <p:nvPr/>
        </p:nvSpPr>
        <p:spPr>
          <a:xfrm>
            <a:off x="616211" y="2210769"/>
            <a:ext cx="7882389" cy="8660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levels of measured covariates X, treatment assignment behaves as if random with respect to the potential outcomes.</a:t>
            </a:r>
            <a:endParaRPr lang="en-US" sz="2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3">
                <a:extLst>
                  <a:ext uri="{FF2B5EF4-FFF2-40B4-BE49-F238E27FC236}">
                    <a16:creationId xmlns:a16="http://schemas.microsoft.com/office/drawing/2014/main" id="{DE010E67-A91B-FBD4-1B66-10C487F39BA8}"/>
                  </a:ext>
                </a:extLst>
              </p:cNvPr>
              <p:cNvSpPr/>
              <p:nvPr/>
            </p:nvSpPr>
            <p:spPr>
              <a:xfrm>
                <a:off x="257810" y="979155"/>
                <a:ext cx="8886190" cy="68580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340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r>
                            <a:rPr lang="en-US" sz="340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3400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3400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340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, </m:t>
                          </m:r>
                          <m:r>
                            <a:rPr lang="en-US" sz="340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3400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3400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sz="34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⫫ </m:t>
                      </m:r>
                      <m:r>
                        <a:rPr lang="en-US" sz="34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𝑇</m:t>
                      </m:r>
                      <m:r>
                        <a:rPr lang="en-US" sz="3400" b="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 | </m:t>
                      </m:r>
                      <m:r>
                        <a:rPr lang="en-US" sz="3400" b="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𝑋</m:t>
                      </m:r>
                    </m:oMath>
                  </m:oMathPara>
                </a14:m>
                <a:endParaRPr lang="en-US" sz="3400" dirty="0"/>
              </a:p>
            </p:txBody>
          </p:sp>
        </mc:Choice>
        <mc:Fallback>
          <p:sp>
            <p:nvSpPr>
              <p:cNvPr id="11" name="Text 3">
                <a:extLst>
                  <a:ext uri="{FF2B5EF4-FFF2-40B4-BE49-F238E27FC236}">
                    <a16:creationId xmlns:a16="http://schemas.microsoft.com/office/drawing/2014/main" id="{DE010E67-A91B-FBD4-1B66-10C487F39B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10" y="979155"/>
                <a:ext cx="8886190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9D4FFF1-DE5C-554A-7465-BBCFA4C64D5D}"/>
              </a:ext>
            </a:extLst>
          </p:cNvPr>
          <p:cNvSpPr txBox="1"/>
          <p:nvPr/>
        </p:nvSpPr>
        <p:spPr>
          <a:xfrm>
            <a:off x="616210" y="3879165"/>
            <a:ext cx="7714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Also sometimes referred to as unconfoundedness or no unmeasured confounding.</a:t>
            </a:r>
          </a:p>
        </p:txBody>
      </p:sp>
    </p:spTree>
    <p:extLst>
      <p:ext uri="{BB962C8B-B14F-4D97-AF65-F5344CB8AC3E}">
        <p14:creationId xmlns:p14="http://schemas.microsoft.com/office/powerpoint/2010/main" val="289058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F779E-978F-50D0-5D4D-78570585A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05E874-A8F6-FE44-E854-BD8E0B081E7C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Exchangeability is not a model diagnostic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7D9F62-88F3-E630-DDCE-2B4BC27F81EB}"/>
              </a:ext>
            </a:extLst>
          </p:cNvPr>
          <p:cNvSpPr txBox="1"/>
          <p:nvPr/>
        </p:nvSpPr>
        <p:spPr>
          <a:xfrm>
            <a:off x="616210" y="3879165"/>
            <a:ext cx="7714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We can check balance on measured covariates. </a:t>
            </a:r>
          </a:p>
          <a:p>
            <a:r>
              <a:rPr lang="en-US" sz="1800" dirty="0">
                <a:solidFill>
                  <a:schemeClr val="bg1"/>
                </a:solidFill>
              </a:rPr>
              <a:t>But an unmeasured confounder is, by definition, not in the dataset.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44BD0CF-C0A6-BE2A-8243-8B1609DB0A6E}"/>
              </a:ext>
            </a:extLst>
          </p:cNvPr>
          <p:cNvSpPr/>
          <p:nvPr/>
        </p:nvSpPr>
        <p:spPr>
          <a:xfrm>
            <a:off x="177135" y="1087405"/>
            <a:ext cx="8801765" cy="938888"/>
          </a:xfrm>
          <a:prstGeom prst="roundRect">
            <a:avLst>
              <a:gd name="adj" fmla="val 12000"/>
            </a:avLst>
          </a:prstGeom>
          <a:solidFill>
            <a:srgbClr val="FDBB30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410608D-A40E-F691-353D-06CF42D58839}"/>
              </a:ext>
            </a:extLst>
          </p:cNvPr>
          <p:cNvSpPr/>
          <p:nvPr/>
        </p:nvSpPr>
        <p:spPr>
          <a:xfrm>
            <a:off x="418435" y="1237627"/>
            <a:ext cx="8398014" cy="6384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test “no unmeasured confounding” from the observed data?</a:t>
            </a:r>
            <a:endParaRPr lang="en-US" sz="26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C648671D-469B-03E7-C45A-2D1D63C74842}"/>
              </a:ext>
            </a:extLst>
          </p:cNvPr>
          <p:cNvSpPr/>
          <p:nvPr/>
        </p:nvSpPr>
        <p:spPr>
          <a:xfrm>
            <a:off x="2926080" y="2609829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05A5A"/>
                </a:solidFill>
                <a:latin typeface="Walter Turncoat" pitchFamily="34" charset="0"/>
                <a:ea typeface="Walter Turncoat" pitchFamily="34" charset="-122"/>
                <a:cs typeface="Walter Turncoat" pitchFamily="34" charset="-120"/>
              </a:rPr>
              <a:t>No.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37461167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FC076-2DD6-4937-B94C-003B98DF4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510E21-E650-6C52-CE08-6E684CB1B5A5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Exchangeability: Example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A84C46-4DE5-94B3-B7CC-C7BBF9A63ABD}"/>
                  </a:ext>
                </a:extLst>
              </p:cNvPr>
              <p:cNvSpPr txBox="1"/>
              <p:nvPr/>
            </p:nvSpPr>
            <p:spPr>
              <a:xfrm>
                <a:off x="489612" y="984264"/>
                <a:ext cx="8064240" cy="3728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</a:rPr>
                  <a:t>Suppose sicker patients are more likely to receive a new drug.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Treated patients:  More severe disease, worse baseline prognosis.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Untreated patients: Less sever disease, better baseline prognosis.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Even without treatment, the two groups would have had different outcomes.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Therefor: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⊥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assumption is violated.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Methods that can help: Regression adjustment, stratification, matching, propensity-score methods, IPW, doubly robust estimators, sensitivity analysis, instrumental variables, difference-in-differences, negative controls, etc. 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A84C46-4DE5-94B3-B7CC-C7BBF9A63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12" y="984264"/>
                <a:ext cx="8064240" cy="3728970"/>
              </a:xfrm>
              <a:prstGeom prst="rect">
                <a:avLst/>
              </a:prstGeom>
              <a:blipFill>
                <a:blip r:embed="rId2"/>
                <a:stretch>
                  <a:fillRect l="-605" t="-817" r="-1209" b="-1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15492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F0F6E-DE8B-A410-8584-074C62CBA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4DA620-AD70-E630-9631-B1D2FBCEB38A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Consistency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4BBDF9-94A4-4002-B81C-60C19A0A603E}"/>
              </a:ext>
            </a:extLst>
          </p:cNvPr>
          <p:cNvSpPr txBox="1"/>
          <p:nvPr/>
        </p:nvSpPr>
        <p:spPr>
          <a:xfrm>
            <a:off x="615950" y="3307825"/>
            <a:ext cx="812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Consistency requires a well-defined treatment.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The treatment label must correspond to the intervention whose effect we want.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3">
                <a:extLst>
                  <a:ext uri="{FF2B5EF4-FFF2-40B4-BE49-F238E27FC236}">
                    <a16:creationId xmlns:a16="http://schemas.microsoft.com/office/drawing/2014/main" id="{36B56A1B-9647-B3D4-6F4B-A7A5391BADE8}"/>
                  </a:ext>
                </a:extLst>
              </p:cNvPr>
              <p:cNvSpPr/>
              <p:nvPr/>
            </p:nvSpPr>
            <p:spPr>
              <a:xfrm>
                <a:off x="128905" y="953341"/>
                <a:ext cx="8886190" cy="68580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3400" b="0" i="0" dirty="0">
                    <a:solidFill>
                      <a:srgbClr val="FDBB30"/>
                    </a:solidFill>
                    <a:latin typeface="+mj-lt"/>
                    <a:ea typeface="Cambria Math" pitchFamily="34" charset="-122"/>
                    <a:cs typeface="Cambria Math" pitchFamily="34" charset="-12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𝑇</m:t>
                        </m:r>
                      </m:e>
                      <m:sub>
                        <m:r>
                          <a:rPr lang="en-US" sz="3400" b="0" i="1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𝑖</m:t>
                        </m:r>
                      </m:sub>
                    </m:sSub>
                    <m:r>
                      <a:rPr lang="en-US" sz="3400" b="0" i="1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sz="3400" b="0" i="1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sz="3400" b="0" i="1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</m:oMath>
                </a14:m>
                <a:r>
                  <a:rPr lang="en-US" sz="3400" dirty="0"/>
                  <a:t> </a:t>
                </a:r>
                <a:r>
                  <a:rPr lang="en-US" sz="3400" dirty="0">
                    <a:solidFill>
                      <a:srgbClr val="FDBB30"/>
                    </a:solidFill>
                    <a:ea typeface="Cambria Math" pitchFamily="34" charset="-122"/>
                    <a:cs typeface="Cambria Math" pitchFamily="34" charset="-120"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𝑌</m:t>
                        </m:r>
                      </m:e>
                      <m:sub>
                        <m:r>
                          <a:rPr lang="en-US" sz="3400" b="0" i="1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𝑖</m:t>
                        </m:r>
                      </m:sub>
                    </m:sSub>
                    <m:r>
                      <a:rPr lang="en-US" sz="3400" i="1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sz="3400" b="0" i="1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𝑌</m:t>
                        </m:r>
                      </m:e>
                      <m:sub>
                        <m:r>
                          <a:rPr lang="en-US" sz="3400" b="0" i="1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𝑖</m:t>
                        </m:r>
                      </m:sub>
                    </m:sSub>
                    <m:r>
                      <a:rPr lang="en-US" sz="3400" b="0" i="1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sz="3400" b="0" i="1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sz="3400" b="0" i="1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endParaRPr lang="en-US" sz="3400" dirty="0"/>
              </a:p>
            </p:txBody>
          </p:sp>
        </mc:Choice>
        <mc:Fallback>
          <p:sp>
            <p:nvSpPr>
              <p:cNvPr id="11" name="Text 3">
                <a:extLst>
                  <a:ext uri="{FF2B5EF4-FFF2-40B4-BE49-F238E27FC236}">
                    <a16:creationId xmlns:a16="http://schemas.microsoft.com/office/drawing/2014/main" id="{36B56A1B-9647-B3D4-6F4B-A7A5391BAD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05" y="953341"/>
                <a:ext cx="8886190" cy="685800"/>
              </a:xfrm>
              <a:prstGeom prst="rect">
                <a:avLst/>
              </a:prstGeom>
              <a:blipFill>
                <a:blip r:embed="rId2"/>
                <a:stretch>
                  <a:fillRect t="-7080" b="-2566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2">
            <a:extLst>
              <a:ext uri="{FF2B5EF4-FFF2-40B4-BE49-F238E27FC236}">
                <a16:creationId xmlns:a16="http://schemas.microsoft.com/office/drawing/2014/main" id="{5C115ABA-B752-029B-F89F-99FD00FC6AD1}"/>
              </a:ext>
            </a:extLst>
          </p:cNvPr>
          <p:cNvSpPr/>
          <p:nvPr/>
        </p:nvSpPr>
        <p:spPr>
          <a:xfrm>
            <a:off x="511810" y="2041331"/>
            <a:ext cx="8232140" cy="1027430"/>
          </a:xfrm>
          <a:prstGeom prst="roundRect">
            <a:avLst>
              <a:gd name="adj" fmla="val 10435"/>
            </a:avLst>
          </a:prstGeom>
          <a:solidFill>
            <a:srgbClr val="6EA7E1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0A44EB7-12DE-D456-39C3-A4D51EFC881B}"/>
              </a:ext>
            </a:extLst>
          </p:cNvPr>
          <p:cNvSpPr/>
          <p:nvPr/>
        </p:nvSpPr>
        <p:spPr>
          <a:xfrm>
            <a:off x="660830" y="2187635"/>
            <a:ext cx="7854519" cy="741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observed outcome under the treatment actually received equals the corresponding potential outcome.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749419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113EE-2988-4683-9440-D6931E884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7DF897-120C-62F7-5615-C8E331D9CBA6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Consistency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AAE2AFC-489A-DDDC-A277-05623B6BF0F5}"/>
              </a:ext>
            </a:extLst>
          </p:cNvPr>
          <p:cNvSpPr/>
          <p:nvPr/>
        </p:nvSpPr>
        <p:spPr>
          <a:xfrm>
            <a:off x="679450" y="1113100"/>
            <a:ext cx="3429000" cy="24574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Same Label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Exercise = 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5649286-6C1D-E9F6-1618-7E5C2707D290}"/>
              </a:ext>
            </a:extLst>
          </p:cNvPr>
          <p:cNvSpPr/>
          <p:nvPr/>
        </p:nvSpPr>
        <p:spPr>
          <a:xfrm>
            <a:off x="5086350" y="1113100"/>
            <a:ext cx="3289300" cy="245745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Many versions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Walking 20 min/week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5 days/week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Resistance training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rehab</a:t>
            </a:r>
            <a:endParaRPr lang="en-US" sz="20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8A60ED0-8B08-15E5-3326-2FDE9C0B16EB}"/>
              </a:ext>
            </a:extLst>
          </p:cNvPr>
          <p:cNvSpPr/>
          <p:nvPr/>
        </p:nvSpPr>
        <p:spPr>
          <a:xfrm>
            <a:off x="558800" y="4064000"/>
            <a:ext cx="8263079" cy="831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outcomes require us to ask: which intervention exactly?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373622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BFA5E-712B-EED6-96AE-5F9E40D1C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F4AC17-67A7-E372-1BC1-45D2D47B349F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Consistency: Example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894C4F-C63A-4058-BCFB-D3C54C346E72}"/>
                  </a:ext>
                </a:extLst>
              </p:cNvPr>
              <p:cNvSpPr txBox="1"/>
              <p:nvPr/>
            </p:nvSpPr>
            <p:spPr>
              <a:xfrm>
                <a:off x="489612" y="908064"/>
                <a:ext cx="806424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u="sng" dirty="0">
                    <a:solidFill>
                      <a:schemeClr val="bg1"/>
                    </a:solidFill>
                  </a:rPr>
                  <a:t>Example 1</a:t>
                </a:r>
                <a:r>
                  <a:rPr lang="en-US" sz="1800" dirty="0">
                    <a:solidFill>
                      <a:schemeClr val="bg1"/>
                    </a:solidFill>
                  </a:rPr>
                  <a:t>: Surgical intervention – A study defines exposure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for receiving heart surgery. The surgical procedure groups together procedures done by world class chief surgeon with procedures done by a resident on their first shift.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u="sng" dirty="0">
                    <a:solidFill>
                      <a:schemeClr val="bg1"/>
                    </a:solidFill>
                  </a:rPr>
                  <a:t>Example 2</a:t>
                </a:r>
                <a:r>
                  <a:rPr lang="en-US" sz="1800" dirty="0">
                    <a:solidFill>
                      <a:schemeClr val="bg1"/>
                    </a:solidFill>
                  </a:rPr>
                  <a:t>: An economic model evaluates the causal effect of holding a college degree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). The degree category treats a STEM degree from a top-tier university exactly the same as a humanities degree from an unaccredited online college.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u="sng" dirty="0">
                    <a:solidFill>
                      <a:schemeClr val="bg1"/>
                    </a:solidFill>
                  </a:rPr>
                  <a:t>Example 3</a:t>
                </a:r>
                <a:r>
                  <a:rPr lang="en-US" sz="1800" dirty="0">
                    <a:solidFill>
                      <a:schemeClr val="bg1"/>
                    </a:solidFill>
                  </a:rPr>
                  <a:t>: A nutrition study studies the effect of a low-carb diet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). The category lumps together a healthy low-card diet rich in leafy greens and wild fish, with an unhealthy low-card diet relying heavily on processed meats and deep fried fast food.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894C4F-C63A-4058-BCFB-D3C54C346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12" y="908064"/>
                <a:ext cx="8064240" cy="3970318"/>
              </a:xfrm>
              <a:prstGeom prst="rect">
                <a:avLst/>
              </a:prstGeom>
              <a:blipFill>
                <a:blip r:embed="rId2"/>
                <a:stretch>
                  <a:fillRect l="-605" t="-922" b="-1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24717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A892D-4E94-0DF6-0810-BB8D90581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675CAA-014B-63E7-94DB-F99F1BA70811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SUTVA and Interference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9CF9A47-DA2D-E5EA-6BE6-CA253A0EDAF1}"/>
              </a:ext>
            </a:extLst>
          </p:cNvPr>
          <p:cNvSpPr/>
          <p:nvPr/>
        </p:nvSpPr>
        <p:spPr>
          <a:xfrm>
            <a:off x="17780" y="1001375"/>
            <a:ext cx="9108440" cy="7150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DBB3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Yᵢ(t) depends on unit i’s treatment — not someone else’s treatment</a:t>
            </a:r>
            <a:endParaRPr lang="en-US" sz="24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851FF150-FA35-A1B4-84E5-698310A5BA3D}"/>
              </a:ext>
            </a:extLst>
          </p:cNvPr>
          <p:cNvSpPr/>
          <p:nvPr/>
        </p:nvSpPr>
        <p:spPr>
          <a:xfrm>
            <a:off x="88566" y="1939233"/>
            <a:ext cx="8966865" cy="995680"/>
          </a:xfrm>
          <a:prstGeom prst="roundRect">
            <a:avLst>
              <a:gd name="adj" fmla="val 12632"/>
            </a:avLst>
          </a:prstGeom>
          <a:solidFill>
            <a:srgbClr val="6EA7E1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F47CCEE-EB7A-1867-0144-6DEFF82012C7}"/>
              </a:ext>
            </a:extLst>
          </p:cNvPr>
          <p:cNvSpPr/>
          <p:nvPr/>
        </p:nvSpPr>
        <p:spPr>
          <a:xfrm>
            <a:off x="171450" y="2098110"/>
            <a:ext cx="8801099" cy="6779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interference: one unit’s treatment does not change another unit’s outcome.</a:t>
            </a:r>
            <a:endParaRPr lang="en-US" sz="200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EF3E04F9-9DC1-F0A9-8198-F9C27436640F}"/>
              </a:ext>
            </a:extLst>
          </p:cNvPr>
          <p:cNvSpPr/>
          <p:nvPr/>
        </p:nvSpPr>
        <p:spPr>
          <a:xfrm>
            <a:off x="53009" y="3359170"/>
            <a:ext cx="9055431" cy="782955"/>
          </a:xfrm>
          <a:prstGeom prst="roundRect">
            <a:avLst>
              <a:gd name="adj" fmla="val 12632"/>
            </a:avLst>
          </a:prstGeom>
          <a:solidFill>
            <a:srgbClr val="FDBB30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B0BE337D-B3DB-10A7-38A0-06E4F7435145}"/>
              </a:ext>
            </a:extLst>
          </p:cNvPr>
          <p:cNvSpPr/>
          <p:nvPr/>
        </p:nvSpPr>
        <p:spPr>
          <a:xfrm>
            <a:off x="245723" y="3505474"/>
            <a:ext cx="8640044" cy="51922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hidden versions: treatment “1” represents a sufficiently well-defined intervention.</a:t>
            </a:r>
            <a:endParaRPr lang="en-US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4AD1A7-EB0A-7C49-6627-B87B56BCD243}"/>
              </a:ext>
            </a:extLst>
          </p:cNvPr>
          <p:cNvSpPr txBox="1"/>
          <p:nvPr/>
        </p:nvSpPr>
        <p:spPr>
          <a:xfrm>
            <a:off x="1009650" y="4418821"/>
            <a:ext cx="7124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SUTVA: Stable Unit Treatment Value Assumption </a:t>
            </a:r>
          </a:p>
        </p:txBody>
      </p:sp>
    </p:spTree>
    <p:extLst>
      <p:ext uri="{BB962C8B-B14F-4D97-AF65-F5344CB8AC3E}">
        <p14:creationId xmlns:p14="http://schemas.microsoft.com/office/powerpoint/2010/main" val="12117147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5E0E2-C02A-E18A-6801-85973E624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BCDA7A-8677-DAF9-61A4-D404D9B20F55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SUTVA and Interference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3702F243-6A75-BBD3-D14B-869943280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992762"/>
              </p:ext>
            </p:extLst>
          </p:nvPr>
        </p:nvGraphicFramePr>
        <p:xfrm>
          <a:off x="184150" y="1055370"/>
          <a:ext cx="8775700" cy="2926080"/>
        </p:xfrm>
        <a:graphic>
          <a:graphicData uri="http://schemas.openxmlformats.org/drawingml/2006/table">
            <a:tbl>
              <a:tblPr/>
              <a:tblGrid>
                <a:gridCol w="2485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0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A7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interference occurs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A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Vaccination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vaccination can reduce your infection risk.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 intervention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Treated students can share material with untreated classmates.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 networks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Information given to one person can spread through friends.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Neighborhood policy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Changing one area can move traffic or crime to another area.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16E5918-0FBC-038A-E9CE-051D25DB3F3A}"/>
              </a:ext>
            </a:extLst>
          </p:cNvPr>
          <p:cNvSpPr txBox="1"/>
          <p:nvPr/>
        </p:nvSpPr>
        <p:spPr>
          <a:xfrm>
            <a:off x="184150" y="4184650"/>
            <a:ext cx="8642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Remedies: Cluster randomization, partial-interference models, spillover-effect models, network causal inference, exposure mapping, etc.</a:t>
            </a:r>
          </a:p>
        </p:txBody>
      </p:sp>
    </p:spTree>
    <p:extLst>
      <p:ext uri="{BB962C8B-B14F-4D97-AF65-F5344CB8AC3E}">
        <p14:creationId xmlns:p14="http://schemas.microsoft.com/office/powerpoint/2010/main" val="27701475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57898-2F6D-04BA-5D68-DDEC320D3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FE8878-CE5A-EC69-0BF4-0CCF49010037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Positivity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EBFA6F9-C609-BFD9-16C6-3400B76FA94E}"/>
              </a:ext>
            </a:extLst>
          </p:cNvPr>
          <p:cNvSpPr/>
          <p:nvPr/>
        </p:nvSpPr>
        <p:spPr>
          <a:xfrm>
            <a:off x="227402" y="1136650"/>
            <a:ext cx="8689195" cy="4616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500" dirty="0">
                <a:solidFill>
                  <a:srgbClr val="FDBB3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 &lt; P(T=1 | X=x) &lt; 1</a:t>
            </a:r>
            <a:endParaRPr lang="en-US" sz="35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F21ADF7-E344-9EAA-4840-79F17006B43D}"/>
              </a:ext>
            </a:extLst>
          </p:cNvPr>
          <p:cNvSpPr/>
          <p:nvPr/>
        </p:nvSpPr>
        <p:spPr>
          <a:xfrm>
            <a:off x="80010" y="2061845"/>
            <a:ext cx="8983979" cy="1019810"/>
          </a:xfrm>
          <a:prstGeom prst="roundRect">
            <a:avLst>
              <a:gd name="adj" fmla="val 10909"/>
            </a:avLst>
          </a:prstGeom>
          <a:solidFill>
            <a:srgbClr val="6EA7E1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5FF379B-C546-FD49-D9B2-9310A3D7DEF1}"/>
              </a:ext>
            </a:extLst>
          </p:cNvPr>
          <p:cNvSpPr/>
          <p:nvPr/>
        </p:nvSpPr>
        <p:spPr>
          <a:xfrm>
            <a:off x="263520" y="2208149"/>
            <a:ext cx="8571870" cy="7231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covariate pattern in the target population, both treatment options must be possible.</a:t>
            </a:r>
            <a:endParaRPr lang="en-US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524547-9603-0CB0-B183-310E0A205875}"/>
              </a:ext>
            </a:extLst>
          </p:cNvPr>
          <p:cNvSpPr txBox="1"/>
          <p:nvPr/>
        </p:nvSpPr>
        <p:spPr>
          <a:xfrm>
            <a:off x="425450" y="3517900"/>
            <a:ext cx="8440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100000"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Otherwise, we have no empirical comparison for some covariate values.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must extrapolate beyond the support of the data.</a:t>
            </a:r>
            <a:endParaRPr lang="en-US" sz="1800" dirty="0"/>
          </a:p>
          <a:p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7077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1448D-BB67-FD8B-3956-740C09395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760736-1A64-57F9-8441-43CBE0559040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Positivity as Overlap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BF4C97E7-5715-7634-C1CF-A6ED39AAD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35" y="806514"/>
            <a:ext cx="8552180" cy="406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5250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00453-8600-4747-556E-CA3A20F1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FEE0C3-C8CA-5C19-6FCC-48AE2B60853A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Positivity Violation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DE5A075-EF5A-97A5-9BD3-8791EAE95A8B}"/>
              </a:ext>
            </a:extLst>
          </p:cNvPr>
          <p:cNvSpPr/>
          <p:nvPr/>
        </p:nvSpPr>
        <p:spPr>
          <a:xfrm>
            <a:off x="140335" y="1214120"/>
            <a:ext cx="8863330" cy="913130"/>
          </a:xfrm>
          <a:prstGeom prst="roundRect">
            <a:avLst>
              <a:gd name="adj" fmla="val 12632"/>
            </a:avLst>
          </a:prstGeom>
          <a:solidFill>
            <a:srgbClr val="6EA7E1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13E84E7-8A4E-0B9E-C095-2944F72F720D}"/>
              </a:ext>
            </a:extLst>
          </p:cNvPr>
          <p:cNvSpPr/>
          <p:nvPr/>
        </p:nvSpPr>
        <p:spPr>
          <a:xfrm>
            <a:off x="318309" y="1360423"/>
            <a:ext cx="8456755" cy="6055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Suppose every patient older than 90 receives the treatment.</a:t>
            </a:r>
            <a:endParaRPr lang="en-US" sz="2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A3DF10D-0F99-C6C5-5CDF-9AAFEEC81B9E}"/>
              </a:ext>
            </a:extLst>
          </p:cNvPr>
          <p:cNvSpPr/>
          <p:nvPr/>
        </p:nvSpPr>
        <p:spPr>
          <a:xfrm>
            <a:off x="140335" y="2494279"/>
            <a:ext cx="8863330" cy="720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100" dirty="0">
                <a:solidFill>
                  <a:srgbClr val="FDBB3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P(T=0 | age &gt; 90) = 0</a:t>
            </a:r>
            <a:endParaRPr lang="en-US" sz="3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F172B58-4D8E-EEC6-CF86-DB95972EEF31}"/>
              </a:ext>
            </a:extLst>
          </p:cNvPr>
          <p:cNvSpPr/>
          <p:nvPr/>
        </p:nvSpPr>
        <p:spPr>
          <a:xfrm>
            <a:off x="438610" y="3215171"/>
            <a:ext cx="8153400" cy="48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00" dirty="0">
                <a:solidFill>
                  <a:srgbClr val="F2F2F2"/>
                </a:solidFill>
                <a:ea typeface="Walter Turncoat" pitchFamily="34" charset="-122"/>
                <a:cs typeface="Walter Turncoat" pitchFamily="34" charset="-120"/>
              </a:rPr>
              <a:t>What is the untreated outcome distribution for 95-year-olds?</a:t>
            </a:r>
            <a:endParaRPr lang="en-US" sz="25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AE828A9-E936-49A1-1E64-A246E7C4CA37}"/>
              </a:ext>
            </a:extLst>
          </p:cNvPr>
          <p:cNvSpPr/>
          <p:nvPr/>
        </p:nvSpPr>
        <p:spPr>
          <a:xfrm>
            <a:off x="318309" y="3890120"/>
            <a:ext cx="8685356" cy="826412"/>
          </a:xfrm>
          <a:prstGeom prst="roundRect">
            <a:avLst>
              <a:gd name="adj" fmla="val 11429"/>
            </a:avLst>
          </a:prstGeom>
          <a:solidFill>
            <a:srgbClr val="FDBB30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0F5F1A8-EBB7-2378-5949-A92CF28BD537}"/>
              </a:ext>
            </a:extLst>
          </p:cNvPr>
          <p:cNvSpPr/>
          <p:nvPr/>
        </p:nvSpPr>
        <p:spPr>
          <a:xfrm>
            <a:off x="487436" y="3995674"/>
            <a:ext cx="8286945" cy="5745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observed data do not tell us. Any answer requires extrapolation or a different target population.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37542379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DC381-FA3A-E7D1-5552-9EBC20860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EECB22-656D-5963-D4C1-5CAE108AC48E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Positivity-Unconfoundedness Tradeoff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4D1E9784-F1ED-BE6E-0308-CA5296ED8831}"/>
              </a:ext>
            </a:extLst>
          </p:cNvPr>
          <p:cNvSpPr txBox="1"/>
          <p:nvPr/>
        </p:nvSpPr>
        <p:spPr>
          <a:xfrm>
            <a:off x="0" y="1088776"/>
            <a:ext cx="884555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0" dirty="0">
                <a:solidFill>
                  <a:srgbClr val="F2F2F2"/>
                </a:solidFill>
                <a:latin typeface="Arial"/>
              </a:rPr>
              <a:t>A richer adjustment set can help one assumption while hurting another.</a:t>
            </a:r>
          </a:p>
        </p:txBody>
      </p:sp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422BB0E3-9EE0-F9C0-74C2-AE9947A129E9}"/>
              </a:ext>
            </a:extLst>
          </p:cNvPr>
          <p:cNvSpPr/>
          <p:nvPr/>
        </p:nvSpPr>
        <p:spPr>
          <a:xfrm>
            <a:off x="336550" y="1746250"/>
            <a:ext cx="3458210" cy="2260600"/>
          </a:xfrm>
          <a:prstGeom prst="roundRect">
            <a:avLst/>
          </a:prstGeom>
          <a:solidFill>
            <a:srgbClr val="6CA8E4"/>
          </a:solidFill>
          <a:ln w="1905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0" dirty="0">
                <a:solidFill>
                  <a:srgbClr val="111111"/>
                </a:solidFill>
                <a:latin typeface="Arial"/>
              </a:rPr>
              <a:t>MORE COVARIATE ADJUSTMENT
Can make conditional exchangeability
more plausible</a:t>
            </a:r>
          </a:p>
        </p:txBody>
      </p:sp>
      <p:sp>
        <p:nvSpPr>
          <p:cNvPr id="11" name="Rounded Rectangle 28">
            <a:extLst>
              <a:ext uri="{FF2B5EF4-FFF2-40B4-BE49-F238E27FC236}">
                <a16:creationId xmlns:a16="http://schemas.microsoft.com/office/drawing/2014/main" id="{4E17AF5B-ACD6-B149-B705-9E94835DA533}"/>
              </a:ext>
            </a:extLst>
          </p:cNvPr>
          <p:cNvSpPr/>
          <p:nvPr/>
        </p:nvSpPr>
        <p:spPr>
          <a:xfrm>
            <a:off x="5499099" y="1698376"/>
            <a:ext cx="3308351" cy="2308474"/>
          </a:xfrm>
          <a:prstGeom prst="roundRect">
            <a:avLst/>
          </a:prstGeom>
          <a:solidFill>
            <a:srgbClr val="EBEBEB"/>
          </a:solidFill>
          <a:ln w="1905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0" dirty="0">
                <a:solidFill>
                  <a:srgbClr val="111111"/>
                </a:solidFill>
                <a:latin typeface="Arial"/>
              </a:rPr>
              <a:t>BUT...
Can reduce overlap and create
near-positivity violations</a:t>
            </a:r>
          </a:p>
        </p:txBody>
      </p:sp>
      <p:sp>
        <p:nvSpPr>
          <p:cNvPr id="12" name="Right Arrow 29">
            <a:extLst>
              <a:ext uri="{FF2B5EF4-FFF2-40B4-BE49-F238E27FC236}">
                <a16:creationId xmlns:a16="http://schemas.microsoft.com/office/drawing/2014/main" id="{95122A70-2BBF-B9D6-5761-DFA492EA0DA2}"/>
              </a:ext>
            </a:extLst>
          </p:cNvPr>
          <p:cNvSpPr/>
          <p:nvPr/>
        </p:nvSpPr>
        <p:spPr>
          <a:xfrm>
            <a:off x="4125272" y="2571750"/>
            <a:ext cx="1223970" cy="675018"/>
          </a:xfrm>
          <a:prstGeom prst="rightArrow">
            <a:avLst/>
          </a:prstGeom>
          <a:solidFill>
            <a:srgbClr val="FDBB30"/>
          </a:solidFill>
          <a:ln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3" name="TextBox 31">
            <a:extLst>
              <a:ext uri="{FF2B5EF4-FFF2-40B4-BE49-F238E27FC236}">
                <a16:creationId xmlns:a16="http://schemas.microsoft.com/office/drawing/2014/main" id="{096CF5D2-004A-93D3-8962-715F84AD418C}"/>
              </a:ext>
            </a:extLst>
          </p:cNvPr>
          <p:cNvSpPr txBox="1"/>
          <p:nvPr/>
        </p:nvSpPr>
        <p:spPr>
          <a:xfrm>
            <a:off x="4125272" y="2237298"/>
            <a:ext cx="1223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FDBB30"/>
                </a:solidFill>
                <a:latin typeface="Arial"/>
              </a:rPr>
              <a:t>TRADEOFF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52CA7C-D69A-9A1A-A782-64B23F244BE6}"/>
              </a:ext>
            </a:extLst>
          </p:cNvPr>
          <p:cNvSpPr txBox="1"/>
          <p:nvPr/>
        </p:nvSpPr>
        <p:spPr>
          <a:xfrm>
            <a:off x="565150" y="4216074"/>
            <a:ext cx="78105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0" dirty="0">
                <a:solidFill>
                  <a:srgbClr val="FDBB30"/>
                </a:solidFill>
                <a:latin typeface="+mn-lt"/>
              </a:rPr>
              <a:t>Goal: control the confounding that matters without demanding comparisons the data cannot support.</a:t>
            </a:r>
          </a:p>
        </p:txBody>
      </p:sp>
    </p:spTree>
    <p:extLst>
      <p:ext uri="{BB962C8B-B14F-4D97-AF65-F5344CB8AC3E}">
        <p14:creationId xmlns:p14="http://schemas.microsoft.com/office/powerpoint/2010/main" val="32730420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479E4-001B-6001-99DA-27ECAA39A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DDC2E5-9635-8785-22FF-3B2FAFD5E873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Positivity-Unconfoundedness Tradeoff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972B2F0B-A78D-328C-CF25-3BF4B08DA7E5}"/>
              </a:ext>
            </a:extLst>
          </p:cNvPr>
          <p:cNvSpPr txBox="1"/>
          <p:nvPr/>
        </p:nvSpPr>
        <p:spPr>
          <a:xfrm>
            <a:off x="317499" y="1027676"/>
            <a:ext cx="8509001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dirty="0">
                <a:solidFill>
                  <a:srgbClr val="F2F2F2"/>
                </a:solidFill>
                <a:latin typeface="Arial"/>
              </a:rPr>
              <a:t>Suppose treatment is surgery.</a:t>
            </a:r>
          </a:p>
          <a:p>
            <a:endParaRPr lang="en-US" sz="2000" dirty="0">
              <a:solidFill>
                <a:srgbClr val="F2F2F2"/>
              </a:solidFill>
              <a:latin typeface="Arial"/>
            </a:endParaRPr>
          </a:p>
          <a:p>
            <a:endParaRPr sz="2000" b="0" dirty="0">
              <a:solidFill>
                <a:srgbClr val="F2F2F2"/>
              </a:solidFill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1F0E5A1-E2CE-006C-E98B-813DED0C9D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8270603"/>
                  </p:ext>
                </p:extLst>
              </p:nvPr>
            </p:nvGraphicFramePr>
            <p:xfrm>
              <a:off x="457200" y="1882009"/>
              <a:ext cx="8229600" cy="1524000"/>
            </p:xfrm>
            <a:graphic>
              <a:graphicData uri="http://schemas.openxmlformats.org/drawingml/2006/table">
                <a:tbl>
                  <a:tblPr>
                    <a:tableStyleId>{6E25E649-3F16-4E02-A733-19D2CDBF48F0}</a:tableStyleId>
                  </a:tblPr>
                  <a:tblGrid>
                    <a:gridCol w="4114800">
                      <a:extLst>
                        <a:ext uri="{9D8B030D-6E8A-4147-A177-3AD203B41FA5}">
                          <a16:colId xmlns:a16="http://schemas.microsoft.com/office/drawing/2014/main" val="2929705094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129059296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Covariates conditioned 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Example treatment probability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358730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mtClean="0">
                                    <a:solidFill>
                                      <a:schemeClr val="tx1"/>
                                    </a:solidFill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>
                                        <a:solidFill>
                                          <a:schemeClr val="tx1"/>
                                        </a:solidFill>
                                      </a:rPr>
                                    </m:ctrlPr>
                                  </m:dPr>
                                  <m:e>
                                    <m:r>
                                      <a:rPr lang="en-US">
                                        <a:solidFill>
                                          <a:schemeClr val="tx1"/>
                                        </a:solidFill>
                                      </a:rPr>
                                      <m:t>𝑇</m:t>
                                    </m:r>
                                    <m:r>
                                      <a:rPr lang="en-US">
                                        <a:solidFill>
                                          <a:schemeClr val="tx1"/>
                                        </a:solidFill>
                                      </a:rPr>
                                      <m:t>=1∣</m:t>
                                    </m:r>
                                    <m:r>
                                      <a:rPr lang="en-US">
                                        <a:solidFill>
                                          <a:schemeClr val="tx1"/>
                                        </a:solidFill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>
                                    <a:solidFill>
                                      <a:schemeClr val="tx1"/>
                                    </a:solidFill>
                                  </a:rPr>
                                  <m:t>=0.55</m:t>
                                </m:r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8663471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Age + severity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mtClean="0">
                                    <a:solidFill>
                                      <a:schemeClr val="tx1"/>
                                    </a:solidFill>
                                  </a:rPr>
                                  <m:t>0.80</m:t>
                                </m:r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716503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+ comorbidity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mtClean="0">
                                    <a:solidFill>
                                      <a:schemeClr val="tx1"/>
                                    </a:solidFill>
                                  </a:rPr>
                                  <m:t>0.95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3516128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+ prior treatment + SES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mtClean="0">
                                    <a:solidFill>
                                      <a:schemeClr val="tx1"/>
                                    </a:solidFill>
                                  </a:rPr>
                                  <m:t>0.99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241589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1F0E5A1-E2CE-006C-E98B-813DED0C9D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8270603"/>
                  </p:ext>
                </p:extLst>
              </p:nvPr>
            </p:nvGraphicFramePr>
            <p:xfrm>
              <a:off x="457200" y="1882009"/>
              <a:ext cx="8229600" cy="1524000"/>
            </p:xfrm>
            <a:graphic>
              <a:graphicData uri="http://schemas.openxmlformats.org/drawingml/2006/table">
                <a:tbl>
                  <a:tblPr>
                    <a:tableStyleId>{6E25E649-3F16-4E02-A733-19D2CDBF48F0}</a:tableStyleId>
                  </a:tblPr>
                  <a:tblGrid>
                    <a:gridCol w="4114800">
                      <a:extLst>
                        <a:ext uri="{9D8B030D-6E8A-4147-A177-3AD203B41FA5}">
                          <a16:colId xmlns:a16="http://schemas.microsoft.com/office/drawing/2014/main" val="2929705094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129059296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Covariates conditioned 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Example treatment probability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3587304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04000" r="-444" b="-3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663471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Age + severity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200000" r="-444" b="-2156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165037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+ comorbidity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306000" r="-444" b="-1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5161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+ prior treatment + SES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406000" r="-444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41589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D0CE75-D3C7-0AE4-D7A3-886BC8FC165F}"/>
                  </a:ext>
                </a:extLst>
              </p:cNvPr>
              <p:cNvSpPr txBox="1"/>
              <p:nvPr/>
            </p:nvSpPr>
            <p:spPr>
              <a:xfrm>
                <a:off x="457199" y="3891746"/>
                <a:ext cx="822959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800" b="1" dirty="0">
                    <a:solidFill>
                      <a:schemeClr val="bg1"/>
                    </a:solidFill>
                  </a:rPr>
                  <a:t>Exchangeability:</a:t>
                </a:r>
                <a:r>
                  <a:rPr lang="en-US" sz="1800" dirty="0">
                    <a:solidFill>
                      <a:schemeClr val="bg1"/>
                    </a:solidFill>
                  </a:rPr>
                  <a:t> richer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may better account for confounding.</a:t>
                </a:r>
              </a:p>
              <a:p>
                <a:pPr>
                  <a:buNone/>
                </a:pPr>
                <a:r>
                  <a:rPr lang="en-US" sz="1800" b="1" dirty="0">
                    <a:solidFill>
                      <a:schemeClr val="bg1"/>
                    </a:solidFill>
                  </a:rPr>
                  <a:t>Positivity:</a:t>
                </a:r>
                <a:r>
                  <a:rPr lang="en-US" sz="1800" dirty="0">
                    <a:solidFill>
                      <a:schemeClr val="bg1"/>
                    </a:solidFill>
                  </a:rPr>
                  <a:t> richer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may leave almost no treated or untreated comparison subjects within some strata.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D0CE75-D3C7-0AE4-D7A3-886BC8FC1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3891746"/>
                <a:ext cx="8229599" cy="923330"/>
              </a:xfrm>
              <a:prstGeom prst="rect">
                <a:avLst/>
              </a:prstGeom>
              <a:blipFill>
                <a:blip r:embed="rId3"/>
                <a:stretch>
                  <a:fillRect l="-593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819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8D1F-8CB0-8D16-926C-AA7D48001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0EE159-3DEB-1529-827A-247ED6DF0BD1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Positivity-Unconfoundedness Tradeoff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26">
                <a:extLst>
                  <a:ext uri="{FF2B5EF4-FFF2-40B4-BE49-F238E27FC236}">
                    <a16:creationId xmlns:a16="http://schemas.microsoft.com/office/drawing/2014/main" id="{18A267DF-2DF8-1591-5633-20ACB6D0E6AF}"/>
                  </a:ext>
                </a:extLst>
              </p:cNvPr>
              <p:cNvSpPr/>
              <p:nvPr/>
            </p:nvSpPr>
            <p:spPr>
              <a:xfrm>
                <a:off x="90487" y="956930"/>
                <a:ext cx="2943521" cy="4028584"/>
              </a:xfrm>
              <a:prstGeom prst="roundRect">
                <a:avLst/>
              </a:prstGeom>
              <a:solidFill>
                <a:srgbClr val="262626"/>
              </a:solidFill>
              <a:ln w="19050">
                <a:solidFill>
                  <a:srgbClr val="6CA8E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sz="1900" b="0" dirty="0">
                    <a:solidFill>
                      <a:srgbClr val="F2F2F2"/>
                    </a:solidFill>
                    <a:latin typeface="Arial"/>
                  </a:rPr>
                  <a:t>Adjust for AGE only
Good overlap
But disease severity and comorbidity still affect both treatment choice and outcome.
</a:t>
                </a:r>
                <a14:m>
                  <m:oMath xmlns:m="http://schemas.openxmlformats.org/officeDocument/2006/math">
                    <m:r>
                      <a:rPr lang="en-US" sz="1900" b="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1900" b="0" dirty="0">
                    <a:solidFill>
                      <a:srgbClr val="F2F2F2"/>
                    </a:solidFill>
                    <a:latin typeface="Arial"/>
                  </a:rPr>
                  <a:t> Residual confounding</a:t>
                </a:r>
              </a:p>
            </p:txBody>
          </p:sp>
        </mc:Choice>
        <mc:Fallback>
          <p:sp>
            <p:nvSpPr>
              <p:cNvPr id="5" name="Rounded Rectangle 26">
                <a:extLst>
                  <a:ext uri="{FF2B5EF4-FFF2-40B4-BE49-F238E27FC236}">
                    <a16:creationId xmlns:a16="http://schemas.microsoft.com/office/drawing/2014/main" id="{18A267DF-2DF8-1591-5633-20ACB6D0E6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" y="956930"/>
                <a:ext cx="2943521" cy="402858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6CA8E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27">
                <a:extLst>
                  <a:ext uri="{FF2B5EF4-FFF2-40B4-BE49-F238E27FC236}">
                    <a16:creationId xmlns:a16="http://schemas.microsoft.com/office/drawing/2014/main" id="{78B4D603-58C0-75C3-EFA7-0DA8DB335C13}"/>
                  </a:ext>
                </a:extLst>
              </p:cNvPr>
              <p:cNvSpPr/>
              <p:nvPr/>
            </p:nvSpPr>
            <p:spPr>
              <a:xfrm>
                <a:off x="3162122" y="956930"/>
                <a:ext cx="2819755" cy="4028584"/>
              </a:xfrm>
              <a:prstGeom prst="roundRect">
                <a:avLst/>
              </a:prstGeom>
              <a:solidFill>
                <a:srgbClr val="262626"/>
              </a:solidFill>
              <a:ln w="19050">
                <a:solidFill>
                  <a:srgbClr val="FDBB3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sz="1900" b="0" dirty="0">
                    <a:solidFill>
                      <a:srgbClr val="F2F2F2"/>
                    </a:solidFill>
                    <a:latin typeface="Arial"/>
                  </a:rPr>
                  <a:t>Add SEVERITY + COMORBIDITY
Exchangeability becomes more plausible.
But among the sickest patients, nearly everyone receives treatment.
</a:t>
                </a:r>
                <a14:m>
                  <m:oMath xmlns:m="http://schemas.openxmlformats.org/officeDocument/2006/math">
                    <m:r>
                      <a:rPr lang="en-US" sz="1900" b="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1900" b="0" dirty="0">
                    <a:solidFill>
                      <a:srgbClr val="F2F2F2"/>
                    </a:solidFill>
                    <a:latin typeface="Arial"/>
                  </a:rPr>
                  <a:t> Weak overlap</a:t>
                </a:r>
              </a:p>
            </p:txBody>
          </p:sp>
        </mc:Choice>
        <mc:Fallback>
          <p:sp>
            <p:nvSpPr>
              <p:cNvPr id="7" name="Rounded Rectangle 27">
                <a:extLst>
                  <a:ext uri="{FF2B5EF4-FFF2-40B4-BE49-F238E27FC236}">
                    <a16:creationId xmlns:a16="http://schemas.microsoft.com/office/drawing/2014/main" id="{78B4D603-58C0-75C3-EFA7-0DA8DB335C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122" y="956930"/>
                <a:ext cx="2819755" cy="402858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FDBB3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28">
                <a:extLst>
                  <a:ext uri="{FF2B5EF4-FFF2-40B4-BE49-F238E27FC236}">
                    <a16:creationId xmlns:a16="http://schemas.microsoft.com/office/drawing/2014/main" id="{0E087E01-4736-F5C8-12C9-009499AD379D}"/>
                  </a:ext>
                </a:extLst>
              </p:cNvPr>
              <p:cNvSpPr/>
              <p:nvPr/>
            </p:nvSpPr>
            <p:spPr>
              <a:xfrm>
                <a:off x="6109991" y="956930"/>
                <a:ext cx="2943522" cy="4028584"/>
              </a:xfrm>
              <a:prstGeom prst="roundRect">
                <a:avLst/>
              </a:prstGeom>
              <a:solidFill>
                <a:srgbClr val="262626"/>
              </a:solidFill>
              <a:ln w="19050">
                <a:solidFill>
                  <a:srgbClr val="F2F2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sz="1900" b="0" dirty="0">
                    <a:solidFill>
                      <a:srgbClr val="F2F2F2"/>
                    </a:solidFill>
                    <a:latin typeface="Arial"/>
                  </a:rPr>
                  <a:t>Add still more predictors
Some covariate profiles may have no untreated patients at</a:t>
                </a:r>
                <a:r>
                  <a:rPr lang="en-US" sz="1900" b="0" dirty="0">
                    <a:solidFill>
                      <a:srgbClr val="F2F2F2"/>
                    </a:solidFill>
                    <a:latin typeface="Arial"/>
                  </a:rPr>
                  <a:t> </a:t>
                </a:r>
                <a:r>
                  <a:rPr sz="1900" b="0" dirty="0">
                    <a:solidFill>
                      <a:srgbClr val="F2F2F2"/>
                    </a:solidFill>
                    <a:latin typeface="Arial"/>
                  </a:rPr>
                  <a:t>all.
The ATE for the original population may no longer be empirically supported.
</a:t>
                </a:r>
                <a14:m>
                  <m:oMath xmlns:m="http://schemas.openxmlformats.org/officeDocument/2006/math">
                    <m:r>
                      <a:rPr lang="en-US" sz="1900" b="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1900" b="0" dirty="0">
                    <a:solidFill>
                      <a:srgbClr val="F2F2F2"/>
                    </a:solidFill>
                    <a:latin typeface="Arial"/>
                  </a:rPr>
                  <a:t> Redefine target?</a:t>
                </a:r>
              </a:p>
            </p:txBody>
          </p:sp>
        </mc:Choice>
        <mc:Fallback>
          <p:sp>
            <p:nvSpPr>
              <p:cNvPr id="8" name="Rounded Rectangle 28">
                <a:extLst>
                  <a:ext uri="{FF2B5EF4-FFF2-40B4-BE49-F238E27FC236}">
                    <a16:creationId xmlns:a16="http://schemas.microsoft.com/office/drawing/2014/main" id="{0E087E01-4736-F5C8-12C9-009499AD37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991" y="956930"/>
                <a:ext cx="2943522" cy="402858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F2F2F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64179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43E86-8D8A-EE9F-5C9C-5389487E0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F600A5-10CD-3AE1-086A-4E5F4B96FF76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Positivity-Unconfoundedness Tradeoff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E2A0B9-69A9-0541-EA9C-BFAC571E30BF}"/>
              </a:ext>
            </a:extLst>
          </p:cNvPr>
          <p:cNvSpPr/>
          <p:nvPr/>
        </p:nvSpPr>
        <p:spPr>
          <a:xfrm>
            <a:off x="288606" y="915337"/>
            <a:ext cx="566928" cy="566928"/>
          </a:xfrm>
          <a:prstGeom prst="ellipse">
            <a:avLst/>
          </a:prstGeom>
          <a:solidFill>
            <a:srgbClr val="FDBB30"/>
          </a:solidFill>
          <a:ln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20" name="TextBox 27">
            <a:extLst>
              <a:ext uri="{FF2B5EF4-FFF2-40B4-BE49-F238E27FC236}">
                <a16:creationId xmlns:a16="http://schemas.microsoft.com/office/drawing/2014/main" id="{FF33894F-B028-3A4E-7635-EFF7391A7BB7}"/>
              </a:ext>
            </a:extLst>
          </p:cNvPr>
          <p:cNvSpPr txBox="1"/>
          <p:nvPr/>
        </p:nvSpPr>
        <p:spPr>
          <a:xfrm>
            <a:off x="1065846" y="843465"/>
            <a:ext cx="7654291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900" b="0" dirty="0">
                <a:solidFill>
                  <a:srgbClr val="F2F2F2"/>
                </a:solidFill>
                <a:latin typeface="Walter Turncoat"/>
              </a:rPr>
              <a:t>Choose covariates because of the causal structure</a:t>
            </a:r>
          </a:p>
        </p:txBody>
      </p:sp>
      <p:sp>
        <p:nvSpPr>
          <p:cNvPr id="21" name="TextBox 28">
            <a:extLst>
              <a:ext uri="{FF2B5EF4-FFF2-40B4-BE49-F238E27FC236}">
                <a16:creationId xmlns:a16="http://schemas.microsoft.com/office/drawing/2014/main" id="{FFF3E96A-8BDC-66AC-B990-ACD3B56BC4FA}"/>
              </a:ext>
            </a:extLst>
          </p:cNvPr>
          <p:cNvSpPr txBox="1"/>
          <p:nvPr/>
        </p:nvSpPr>
        <p:spPr>
          <a:xfrm>
            <a:off x="1065846" y="1173888"/>
            <a:ext cx="7654291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0" dirty="0">
                <a:solidFill>
                  <a:srgbClr val="C8C8C8"/>
                </a:solidFill>
                <a:latin typeface="Arial"/>
              </a:rPr>
              <a:t>Adjustment is about blocking confounding, not maximizing the number of predictors.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54EB613-E5F0-CFE0-0550-21B7DA20C820}"/>
              </a:ext>
            </a:extLst>
          </p:cNvPr>
          <p:cNvSpPr/>
          <p:nvPr/>
        </p:nvSpPr>
        <p:spPr>
          <a:xfrm>
            <a:off x="288606" y="1989290"/>
            <a:ext cx="566928" cy="566927"/>
          </a:xfrm>
          <a:prstGeom prst="ellipse">
            <a:avLst/>
          </a:prstGeom>
          <a:solidFill>
            <a:srgbClr val="FDBB30"/>
          </a:solidFill>
          <a:ln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111111"/>
                </a:solidFill>
                <a:latin typeface="Arial"/>
              </a:rPr>
              <a:t>2</a:t>
            </a:r>
          </a:p>
        </p:txBody>
      </p:sp>
      <p:sp>
        <p:nvSpPr>
          <p:cNvPr id="23" name="TextBox 30">
            <a:extLst>
              <a:ext uri="{FF2B5EF4-FFF2-40B4-BE49-F238E27FC236}">
                <a16:creationId xmlns:a16="http://schemas.microsoft.com/office/drawing/2014/main" id="{60678511-6B01-79F2-6790-120D2A0DF057}"/>
              </a:ext>
            </a:extLst>
          </p:cNvPr>
          <p:cNvSpPr txBox="1"/>
          <p:nvPr/>
        </p:nvSpPr>
        <p:spPr>
          <a:xfrm>
            <a:off x="1065846" y="1938127"/>
            <a:ext cx="8025765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900" b="0">
                <a:solidFill>
                  <a:srgbClr val="F2F2F2"/>
                </a:solidFill>
                <a:latin typeface="Walter Turncoat"/>
              </a:rPr>
              <a:t>Inspect overlap after defining the adjustment set</a:t>
            </a:r>
          </a:p>
        </p:txBody>
      </p:sp>
      <p:sp>
        <p:nvSpPr>
          <p:cNvPr id="24" name="TextBox 31">
            <a:extLst>
              <a:ext uri="{FF2B5EF4-FFF2-40B4-BE49-F238E27FC236}">
                <a16:creationId xmlns:a16="http://schemas.microsoft.com/office/drawing/2014/main" id="{2D52A53B-E2A7-55AC-EB6F-A95F281A2FA0}"/>
              </a:ext>
            </a:extLst>
          </p:cNvPr>
          <p:cNvSpPr txBox="1"/>
          <p:nvPr/>
        </p:nvSpPr>
        <p:spPr>
          <a:xfrm>
            <a:off x="1065846" y="2389174"/>
            <a:ext cx="802576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0">
                <a:solidFill>
                  <a:srgbClr val="C8C8C8"/>
                </a:solidFill>
                <a:latin typeface="Arial"/>
              </a:rPr>
              <a:t>Look for regions where treatment assignment is nearly deterministic.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B0535A5-2866-F246-2C7E-5B50BA75E057}"/>
              </a:ext>
            </a:extLst>
          </p:cNvPr>
          <p:cNvSpPr/>
          <p:nvPr/>
        </p:nvSpPr>
        <p:spPr>
          <a:xfrm>
            <a:off x="288606" y="3033150"/>
            <a:ext cx="566928" cy="566928"/>
          </a:xfrm>
          <a:prstGeom prst="ellipse">
            <a:avLst/>
          </a:prstGeom>
          <a:solidFill>
            <a:srgbClr val="FDBB30"/>
          </a:solidFill>
          <a:ln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sp>
        <p:nvSpPr>
          <p:cNvPr id="26" name="TextBox 33">
            <a:extLst>
              <a:ext uri="{FF2B5EF4-FFF2-40B4-BE49-F238E27FC236}">
                <a16:creationId xmlns:a16="http://schemas.microsoft.com/office/drawing/2014/main" id="{E8AF2029-0788-52BB-2E22-5306DD77C3EE}"/>
              </a:ext>
            </a:extLst>
          </p:cNvPr>
          <p:cNvSpPr txBox="1"/>
          <p:nvPr/>
        </p:nvSpPr>
        <p:spPr>
          <a:xfrm>
            <a:off x="1065846" y="2983660"/>
            <a:ext cx="7349492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900" b="0">
                <a:solidFill>
                  <a:srgbClr val="F2F2F2"/>
                </a:solidFill>
                <a:latin typeface="Walter Turncoat"/>
              </a:rPr>
              <a:t>Avoid unsupported extrapolation</a:t>
            </a:r>
          </a:p>
        </p:txBody>
      </p:sp>
      <p:sp>
        <p:nvSpPr>
          <p:cNvPr id="27" name="TextBox 34">
            <a:extLst>
              <a:ext uri="{FF2B5EF4-FFF2-40B4-BE49-F238E27FC236}">
                <a16:creationId xmlns:a16="http://schemas.microsoft.com/office/drawing/2014/main" id="{35C3A074-33D9-7236-87CF-62248624F20B}"/>
              </a:ext>
            </a:extLst>
          </p:cNvPr>
          <p:cNvSpPr txBox="1"/>
          <p:nvPr/>
        </p:nvSpPr>
        <p:spPr>
          <a:xfrm>
            <a:off x="1065846" y="3289452"/>
            <a:ext cx="805910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0">
                <a:solidFill>
                  <a:srgbClr val="C8C8C8"/>
                </a:solidFill>
                <a:latin typeface="Arial"/>
              </a:rPr>
              <a:t>If some patients have no comparable treatment alternative, model-based estimates rely on assumptions outside the data.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25E8317-620B-8C64-0AAA-7833B5F4DC24}"/>
              </a:ext>
            </a:extLst>
          </p:cNvPr>
          <p:cNvSpPr/>
          <p:nvPr/>
        </p:nvSpPr>
        <p:spPr>
          <a:xfrm>
            <a:off x="288606" y="4111026"/>
            <a:ext cx="566928" cy="566928"/>
          </a:xfrm>
          <a:prstGeom prst="ellipse">
            <a:avLst/>
          </a:prstGeom>
          <a:solidFill>
            <a:srgbClr val="FDBB30"/>
          </a:solidFill>
          <a:ln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30" name="TextBox 36">
            <a:extLst>
              <a:ext uri="{FF2B5EF4-FFF2-40B4-BE49-F238E27FC236}">
                <a16:creationId xmlns:a16="http://schemas.microsoft.com/office/drawing/2014/main" id="{FA99A55C-372C-45C9-4B4C-26186CF27291}"/>
              </a:ext>
            </a:extLst>
          </p:cNvPr>
          <p:cNvSpPr txBox="1"/>
          <p:nvPr/>
        </p:nvSpPr>
        <p:spPr>
          <a:xfrm>
            <a:off x="1065846" y="4069197"/>
            <a:ext cx="7963854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900" b="0">
                <a:solidFill>
                  <a:srgbClr val="F2F2F2"/>
                </a:solidFill>
                <a:latin typeface="Walter Turncoat"/>
              </a:rPr>
              <a:t>Sometimes change the estimand or target population</a:t>
            </a:r>
          </a:p>
        </p:txBody>
      </p:sp>
      <p:sp>
        <p:nvSpPr>
          <p:cNvPr id="31" name="TextBox 37">
            <a:extLst>
              <a:ext uri="{FF2B5EF4-FFF2-40B4-BE49-F238E27FC236}">
                <a16:creationId xmlns:a16="http://schemas.microsoft.com/office/drawing/2014/main" id="{E785845A-0E09-1BB6-13AB-F62129A1D887}"/>
              </a:ext>
            </a:extLst>
          </p:cNvPr>
          <p:cNvSpPr txBox="1"/>
          <p:nvPr/>
        </p:nvSpPr>
        <p:spPr>
          <a:xfrm>
            <a:off x="1065846" y="4400740"/>
            <a:ext cx="7963854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0">
                <a:solidFill>
                  <a:srgbClr val="C8C8C8"/>
                </a:solidFill>
                <a:latin typeface="Arial"/>
              </a:rPr>
              <a:t>Restrict to common support, trim extreme regions, or target an overlap population when scientifically appropriate.</a:t>
            </a:r>
          </a:p>
        </p:txBody>
      </p:sp>
    </p:spTree>
    <p:extLst>
      <p:ext uri="{BB962C8B-B14F-4D97-AF65-F5344CB8AC3E}">
        <p14:creationId xmlns:p14="http://schemas.microsoft.com/office/powerpoint/2010/main" val="26570235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8A105-DF21-406F-2EA6-49239BB15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91385B-A076-3C37-1EB6-D3E9D26487FA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Assumption Check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0930F7-7CF5-D91B-2ED8-AA61FD903941}"/>
              </a:ext>
            </a:extLst>
          </p:cNvPr>
          <p:cNvSpPr txBox="1"/>
          <p:nvPr/>
        </p:nvSpPr>
        <p:spPr>
          <a:xfrm>
            <a:off x="398747" y="690573"/>
            <a:ext cx="81407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 drug is never prescribed during pregnancy.</a:t>
            </a:r>
          </a:p>
          <a:p>
            <a:pPr marL="342900" indent="-342900">
              <a:buClr>
                <a:schemeClr val="bg1"/>
              </a:buClr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People who feel healthier are more likely to exercise, but baseline health was not measured.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“Diet = 1” includes keto, vegan, Mediterranean, and intermittent fasting with no further detail.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Students assigned to a tutoring program share the worksheets with untreated classmates.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2612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726AC-8934-70DE-0D63-BF6916456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474C02-B764-AA2F-CC6E-0A388C820EB5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Assumption Check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F94A17-5153-18E4-7565-E6109608FE00}"/>
              </a:ext>
            </a:extLst>
          </p:cNvPr>
          <p:cNvSpPr txBox="1"/>
          <p:nvPr/>
        </p:nvSpPr>
        <p:spPr>
          <a:xfrm>
            <a:off x="398747" y="690573"/>
            <a:ext cx="81407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 drug is never prescribed during pregnancy.</a:t>
            </a:r>
          </a:p>
          <a:p>
            <a:pPr marL="342900" indent="-342900">
              <a:buClr>
                <a:schemeClr val="bg1"/>
              </a:buClr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b="1" dirty="0">
                <a:solidFill>
                  <a:srgbClr val="FFFF00"/>
                </a:solidFill>
              </a:rPr>
              <a:t>Positivity.</a:t>
            </a:r>
            <a:endParaRPr lang="en-US" sz="1800" dirty="0">
              <a:solidFill>
                <a:srgbClr val="FFFF00"/>
              </a:solidFill>
            </a:endParaRPr>
          </a:p>
          <a:p>
            <a:pPr marL="342900" indent="-342900"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People who feel healthier are more likely to exercise, but baseline health was not measured.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“Diet = 1” includes keto, vegan, Mediterranean, and intermittent fasting with no further detail.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Students assigned to a tutoring program share the worksheets with untreated classmates.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9600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5B124-1669-AE11-D0A2-E2F5EA76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FC5389-6533-E69F-7C5D-283043D1D331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Assumption Check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467CC2-7307-E43D-FF46-EC4DF9C1B481}"/>
              </a:ext>
            </a:extLst>
          </p:cNvPr>
          <p:cNvSpPr txBox="1"/>
          <p:nvPr/>
        </p:nvSpPr>
        <p:spPr>
          <a:xfrm>
            <a:off x="398747" y="690573"/>
            <a:ext cx="81407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 drug is never prescribed during pregnancy.</a:t>
            </a:r>
          </a:p>
          <a:p>
            <a:pPr marL="342900" indent="-342900">
              <a:buClr>
                <a:schemeClr val="bg1"/>
              </a:buClr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People who feel healthier are more likely to exercise, but baseline health was not measured.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1800" b="1" dirty="0">
                <a:solidFill>
                  <a:srgbClr val="FFFF00"/>
                </a:solidFill>
              </a:rPr>
              <a:t>Conditional Exchangeability.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“Diet = 1” includes keto, vegan, Mediterranean, and intermittent fasting with no further detail.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Students assigned to a tutoring program share the worksheets with untreated classmates.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8856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25E69-D1F5-2C6F-BD1D-92829A665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3F9636-ACE8-BF69-C979-F2737E48E5DC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Assumption Check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99D4AA-FF27-D481-17E4-E98DB627405F}"/>
              </a:ext>
            </a:extLst>
          </p:cNvPr>
          <p:cNvSpPr txBox="1"/>
          <p:nvPr/>
        </p:nvSpPr>
        <p:spPr>
          <a:xfrm>
            <a:off x="398747" y="690573"/>
            <a:ext cx="81407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 drug is never prescribed during pregnancy.</a:t>
            </a:r>
          </a:p>
          <a:p>
            <a:pPr marL="342900" indent="-342900">
              <a:buClr>
                <a:schemeClr val="bg1"/>
              </a:buClr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People who feel healthier are more likely to exercise, but baseline health was not measured.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“Diet = 1” includes keto, vegan, Mediterranean, and intermittent fasting with no further detail.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1800" b="1" dirty="0">
                <a:solidFill>
                  <a:srgbClr val="FFFF00"/>
                </a:solidFill>
              </a:rPr>
              <a:t>Consistency.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Students assigned to a tutoring program share the worksheets with untreated classmates.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5666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3E93-C963-7CAF-ADEF-52B182848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273607-CF18-D0BD-A57A-98D61760ACD9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Assumption Check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C05B5-1881-D140-9853-B5511312D313}"/>
              </a:ext>
            </a:extLst>
          </p:cNvPr>
          <p:cNvSpPr txBox="1"/>
          <p:nvPr/>
        </p:nvSpPr>
        <p:spPr>
          <a:xfrm>
            <a:off x="398747" y="690573"/>
            <a:ext cx="81407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 drug is never prescribed during pregnancy.</a:t>
            </a:r>
          </a:p>
          <a:p>
            <a:pPr marL="342900" indent="-342900">
              <a:buClr>
                <a:schemeClr val="bg1"/>
              </a:buClr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People who feel healthier are more likely to exercise, but baseline health was not measured.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“Diet = 1” includes keto, vegan, Mediterranean, and intermittent fasting with no further detail.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Students assigned to a tutoring program share the worksheets with untreated classmates.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1800" b="1" dirty="0">
                <a:solidFill>
                  <a:srgbClr val="FFFF00"/>
                </a:solidFill>
              </a:rPr>
              <a:t>No Interference / SUTVA.</a:t>
            </a:r>
          </a:p>
        </p:txBody>
      </p:sp>
    </p:spTree>
    <p:extLst>
      <p:ext uri="{BB962C8B-B14F-4D97-AF65-F5344CB8AC3E}">
        <p14:creationId xmlns:p14="http://schemas.microsoft.com/office/powerpoint/2010/main" val="31912265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787F3-1756-B73F-C1C1-6498D07E3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509A39-260B-549F-2C3D-295A24D5CE64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Assumption to Identifiability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1">
                <a:extLst>
                  <a:ext uri="{FF2B5EF4-FFF2-40B4-BE49-F238E27FC236}">
                    <a16:creationId xmlns:a16="http://schemas.microsoft.com/office/drawing/2014/main" id="{40380702-53F3-4D90-C24F-5FF285E8CE0E}"/>
                  </a:ext>
                </a:extLst>
              </p:cNvPr>
              <p:cNvSpPr/>
              <p:nvPr/>
            </p:nvSpPr>
            <p:spPr>
              <a:xfrm>
                <a:off x="271462" y="1433512"/>
                <a:ext cx="8393430" cy="576263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3400" dirty="0">
                    <a:solidFill>
                      <a:srgbClr val="FDBB30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ATE =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3400" i="1" dirty="0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dPr>
                      <m:e>
                        <m:r>
                          <a:rPr lang="en-US" sz="3400" i="1" dirty="0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𝑌</m:t>
                        </m:r>
                        <m:d>
                          <m:dPr>
                            <m:ctrlPr>
                              <a:rPr lang="en-US" sz="3400" b="0" i="1" dirty="0" smtClean="0">
                                <a:solidFill>
                                  <a:srgbClr val="FDBB3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dPr>
                          <m:e>
                            <m:r>
                              <a:rPr lang="en-US" sz="3400" b="0" i="1" dirty="0" smtClean="0">
                                <a:solidFill>
                                  <a:srgbClr val="FDBB3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e>
                        </m:d>
                        <m:r>
                          <a:rPr lang="en-US" sz="3400" i="1" dirty="0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− </m:t>
                        </m:r>
                        <m:r>
                          <a:rPr lang="en-US" sz="3400" i="1" dirty="0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𝑌</m:t>
                        </m:r>
                        <m:d>
                          <m:dPr>
                            <m:ctrlPr>
                              <a:rPr lang="en-US" sz="3400" i="1" dirty="0" smtClean="0">
                                <a:solidFill>
                                  <a:srgbClr val="FDBB3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dPr>
                          <m:e>
                            <m:r>
                              <a:rPr lang="en-US" sz="3400" i="1" dirty="0" smtClean="0">
                                <a:solidFill>
                                  <a:srgbClr val="FDBB3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endParaRPr lang="en-US" sz="3400" dirty="0"/>
              </a:p>
            </p:txBody>
          </p:sp>
        </mc:Choice>
        <mc:Fallback>
          <p:sp>
            <p:nvSpPr>
              <p:cNvPr id="4" name="Text 1">
                <a:extLst>
                  <a:ext uri="{FF2B5EF4-FFF2-40B4-BE49-F238E27FC236}">
                    <a16:creationId xmlns:a16="http://schemas.microsoft.com/office/drawing/2014/main" id="{40380702-53F3-4D90-C24F-5FF285E8C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62" y="1433512"/>
                <a:ext cx="8393430" cy="576263"/>
              </a:xfrm>
              <a:prstGeom prst="rect">
                <a:avLst/>
              </a:prstGeom>
              <a:blipFill>
                <a:blip r:embed="rId2"/>
                <a:stretch>
                  <a:fillRect t="-17895" b="-40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2">
                <a:extLst>
                  <a:ext uri="{FF2B5EF4-FFF2-40B4-BE49-F238E27FC236}">
                    <a16:creationId xmlns:a16="http://schemas.microsoft.com/office/drawing/2014/main" id="{5A38E9AD-357D-4431-CFBD-78D90C14B598}"/>
                  </a:ext>
                </a:extLst>
              </p:cNvPr>
              <p:cNvSpPr/>
              <p:nvPr/>
            </p:nvSpPr>
            <p:spPr>
              <a:xfrm>
                <a:off x="661988" y="2395537"/>
                <a:ext cx="8602980" cy="690563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3100" dirty="0">
                    <a:solidFill>
                      <a:srgbClr val="F2F2F2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= </a:t>
                </a:r>
                <a14:m>
                  <m:oMath xmlns:m="http://schemas.openxmlformats.org/officeDocument/2006/math">
                    <m:r>
                      <a:rPr lang="en-US" sz="31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3100" i="1" dirty="0" smtClean="0">
                            <a:solidFill>
                              <a:srgbClr val="F2F2F2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dPr>
                      <m:e>
                        <m:r>
                          <a:rPr lang="en-US" sz="3100" i="1" dirty="0" smtClean="0">
                            <a:solidFill>
                              <a:srgbClr val="F2F2F2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𝑌</m:t>
                        </m:r>
                        <m:d>
                          <m:dPr>
                            <m:ctrlPr>
                              <a:rPr lang="en-US" sz="3100" i="1" dirty="0" smtClean="0">
                                <a:solidFill>
                                  <a:srgbClr val="F2F2F2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dPr>
                          <m:e>
                            <m:r>
                              <a:rPr lang="en-US" sz="3100" i="1" dirty="0" smtClean="0">
                                <a:solidFill>
                                  <a:srgbClr val="F2F2F2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sz="31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− </m:t>
                    </m:r>
                    <m:r>
                      <a:rPr lang="en-US" sz="31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3100" i="1" dirty="0" smtClean="0">
                            <a:solidFill>
                              <a:srgbClr val="F2F2F2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dPr>
                      <m:e>
                        <m:r>
                          <a:rPr lang="en-US" sz="3100" i="1" dirty="0" smtClean="0">
                            <a:solidFill>
                              <a:srgbClr val="F2F2F2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𝑌</m:t>
                        </m:r>
                        <m:d>
                          <m:dPr>
                            <m:ctrlPr>
                              <a:rPr lang="en-US" sz="3100" i="1" dirty="0" smtClean="0">
                                <a:solidFill>
                                  <a:srgbClr val="F2F2F2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dPr>
                          <m:e>
                            <m:r>
                              <a:rPr lang="en-US" sz="3100" i="1" dirty="0" smtClean="0">
                                <a:solidFill>
                                  <a:srgbClr val="F2F2F2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endParaRPr lang="en-US" sz="3100" dirty="0"/>
              </a:p>
            </p:txBody>
          </p:sp>
        </mc:Choice>
        <mc:Fallback>
          <p:sp>
            <p:nvSpPr>
              <p:cNvPr id="6" name="Text 2">
                <a:extLst>
                  <a:ext uri="{FF2B5EF4-FFF2-40B4-BE49-F238E27FC236}">
                    <a16:creationId xmlns:a16="http://schemas.microsoft.com/office/drawing/2014/main" id="{5A38E9AD-357D-4431-CFBD-78D90C14B5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88" y="2395537"/>
                <a:ext cx="8602980" cy="690563"/>
              </a:xfrm>
              <a:prstGeom prst="rect">
                <a:avLst/>
              </a:prstGeom>
              <a:blipFill>
                <a:blip r:embed="rId3"/>
                <a:stretch>
                  <a:fillRect t="-2655" b="-1858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3">
            <a:extLst>
              <a:ext uri="{FF2B5EF4-FFF2-40B4-BE49-F238E27FC236}">
                <a16:creationId xmlns:a16="http://schemas.microsoft.com/office/drawing/2014/main" id="{69ED96AD-6243-67B8-74B9-F9E1361D5A14}"/>
              </a:ext>
            </a:extLst>
          </p:cNvPr>
          <p:cNvSpPr/>
          <p:nvPr/>
        </p:nvSpPr>
        <p:spPr>
          <a:xfrm>
            <a:off x="177135" y="3713797"/>
            <a:ext cx="8689195" cy="891540"/>
          </a:xfrm>
          <a:prstGeom prst="roundRect">
            <a:avLst>
              <a:gd name="adj" fmla="val 12632"/>
            </a:avLst>
          </a:prstGeom>
          <a:solidFill>
            <a:srgbClr val="6EA7E1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54B8B28-92A9-58C1-CBD9-36DDF8575918}"/>
              </a:ext>
            </a:extLst>
          </p:cNvPr>
          <p:cNvSpPr/>
          <p:nvPr/>
        </p:nvSpPr>
        <p:spPr>
          <a:xfrm>
            <a:off x="271462" y="3851242"/>
            <a:ext cx="8460596" cy="6166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We want to rewrite this causal quantity using things observable in the data.</a:t>
            </a:r>
          </a:p>
        </p:txBody>
      </p:sp>
    </p:spTree>
    <p:extLst>
      <p:ext uri="{BB962C8B-B14F-4D97-AF65-F5344CB8AC3E}">
        <p14:creationId xmlns:p14="http://schemas.microsoft.com/office/powerpoint/2010/main" val="32830600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D6E8A-193C-036E-F949-D049F097F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11881B-13FD-A341-A3E6-0CC463D08689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Adjustment formula: Condition on X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1">
                <a:extLst>
                  <a:ext uri="{FF2B5EF4-FFF2-40B4-BE49-F238E27FC236}">
                    <a16:creationId xmlns:a16="http://schemas.microsoft.com/office/drawing/2014/main" id="{8D2F666C-58C6-0296-BBC9-63133FD138B5}"/>
                  </a:ext>
                </a:extLst>
              </p:cNvPr>
              <p:cNvSpPr/>
              <p:nvPr/>
            </p:nvSpPr>
            <p:spPr>
              <a:xfrm>
                <a:off x="276224" y="1852874"/>
                <a:ext cx="8369617" cy="652463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(1)] = 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ₓ{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(1) | 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𝑋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]} </m:t>
                      </m:r>
                    </m:oMath>
                  </m:oMathPara>
                </a14:m>
                <a:endParaRPr lang="en-US" sz="3100" dirty="0"/>
              </a:p>
            </p:txBody>
          </p:sp>
        </mc:Choice>
        <mc:Fallback>
          <p:sp>
            <p:nvSpPr>
              <p:cNvPr id="9" name="Text 1">
                <a:extLst>
                  <a:ext uri="{FF2B5EF4-FFF2-40B4-BE49-F238E27FC236}">
                    <a16:creationId xmlns:a16="http://schemas.microsoft.com/office/drawing/2014/main" id="{8D2F666C-58C6-0296-BBC9-63133FD138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4" y="1852874"/>
                <a:ext cx="8369617" cy="6524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1">
            <a:extLst>
              <a:ext uri="{FF2B5EF4-FFF2-40B4-BE49-F238E27FC236}">
                <a16:creationId xmlns:a16="http://schemas.microsoft.com/office/drawing/2014/main" id="{97C66572-6795-242E-3B75-C0FBEC89D322}"/>
              </a:ext>
            </a:extLst>
          </p:cNvPr>
          <p:cNvSpPr/>
          <p:nvPr/>
        </p:nvSpPr>
        <p:spPr>
          <a:xfrm>
            <a:off x="228597" y="1167075"/>
            <a:ext cx="8369617" cy="6524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100" b="0" i="0" dirty="0">
                <a:solidFill>
                  <a:srgbClr val="F2F2F2"/>
                </a:solidFill>
                <a:latin typeface="+mj-lt"/>
                <a:ea typeface="Cambria Math" pitchFamily="34" charset="-122"/>
                <a:cs typeface="Cambria Math" pitchFamily="34" charset="-120"/>
              </a:rPr>
              <a:t>Law of iterated expectation gives:</a:t>
            </a:r>
            <a:endParaRPr lang="en-US" sz="3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2">
                <a:extLst>
                  <a:ext uri="{FF2B5EF4-FFF2-40B4-BE49-F238E27FC236}">
                    <a16:creationId xmlns:a16="http://schemas.microsoft.com/office/drawing/2014/main" id="{9D4CD423-99EF-C573-FBB2-0436AE5AE9F3}"/>
                  </a:ext>
                </a:extLst>
              </p:cNvPr>
              <p:cNvSpPr/>
              <p:nvPr/>
            </p:nvSpPr>
            <p:spPr>
              <a:xfrm>
                <a:off x="288129" y="2710124"/>
                <a:ext cx="8250555" cy="652463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(0)] = 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ₓ{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(0) | 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𝑋</m:t>
                      </m:r>
                      <m:r>
                        <a:rPr lang="en-US" sz="31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]}</m:t>
                      </m:r>
                    </m:oMath>
                  </m:oMathPara>
                </a14:m>
                <a:endParaRPr lang="en-US" sz="3100" dirty="0"/>
              </a:p>
            </p:txBody>
          </p:sp>
        </mc:Choice>
        <mc:Fallback>
          <p:sp>
            <p:nvSpPr>
              <p:cNvPr id="13" name="Text 2">
                <a:extLst>
                  <a:ext uri="{FF2B5EF4-FFF2-40B4-BE49-F238E27FC236}">
                    <a16:creationId xmlns:a16="http://schemas.microsoft.com/office/drawing/2014/main" id="{9D4CD423-99EF-C573-FBB2-0436AE5AE9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29" y="2710124"/>
                <a:ext cx="8250555" cy="6524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3">
                <a:extLst>
                  <a:ext uri="{FF2B5EF4-FFF2-40B4-BE49-F238E27FC236}">
                    <a16:creationId xmlns:a16="http://schemas.microsoft.com/office/drawing/2014/main" id="{66BACD69-7A55-7C69-EC81-2E2A54557E11}"/>
                  </a:ext>
                </a:extLst>
              </p:cNvPr>
              <p:cNvSpPr/>
              <p:nvPr/>
            </p:nvSpPr>
            <p:spPr>
              <a:xfrm>
                <a:off x="276224" y="3910012"/>
                <a:ext cx="8145780" cy="723901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3000" dirty="0">
                    <a:solidFill>
                      <a:srgbClr val="FDBB30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ATE =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𝐸</m:t>
                    </m:r>
                    <m:r>
                      <a:rPr lang="en-US" sz="3000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ₓ</m:t>
                    </m:r>
                    <m:d>
                      <m:dPr>
                        <m:begChr m:val="{"/>
                        <m:endChr m:val="}"/>
                        <m:ctrlPr>
                          <a:rPr lang="en-US" sz="3000" i="1" dirty="0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dPr>
                      <m:e>
                        <m:r>
                          <a:rPr lang="en-US" sz="3000" i="1" dirty="0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3000" i="1" dirty="0" smtClean="0">
                                <a:solidFill>
                                  <a:srgbClr val="FDBB3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dPr>
                          <m:e>
                            <m:r>
                              <a:rPr lang="en-US" sz="3000" i="1" dirty="0" smtClean="0">
                                <a:solidFill>
                                  <a:srgbClr val="FDBB3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𝑌</m:t>
                            </m:r>
                            <m:d>
                              <m:dPr>
                                <m:ctrlPr>
                                  <a:rPr lang="en-US" sz="3000" i="1" dirty="0" smtClean="0">
                                    <a:solidFill>
                                      <a:srgbClr val="FDBB30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</m:ctrlPr>
                              </m:dPr>
                              <m:e>
                                <m:r>
                                  <a:rPr lang="en-US" sz="3000" i="1" dirty="0" smtClean="0">
                                    <a:solidFill>
                                      <a:srgbClr val="FDBB30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1</m:t>
                                </m:r>
                              </m:e>
                            </m:d>
                          </m:e>
                          <m:e>
                            <m:r>
                              <a:rPr lang="en-US" sz="3000" i="1" dirty="0" smtClean="0">
                                <a:solidFill>
                                  <a:srgbClr val="FDBB3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𝑋</m:t>
                            </m:r>
                          </m:e>
                        </m:d>
                        <m:r>
                          <a:rPr lang="en-US" sz="3000" i="1" dirty="0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− </m:t>
                        </m:r>
                        <m:r>
                          <a:rPr lang="en-US" sz="3000" i="1" dirty="0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3000" i="1" dirty="0" smtClean="0">
                                <a:solidFill>
                                  <a:srgbClr val="FDBB3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dPr>
                          <m:e>
                            <m:r>
                              <a:rPr lang="en-US" sz="3000" i="1" dirty="0" smtClean="0">
                                <a:solidFill>
                                  <a:srgbClr val="FDBB3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𝑌</m:t>
                            </m:r>
                            <m:d>
                              <m:dPr>
                                <m:ctrlPr>
                                  <a:rPr lang="en-US" sz="3000" i="1" dirty="0" smtClean="0">
                                    <a:solidFill>
                                      <a:srgbClr val="FDBB30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</m:ctrlPr>
                              </m:dPr>
                              <m:e>
                                <m:r>
                                  <a:rPr lang="en-US" sz="3000" i="1" dirty="0" smtClean="0">
                                    <a:solidFill>
                                      <a:srgbClr val="FDBB30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0</m:t>
                                </m:r>
                              </m:e>
                            </m:d>
                          </m:e>
                          <m:e>
                            <m:r>
                              <a:rPr lang="en-US" sz="3000" i="1" dirty="0" smtClean="0">
                                <a:solidFill>
                                  <a:srgbClr val="FDBB3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endParaRPr lang="en-US" sz="3000" dirty="0"/>
              </a:p>
            </p:txBody>
          </p:sp>
        </mc:Choice>
        <mc:Fallback>
          <p:sp>
            <p:nvSpPr>
              <p:cNvPr id="14" name="Text 3">
                <a:extLst>
                  <a:ext uri="{FF2B5EF4-FFF2-40B4-BE49-F238E27FC236}">
                    <a16:creationId xmlns:a16="http://schemas.microsoft.com/office/drawing/2014/main" id="{66BACD69-7A55-7C69-EC81-2E2A54557E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4" y="3910012"/>
                <a:ext cx="8145780" cy="723901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5544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7B17B-930C-2E45-970F-8BFD27BD6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4C2B1A-ECEC-68AA-984E-2B44453F5C03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Adjustment formula: Use exchangeability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3E6547D1-7DA5-55EA-CE56-78CD0D92A89C}"/>
                  </a:ext>
                </a:extLst>
              </p:cNvPr>
              <p:cNvSpPr/>
              <p:nvPr/>
            </p:nvSpPr>
            <p:spPr>
              <a:xfrm>
                <a:off x="114300" y="933450"/>
                <a:ext cx="8369617" cy="64293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(1),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(0)) ⫫ 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𝑇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| </m:t>
                      </m:r>
                      <m:r>
                        <a:rPr lang="en-US" sz="31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𝑋</m:t>
                      </m:r>
                    </m:oMath>
                  </m:oMathPara>
                </a14:m>
                <a:endParaRPr lang="en-US" sz="3100" dirty="0"/>
              </a:p>
            </p:txBody>
          </p:sp>
        </mc:Choice>
        <mc:Fallback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3E6547D1-7DA5-55EA-CE56-78CD0D92A8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933450"/>
                <a:ext cx="8369617" cy="6429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32B2FF78-44D6-892C-D47A-D064A2406F99}"/>
                  </a:ext>
                </a:extLst>
              </p:cNvPr>
              <p:cNvSpPr/>
              <p:nvPr/>
            </p:nvSpPr>
            <p:spPr>
              <a:xfrm>
                <a:off x="147637" y="1852613"/>
                <a:ext cx="8598217" cy="64293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7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7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r>
                            <a:rPr lang="en-US" sz="27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2700" i="1" dirty="0" smtClean="0">
                                  <a:solidFill>
                                    <a:srgbClr val="F2F2F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2700" i="1" dirty="0" smtClean="0">
                                  <a:solidFill>
                                    <a:srgbClr val="F2F2F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en-US" sz="27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𝑋</m:t>
                          </m:r>
                        </m:e>
                      </m:d>
                      <m:r>
                        <a:rPr lang="en-US" sz="27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</m:t>
                      </m:r>
                      <m:r>
                        <a:rPr lang="en-US" sz="27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7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r>
                            <a:rPr lang="en-US" sz="27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2700" i="1" dirty="0" smtClean="0">
                                  <a:solidFill>
                                    <a:srgbClr val="F2F2F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2700" i="1" dirty="0" smtClean="0">
                                  <a:solidFill>
                                    <a:srgbClr val="F2F2F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en-US" sz="27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𝑇</m:t>
                          </m:r>
                          <m:r>
                            <a:rPr lang="en-US" sz="27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=1,</m:t>
                          </m:r>
                          <m:r>
                            <a:rPr lang="en-US" sz="27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700" dirty="0"/>
              </a:p>
            </p:txBody>
          </p:sp>
        </mc:Choice>
        <mc:Fallback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32B2FF78-44D6-892C-D47A-D064A2406F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37" y="1852613"/>
                <a:ext cx="8598217" cy="6429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FC207202-F25B-88F6-0EBA-8774BF836D5A}"/>
                  </a:ext>
                </a:extLst>
              </p:cNvPr>
              <p:cNvSpPr/>
              <p:nvPr/>
            </p:nvSpPr>
            <p:spPr>
              <a:xfrm>
                <a:off x="147637" y="2767013"/>
                <a:ext cx="8598217" cy="64293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7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7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r>
                            <a:rPr lang="en-US" sz="27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2700" i="1" dirty="0" smtClean="0">
                                  <a:solidFill>
                                    <a:srgbClr val="F2F2F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2700" i="1" dirty="0" smtClean="0">
                                  <a:solidFill>
                                    <a:srgbClr val="F2F2F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n-US" sz="27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𝑋</m:t>
                          </m:r>
                        </m:e>
                      </m:d>
                      <m:r>
                        <a:rPr lang="en-US" sz="27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 </m:t>
                      </m:r>
                      <m:r>
                        <a:rPr lang="en-US" sz="2700" i="1" dirty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= </m:t>
                      </m:r>
                      <m:r>
                        <a:rPr lang="en-US" sz="2700" i="1" dirty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700" i="1" dirty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r>
                            <a:rPr lang="en-US" sz="2700" i="1" dirty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2700" i="1" dirty="0">
                                  <a:solidFill>
                                    <a:srgbClr val="F2F2F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2700" i="1" dirty="0">
                                  <a:solidFill>
                                    <a:srgbClr val="F2F2F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n-US" sz="2700" i="1" dirty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𝑇</m:t>
                          </m:r>
                          <m:r>
                            <a:rPr lang="en-US" sz="2700" i="1" dirty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=0,</m:t>
                          </m:r>
                          <m:r>
                            <a:rPr lang="en-US" sz="2700" i="1" dirty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700" dirty="0"/>
              </a:p>
            </p:txBody>
          </p:sp>
        </mc:Choice>
        <mc:Fallback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FC207202-F25B-88F6-0EBA-8774BF836D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37" y="2767013"/>
                <a:ext cx="8598217" cy="6429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4">
            <a:extLst>
              <a:ext uri="{FF2B5EF4-FFF2-40B4-BE49-F238E27FC236}">
                <a16:creationId xmlns:a16="http://schemas.microsoft.com/office/drawing/2014/main" id="{19C8B703-3ED8-9ADF-84DC-CAD251CFEF3D}"/>
              </a:ext>
            </a:extLst>
          </p:cNvPr>
          <p:cNvSpPr/>
          <p:nvPr/>
        </p:nvSpPr>
        <p:spPr>
          <a:xfrm>
            <a:off x="147637" y="4016907"/>
            <a:ext cx="8879204" cy="795861"/>
          </a:xfrm>
          <a:prstGeom prst="roundRect">
            <a:avLst>
              <a:gd name="adj" fmla="val 13333"/>
            </a:avLst>
          </a:prstGeom>
          <a:solidFill>
            <a:srgbClr val="6EA7E1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A8E29E9-AFC9-A5B3-3251-D5E4BAC1E370}"/>
              </a:ext>
            </a:extLst>
          </p:cNvPr>
          <p:cNvSpPr/>
          <p:nvPr/>
        </p:nvSpPr>
        <p:spPr>
          <a:xfrm>
            <a:off x="177135" y="4163212"/>
            <a:ext cx="8879204" cy="55940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X, treated and untreated units represent the same potential-outcome distribution.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3169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FD8DE-C035-7522-0268-4C51A3803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FA7846-320D-2090-6A2D-538DDD0B20C0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Adjustment formula: Use Positivity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035403-5519-1151-C303-6CF30D7DE4D6}"/>
                  </a:ext>
                </a:extLst>
              </p:cNvPr>
              <p:cNvSpPr txBox="1"/>
              <p:nvPr/>
            </p:nvSpPr>
            <p:spPr>
              <a:xfrm>
                <a:off x="514350" y="1143001"/>
                <a:ext cx="7681913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chemeClr val="bg1"/>
                    </a:solidFill>
                    <a:ea typeface="Cambria Math" pitchFamily="34" charset="-122"/>
                    <a:cs typeface="Cambria Math" pitchFamily="34" charset="-120"/>
                  </a:rPr>
                  <a:t>To write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𝑌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e>
                        </m:d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|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𝑇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=1, 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, we need: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chemeClr val="bg1"/>
                    </a:solidFill>
                  </a:rPr>
                  <a:t>Similarly, we also need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=0|</m:t>
                    </m:r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)&gt;0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chemeClr val="bg1"/>
                    </a:solidFill>
                  </a:rPr>
                  <a:t>Otherwise, for some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e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=1, 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has no data behind it.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chemeClr val="bg1"/>
                    </a:solidFill>
                  </a:rPr>
                  <a:t>Exchangeability tells us whom we may compare; positivity ensures both groups actually exist to make that comparison.</a:t>
                </a:r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035403-5519-1151-C303-6CF30D7DE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0" y="1143001"/>
                <a:ext cx="7681913" cy="3477875"/>
              </a:xfrm>
              <a:prstGeom prst="rect">
                <a:avLst/>
              </a:prstGeom>
              <a:blipFill>
                <a:blip r:embed="rId2"/>
                <a:stretch>
                  <a:fillRect l="-793" t="-877" r="-14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72002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67DE7-E3B1-10FB-885A-2C16FA8D7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7FAA03-58A2-1783-B86E-622A492ED2E3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Adjustment formula: Use Consistency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C5625FC3-5DE9-7777-3435-2A4ADC099004}"/>
                  </a:ext>
                </a:extLst>
              </p:cNvPr>
              <p:cNvSpPr/>
              <p:nvPr/>
            </p:nvSpPr>
            <p:spPr>
              <a:xfrm>
                <a:off x="395287" y="914400"/>
                <a:ext cx="8255317" cy="76200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3100" dirty="0">
                    <a:solidFill>
                      <a:srgbClr val="FDBB30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3100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  <m:r>
                      <a:rPr lang="en-US" sz="3100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sz="3100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sz="3100" dirty="0">
                    <a:solidFill>
                      <a:srgbClr val="FDBB30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3100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𝑌</m:t>
                    </m:r>
                    <m:r>
                      <a:rPr lang="en-US" sz="3100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3100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𝑌</m:t>
                    </m:r>
                    <m:r>
                      <a:rPr lang="en-US" sz="3100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sz="3100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sz="3100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endParaRPr lang="en-US" sz="3100" dirty="0"/>
              </a:p>
            </p:txBody>
          </p:sp>
        </mc:Choice>
        <mc:Fallback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C5625FC3-5DE9-7777-3435-2A4ADC0990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914400"/>
                <a:ext cx="8255317" cy="762000"/>
              </a:xfrm>
              <a:prstGeom prst="rect">
                <a:avLst/>
              </a:prstGeom>
              <a:blipFill>
                <a:blip r:embed="rId2"/>
                <a:stretch>
                  <a:fillRect b="-12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4D51B01E-ED25-18CE-5477-3840E7E2B85B}"/>
                  </a:ext>
                </a:extLst>
              </p:cNvPr>
              <p:cNvSpPr/>
              <p:nvPr/>
            </p:nvSpPr>
            <p:spPr>
              <a:xfrm>
                <a:off x="395287" y="2148840"/>
                <a:ext cx="8255317" cy="76200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6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2600" i="1" dirty="0" smtClean="0">
                                  <a:solidFill>
                                    <a:srgbClr val="F2F2F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2600" i="1" dirty="0" smtClean="0">
                                  <a:solidFill>
                                    <a:srgbClr val="F2F2F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𝑇</m:t>
                          </m:r>
                          <m: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=1,</m:t>
                          </m:r>
                          <m: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𝑋</m:t>
                          </m:r>
                        </m:e>
                      </m:d>
                      <m:r>
                        <a:rPr lang="en-US" sz="26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</m:t>
                      </m:r>
                      <m:r>
                        <a:rPr lang="en-US" sz="26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𝑌</m:t>
                          </m:r>
                        </m:e>
                        <m:e>
                          <m: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𝑇</m:t>
                          </m:r>
                          <m: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=1,</m:t>
                          </m:r>
                          <m: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600" dirty="0"/>
              </a:p>
            </p:txBody>
          </p:sp>
        </mc:Choice>
        <mc:Fallback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4D51B01E-ED25-18CE-5477-3840E7E2B8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2148840"/>
                <a:ext cx="8255317" cy="76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068FFD61-BE31-1450-363C-73508B8A41D8}"/>
                  </a:ext>
                </a:extLst>
              </p:cNvPr>
              <p:cNvSpPr/>
              <p:nvPr/>
            </p:nvSpPr>
            <p:spPr>
              <a:xfrm>
                <a:off x="395287" y="3063240"/>
                <a:ext cx="8255317" cy="76200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6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2600" i="1" dirty="0" smtClean="0">
                                  <a:solidFill>
                                    <a:srgbClr val="F2F2F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2600" i="1" dirty="0" smtClean="0">
                                  <a:solidFill>
                                    <a:srgbClr val="F2F2F2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𝑇</m:t>
                          </m:r>
                          <m: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=0,</m:t>
                          </m:r>
                          <m: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𝑋</m:t>
                          </m:r>
                        </m:e>
                      </m:d>
                      <m:r>
                        <a:rPr lang="en-US" sz="26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</m:t>
                      </m:r>
                      <m:r>
                        <a:rPr lang="en-US" sz="26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𝑌</m:t>
                          </m:r>
                        </m:e>
                        <m:e>
                          <m: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𝑇</m:t>
                          </m:r>
                          <m: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=0,</m:t>
                          </m:r>
                          <m:r>
                            <a:rPr lang="en-US" sz="2600" i="1" dirty="0" smtClean="0">
                              <a:solidFill>
                                <a:srgbClr val="F2F2F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600" dirty="0"/>
              </a:p>
            </p:txBody>
          </p:sp>
        </mc:Choice>
        <mc:Fallback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068FFD61-BE31-1450-363C-73508B8A41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3063240"/>
                <a:ext cx="8255317" cy="76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7CBE7E34-F214-C553-9E18-CB4DE928BC5B}"/>
                  </a:ext>
                </a:extLst>
              </p:cNvPr>
              <p:cNvSpPr/>
              <p:nvPr/>
            </p:nvSpPr>
            <p:spPr>
              <a:xfrm>
                <a:off x="395287" y="4114800"/>
                <a:ext cx="8255317" cy="76200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9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𝐴𝑇𝐸</m:t>
                      </m:r>
                      <m:r>
                        <a:rPr lang="en-US" sz="29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</m:t>
                      </m:r>
                      <m:r>
                        <a:rPr lang="en-US" sz="29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29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90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r>
                            <a:rPr lang="en-US" sz="290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 </m:t>
                          </m:r>
                          <m:r>
                            <a:rPr lang="en-US" sz="290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2900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2900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US" sz="2900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𝑇</m:t>
                              </m:r>
                              <m:r>
                                <a:rPr lang="en-US" sz="2900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=1,</m:t>
                              </m:r>
                              <m:r>
                                <a:rPr lang="en-US" sz="2900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𝑋</m:t>
                              </m:r>
                            </m:e>
                          </m:d>
                          <m:r>
                            <a:rPr lang="en-US" sz="290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− </m:t>
                          </m:r>
                          <m:r>
                            <a:rPr lang="en-US" sz="290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2900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2900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US" sz="2900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𝑇</m:t>
                              </m:r>
                              <m:r>
                                <a:rPr lang="en-US" sz="2900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=0,</m:t>
                              </m:r>
                              <m:r>
                                <a:rPr lang="en-US" sz="2900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900" dirty="0"/>
              </a:p>
            </p:txBody>
          </p:sp>
        </mc:Choice>
        <mc:Fallback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7CBE7E34-F214-C553-9E18-CB4DE928BC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4114800"/>
                <a:ext cx="8255317" cy="762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9493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8FD50-2AF8-2BA4-42AA-50EF644D5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790CB4-F3D6-B86C-73A5-89BE6090E01D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From counterfactuals to observed data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1">
                <a:extLst>
                  <a:ext uri="{FF2B5EF4-FFF2-40B4-BE49-F238E27FC236}">
                    <a16:creationId xmlns:a16="http://schemas.microsoft.com/office/drawing/2014/main" id="{9886F795-5BC5-07E3-7221-F7B038853B9A}"/>
                  </a:ext>
                </a:extLst>
              </p:cNvPr>
              <p:cNvSpPr/>
              <p:nvPr/>
            </p:nvSpPr>
            <p:spPr>
              <a:xfrm>
                <a:off x="395287" y="914400"/>
                <a:ext cx="8255317" cy="76200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3100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3100" i="1" dirty="0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dPr>
                      <m:e>
                        <m:r>
                          <a:rPr lang="en-US" sz="3100" i="1" dirty="0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𝑌</m:t>
                        </m:r>
                        <m:d>
                          <m:dPr>
                            <m:ctrlPr>
                              <a:rPr lang="en-US" sz="3100" i="1" dirty="0" smtClean="0">
                                <a:solidFill>
                                  <a:srgbClr val="FDBB3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dPr>
                          <m:e>
                            <m:r>
                              <a:rPr lang="en-US" sz="3100" i="1" dirty="0" smtClean="0">
                                <a:solidFill>
                                  <a:srgbClr val="FDBB3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e>
                        </m:d>
                        <m:r>
                          <a:rPr lang="en-US" sz="3100" i="1" dirty="0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– </m:t>
                        </m:r>
                        <m:r>
                          <a:rPr lang="en-US" sz="3100" i="1" dirty="0" smtClean="0">
                            <a:solidFill>
                              <a:srgbClr val="FDBB3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𝑌</m:t>
                        </m:r>
                        <m:d>
                          <m:dPr>
                            <m:ctrlPr>
                              <a:rPr lang="en-US" sz="3100" i="1" dirty="0" smtClean="0">
                                <a:solidFill>
                                  <a:srgbClr val="FDBB3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dPr>
                          <m:e>
                            <m:r>
                              <a:rPr lang="en-US" sz="3100" i="1" dirty="0" smtClean="0">
                                <a:solidFill>
                                  <a:srgbClr val="FDBB3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en-US" sz="3100" b="0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− </m:t>
                    </m:r>
                  </m:oMath>
                </a14:m>
                <a:r>
                  <a:rPr lang="en-US" sz="3100" b="0" i="0" dirty="0">
                    <a:solidFill>
                      <a:srgbClr val="FDBB30"/>
                    </a:solidFill>
                    <a:latin typeface="+mj-lt"/>
                    <a:ea typeface="Cambria Math" pitchFamily="34" charset="-122"/>
                    <a:cs typeface="Cambria Math" pitchFamily="34" charset="-120"/>
                  </a:rPr>
                  <a:t>Causal Estimand</a:t>
                </a:r>
                <a:endParaRPr lang="en-US" sz="3100" dirty="0"/>
              </a:p>
            </p:txBody>
          </p:sp>
        </mc:Choice>
        <mc:Fallback>
          <p:sp>
            <p:nvSpPr>
              <p:cNvPr id="10" name="Text 1">
                <a:extLst>
                  <a:ext uri="{FF2B5EF4-FFF2-40B4-BE49-F238E27FC236}">
                    <a16:creationId xmlns:a16="http://schemas.microsoft.com/office/drawing/2014/main" id="{9886F795-5BC5-07E3-7221-F7B038853B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914400"/>
                <a:ext cx="8255317" cy="762000"/>
              </a:xfrm>
              <a:prstGeom prst="rect">
                <a:avLst/>
              </a:prstGeom>
              <a:blipFill>
                <a:blip r:embed="rId2"/>
                <a:stretch>
                  <a:fillRect b="-128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Down 10">
            <a:extLst>
              <a:ext uri="{FF2B5EF4-FFF2-40B4-BE49-F238E27FC236}">
                <a16:creationId xmlns:a16="http://schemas.microsoft.com/office/drawing/2014/main" id="{B6940000-A45D-95C0-89A8-4FF7AEFD4B41}"/>
              </a:ext>
            </a:extLst>
          </p:cNvPr>
          <p:cNvSpPr/>
          <p:nvPr/>
        </p:nvSpPr>
        <p:spPr>
          <a:xfrm>
            <a:off x="3876675" y="1738313"/>
            <a:ext cx="390525" cy="762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CC294A-8282-B613-C7D7-A5A90488F387}"/>
              </a:ext>
            </a:extLst>
          </p:cNvPr>
          <p:cNvSpPr txBox="1"/>
          <p:nvPr/>
        </p:nvSpPr>
        <p:spPr>
          <a:xfrm>
            <a:off x="4410074" y="1738313"/>
            <a:ext cx="38481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Exchangeability, Positivity, Consistency, SUTVA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1">
                <a:extLst>
                  <a:ext uri="{FF2B5EF4-FFF2-40B4-BE49-F238E27FC236}">
                    <a16:creationId xmlns:a16="http://schemas.microsoft.com/office/drawing/2014/main" id="{25702B2A-8216-3265-F2C5-9A03ECEAE4D0}"/>
                  </a:ext>
                </a:extLst>
              </p:cNvPr>
              <p:cNvSpPr/>
              <p:nvPr/>
            </p:nvSpPr>
            <p:spPr>
              <a:xfrm>
                <a:off x="242887" y="2508112"/>
                <a:ext cx="8255317" cy="76200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100" b="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sSubPr>
                        <m:e>
                          <m:r>
                            <a:rPr lang="en-US" sz="3100" b="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𝐸</m:t>
                          </m:r>
                        </m:e>
                        <m:sub>
                          <m:r>
                            <a:rPr lang="en-US" sz="3100" b="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3100" b="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r>
                            <a:rPr lang="en-US" sz="3100" b="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𝐸</m:t>
                          </m:r>
                          <m:d>
                            <m:dPr>
                              <m:endChr m:val="|"/>
                              <m:ctrlPr>
                                <a:rPr lang="en-US" sz="3100" b="0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3100" b="0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𝑌</m:t>
                              </m:r>
                              <m:r>
                                <a:rPr lang="en-US" sz="3100" b="0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3100" b="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𝑇</m:t>
                          </m:r>
                          <m:r>
                            <a:rPr lang="en-US" sz="3100" b="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=1, </m:t>
                          </m:r>
                          <m:r>
                            <a:rPr lang="en-US" sz="3100" b="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𝑋</m:t>
                          </m:r>
                          <m:r>
                            <a:rPr lang="en-US" sz="3100" b="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)</m:t>
                          </m:r>
                        </m:e>
                      </m:d>
                      <m:r>
                        <a:rPr lang="en-US" sz="3100" b="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−</m:t>
                      </m:r>
                      <m:r>
                        <a:rPr lang="en-US" sz="3100" b="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100" b="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r>
                            <a:rPr lang="en-US" sz="3100" b="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𝑌</m:t>
                          </m:r>
                          <m:r>
                            <a:rPr lang="en-US" sz="3100" b="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| </m:t>
                          </m:r>
                          <m:r>
                            <a:rPr lang="en-US" sz="3100" b="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𝑇</m:t>
                          </m:r>
                          <m:r>
                            <a:rPr lang="en-US" sz="3100" b="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=0, </m:t>
                          </m:r>
                          <m:r>
                            <a:rPr lang="en-US" sz="3100" b="0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3100" dirty="0"/>
              </a:p>
            </p:txBody>
          </p:sp>
        </mc:Choice>
        <mc:Fallback>
          <p:sp>
            <p:nvSpPr>
              <p:cNvPr id="14" name="Text 1">
                <a:extLst>
                  <a:ext uri="{FF2B5EF4-FFF2-40B4-BE49-F238E27FC236}">
                    <a16:creationId xmlns:a16="http://schemas.microsoft.com/office/drawing/2014/main" id="{25702B2A-8216-3265-F2C5-9A03ECEAE4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87" y="2508112"/>
                <a:ext cx="8255317" cy="76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D78C89D-A8AD-CFB4-741C-6078D0CB45D9}"/>
              </a:ext>
            </a:extLst>
          </p:cNvPr>
          <p:cNvSpPr txBox="1"/>
          <p:nvPr/>
        </p:nvSpPr>
        <p:spPr>
          <a:xfrm>
            <a:off x="426243" y="3419475"/>
            <a:ext cx="82915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This is identification: the causal estimand is now written using quantities available in the observed data.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standardization / the </a:t>
            </a:r>
            <a:r>
              <a:rPr lang="en-US" sz="2000" u="sng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g-formula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its simplest form.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7370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EDF85-E1C8-7307-8FBB-239E1CCC1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5B4C1D-2E84-36F5-A1A1-63FBDB7DE74A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From counterfactuals to observed data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FF8FF04-C797-82A8-5E26-1D15FF6AE308}"/>
              </a:ext>
            </a:extLst>
          </p:cNvPr>
          <p:cNvSpPr/>
          <p:nvPr/>
        </p:nvSpPr>
        <p:spPr>
          <a:xfrm>
            <a:off x="4824414" y="1076325"/>
            <a:ext cx="4059936" cy="1867853"/>
          </a:xfrm>
          <a:prstGeom prst="roundRect">
            <a:avLst>
              <a:gd name="adj" fmla="val 3750"/>
            </a:avLst>
          </a:prstGeom>
          <a:solidFill>
            <a:srgbClr val="FDBB30">
              <a:alpha val="95000"/>
            </a:srgbClr>
          </a:solidFill>
          <a:ln w="15240">
            <a:solidFill>
              <a:srgbClr val="FDBB3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  <a:p>
            <a:pPr algn="ctr"/>
            <a:r>
              <a:rPr lang="en-US" b="1" dirty="0"/>
              <a:t>Estimation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estimate that function from a finite sample?</a:t>
            </a:r>
            <a:endParaRPr lang="en-US" dirty="0"/>
          </a:p>
          <a:p>
            <a:pPr algn="ctr"/>
            <a:endParaRPr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AEDD668F-21D4-4852-572F-ACCC99B784C2}"/>
              </a:ext>
            </a:extLst>
          </p:cNvPr>
          <p:cNvSpPr/>
          <p:nvPr/>
        </p:nvSpPr>
        <p:spPr>
          <a:xfrm>
            <a:off x="262889" y="1057751"/>
            <a:ext cx="4056698" cy="1867853"/>
          </a:xfrm>
          <a:prstGeom prst="roundRect">
            <a:avLst>
              <a:gd name="adj" fmla="val 3750"/>
            </a:avLst>
          </a:prstGeom>
          <a:solidFill>
            <a:srgbClr val="6EA7E1">
              <a:alpha val="95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  <a:p>
            <a:pPr algn="ctr"/>
            <a:r>
              <a:rPr lang="en-US" b="1" dirty="0"/>
              <a:t>Identification</a:t>
            </a:r>
          </a:p>
          <a:p>
            <a:endParaRPr lang="en-US" dirty="0"/>
          </a:p>
          <a:p>
            <a:pPr algn="ctr"/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express the causal estimand as a function of the observed-data distribution?</a:t>
            </a:r>
            <a:endParaRPr lang="en-US" dirty="0"/>
          </a:p>
          <a:p>
            <a:endParaRPr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1EF0BE1C-56A6-1333-FB19-33B0E16991C7}"/>
              </a:ext>
            </a:extLst>
          </p:cNvPr>
          <p:cNvSpPr/>
          <p:nvPr/>
        </p:nvSpPr>
        <p:spPr>
          <a:xfrm>
            <a:off x="229553" y="3443287"/>
            <a:ext cx="8512492" cy="923925"/>
          </a:xfrm>
          <a:prstGeom prst="roundRect">
            <a:avLst>
              <a:gd name="adj" fmla="val 12000"/>
            </a:avLst>
          </a:prstGeom>
          <a:solidFill>
            <a:srgbClr val="6EA7E1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10001C47-4BED-0CDE-FDFD-53DC87DEB28C}"/>
              </a:ext>
            </a:extLst>
          </p:cNvPr>
          <p:cNvSpPr/>
          <p:nvPr/>
        </p:nvSpPr>
        <p:spPr>
          <a:xfrm>
            <a:off x="391433" y="3592639"/>
            <a:ext cx="8122011" cy="6282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assumptions justify the observed-data target. Regression, matching, IPW, and machine learning are ways to estimate that target. </a:t>
            </a:r>
            <a:r>
              <a:rPr lang="en-US" sz="2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do not create causality</a:t>
            </a: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40539126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B1F27-C339-EC74-A203-7A6DE83FF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38510-FD35-FCF7-00F6-AA7631A0A0E1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Causal Flowchart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78FF9282-AE18-96C5-6978-4923104BAFDE}"/>
              </a:ext>
            </a:extLst>
          </p:cNvPr>
          <p:cNvSpPr/>
          <p:nvPr/>
        </p:nvSpPr>
        <p:spPr>
          <a:xfrm>
            <a:off x="566736" y="1373505"/>
            <a:ext cx="1005840" cy="907735"/>
          </a:xfrm>
          <a:prstGeom prst="roundRect">
            <a:avLst>
              <a:gd name="adj" fmla="val 5926"/>
            </a:avLst>
          </a:prstGeom>
          <a:solidFill>
            <a:srgbClr val="6EA7E1">
              <a:alpha val="96000"/>
            </a:srgbClr>
          </a:solidFill>
          <a:ln w="1397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/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6FF4D966-B6A5-0FB5-0778-5C6F24388490}"/>
              </a:ext>
            </a:extLst>
          </p:cNvPr>
          <p:cNvSpPr/>
          <p:nvPr/>
        </p:nvSpPr>
        <p:spPr>
          <a:xfrm>
            <a:off x="1933573" y="1373502"/>
            <a:ext cx="1005840" cy="907735"/>
          </a:xfrm>
          <a:prstGeom prst="roundRect">
            <a:avLst>
              <a:gd name="adj" fmla="val 5926"/>
            </a:avLst>
          </a:prstGeom>
          <a:solidFill>
            <a:srgbClr val="6EA7E1">
              <a:alpha val="96000"/>
            </a:srgbClr>
          </a:solidFill>
          <a:ln w="1397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02FDA95A-49E4-05ED-1E25-2CBAFA702131}"/>
              </a:ext>
            </a:extLst>
          </p:cNvPr>
          <p:cNvSpPr/>
          <p:nvPr/>
        </p:nvSpPr>
        <p:spPr>
          <a:xfrm>
            <a:off x="3392805" y="1373502"/>
            <a:ext cx="1005840" cy="907735"/>
          </a:xfrm>
          <a:prstGeom prst="roundRect">
            <a:avLst>
              <a:gd name="adj" fmla="val 5926"/>
            </a:avLst>
          </a:prstGeom>
          <a:solidFill>
            <a:srgbClr val="FDBB30">
              <a:alpha val="96000"/>
            </a:srgbClr>
          </a:solidFill>
          <a:ln w="13970">
            <a:solidFill>
              <a:srgbClr val="FDBB3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E61D6252-3329-D22E-B02B-BDFB8C4B350B}"/>
              </a:ext>
            </a:extLst>
          </p:cNvPr>
          <p:cNvSpPr/>
          <p:nvPr/>
        </p:nvSpPr>
        <p:spPr>
          <a:xfrm>
            <a:off x="4852037" y="1373502"/>
            <a:ext cx="1005840" cy="907735"/>
          </a:xfrm>
          <a:prstGeom prst="roundRect">
            <a:avLst>
              <a:gd name="adj" fmla="val 5926"/>
            </a:avLst>
          </a:prstGeom>
          <a:solidFill>
            <a:srgbClr val="FDBB30">
              <a:alpha val="96000"/>
            </a:srgbClr>
          </a:solidFill>
          <a:ln w="13970">
            <a:solidFill>
              <a:srgbClr val="FDBB3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D7B501BB-A1BE-2660-1923-8FC4C8EBBB0D}"/>
              </a:ext>
            </a:extLst>
          </p:cNvPr>
          <p:cNvSpPr/>
          <p:nvPr/>
        </p:nvSpPr>
        <p:spPr>
          <a:xfrm>
            <a:off x="6273161" y="1373502"/>
            <a:ext cx="1005840" cy="907735"/>
          </a:xfrm>
          <a:prstGeom prst="roundRect">
            <a:avLst>
              <a:gd name="adj" fmla="val 5926"/>
            </a:avLst>
          </a:prstGeom>
          <a:solidFill>
            <a:srgbClr val="6EA7E1">
              <a:alpha val="96000"/>
            </a:srgbClr>
          </a:solidFill>
          <a:ln w="1397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/>
          </a:p>
        </p:txBody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BDB8EBE0-995B-993F-82DB-DD7415C2B9C6}"/>
              </a:ext>
            </a:extLst>
          </p:cNvPr>
          <p:cNvSpPr/>
          <p:nvPr/>
        </p:nvSpPr>
        <p:spPr>
          <a:xfrm>
            <a:off x="7738098" y="1373502"/>
            <a:ext cx="1005840" cy="907735"/>
          </a:xfrm>
          <a:prstGeom prst="roundRect">
            <a:avLst>
              <a:gd name="adj" fmla="val 5926"/>
            </a:avLst>
          </a:prstGeom>
          <a:solidFill>
            <a:srgbClr val="6EA7E1">
              <a:alpha val="96000"/>
            </a:srgbClr>
          </a:solidFill>
          <a:ln w="1397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9623264B-4618-C1A7-201C-F1C0ED62DC62}"/>
              </a:ext>
            </a:extLst>
          </p:cNvPr>
          <p:cNvSpPr/>
          <p:nvPr/>
        </p:nvSpPr>
        <p:spPr>
          <a:xfrm>
            <a:off x="1608294" y="1781650"/>
            <a:ext cx="289561" cy="45719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1539B903-16B8-4D11-C728-F6654FEB5421}"/>
              </a:ext>
            </a:extLst>
          </p:cNvPr>
          <p:cNvSpPr/>
          <p:nvPr/>
        </p:nvSpPr>
        <p:spPr>
          <a:xfrm>
            <a:off x="3010849" y="1781649"/>
            <a:ext cx="289561" cy="45719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E8172353-5F0A-6BB5-B071-45D9346F2EB5}"/>
              </a:ext>
            </a:extLst>
          </p:cNvPr>
          <p:cNvSpPr/>
          <p:nvPr/>
        </p:nvSpPr>
        <p:spPr>
          <a:xfrm>
            <a:off x="4461510" y="1781649"/>
            <a:ext cx="289561" cy="45719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D524A33F-DB34-8C88-6161-55E6AC1183B5}"/>
              </a:ext>
            </a:extLst>
          </p:cNvPr>
          <p:cNvSpPr/>
          <p:nvPr/>
        </p:nvSpPr>
        <p:spPr>
          <a:xfrm>
            <a:off x="5898832" y="1781648"/>
            <a:ext cx="289561" cy="45719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4E64CACF-45CD-B346-D497-EE0761BDBD15}"/>
              </a:ext>
            </a:extLst>
          </p:cNvPr>
          <p:cNvSpPr/>
          <p:nvPr/>
        </p:nvSpPr>
        <p:spPr>
          <a:xfrm>
            <a:off x="7363769" y="1758788"/>
            <a:ext cx="289561" cy="45719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72BE1B-1EDF-6918-49F2-32368F968DE7}"/>
              </a:ext>
            </a:extLst>
          </p:cNvPr>
          <p:cNvSpPr txBox="1"/>
          <p:nvPr/>
        </p:nvSpPr>
        <p:spPr>
          <a:xfrm>
            <a:off x="566736" y="1650618"/>
            <a:ext cx="978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Question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1F735E-C1A3-7D48-6922-6F2D160DF016}"/>
              </a:ext>
            </a:extLst>
          </p:cNvPr>
          <p:cNvSpPr txBox="1"/>
          <p:nvPr/>
        </p:nvSpPr>
        <p:spPr>
          <a:xfrm>
            <a:off x="1956733" y="1643886"/>
            <a:ext cx="982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Estimand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2D8BBA-6EA6-F166-DF4C-FC1FA2299E6E}"/>
              </a:ext>
            </a:extLst>
          </p:cNvPr>
          <p:cNvSpPr txBox="1"/>
          <p:nvPr/>
        </p:nvSpPr>
        <p:spPr>
          <a:xfrm>
            <a:off x="3332796" y="1643031"/>
            <a:ext cx="1192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Assumptions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802468-5D4C-AA1D-B548-9AA5B522E3EA}"/>
              </a:ext>
            </a:extLst>
          </p:cNvPr>
          <p:cNvSpPr txBox="1"/>
          <p:nvPr/>
        </p:nvSpPr>
        <p:spPr>
          <a:xfrm>
            <a:off x="4789179" y="1666007"/>
            <a:ext cx="11447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Identification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54BEE4-E19E-879B-8DC1-052667E85E28}"/>
              </a:ext>
            </a:extLst>
          </p:cNvPr>
          <p:cNvSpPr txBox="1"/>
          <p:nvPr/>
        </p:nvSpPr>
        <p:spPr>
          <a:xfrm>
            <a:off x="6260565" y="1664037"/>
            <a:ext cx="1052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Estimator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951FB7-1EC0-B148-BCC1-2A89CE2686CB}"/>
              </a:ext>
            </a:extLst>
          </p:cNvPr>
          <p:cNvSpPr txBox="1"/>
          <p:nvPr/>
        </p:nvSpPr>
        <p:spPr>
          <a:xfrm>
            <a:off x="7789414" y="1643031"/>
            <a:ext cx="954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Estimate</a:t>
            </a:r>
          </a:p>
        </p:txBody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C2787629-CABA-527F-9EF7-1179CF785C65}"/>
              </a:ext>
            </a:extLst>
          </p:cNvPr>
          <p:cNvSpPr/>
          <p:nvPr/>
        </p:nvSpPr>
        <p:spPr>
          <a:xfrm>
            <a:off x="238123" y="3120393"/>
            <a:ext cx="8760143" cy="782265"/>
          </a:xfrm>
          <a:prstGeom prst="roundRect">
            <a:avLst>
              <a:gd name="adj" fmla="val 12632"/>
            </a:avLst>
          </a:prstGeom>
          <a:solidFill>
            <a:srgbClr val="FDBB30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7DFB7F05-F266-FD99-6F2C-2A13E0A68147}"/>
              </a:ext>
            </a:extLst>
          </p:cNvPr>
          <p:cNvSpPr/>
          <p:nvPr/>
        </p:nvSpPr>
        <p:spPr>
          <a:xfrm>
            <a:off x="411365" y="3266697"/>
            <a:ext cx="8358302" cy="5187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 matters: define the question and estimand, justify identification, then choose an estimator.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7714990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A187E-FAD9-65F2-154C-748CF9F4D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EE5041-3CC7-9F27-29F2-619B5BBCF99A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Simulation Study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765BD898-E702-172D-0CCF-B2DCC276B0D4}"/>
              </a:ext>
            </a:extLst>
          </p:cNvPr>
          <p:cNvSpPr/>
          <p:nvPr/>
        </p:nvSpPr>
        <p:spPr>
          <a:xfrm>
            <a:off x="569118" y="1342074"/>
            <a:ext cx="8005763" cy="32680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systolic blood pressure</a:t>
            </a: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truly lowers BP by 5 mmHg for everyone</a:t>
            </a: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patients are more likely to receive treatment</a:t>
            </a: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also raises blood pressure</a:t>
            </a:r>
            <a:endParaRPr lang="en-US" sz="2000" dirty="0"/>
          </a:p>
          <a:p>
            <a:pPr>
              <a:buSzPct val="100000"/>
            </a:pPr>
            <a:r>
              <a:rPr lang="en-US" sz="2000" b="1" dirty="0">
                <a:solidFill>
                  <a:srgbClr val="FDB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Therefore, treatment assignment is confounded by age.</a:t>
            </a:r>
            <a:endParaRPr lang="en-US" sz="20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61558E5-A776-93EC-C1A0-B1AE5252E3D6}"/>
              </a:ext>
            </a:extLst>
          </p:cNvPr>
          <p:cNvSpPr/>
          <p:nvPr/>
        </p:nvSpPr>
        <p:spPr>
          <a:xfrm>
            <a:off x="129555" y="3348335"/>
            <a:ext cx="8884889" cy="709613"/>
          </a:xfrm>
          <a:prstGeom prst="roundRect">
            <a:avLst>
              <a:gd name="adj" fmla="val 14118"/>
            </a:avLst>
          </a:prstGeom>
          <a:solidFill>
            <a:srgbClr val="6EA7E1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02E61B29-34BE-4BD3-B594-EA7170AED269}"/>
              </a:ext>
            </a:extLst>
          </p:cNvPr>
          <p:cNvSpPr/>
          <p:nvPr/>
        </p:nvSpPr>
        <p:spPr>
          <a:xfrm>
            <a:off x="308519" y="3468463"/>
            <a:ext cx="8477325" cy="442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simulation we can store both Y(0) and Y(1) — something impossible in real data.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6800982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65873-1D9D-4293-4D84-C382ABC73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607CBC-1EF7-EFDF-2CF8-B6D78EBEFD45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Simulation Study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34181AD5-4A94-8C28-FC6D-2C131C742FAA}"/>
              </a:ext>
            </a:extLst>
          </p:cNvPr>
          <p:cNvSpPr/>
          <p:nvPr/>
        </p:nvSpPr>
        <p:spPr>
          <a:xfrm>
            <a:off x="169068" y="728662"/>
            <a:ext cx="8697261" cy="4304347"/>
          </a:xfrm>
          <a:prstGeom prst="roundRect">
            <a:avLst>
              <a:gd name="adj" fmla="val 1441"/>
            </a:avLst>
          </a:prstGeom>
          <a:solidFill>
            <a:srgbClr val="0D0E10">
              <a:alpha val="95000"/>
            </a:srgbClr>
          </a:solidFill>
          <a:ln w="12700">
            <a:solidFill>
              <a:srgbClr val="777777">
                <a:alpha val="7500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28B4837-2820-612C-34BB-C95C3014AE02}"/>
              </a:ext>
            </a:extLst>
          </p:cNvPr>
          <p:cNvSpPr/>
          <p:nvPr/>
        </p:nvSpPr>
        <p:spPr>
          <a:xfrm>
            <a:off x="425101" y="928688"/>
            <a:ext cx="8295038" cy="3903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80" dirty="0">
                <a:solidFill>
                  <a:srgbClr val="E8E8E8"/>
                </a:solidFill>
                <a:latin typeface="Consolas" panose="020B0609020204030204" pitchFamily="49" charset="0"/>
                <a:ea typeface="DejaVu Sans Mono"/>
                <a:cs typeface="DejaVu Sans Mono" pitchFamily="34" charset="-120"/>
              </a:rPr>
              <a:t>set.seed(123)</a:t>
            </a:r>
            <a:endParaRPr lang="en-US" sz="1480" dirty="0">
              <a:latin typeface="Consolas" panose="020B0609020204030204" pitchFamily="49" charset="0"/>
              <a:ea typeface="DejaVu Sans Mono"/>
            </a:endParaRPr>
          </a:p>
          <a:p>
            <a:pPr marL="0" indent="0">
              <a:buNone/>
            </a:pPr>
            <a:endParaRPr lang="en-US" sz="1480" dirty="0">
              <a:latin typeface="Consolas" panose="020B0609020204030204" pitchFamily="49" charset="0"/>
              <a:ea typeface="DejaVu Sans Mono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E8E8E8"/>
                </a:solidFill>
                <a:latin typeface="Consolas" panose="020B0609020204030204" pitchFamily="49" charset="0"/>
                <a:ea typeface="DejaVu Sans Mono"/>
                <a:cs typeface="DejaVu Sans Mono" pitchFamily="34" charset="-120"/>
              </a:rPr>
              <a:t>n &lt;- 2000</a:t>
            </a:r>
            <a:endParaRPr lang="en-US" sz="1480" dirty="0">
              <a:latin typeface="Consolas" panose="020B0609020204030204" pitchFamily="49" charset="0"/>
              <a:ea typeface="DejaVu Sans Mono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E8E8E8"/>
                </a:solidFill>
                <a:latin typeface="Consolas" panose="020B0609020204030204" pitchFamily="49" charset="0"/>
                <a:ea typeface="DejaVu Sans Mono"/>
                <a:cs typeface="DejaVu Sans Mono" pitchFamily="34" charset="-120"/>
              </a:rPr>
              <a:t>age &lt;- rnorm(n, 50, 12)</a:t>
            </a:r>
            <a:endParaRPr lang="en-US" sz="1480" dirty="0">
              <a:latin typeface="Consolas" panose="020B0609020204030204" pitchFamily="49" charset="0"/>
              <a:ea typeface="DejaVu Sans Mono"/>
            </a:endParaRPr>
          </a:p>
          <a:p>
            <a:pPr marL="0" indent="0">
              <a:buNone/>
            </a:pPr>
            <a:endParaRPr lang="en-US" sz="1480" dirty="0">
              <a:latin typeface="Consolas" panose="020B0609020204030204" pitchFamily="49" charset="0"/>
              <a:ea typeface="DejaVu Sans Mono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E8E8E8"/>
                </a:solidFill>
                <a:latin typeface="Consolas" panose="020B0609020204030204" pitchFamily="49" charset="0"/>
                <a:ea typeface="DejaVu Sans Mono"/>
                <a:cs typeface="DejaVu Sans Mono" pitchFamily="34" charset="-120"/>
              </a:rPr>
              <a:t># Older patients are more likely to be treated</a:t>
            </a:r>
            <a:endParaRPr lang="en-US" sz="1480" dirty="0">
              <a:latin typeface="Consolas" panose="020B0609020204030204" pitchFamily="49" charset="0"/>
              <a:ea typeface="DejaVu Sans Mono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E8E8E8"/>
                </a:solidFill>
                <a:latin typeface="Consolas" panose="020B0609020204030204" pitchFamily="49" charset="0"/>
                <a:ea typeface="DejaVu Sans Mono"/>
                <a:cs typeface="DejaVu Sans Mono" pitchFamily="34" charset="-120"/>
              </a:rPr>
              <a:t>p_treat &lt;- plogis(-4 + 0.08 * age)</a:t>
            </a:r>
            <a:endParaRPr lang="en-US" sz="1480" dirty="0">
              <a:latin typeface="Consolas" panose="020B0609020204030204" pitchFamily="49" charset="0"/>
              <a:ea typeface="DejaVu Sans Mono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E8E8E8"/>
                </a:solidFill>
                <a:latin typeface="Consolas" panose="020B0609020204030204" pitchFamily="49" charset="0"/>
                <a:ea typeface="DejaVu Sans Mono"/>
                <a:cs typeface="DejaVu Sans Mono" pitchFamily="34" charset="-120"/>
              </a:rPr>
              <a:t>T &lt;- rbinom(n, 1, p_treat)</a:t>
            </a:r>
            <a:endParaRPr lang="en-US" sz="1480" dirty="0">
              <a:latin typeface="Consolas" panose="020B0609020204030204" pitchFamily="49" charset="0"/>
              <a:ea typeface="DejaVu Sans Mono"/>
            </a:endParaRPr>
          </a:p>
          <a:p>
            <a:pPr marL="0" indent="0">
              <a:buNone/>
            </a:pPr>
            <a:endParaRPr lang="en-US" sz="1480" dirty="0">
              <a:latin typeface="Consolas" panose="020B0609020204030204" pitchFamily="49" charset="0"/>
              <a:ea typeface="DejaVu Sans Mono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E8E8E8"/>
                </a:solidFill>
                <a:latin typeface="Consolas" panose="020B0609020204030204" pitchFamily="49" charset="0"/>
                <a:ea typeface="DejaVu Sans Mono"/>
                <a:cs typeface="DejaVu Sans Mono" pitchFamily="34" charset="-120"/>
              </a:rPr>
              <a:t># Potential outcomes: treatment lowers BP by 5</a:t>
            </a:r>
            <a:endParaRPr lang="en-US" sz="1480" dirty="0">
              <a:latin typeface="Consolas" panose="020B0609020204030204" pitchFamily="49" charset="0"/>
              <a:ea typeface="DejaVu Sans Mono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E8E8E8"/>
                </a:solidFill>
                <a:latin typeface="Consolas" panose="020B0609020204030204" pitchFamily="49" charset="0"/>
                <a:ea typeface="DejaVu Sans Mono"/>
                <a:cs typeface="DejaVu Sans Mono" pitchFamily="34" charset="-120"/>
              </a:rPr>
              <a:t>Y0 &lt;- 120 + 0.6 * age + rnorm(n, 0, 8)</a:t>
            </a:r>
            <a:endParaRPr lang="en-US" sz="1480" dirty="0">
              <a:latin typeface="Consolas" panose="020B0609020204030204" pitchFamily="49" charset="0"/>
              <a:ea typeface="DejaVu Sans Mono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E8E8E8"/>
                </a:solidFill>
                <a:latin typeface="Consolas" panose="020B0609020204030204" pitchFamily="49" charset="0"/>
                <a:ea typeface="DejaVu Sans Mono"/>
                <a:cs typeface="DejaVu Sans Mono" pitchFamily="34" charset="-120"/>
              </a:rPr>
              <a:t>Y1 &lt;- Y0 - 5</a:t>
            </a:r>
            <a:endParaRPr lang="en-US" sz="1480" dirty="0">
              <a:latin typeface="Consolas" panose="020B0609020204030204" pitchFamily="49" charset="0"/>
              <a:ea typeface="DejaVu Sans Mono"/>
            </a:endParaRPr>
          </a:p>
          <a:p>
            <a:pPr marL="0" indent="0">
              <a:buNone/>
            </a:pPr>
            <a:endParaRPr lang="en-US" sz="1480" dirty="0">
              <a:latin typeface="Consolas" panose="020B0609020204030204" pitchFamily="49" charset="0"/>
              <a:ea typeface="DejaVu Sans Mono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E8E8E8"/>
                </a:solidFill>
                <a:latin typeface="Consolas" panose="020B0609020204030204" pitchFamily="49" charset="0"/>
                <a:ea typeface="DejaVu Sans Mono"/>
                <a:cs typeface="DejaVu Sans Mono" pitchFamily="34" charset="-120"/>
              </a:rPr>
              <a:t># Only one potential outcome becomes observed</a:t>
            </a:r>
            <a:endParaRPr lang="en-US" sz="1480" dirty="0">
              <a:latin typeface="Consolas" panose="020B0609020204030204" pitchFamily="49" charset="0"/>
              <a:ea typeface="DejaVu Sans Mono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E8E8E8"/>
                </a:solidFill>
                <a:latin typeface="Consolas" panose="020B0609020204030204" pitchFamily="49" charset="0"/>
                <a:ea typeface="DejaVu Sans Mono"/>
                <a:cs typeface="DejaVu Sans Mono" pitchFamily="34" charset="-120"/>
              </a:rPr>
              <a:t>Y &lt;- ifelse(T == 1, Y1, Y0)</a:t>
            </a:r>
            <a:endParaRPr lang="en-US" sz="1480" dirty="0">
              <a:latin typeface="Consolas" panose="020B0609020204030204" pitchFamily="49" charset="0"/>
              <a:ea typeface="DejaVu Sans Mono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E8E8E8"/>
                </a:solidFill>
                <a:latin typeface="Consolas" panose="020B0609020204030204" pitchFamily="49" charset="0"/>
                <a:ea typeface="DejaVu Sans Mono"/>
                <a:cs typeface="DejaVu Sans Mono" pitchFamily="34" charset="-120"/>
              </a:rPr>
              <a:t>dat &lt;- data.frame(age, T, Y, Y0, Y1)</a:t>
            </a:r>
            <a:endParaRPr lang="en-US" sz="1480" dirty="0">
              <a:latin typeface="Consolas" panose="020B0609020204030204" pitchFamily="49" charset="0"/>
              <a:ea typeface="DejaVu Sans Mono"/>
            </a:endParaRPr>
          </a:p>
        </p:txBody>
      </p:sp>
    </p:spTree>
    <p:extLst>
      <p:ext uri="{BB962C8B-B14F-4D97-AF65-F5344CB8AC3E}">
        <p14:creationId xmlns:p14="http://schemas.microsoft.com/office/powerpoint/2010/main" val="35135854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EC87C-91B2-4C51-CFAF-761221C3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0041CF-6AF8-6082-5FA5-4531468FD313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Simulation Study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7E5E654-230A-132C-FD32-CD21B26AB503}"/>
              </a:ext>
            </a:extLst>
          </p:cNvPr>
          <p:cNvSpPr/>
          <p:nvPr/>
        </p:nvSpPr>
        <p:spPr>
          <a:xfrm>
            <a:off x="290513" y="1172528"/>
            <a:ext cx="5738812" cy="2966084"/>
          </a:xfrm>
          <a:prstGeom prst="roundRect">
            <a:avLst>
              <a:gd name="adj" fmla="val 2353"/>
            </a:avLst>
          </a:prstGeom>
          <a:solidFill>
            <a:srgbClr val="0D0E10">
              <a:alpha val="95000"/>
            </a:srgbClr>
          </a:solidFill>
          <a:ln w="12700">
            <a:solidFill>
              <a:srgbClr val="777777">
                <a:alpha val="7500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281FAC-3110-94EA-1D9A-68CAABF40F57}"/>
              </a:ext>
            </a:extLst>
          </p:cNvPr>
          <p:cNvSpPr/>
          <p:nvPr/>
        </p:nvSpPr>
        <p:spPr>
          <a:xfrm>
            <a:off x="546545" y="1489900"/>
            <a:ext cx="5257324" cy="2481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E8E8E8"/>
                </a:solidFill>
                <a:latin typeface="Consolas" panose="020B0609020204030204" pitchFamily="49" charset="0"/>
                <a:ea typeface="DejaVu Sans Mono" pitchFamily="34" charset="-122"/>
                <a:cs typeface="DejaVu Sans Mono" pitchFamily="34" charset="-120"/>
              </a:rPr>
              <a:t># True causal effect -- available only because this is simulation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E8E8E8"/>
                </a:solidFill>
                <a:latin typeface="Consolas" panose="020B0609020204030204" pitchFamily="49" charset="0"/>
                <a:ea typeface="DejaVu Sans Mono" pitchFamily="34" charset="-122"/>
                <a:cs typeface="DejaVu Sans Mono" pitchFamily="34" charset="-120"/>
              </a:rPr>
              <a:t>mean(dat$Y1 - dat$Y0)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E8E8E8"/>
                </a:solidFill>
                <a:latin typeface="Consolas" panose="020B0609020204030204" pitchFamily="49" charset="0"/>
                <a:ea typeface="DejaVu Sans Mono" pitchFamily="34" charset="-122"/>
                <a:cs typeface="DejaVu Sans Mono" pitchFamily="34" charset="-120"/>
              </a:rPr>
              <a:t># [1] -5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E8E8E8"/>
                </a:solidFill>
                <a:latin typeface="Consolas" panose="020B0609020204030204" pitchFamily="49" charset="0"/>
                <a:ea typeface="DejaVu Sans Mono" pitchFamily="34" charset="-122"/>
                <a:cs typeface="DejaVu Sans Mono" pitchFamily="34" charset="-120"/>
              </a:rPr>
              <a:t># What an observational analyst sees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E8E8E8"/>
                </a:solidFill>
                <a:latin typeface="Consolas" panose="020B0609020204030204" pitchFamily="49" charset="0"/>
                <a:ea typeface="DejaVu Sans Mono" pitchFamily="34" charset="-122"/>
                <a:cs typeface="DejaVu Sans Mono" pitchFamily="34" charset="-120"/>
              </a:rPr>
              <a:t>with(dat, mean(Y[T == 1]) - mean(Y[T == 0]))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E8E8E8"/>
                </a:solidFill>
                <a:latin typeface="Consolas" panose="020B0609020204030204" pitchFamily="49" charset="0"/>
                <a:ea typeface="DejaVu Sans Mono" pitchFamily="34" charset="-122"/>
                <a:cs typeface="DejaVu Sans Mono" pitchFamily="34" charset="-120"/>
              </a:rPr>
              <a:t># about +1.34 mmHg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5FBD256-0608-A417-E1D5-B8B759574367}"/>
              </a:ext>
            </a:extLst>
          </p:cNvPr>
          <p:cNvSpPr/>
          <p:nvPr/>
        </p:nvSpPr>
        <p:spPr>
          <a:xfrm>
            <a:off x="6172199" y="1172528"/>
            <a:ext cx="2784157" cy="812482"/>
          </a:xfrm>
          <a:prstGeom prst="roundRect">
            <a:avLst>
              <a:gd name="adj" fmla="val 12000"/>
            </a:avLst>
          </a:prstGeom>
          <a:solidFill>
            <a:srgbClr val="FDBB30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9BE9564-37E0-563B-FF77-518F10CD4A69}"/>
              </a:ext>
            </a:extLst>
          </p:cNvPr>
          <p:cNvSpPr/>
          <p:nvPr/>
        </p:nvSpPr>
        <p:spPr>
          <a:xfrm>
            <a:off x="6330287" y="1286218"/>
            <a:ext cx="2397469" cy="552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effect: −5</a:t>
            </a:r>
            <a:endParaRPr lang="en-US" sz="25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C3493649-2C3D-3047-86CC-C63132A40986}"/>
              </a:ext>
            </a:extLst>
          </p:cNvPr>
          <p:cNvSpPr/>
          <p:nvPr/>
        </p:nvSpPr>
        <p:spPr>
          <a:xfrm>
            <a:off x="6172199" y="2243138"/>
            <a:ext cx="2784157" cy="812482"/>
          </a:xfrm>
          <a:prstGeom prst="roundRect">
            <a:avLst>
              <a:gd name="adj" fmla="val 12000"/>
            </a:avLst>
          </a:prstGeom>
          <a:solidFill>
            <a:srgbClr val="6EA7E1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86B6E3F-D6D3-3492-7656-C7D0C07D8C23}"/>
              </a:ext>
            </a:extLst>
          </p:cNvPr>
          <p:cNvSpPr/>
          <p:nvPr/>
        </p:nvSpPr>
        <p:spPr>
          <a:xfrm>
            <a:off x="6330287" y="2356828"/>
            <a:ext cx="2397469" cy="552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difference: +1.34</a:t>
            </a:r>
            <a:endParaRPr lang="en-US" sz="23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C397380-1467-7AEB-53EF-94E11D99D632}"/>
              </a:ext>
            </a:extLst>
          </p:cNvPr>
          <p:cNvSpPr/>
          <p:nvPr/>
        </p:nvSpPr>
        <p:spPr>
          <a:xfrm>
            <a:off x="6172199" y="3313748"/>
            <a:ext cx="2784157" cy="690610"/>
          </a:xfrm>
          <a:prstGeom prst="roundRect">
            <a:avLst>
              <a:gd name="adj" fmla="val 14118"/>
            </a:avLst>
          </a:prstGeom>
          <a:solidFill>
            <a:srgbClr val="F05A5A">
              <a:alpha val="96000"/>
            </a:srgbClr>
          </a:solidFill>
          <a:ln w="15240">
            <a:solidFill>
              <a:srgbClr val="F05A5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A7C41066-CD6D-52AB-8F33-3654183194E5}"/>
              </a:ext>
            </a:extLst>
          </p:cNvPr>
          <p:cNvSpPr/>
          <p:nvPr/>
        </p:nvSpPr>
        <p:spPr>
          <a:xfrm>
            <a:off x="6172199" y="3416737"/>
            <a:ext cx="28346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 is wrong.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744471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A6743-FE91-1FF0-3B50-9CA83C8B9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3117F4-25F7-A447-2559-DC9AB0198966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Why naïve comparison wrong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272B99-8942-07B1-BAFF-081FF5053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302" y="769647"/>
            <a:ext cx="6069396" cy="421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69134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6BE9B-4984-615A-18C2-5BF097DBB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BE1F78-A185-AEE7-F249-2F0C76B120FE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Treated and Untreated groups have different population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44E1DC-D1F3-A12E-9B9D-064E557E6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804" y="697810"/>
            <a:ext cx="6083683" cy="4225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80A45E-1DB7-E2B8-5A63-3DE01E134005}"/>
              </a:ext>
            </a:extLst>
          </p:cNvPr>
          <p:cNvSpPr txBox="1"/>
          <p:nvPr/>
        </p:nvSpPr>
        <p:spPr>
          <a:xfrm>
            <a:off x="371475" y="1619251"/>
            <a:ext cx="16649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9B9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patients have higher BP and are more likely to receive treatment; the causal −5 mmHg effect is masked.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549749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C5127-C1B9-3C5D-8AE0-44EC6CF7E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35F42E-0D7F-8138-5F5A-86B212F49632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Overlap Check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4BF268-3804-4D16-4654-B818F736D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80" y="667890"/>
            <a:ext cx="6388483" cy="443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644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A0494-6AF2-6C1F-D9F6-EC8F8BBB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A059BA-503A-20B7-CB2C-204DDB1431D5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Simulation Study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8D560C-4C49-58C9-487B-AD2FC4DC0AF1}"/>
              </a:ext>
            </a:extLst>
          </p:cNvPr>
          <p:cNvSpPr/>
          <p:nvPr/>
        </p:nvSpPr>
        <p:spPr>
          <a:xfrm>
            <a:off x="290513" y="1172528"/>
            <a:ext cx="5738812" cy="2966084"/>
          </a:xfrm>
          <a:prstGeom prst="roundRect">
            <a:avLst>
              <a:gd name="adj" fmla="val 2353"/>
            </a:avLst>
          </a:prstGeom>
          <a:solidFill>
            <a:srgbClr val="0D0E10">
              <a:alpha val="95000"/>
            </a:srgbClr>
          </a:solidFill>
          <a:ln w="12700">
            <a:solidFill>
              <a:srgbClr val="777777">
                <a:alpha val="7500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542947-BDFA-2663-D41E-CD15D3E6375D}"/>
              </a:ext>
            </a:extLst>
          </p:cNvPr>
          <p:cNvSpPr/>
          <p:nvPr/>
        </p:nvSpPr>
        <p:spPr>
          <a:xfrm>
            <a:off x="546545" y="1489900"/>
            <a:ext cx="5257324" cy="2481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fit &lt;- lm(Y ~ T + age, data = dat)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summary(fit)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# Coefficient of T is approximately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#   - 4.998725 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4F492F2-FD1A-B699-68C0-655CA87A225C}"/>
              </a:ext>
            </a:extLst>
          </p:cNvPr>
          <p:cNvSpPr/>
          <p:nvPr/>
        </p:nvSpPr>
        <p:spPr>
          <a:xfrm>
            <a:off x="6172199" y="1172528"/>
            <a:ext cx="2784157" cy="812482"/>
          </a:xfrm>
          <a:prstGeom prst="roundRect">
            <a:avLst>
              <a:gd name="adj" fmla="val 12000"/>
            </a:avLst>
          </a:prstGeom>
          <a:solidFill>
            <a:srgbClr val="FDBB30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1D295D4-6350-6F8B-9218-9D7878AB80E8}"/>
              </a:ext>
            </a:extLst>
          </p:cNvPr>
          <p:cNvSpPr/>
          <p:nvPr/>
        </p:nvSpPr>
        <p:spPr>
          <a:xfrm>
            <a:off x="6330287" y="1286218"/>
            <a:ext cx="2397469" cy="552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effect: −5</a:t>
            </a:r>
            <a:endParaRPr lang="en-US" sz="25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D42C8EE0-47B8-4FC9-A740-E1F8FBB1A33D}"/>
              </a:ext>
            </a:extLst>
          </p:cNvPr>
          <p:cNvSpPr/>
          <p:nvPr/>
        </p:nvSpPr>
        <p:spPr>
          <a:xfrm>
            <a:off x="6172199" y="2243138"/>
            <a:ext cx="2784157" cy="812482"/>
          </a:xfrm>
          <a:prstGeom prst="roundRect">
            <a:avLst>
              <a:gd name="adj" fmla="val 12000"/>
            </a:avLst>
          </a:prstGeom>
          <a:solidFill>
            <a:srgbClr val="6EA7E1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6">
                <a:extLst>
                  <a:ext uri="{FF2B5EF4-FFF2-40B4-BE49-F238E27FC236}">
                    <a16:creationId xmlns:a16="http://schemas.microsoft.com/office/drawing/2014/main" id="{8CF2A707-0849-BE0D-EF9A-64107B42F4E6}"/>
                  </a:ext>
                </a:extLst>
              </p:cNvPr>
              <p:cNvSpPr/>
              <p:nvPr/>
            </p:nvSpPr>
            <p:spPr>
              <a:xfrm>
                <a:off x="6330287" y="2356828"/>
                <a:ext cx="2397469" cy="55248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 fontScale="92500" lnSpcReduction="20000"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300" b="1" dirty="0">
                    <a:solidFill>
                      <a:srgbClr val="11111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Adjusted estimate </a:t>
                </a:r>
                <a14:m>
                  <m:oMath xmlns:m="http://schemas.openxmlformats.org/officeDocument/2006/math">
                    <m:r>
                      <a:rPr lang="en-US" sz="2300" b="1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∼−</m:t>
                    </m:r>
                    <m:r>
                      <a:rPr lang="en-US" sz="2300" b="1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𝟒</m:t>
                    </m:r>
                    <m:r>
                      <a:rPr lang="en-US" sz="2300" b="1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</m:t>
                    </m:r>
                    <m:r>
                      <a:rPr lang="en-US" sz="2300" b="1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𝟗𝟗</m:t>
                    </m:r>
                  </m:oMath>
                </a14:m>
                <a:endParaRPr lang="en-US" sz="2300" dirty="0"/>
              </a:p>
            </p:txBody>
          </p:sp>
        </mc:Choice>
        <mc:Fallback>
          <p:sp>
            <p:nvSpPr>
              <p:cNvPr id="10" name="Text 6">
                <a:extLst>
                  <a:ext uri="{FF2B5EF4-FFF2-40B4-BE49-F238E27FC236}">
                    <a16:creationId xmlns:a16="http://schemas.microsoft.com/office/drawing/2014/main" id="{8CF2A707-0849-BE0D-EF9A-64107B42F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287" y="2356828"/>
                <a:ext cx="2397469" cy="552488"/>
              </a:xfrm>
              <a:prstGeom prst="rect">
                <a:avLst/>
              </a:prstGeom>
              <a:blipFill>
                <a:blip r:embed="rId2"/>
                <a:stretch>
                  <a:fillRect l="-4569" t="-24444" r="-7868" b="-222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7">
            <a:extLst>
              <a:ext uri="{FF2B5EF4-FFF2-40B4-BE49-F238E27FC236}">
                <a16:creationId xmlns:a16="http://schemas.microsoft.com/office/drawing/2014/main" id="{B89DAC36-26DB-5961-7891-09AA50466218}"/>
              </a:ext>
            </a:extLst>
          </p:cNvPr>
          <p:cNvSpPr/>
          <p:nvPr/>
        </p:nvSpPr>
        <p:spPr>
          <a:xfrm>
            <a:off x="6172199" y="3313748"/>
            <a:ext cx="2784157" cy="690610"/>
          </a:xfrm>
          <a:prstGeom prst="roundRect">
            <a:avLst>
              <a:gd name="adj" fmla="val 14118"/>
            </a:avLst>
          </a:prstGeom>
          <a:solidFill>
            <a:schemeClr val="bg2">
              <a:alpha val="96000"/>
            </a:schemeClr>
          </a:solidFill>
          <a:ln w="15240">
            <a:solidFill>
              <a:srgbClr val="F05A5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F6CD3D6-8B86-08D3-A3D3-D27CE2DEB932}"/>
              </a:ext>
            </a:extLst>
          </p:cNvPr>
          <p:cNvSpPr/>
          <p:nvPr/>
        </p:nvSpPr>
        <p:spPr>
          <a:xfrm>
            <a:off x="6217212" y="3405271"/>
            <a:ext cx="2694130" cy="5075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550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Adjustment recovers the causal effect because the model and assumptions match the simulation.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030408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0692B-282D-6724-0DC6-A1356C03B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1A603D-ED5C-B078-5289-DCEF286C2D2D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Why naïve comparison wrong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863BFB-F7F2-7BBF-6452-49C898D53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642" y="830271"/>
            <a:ext cx="6031296" cy="418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9803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3FE05-03B7-5B77-9D2C-62B2E9089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923CBE-6410-0566-EB25-EC6695022AAF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Regression Coefficient is not automatically causal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3FEA4AD-96CF-C5A8-FA8C-F88CC8F00FAC}"/>
              </a:ext>
            </a:extLst>
          </p:cNvPr>
          <p:cNvSpPr/>
          <p:nvPr/>
        </p:nvSpPr>
        <p:spPr>
          <a:xfrm>
            <a:off x="261447" y="1056323"/>
            <a:ext cx="8689195" cy="943928"/>
          </a:xfrm>
          <a:prstGeom prst="roundRect">
            <a:avLst>
              <a:gd name="adj" fmla="val 12632"/>
            </a:avLst>
          </a:prstGeom>
          <a:solidFill>
            <a:srgbClr val="FDBB30">
              <a:alpha val="96000"/>
            </a:srgbClr>
          </a:solidFill>
          <a:ln w="15240">
            <a:solidFill>
              <a:srgbClr val="4D8F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2">
                <a:extLst>
                  <a:ext uri="{FF2B5EF4-FFF2-40B4-BE49-F238E27FC236}">
                    <a16:creationId xmlns:a16="http://schemas.microsoft.com/office/drawing/2014/main" id="{943D7D7E-69EA-295F-5F3A-EF14A57AC0E1}"/>
                  </a:ext>
                </a:extLst>
              </p:cNvPr>
              <p:cNvSpPr/>
              <p:nvPr/>
            </p:nvSpPr>
            <p:spPr>
              <a:xfrm>
                <a:off x="431435" y="1202626"/>
                <a:ext cx="8290608" cy="625973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𝒍𝒎</m:t>
                    </m:r>
                    <m:r>
                      <a:rPr lang="en-US" sz="2600" b="1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(</m:t>
                    </m:r>
                    <m:r>
                      <a:rPr lang="en-US" sz="2600" b="1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𝒀</m:t>
                    </m:r>
                    <m:r>
                      <a:rPr lang="en-US" sz="2600" b="1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~ </m:t>
                    </m:r>
                    <m:r>
                      <a:rPr lang="en-US" sz="2600" b="1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𝑻</m:t>
                    </m:r>
                    <m:r>
                      <a:rPr lang="en-US" sz="2600" b="1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+ </m:t>
                    </m:r>
                    <m:r>
                      <a:rPr lang="en-US" sz="2600" b="1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𝑿</m:t>
                    </m:r>
                    <m:r>
                      <a:rPr lang="en-US" sz="2600" b="1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 </m:t>
                    </m:r>
                  </m:oMath>
                </a14:m>
                <a:r>
                  <a:rPr lang="en-US" sz="2600" b="1" dirty="0">
                    <a:solidFill>
                      <a:srgbClr val="11111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does not create exchangeability.</a:t>
                </a:r>
                <a:endParaRPr lang="en-US" sz="2600" dirty="0"/>
              </a:p>
            </p:txBody>
          </p:sp>
        </mc:Choice>
        <mc:Fallback>
          <p:sp>
            <p:nvSpPr>
              <p:cNvPr id="5" name="Text 2">
                <a:extLst>
                  <a:ext uri="{FF2B5EF4-FFF2-40B4-BE49-F238E27FC236}">
                    <a16:creationId xmlns:a16="http://schemas.microsoft.com/office/drawing/2014/main" id="{943D7D7E-69EA-295F-5F3A-EF14A57AC0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35" y="1202626"/>
                <a:ext cx="8290608" cy="625973"/>
              </a:xfrm>
              <a:prstGeom prst="rect">
                <a:avLst/>
              </a:prstGeom>
              <a:blipFill>
                <a:blip r:embed="rId2"/>
                <a:stretch>
                  <a:fillRect b="-1359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3">
            <a:extLst>
              <a:ext uri="{FF2B5EF4-FFF2-40B4-BE49-F238E27FC236}">
                <a16:creationId xmlns:a16="http://schemas.microsoft.com/office/drawing/2014/main" id="{C920197D-277C-B500-CF49-1950722234E4}"/>
              </a:ext>
            </a:extLst>
          </p:cNvPr>
          <p:cNvSpPr/>
          <p:nvPr/>
        </p:nvSpPr>
        <p:spPr>
          <a:xfrm>
            <a:off x="322651" y="2628900"/>
            <a:ext cx="8689195" cy="212883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sz="19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we adjust for the right pre-treatment confounders?</a:t>
            </a:r>
            <a:endParaRPr lang="en-US" sz="1900" dirty="0"/>
          </a:p>
          <a:p>
            <a:pPr>
              <a:buSzPct val="100000"/>
            </a:pPr>
            <a:r>
              <a:rPr lang="en-US" sz="19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we accidentally adjust for a mediator or collider?</a:t>
            </a:r>
            <a:endParaRPr lang="en-US" sz="1900" dirty="0"/>
          </a:p>
          <a:p>
            <a:pPr>
              <a:buSzPct val="100000"/>
            </a:pPr>
            <a:r>
              <a:rPr lang="en-US" sz="19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adequate overlap?</a:t>
            </a:r>
            <a:endParaRPr lang="en-US" sz="1900" dirty="0"/>
          </a:p>
          <a:p>
            <a:pPr>
              <a:buSzPct val="100000"/>
            </a:pPr>
            <a:r>
              <a:rPr lang="en-US" sz="19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functional form adequate?</a:t>
            </a:r>
            <a:endParaRPr lang="en-US" sz="1900" dirty="0"/>
          </a:p>
          <a:p>
            <a:pPr>
              <a:buSzPct val="100000"/>
            </a:pPr>
            <a:r>
              <a:rPr lang="en-US" sz="19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target estimand the regression coefficient we are interpreting?</a:t>
            </a:r>
          </a:p>
          <a:p>
            <a:pPr>
              <a:buSzPct val="100000"/>
            </a:pPr>
            <a:endParaRPr lang="en-US" sz="1900" dirty="0">
              <a:solidFill>
                <a:srgbClr val="F2F2F2"/>
              </a:solidFill>
              <a:latin typeface="Arial" pitchFamily="34" charset="0"/>
              <a:cs typeface="Arial" pitchFamily="34" charset="-120"/>
            </a:endParaRPr>
          </a:p>
          <a:p>
            <a:pPr>
              <a:buSzPct val="100000"/>
            </a:pPr>
            <a:r>
              <a:rPr lang="en-US" sz="1900" dirty="0">
                <a:solidFill>
                  <a:srgbClr val="F2F2F2"/>
                </a:solidFill>
                <a:latin typeface="Arial" pitchFamily="34" charset="0"/>
                <a:cs typeface="Arial" pitchFamily="34" charset="-120"/>
              </a:rPr>
              <a:t>Mediator: A variable on the causal pathway from treatment to outcome.</a:t>
            </a:r>
          </a:p>
          <a:p>
            <a:pPr>
              <a:buSzPct val="100000"/>
            </a:pPr>
            <a:r>
              <a:rPr lang="en-US" sz="1900" dirty="0">
                <a:solidFill>
                  <a:srgbClr val="F2F2F2"/>
                </a:solidFill>
                <a:latin typeface="Arial" pitchFamily="34" charset="0"/>
                <a:cs typeface="Arial" pitchFamily="34" charset="-120"/>
              </a:rPr>
              <a:t>Collider: A variable caused by both treatment and another factor.</a:t>
            </a:r>
          </a:p>
        </p:txBody>
      </p:sp>
    </p:spTree>
    <p:extLst>
      <p:ext uri="{BB962C8B-B14F-4D97-AF65-F5344CB8AC3E}">
        <p14:creationId xmlns:p14="http://schemas.microsoft.com/office/powerpoint/2010/main" val="97210565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34B76-17BF-B2CC-2493-34A1E0FD0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D21893-0E2C-C9A3-C254-84438EF442C5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Real Data Analysis: LaLonde / NSW Job training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hape 4">
                <a:extLst>
                  <a:ext uri="{FF2B5EF4-FFF2-40B4-BE49-F238E27FC236}">
                    <a16:creationId xmlns:a16="http://schemas.microsoft.com/office/drawing/2014/main" id="{E8A3296D-8C5E-BC16-18DC-047AA9AC3E92}"/>
                  </a:ext>
                </a:extLst>
              </p:cNvPr>
              <p:cNvSpPr/>
              <p:nvPr/>
            </p:nvSpPr>
            <p:spPr>
              <a:xfrm>
                <a:off x="284799" y="1559243"/>
                <a:ext cx="3634740" cy="2098357"/>
              </a:xfrm>
              <a:prstGeom prst="roundRect">
                <a:avLst>
                  <a:gd name="adj" fmla="val 5106"/>
                </a:avLst>
              </a:prstGeom>
              <a:solidFill>
                <a:srgbClr val="5B9BD5">
                  <a:alpha val="98000"/>
                </a:srgbClr>
              </a:solidFill>
              <a:ln w="15240">
                <a:solidFill>
                  <a:srgbClr val="7FB3E8"/>
                </a:solidFill>
                <a:prstDash val="solid"/>
              </a:ln>
            </p:spPr>
            <p:txBody>
              <a:bodyPr/>
              <a:lstStyle/>
              <a:p>
                <a:pPr algn="ctr"/>
                <a:endParaRPr lang="en-US" sz="2000" dirty="0"/>
              </a:p>
              <a:p>
                <a:pPr algn="ctr"/>
                <a:r>
                  <a:rPr lang="en-US" sz="2000" dirty="0"/>
                  <a:t>Untreated</a:t>
                </a:r>
              </a:p>
              <a:p>
                <a:pPr algn="ctr"/>
                <a:endParaRPr lang="en-US" sz="2000" dirty="0"/>
              </a:p>
              <a:p>
                <a:pPr algn="ctr"/>
                <a:r>
                  <a:rPr lang="en-US" sz="2000" dirty="0"/>
                  <a:t>Mean 1978 earnings</a:t>
                </a:r>
              </a:p>
              <a:p>
                <a:pPr algn="ctr"/>
                <a:endParaRPr lang="en-US" sz="2000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𝟔𝟗𝟖𝟒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13" name="Shape 4">
                <a:extLst>
                  <a:ext uri="{FF2B5EF4-FFF2-40B4-BE49-F238E27FC236}">
                    <a16:creationId xmlns:a16="http://schemas.microsoft.com/office/drawing/2014/main" id="{E8A3296D-8C5E-BC16-18DC-047AA9AC3E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99" y="1559243"/>
                <a:ext cx="3634740" cy="2098357"/>
              </a:xfrm>
              <a:prstGeom prst="roundRect">
                <a:avLst>
                  <a:gd name="adj" fmla="val 5106"/>
                </a:avLst>
              </a:prstGeom>
              <a:blipFill>
                <a:blip r:embed="rId2"/>
                <a:stretch>
                  <a:fillRect/>
                </a:stretch>
              </a:blipFill>
              <a:ln w="15240">
                <a:solidFill>
                  <a:srgbClr val="7FB3E8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hape 8">
                <a:extLst>
                  <a:ext uri="{FF2B5EF4-FFF2-40B4-BE49-F238E27FC236}">
                    <a16:creationId xmlns:a16="http://schemas.microsoft.com/office/drawing/2014/main" id="{26B53B75-9CBD-001A-1266-727C65107A2E}"/>
                  </a:ext>
                </a:extLst>
              </p:cNvPr>
              <p:cNvSpPr/>
              <p:nvPr/>
            </p:nvSpPr>
            <p:spPr>
              <a:xfrm>
                <a:off x="4995862" y="1559243"/>
                <a:ext cx="3634740" cy="2098357"/>
              </a:xfrm>
              <a:prstGeom prst="roundRect">
                <a:avLst>
                  <a:gd name="adj" fmla="val 5106"/>
                </a:avLst>
              </a:prstGeom>
              <a:solidFill>
                <a:srgbClr val="B48731">
                  <a:alpha val="98000"/>
                </a:srgbClr>
              </a:solidFill>
              <a:ln w="15240">
                <a:solidFill>
                  <a:srgbClr val="C79A3D"/>
                </a:solidFill>
                <a:prstDash val="solid"/>
              </a:ln>
            </p:spPr>
            <p:txBody>
              <a:bodyPr/>
              <a:lstStyle/>
              <a:p>
                <a:pPr algn="ctr"/>
                <a:endParaRPr lang="en-US" sz="2000" dirty="0"/>
              </a:p>
              <a:p>
                <a:pPr algn="ctr"/>
                <a:r>
                  <a:rPr lang="en-US" sz="2000" dirty="0"/>
                  <a:t>Treated</a:t>
                </a:r>
              </a:p>
              <a:p>
                <a:pPr algn="ctr"/>
                <a:endParaRPr lang="en-US" sz="2000" dirty="0"/>
              </a:p>
              <a:p>
                <a:pPr algn="ctr"/>
                <a:r>
                  <a:rPr lang="en-US" sz="2000" dirty="0"/>
                  <a:t>Mean 1978 earnings</a:t>
                </a:r>
              </a:p>
              <a:p>
                <a:pPr algn="ctr"/>
                <a:endParaRPr lang="en-US" sz="2000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𝟔𝟑𝟒𝟗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14" name="Shape 8">
                <a:extLst>
                  <a:ext uri="{FF2B5EF4-FFF2-40B4-BE49-F238E27FC236}">
                    <a16:creationId xmlns:a16="http://schemas.microsoft.com/office/drawing/2014/main" id="{26B53B75-9CBD-001A-1266-727C65107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862" y="1559243"/>
                <a:ext cx="3634740" cy="2098357"/>
              </a:xfrm>
              <a:prstGeom prst="roundRect">
                <a:avLst>
                  <a:gd name="adj" fmla="val 5106"/>
                </a:avLst>
              </a:prstGeom>
              <a:blipFill>
                <a:blip r:embed="rId3"/>
                <a:stretch>
                  <a:fillRect/>
                </a:stretch>
              </a:blipFill>
              <a:ln w="15240">
                <a:solidFill>
                  <a:srgbClr val="C79A3D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Right 14">
            <a:extLst>
              <a:ext uri="{FF2B5EF4-FFF2-40B4-BE49-F238E27FC236}">
                <a16:creationId xmlns:a16="http://schemas.microsoft.com/office/drawing/2014/main" id="{20BF095B-BFF3-4973-B923-12D2ECACC416}"/>
              </a:ext>
            </a:extLst>
          </p:cNvPr>
          <p:cNvSpPr/>
          <p:nvPr/>
        </p:nvSpPr>
        <p:spPr>
          <a:xfrm>
            <a:off x="4014788" y="2609850"/>
            <a:ext cx="804862" cy="47625"/>
          </a:xfrm>
          <a:prstGeom prst="rightArrow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205B8E-ABF6-B60E-124D-8CFD1444E307}"/>
                  </a:ext>
                </a:extLst>
              </p:cNvPr>
              <p:cNvSpPr txBox="1"/>
              <p:nvPr/>
            </p:nvSpPr>
            <p:spPr>
              <a:xfrm>
                <a:off x="385763" y="3971925"/>
                <a:ext cx="805338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Question: Did job training increase later earnings?</a:t>
                </a:r>
              </a:p>
              <a:p>
                <a:endParaRPr lang="en-US" sz="2000" dirty="0">
                  <a:solidFill>
                    <a:schemeClr val="bg1"/>
                  </a:solidFill>
                </a:endParaRP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Naïve Difference: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$635</m:t>
                    </m:r>
                  </m:oMath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205B8E-ABF6-B60E-124D-8CFD1444E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63" y="3971925"/>
                <a:ext cx="8053387" cy="1015663"/>
              </a:xfrm>
              <a:prstGeom prst="rect">
                <a:avLst/>
              </a:prstGeom>
              <a:blipFill>
                <a:blip r:embed="rId4"/>
                <a:stretch>
                  <a:fillRect l="-757" t="-3012" b="-10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09862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AFBAC-8CEC-9FC8-E98E-D7E4C8F1D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8F94F2-B8CA-6FDB-A84D-EFCB73BDCB6D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Real Data Analysis: LaLonde / NSW Job training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41C891CF-E26E-2BA6-E93C-4A62A026F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0" y="978379"/>
            <a:ext cx="6846776" cy="3726972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9D8B0218-D4D9-E59A-5A40-481191E40A6B}"/>
              </a:ext>
            </a:extLst>
          </p:cNvPr>
          <p:cNvSpPr txBox="1"/>
          <p:nvPr/>
        </p:nvSpPr>
        <p:spPr>
          <a:xfrm>
            <a:off x="7000875" y="1362076"/>
            <a:ext cx="20517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Treatment participation was associated with characteristics that also predict later earnings.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So, the raw $6,349 vs $6,984 comparison mixes treatment effect with baseline differences.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3333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42DC8-260D-5228-485D-CCE119C4E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B97E57-8A60-691F-6AD9-5B45C9BE4058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Real Data Analysis: LaLonde / NSW Job training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DBFAC5-BE4B-42AB-9E2A-D88318CF7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767" y="894379"/>
            <a:ext cx="5555046" cy="385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558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AAEA8-566E-E66B-D89A-5D82A9C83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0F0A0D-CE52-6034-346C-18E39BBC89D2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Real Data Analysis: LaLonde / NSW Job training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4F620099-47AD-DE42-CD93-E95596698EC6}"/>
              </a:ext>
            </a:extLst>
          </p:cNvPr>
          <p:cNvSpPr/>
          <p:nvPr/>
        </p:nvSpPr>
        <p:spPr>
          <a:xfrm>
            <a:off x="96202" y="1543050"/>
            <a:ext cx="3020376" cy="2203132"/>
          </a:xfrm>
          <a:prstGeom prst="roundRect">
            <a:avLst>
              <a:gd name="adj" fmla="val 5333"/>
            </a:avLst>
          </a:prstGeom>
          <a:solidFill>
            <a:srgbClr val="292929">
              <a:alpha val="98000"/>
            </a:srgbClr>
          </a:solidFill>
          <a:ln w="1524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214275C2-0CC3-9490-7172-9F695C76E268}"/>
              </a:ext>
            </a:extLst>
          </p:cNvPr>
          <p:cNvSpPr/>
          <p:nvPr/>
        </p:nvSpPr>
        <p:spPr>
          <a:xfrm>
            <a:off x="96202" y="1789938"/>
            <a:ext cx="28803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comparison</a:t>
            </a:r>
            <a:endParaRPr lang="en-US" sz="2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ABAE896-C13B-A75A-230F-009A1BE2D375}"/>
              </a:ext>
            </a:extLst>
          </p:cNvPr>
          <p:cNvSpPr/>
          <p:nvPr/>
        </p:nvSpPr>
        <p:spPr>
          <a:xfrm>
            <a:off x="106679" y="2205990"/>
            <a:ext cx="28803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rgbClr val="F05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−$635</a:t>
            </a:r>
            <a:endParaRPr lang="en-US" sz="36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F0E8C3CB-6086-5637-2988-7FF7159697F8}"/>
              </a:ext>
            </a:extLst>
          </p:cNvPr>
          <p:cNvSpPr/>
          <p:nvPr/>
        </p:nvSpPr>
        <p:spPr>
          <a:xfrm>
            <a:off x="166210" y="3028950"/>
            <a:ext cx="28803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C8C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treated minus untreated</a:t>
            </a:r>
            <a:endParaRPr lang="en-US" sz="14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FF4641E8-8435-CA7C-41AC-E803305B645F}"/>
              </a:ext>
            </a:extLst>
          </p:cNvPr>
          <p:cNvSpPr/>
          <p:nvPr/>
        </p:nvSpPr>
        <p:spPr>
          <a:xfrm flipV="1">
            <a:off x="3162300" y="2667000"/>
            <a:ext cx="3090863" cy="23813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C7F226E3-0CED-C53D-6F42-DD5A1ECCCC1B}"/>
              </a:ext>
            </a:extLst>
          </p:cNvPr>
          <p:cNvSpPr/>
          <p:nvPr/>
        </p:nvSpPr>
        <p:spPr>
          <a:xfrm>
            <a:off x="3174682" y="1771650"/>
            <a:ext cx="3020377" cy="123824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 for age, education, race,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marriage, degree status, re74, re75</a:t>
            </a:r>
            <a:endParaRPr lang="en-US" sz="17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F27FBBD2-FDB0-49C6-D368-25223D717487}"/>
              </a:ext>
            </a:extLst>
          </p:cNvPr>
          <p:cNvSpPr/>
          <p:nvPr/>
        </p:nvSpPr>
        <p:spPr>
          <a:xfrm>
            <a:off x="6265545" y="1601867"/>
            <a:ext cx="2827973" cy="2130266"/>
          </a:xfrm>
          <a:prstGeom prst="roundRect">
            <a:avLst>
              <a:gd name="adj" fmla="val 5333"/>
            </a:avLst>
          </a:prstGeom>
          <a:solidFill>
            <a:srgbClr val="292929">
              <a:alpha val="98000"/>
            </a:srgbClr>
          </a:solidFill>
          <a:ln w="1524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71548938-1032-22A7-AEC6-E965BE26D248}"/>
              </a:ext>
            </a:extLst>
          </p:cNvPr>
          <p:cNvSpPr/>
          <p:nvPr/>
        </p:nvSpPr>
        <p:spPr>
          <a:xfrm>
            <a:off x="6167438" y="1821180"/>
            <a:ext cx="28803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Adjusted estimate</a:t>
            </a:r>
            <a:endParaRPr lang="en-US" sz="20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C58FF15F-4166-44FC-92E7-68603288874A}"/>
              </a:ext>
            </a:extLst>
          </p:cNvPr>
          <p:cNvSpPr/>
          <p:nvPr/>
        </p:nvSpPr>
        <p:spPr>
          <a:xfrm>
            <a:off x="6195059" y="2325053"/>
            <a:ext cx="28803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rgbClr val="92C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+$1,548</a:t>
            </a:r>
            <a:endParaRPr lang="en-US" sz="36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D1FFC4AA-4BF5-C115-C06C-2327961B6C26}"/>
              </a:ext>
            </a:extLst>
          </p:cNvPr>
          <p:cNvSpPr/>
          <p:nvPr/>
        </p:nvSpPr>
        <p:spPr>
          <a:xfrm>
            <a:off x="6283644" y="3176398"/>
            <a:ext cx="28803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C8C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/ g-computation</a:t>
            </a:r>
            <a:endParaRPr lang="en-US" sz="14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1C3431AE-2DE9-5472-E554-306E29C5242C}"/>
              </a:ext>
            </a:extLst>
          </p:cNvPr>
          <p:cNvSpPr/>
          <p:nvPr/>
        </p:nvSpPr>
        <p:spPr>
          <a:xfrm>
            <a:off x="166209" y="3795712"/>
            <a:ext cx="8881589" cy="1238243"/>
          </a:xfrm>
          <a:prstGeom prst="roundRect">
            <a:avLst>
              <a:gd name="adj" fmla="val 8000"/>
            </a:avLst>
          </a:prstGeom>
          <a:solidFill>
            <a:srgbClr val="24303A">
              <a:alpha val="98000"/>
            </a:srgbClr>
          </a:solidFill>
          <a:ln w="15240">
            <a:solidFill>
              <a:srgbClr val="4A6A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0B9EAC5E-6781-7831-A4EC-C15C07F66CE4}"/>
              </a:ext>
            </a:extLst>
          </p:cNvPr>
          <p:cNvSpPr/>
          <p:nvPr/>
        </p:nvSpPr>
        <p:spPr>
          <a:xfrm>
            <a:off x="388739" y="3906198"/>
            <a:ext cx="8407904" cy="39623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77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sign changed from negative to positive after accounting for baseline differences.</a:t>
            </a:r>
            <a:endParaRPr lang="en-US" sz="22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2011272C-E393-20DA-951C-E1C0902029E7}"/>
              </a:ext>
            </a:extLst>
          </p:cNvPr>
          <p:cNvSpPr/>
          <p:nvPr/>
        </p:nvSpPr>
        <p:spPr>
          <a:xfrm>
            <a:off x="388739" y="4486080"/>
            <a:ext cx="8407904" cy="3467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is exactly why “association” and “causal effect” are different questions.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9597953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47D4F-F951-B9C9-F696-5D4CFD16B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47FADF-12F5-198C-B658-B05FAFFCA0BB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Real Data Analysis: Overlap Plot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79D1B-EC29-915E-7BEC-E476C12D9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05" y="1333500"/>
            <a:ext cx="5334245" cy="37052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F0E37F-C3A6-F87C-22CD-AE270604F3C1}"/>
              </a:ext>
            </a:extLst>
          </p:cNvPr>
          <p:cNvSpPr txBox="1"/>
          <p:nvPr/>
        </p:nvSpPr>
        <p:spPr>
          <a:xfrm>
            <a:off x="924458" y="942975"/>
            <a:ext cx="4300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Propensity Score Distribution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8FEA8BE-B1B0-EADA-AFC2-206F332C9DDA}"/>
              </a:ext>
            </a:extLst>
          </p:cNvPr>
          <p:cNvSpPr/>
          <p:nvPr/>
        </p:nvSpPr>
        <p:spPr>
          <a:xfrm>
            <a:off x="6062662" y="942975"/>
            <a:ext cx="2947988" cy="4042540"/>
          </a:xfrm>
          <a:prstGeom prst="roundRect">
            <a:avLst>
              <a:gd name="adj" fmla="val 3692"/>
            </a:avLst>
          </a:prstGeom>
          <a:solidFill>
            <a:srgbClr val="202020">
              <a:alpha val="98000"/>
            </a:srgbClr>
          </a:solidFill>
          <a:ln w="1524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88A3ADF-3967-5E8F-25B4-BB1839068EBD}"/>
              </a:ext>
            </a:extLst>
          </p:cNvPr>
          <p:cNvSpPr/>
          <p:nvPr/>
        </p:nvSpPr>
        <p:spPr>
          <a:xfrm>
            <a:off x="6264197" y="1182595"/>
            <a:ext cx="2494451" cy="36513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 we see?</a:t>
            </a:r>
            <a:endParaRPr lang="en-US" sz="21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EC85572-97F7-8B07-E073-BA99D4FC25EE}"/>
              </a:ext>
            </a:extLst>
          </p:cNvPr>
          <p:cNvSpPr/>
          <p:nvPr/>
        </p:nvSpPr>
        <p:spPr>
          <a:xfrm>
            <a:off x="6309550" y="1688487"/>
            <a:ext cx="2449098" cy="78242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Untreated participants are concentrated at low propensity scores.</a:t>
            </a:r>
            <a:endParaRPr lang="en-US" sz="17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C4854B3-EE9D-E95B-EA73-F95611A0325E}"/>
              </a:ext>
            </a:extLst>
          </p:cNvPr>
          <p:cNvSpPr/>
          <p:nvPr/>
        </p:nvSpPr>
        <p:spPr>
          <a:xfrm>
            <a:off x="6309550" y="2630319"/>
            <a:ext cx="2449098" cy="78242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Treated participants are concentrated at much higher scores.</a:t>
            </a:r>
            <a:endParaRPr lang="en-US" sz="17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70D8D392-B91B-DD8D-9207-2205136EF752}"/>
              </a:ext>
            </a:extLst>
          </p:cNvPr>
          <p:cNvSpPr/>
          <p:nvPr/>
        </p:nvSpPr>
        <p:spPr>
          <a:xfrm>
            <a:off x="6309550" y="3606475"/>
            <a:ext cx="2449098" cy="73895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7B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some common support, but the overlap is limited.</a:t>
            </a:r>
            <a:endParaRPr lang="en-US" sz="18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235EBA55-FC29-B7E3-95BE-A27DF578BBEB}"/>
              </a:ext>
            </a:extLst>
          </p:cNvPr>
          <p:cNvSpPr/>
          <p:nvPr/>
        </p:nvSpPr>
        <p:spPr>
          <a:xfrm>
            <a:off x="6302085" y="4501509"/>
            <a:ext cx="2529347" cy="365133"/>
          </a:xfrm>
          <a:prstGeom prst="roundRect">
            <a:avLst>
              <a:gd name="adj" fmla="val 28571"/>
            </a:avLst>
          </a:prstGeom>
          <a:solidFill>
            <a:srgbClr val="F05B61">
              <a:alpha val="98000"/>
            </a:srgbClr>
          </a:solidFill>
          <a:ln w="15240">
            <a:solidFill>
              <a:srgbClr val="F05B61"/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positivity concern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60797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DCD85-2482-39EC-ACD0-07F8D6497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52828F-D522-F10A-C6D0-E4EF2BFBEED1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Real Data Analysis: LaLonde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5BF79-5A5B-ECC9-FA81-1628604D1BA2}"/>
              </a:ext>
            </a:extLst>
          </p:cNvPr>
          <p:cNvSpPr txBox="1"/>
          <p:nvPr/>
        </p:nvSpPr>
        <p:spPr>
          <a:xfrm>
            <a:off x="561975" y="909638"/>
            <a:ext cx="788193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What did we learn from the data analysis?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naive comparison suggested training decreased earnings by about $635.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Baseline characteristics showed strong differences between treated and untreated people.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Regression adjustment changed the estimate to approximately $1,548.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But the propensity score plot revealed poor overlap. </a:t>
            </a:r>
          </a:p>
        </p:txBody>
      </p:sp>
    </p:spTree>
    <p:extLst>
      <p:ext uri="{BB962C8B-B14F-4D97-AF65-F5344CB8AC3E}">
        <p14:creationId xmlns:p14="http://schemas.microsoft.com/office/powerpoint/2010/main" val="299003876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FD726-D676-45E0-006C-CE75CE15C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565096-F8D0-660E-CDEE-AE06B2077DD9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Real Data Analysis: LaLonde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2CBDA2-C7B7-3D80-5827-B66B1876FBED}"/>
                  </a:ext>
                </a:extLst>
              </p:cNvPr>
              <p:cNvSpPr txBox="1"/>
              <p:nvPr/>
            </p:nvSpPr>
            <p:spPr>
              <a:xfrm>
                <a:off x="95250" y="708959"/>
                <a:ext cx="8963025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Therefore: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$635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is clearly a crude association.</a:t>
                </a:r>
              </a:p>
              <a:p>
                <a:endParaRPr lang="en-US" sz="2000" dirty="0">
                  <a:solidFill>
                    <a:schemeClr val="bg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$1548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is an adjusted causal estimate under assumptions, but its credibility is limited by poor overlap.</a:t>
                </a:r>
              </a:p>
              <a:p>
                <a:endParaRPr lang="en-US" sz="2000" dirty="0">
                  <a:solidFill>
                    <a:schemeClr val="bg1"/>
                  </a:solidFill>
                </a:endParaRP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Possible Solutions:</a:t>
                </a:r>
              </a:p>
              <a:p>
                <a:pPr marL="34290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Restrict to common support  (Change the target population)</a:t>
                </a:r>
              </a:p>
              <a:p>
                <a:pPr marL="34290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bg1"/>
                  </a:solidFill>
                </a:endParaRPr>
              </a:p>
              <a:p>
                <a:pPr marL="34290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Propensity-Score Matching </a:t>
                </a:r>
              </a:p>
              <a:p>
                <a:pPr marL="34290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bg1"/>
                  </a:solidFill>
                </a:endParaRPr>
              </a:p>
              <a:p>
                <a:pPr marL="34290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IPW (Can be problematic with poor overlap)</a:t>
                </a:r>
              </a:p>
              <a:p>
                <a:pPr marL="34290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bg1"/>
                  </a:solidFill>
                </a:endParaRPr>
              </a:p>
              <a:p>
                <a:pPr>
                  <a:buClr>
                    <a:schemeClr val="bg1"/>
                  </a:buClr>
                </a:pPr>
                <a:r>
                  <a:rPr lang="en-US" sz="2000" dirty="0">
                    <a:solidFill>
                      <a:schemeClr val="bg1"/>
                    </a:solidFill>
                  </a:rPr>
                  <a:t>If there is zero overlap, then no statistical adjustment method can recover the missing counterfactual from these data without additional assumptions.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2CBDA2-C7B7-3D80-5827-B66B1876F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" y="708959"/>
                <a:ext cx="8963025" cy="4401205"/>
              </a:xfrm>
              <a:prstGeom prst="rect">
                <a:avLst/>
              </a:prstGeom>
              <a:blipFill>
                <a:blip r:embed="rId2"/>
                <a:stretch>
                  <a:fillRect l="-748" t="-554" r="-68" b="-1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07546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FE2B0-490D-EF28-3221-2EEFAD815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9065A5-5B8D-55C9-F09F-431B8168C4E3}"/>
              </a:ext>
            </a:extLst>
          </p:cNvPr>
          <p:cNvSpPr txBox="1"/>
          <p:nvPr/>
        </p:nvSpPr>
        <p:spPr>
          <a:xfrm>
            <a:off x="177135" y="157985"/>
            <a:ext cx="868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Walbaum Text" panose="02070503080703020303" pitchFamily="18" charset="0"/>
              </a:rPr>
              <a:t>Conclusion</a:t>
            </a:r>
            <a:endParaRPr lang="en-US" sz="24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89C324-4159-D6E4-0080-8648B9B54257}"/>
                  </a:ext>
                </a:extLst>
              </p:cNvPr>
              <p:cNvSpPr txBox="1"/>
              <p:nvPr/>
            </p:nvSpPr>
            <p:spPr>
              <a:xfrm>
                <a:off x="204787" y="770513"/>
                <a:ext cx="8753476" cy="4278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Potential outcomes give us the language of causality. </a:t>
                </a:r>
                <a:endParaRPr lang="en-US" sz="16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𝐴𝑇𝐸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600" b="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But for each person, we only observe 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one </a:t>
                </a:r>
                <a:r>
                  <a:rPr lang="en-US" sz="1600" dirty="0">
                    <a:solidFill>
                      <a:schemeClr val="bg1"/>
                    </a:solidFill>
                  </a:rPr>
                  <a:t>potential outcome.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Moving from association to causation requires assumptions:</a:t>
                </a:r>
              </a:p>
              <a:p>
                <a:pPr marL="342900" lvl="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sz="1600" b="1" u="sng" dirty="0">
                    <a:solidFill>
                      <a:schemeClr val="bg1"/>
                    </a:solidFill>
                  </a:rPr>
                  <a:t>Exchangeability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:</a:t>
                </a:r>
                <a:r>
                  <a:rPr lang="en-US" sz="1600" dirty="0">
                    <a:solidFill>
                      <a:schemeClr val="bg1"/>
                    </a:solidFill>
                  </a:rPr>
                  <a:t> treated and untreated are comparable after conditioning on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bg1"/>
                        </a:solidFill>
                      </a:rPr>
                      <m:t>𝑋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>
                  <a:solidFill>
                    <a:schemeClr val="bg1"/>
                  </a:solidFill>
                </a:endParaRPr>
              </a:p>
              <a:p>
                <a:pPr marL="342900" lvl="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sz="1600" b="1" u="sng" dirty="0">
                    <a:solidFill>
                      <a:schemeClr val="bg1"/>
                    </a:solidFill>
                  </a:rPr>
                  <a:t>Consistency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:</a:t>
                </a:r>
                <a:r>
                  <a:rPr lang="en-US" sz="1600" dirty="0">
                    <a:solidFill>
                      <a:schemeClr val="bg1"/>
                    </a:solidFill>
                  </a:rPr>
                  <a:t> observed treatment corresponds to the intervention we defined. </a:t>
                </a:r>
              </a:p>
              <a:p>
                <a:pPr marL="342900" lvl="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sz="1600" b="1" u="sng" dirty="0">
                    <a:solidFill>
                      <a:schemeClr val="bg1"/>
                    </a:solidFill>
                  </a:rPr>
                  <a:t>SUTVA / no interference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:</a:t>
                </a:r>
                <a:r>
                  <a:rPr lang="en-US" sz="1600" dirty="0">
                    <a:solidFill>
                      <a:schemeClr val="bg1"/>
                    </a:solidFill>
                  </a:rPr>
                  <a:t> one person’s treatment does not alter another’s outcome.</a:t>
                </a:r>
              </a:p>
              <a:p>
                <a:pPr marL="342900" lvl="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sz="1600" b="1" u="sng" dirty="0">
                    <a:solidFill>
                      <a:schemeClr val="bg1"/>
                    </a:solidFill>
                  </a:rPr>
                  <a:t>Positivity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:</a:t>
                </a:r>
                <a:r>
                  <a:rPr lang="en-US" sz="1600" dirty="0">
                    <a:solidFill>
                      <a:schemeClr val="bg1"/>
                    </a:solidFill>
                  </a:rPr>
                  <a:t> both treatment options are represented within relevant covariate profiles.</a:t>
                </a:r>
              </a:p>
              <a:p>
                <a:pPr marL="34290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bg1"/>
                  </a:solidFill>
                </a:endParaRPr>
              </a:p>
              <a:p>
                <a:pPr>
                  <a:buClr>
                    <a:schemeClr val="bg1"/>
                  </a:buClr>
                </a:pPr>
                <a:r>
                  <a:rPr lang="en-US" sz="1600" dirty="0">
                    <a:solidFill>
                      <a:schemeClr val="bg1"/>
                    </a:solidFill>
                  </a:rPr>
                  <a:t>Identification comes before estimation.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1600" dirty="0">
                  <a:solidFill>
                    <a:schemeClr val="bg1"/>
                  </a:solidFill>
                </a:endParaRPr>
              </a:p>
              <a:p>
                <a:pPr>
                  <a:buClr>
                    <a:schemeClr val="bg1"/>
                  </a:buClr>
                </a:pPr>
                <a:endParaRPr lang="en-US" sz="1600" dirty="0">
                  <a:solidFill>
                    <a:schemeClr val="bg1"/>
                  </a:solidFill>
                </a:endParaRPr>
              </a:p>
              <a:p>
                <a:pPr>
                  <a:buClr>
                    <a:schemeClr val="bg1"/>
                  </a:buClr>
                </a:pPr>
                <a:r>
                  <a:rPr lang="en-US" sz="1600" dirty="0">
                    <a:solidFill>
                      <a:schemeClr val="bg1"/>
                    </a:solidFill>
                  </a:rPr>
                  <a:t>A statistical model can always produce an estimate.</a:t>
                </a:r>
              </a:p>
              <a:p>
                <a:pPr>
                  <a:buClr>
                    <a:schemeClr val="bg1"/>
                  </a:buClr>
                </a:pPr>
                <a:r>
                  <a:rPr lang="en-US" sz="1600" dirty="0">
                    <a:solidFill>
                      <a:schemeClr val="bg1"/>
                    </a:solidFill>
                  </a:rPr>
                  <a:t>Causal inference asks whether the data and assumptions support interpreting the estimate causally.</a:t>
                </a:r>
              </a:p>
              <a:p>
                <a:pPr>
                  <a:buClr>
                    <a:schemeClr val="bg1"/>
                  </a:buClr>
                </a:pPr>
                <a:endParaRPr lang="en-US" sz="1600" dirty="0">
                  <a:solidFill>
                    <a:schemeClr val="bg1"/>
                  </a:solidFill>
                </a:endParaRPr>
              </a:p>
              <a:p>
                <a:pPr>
                  <a:buClr>
                    <a:schemeClr val="bg1"/>
                  </a:buClr>
                </a:pPr>
                <a:r>
                  <a:rPr lang="en-US" sz="1600" dirty="0">
                    <a:solidFill>
                      <a:schemeClr val="bg1"/>
                    </a:solidFill>
                  </a:rPr>
                  <a:t>Note: You cannot fully verify all causal assumptions from the observed data.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89C324-4159-D6E4-0080-8648B9B54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87" y="770513"/>
                <a:ext cx="8753476" cy="4278094"/>
              </a:xfrm>
              <a:prstGeom prst="rect">
                <a:avLst/>
              </a:prstGeom>
              <a:blipFill>
                <a:blip r:embed="rId2"/>
                <a:stretch>
                  <a:fillRect l="-418" t="-427" b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4335921"/>
      </p:ext>
    </p:extLst>
  </p:cSld>
  <p:clrMapOvr>
    <a:masterClrMapping/>
  </p:clrMapOvr>
</p:sld>
</file>

<file path=ppt/theme/theme1.xml><?xml version="1.0" encoding="utf-8"?>
<a:theme xmlns:a="http://schemas.openxmlformats.org/drawingml/2006/main" name="Ursula template">
  <a:themeElements>
    <a:clrScheme name="Custom 347">
      <a:dk1>
        <a:srgbClr val="000000"/>
      </a:dk1>
      <a:lt1>
        <a:srgbClr val="FFFFFF"/>
      </a:lt1>
      <a:dk2>
        <a:srgbClr val="D1D8DF"/>
      </a:dk2>
      <a:lt2>
        <a:srgbClr val="4F565C"/>
      </a:lt2>
      <a:accent1>
        <a:srgbClr val="71AEF0"/>
      </a:accent1>
      <a:accent2>
        <a:srgbClr val="88E6DC"/>
      </a:accent2>
      <a:accent3>
        <a:srgbClr val="A6D145"/>
      </a:accent3>
      <a:accent4>
        <a:srgbClr val="FFE000"/>
      </a:accent4>
      <a:accent5>
        <a:srgbClr val="FC765C"/>
      </a:accent5>
      <a:accent6>
        <a:srgbClr val="A693C9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6290</TotalTime>
  <Words>4453</Words>
  <Application>Microsoft Office PowerPoint</Application>
  <PresentationFormat>On-screen Show (16:9)</PresentationFormat>
  <Paragraphs>685</Paragraphs>
  <Slides>82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90" baseType="lpstr">
      <vt:lpstr>Walbaum Text</vt:lpstr>
      <vt:lpstr>Walter Turncoat</vt:lpstr>
      <vt:lpstr>Arial</vt:lpstr>
      <vt:lpstr>Cambria Math</vt:lpstr>
      <vt:lpstr>Sniglet</vt:lpstr>
      <vt:lpstr>Aptos</vt:lpstr>
      <vt:lpstr>Consolas</vt:lpstr>
      <vt:lpstr>Ursula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Samhita Pal</dc:creator>
  <cp:lastModifiedBy>Dhrubajyoti Ghosh</cp:lastModifiedBy>
  <cp:revision>147</cp:revision>
  <dcterms:modified xsi:type="dcterms:W3CDTF">2026-08-31T07:29:45Z</dcterms:modified>
</cp:coreProperties>
</file>