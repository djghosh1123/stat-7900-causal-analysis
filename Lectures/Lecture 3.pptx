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7"/>
  </p:notesMasterIdLst>
  <p:sldIdLst>
    <p:sldId id="297" r:id="rId2"/>
    <p:sldId id="328" r:id="rId3"/>
    <p:sldId id="329" r:id="rId4"/>
    <p:sldId id="350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78" r:id="rId32"/>
    <p:sldId id="379" r:id="rId33"/>
    <p:sldId id="380" r:id="rId34"/>
    <p:sldId id="381" r:id="rId35"/>
    <p:sldId id="382" r:id="rId36"/>
    <p:sldId id="383" r:id="rId37"/>
    <p:sldId id="384" r:id="rId38"/>
    <p:sldId id="385" r:id="rId39"/>
    <p:sldId id="386" r:id="rId40"/>
    <p:sldId id="387" r:id="rId41"/>
    <p:sldId id="388" r:id="rId42"/>
    <p:sldId id="389" r:id="rId43"/>
    <p:sldId id="390" r:id="rId44"/>
    <p:sldId id="391" r:id="rId45"/>
    <p:sldId id="392" r:id="rId46"/>
    <p:sldId id="393" r:id="rId47"/>
    <p:sldId id="437" r:id="rId48"/>
    <p:sldId id="394" r:id="rId49"/>
    <p:sldId id="395" r:id="rId50"/>
    <p:sldId id="396" r:id="rId51"/>
    <p:sldId id="397" r:id="rId52"/>
    <p:sldId id="398" r:id="rId53"/>
    <p:sldId id="399" r:id="rId54"/>
    <p:sldId id="400" r:id="rId55"/>
    <p:sldId id="401" r:id="rId56"/>
    <p:sldId id="402" r:id="rId57"/>
    <p:sldId id="403" r:id="rId58"/>
    <p:sldId id="404" r:id="rId59"/>
    <p:sldId id="405" r:id="rId60"/>
    <p:sldId id="406" r:id="rId61"/>
    <p:sldId id="407" r:id="rId62"/>
    <p:sldId id="408" r:id="rId63"/>
    <p:sldId id="409" r:id="rId64"/>
    <p:sldId id="410" r:id="rId65"/>
    <p:sldId id="459" r:id="rId6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68"/>
    </p:embeddedFont>
    <p:embeddedFont>
      <p:font typeface="Sniglet" panose="020B0604020202020204" charset="0"/>
      <p:regular r:id="rId69"/>
    </p:embeddedFont>
    <p:embeddedFont>
      <p:font typeface="Walbaum Text" panose="02070503080703020303" pitchFamily="18" charset="0"/>
      <p:regular r:id="rId70"/>
      <p:bold r:id="rId71"/>
      <p:italic r:id="rId72"/>
      <p:boldItalic r:id="rId73"/>
    </p:embeddedFont>
    <p:embeddedFont>
      <p:font typeface="Walter Turncoat" panose="020B0604020202020204" charset="0"/>
      <p:regular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0B942B-5FDC-419F-A31C-88048C057ADA}">
  <a:tblStyle styleId="{3D0B942B-5FDC-419F-A31C-88048C057A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F752B63-FEDA-48D4-B3B7-9A5BAED313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1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2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3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6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4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✘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A9790-8FD3-3CFF-298C-8576CD7777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34EF000-1360-AEF0-B6CC-E38FC7950DC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69955" y="294994"/>
            <a:ext cx="8229600" cy="19050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STAT 7900: Special Topic: </a:t>
            </a:r>
          </a:p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Causal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FDCB5-F084-8EE3-64F9-3FEEE886EC0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738512" y="235668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KENNESAW STATE UNIVERSITY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Walter Turncoat" panose="020B0604020202020204" charset="0"/>
              </a:rPr>
              <a:t>STAT 7900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58E625-98C4-4A42-C24D-4A91B5CF561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51800" y="229760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Instructor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Walter Turncoat" panose="020B0604020202020204" charset="0"/>
              </a:rPr>
              <a:t> Dhrubajyoti Ghosh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93739B6-31BF-A8C0-52D4-A78461221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895" y="2171700"/>
            <a:ext cx="8477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647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A7115-2B18-F976-719A-7044EBD75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6782E2-91C8-AB28-5C5F-617347300876}"/>
              </a:ext>
            </a:extLst>
          </p:cNvPr>
          <p:cNvSpPr txBox="1"/>
          <p:nvPr/>
        </p:nvSpPr>
        <p:spPr>
          <a:xfrm>
            <a:off x="177135" y="157985"/>
            <a:ext cx="8689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Walbaum Text" panose="02070503080703020303" pitchFamily="18" charset="0"/>
              </a:rPr>
              <a:t>Three Kinds of questions</a:t>
            </a:r>
            <a:endParaRPr lang="en-US" sz="32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1FAAC2-79A4-01DE-8B96-7CC1B51CCF11}"/>
              </a:ext>
            </a:extLst>
          </p:cNvPr>
          <p:cNvSpPr/>
          <p:nvPr/>
        </p:nvSpPr>
        <p:spPr>
          <a:xfrm>
            <a:off x="393700" y="1212850"/>
            <a:ext cx="2451100" cy="3435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Descriptive</a:t>
            </a: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What is happening?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Example:</a:t>
            </a:r>
            <a:r>
              <a:rPr lang="en-US" dirty="0">
                <a:solidFill>
                  <a:schemeClr val="tx1"/>
                </a:solidFill>
              </a:rPr>
              <a:t> How does blood pressure differ between smokers and non-smokers?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B2ED6A-3512-B47E-A619-70E1768EF8BB}"/>
              </a:ext>
            </a:extLst>
          </p:cNvPr>
          <p:cNvSpPr/>
          <p:nvPr/>
        </p:nvSpPr>
        <p:spPr>
          <a:xfrm>
            <a:off x="3346450" y="1212850"/>
            <a:ext cx="2451100" cy="3435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Predictive</a:t>
            </a: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What will happen?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Example:</a:t>
            </a:r>
            <a:r>
              <a:rPr lang="en-US" dirty="0">
                <a:solidFill>
                  <a:schemeClr val="tx1"/>
                </a:solidFill>
              </a:rPr>
              <a:t> Can age, BMI or smoking predict future blood pressure?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F7F0C3-D1B5-84B3-D627-859A11974E60}"/>
              </a:ext>
            </a:extLst>
          </p:cNvPr>
          <p:cNvSpPr/>
          <p:nvPr/>
        </p:nvSpPr>
        <p:spPr>
          <a:xfrm>
            <a:off x="6357274" y="1212850"/>
            <a:ext cx="2451100" cy="3435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Causal</a:t>
            </a: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What would happen if we intervened?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Example:</a:t>
            </a:r>
            <a:r>
              <a:rPr lang="en-US" dirty="0">
                <a:solidFill>
                  <a:schemeClr val="tx1"/>
                </a:solidFill>
              </a:rPr>
              <a:t> Would smoking cessation lower blood pressure?</a:t>
            </a:r>
          </a:p>
        </p:txBody>
      </p:sp>
    </p:spTree>
    <p:extLst>
      <p:ext uri="{BB962C8B-B14F-4D97-AF65-F5344CB8AC3E}">
        <p14:creationId xmlns:p14="http://schemas.microsoft.com/office/powerpoint/2010/main" val="216284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60189-031B-5DB6-0CDF-F4568DE5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4E4622-E812-4135-3F39-5908782F7A07}"/>
              </a:ext>
            </a:extLst>
          </p:cNvPr>
          <p:cNvSpPr txBox="1"/>
          <p:nvPr/>
        </p:nvSpPr>
        <p:spPr>
          <a:xfrm>
            <a:off x="177135" y="157985"/>
            <a:ext cx="8689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Walbaum Text" panose="02070503080703020303" pitchFamily="18" charset="0"/>
              </a:rPr>
              <a:t>Association is not causation</a:t>
            </a:r>
            <a:endParaRPr lang="en-US" sz="32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8EE9AC0A-26D3-AE7A-960C-8B2DD30B6AFE}"/>
              </a:ext>
            </a:extLst>
          </p:cNvPr>
          <p:cNvSpPr/>
          <p:nvPr/>
        </p:nvSpPr>
        <p:spPr>
          <a:xfrm>
            <a:off x="90775" y="974006"/>
            <a:ext cx="4134455" cy="1170840"/>
          </a:xfrm>
          <a:prstGeom prst="roundRect">
            <a:avLst/>
          </a:prstGeom>
          <a:solidFill>
            <a:srgbClr val="5DAAE5"/>
          </a:solidFill>
          <a:ln w="12700">
            <a:solidFill>
              <a:srgbClr val="5DA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FD52FC-EC10-1170-7E06-8B7D1AAD0A26}"/>
              </a:ext>
            </a:extLst>
          </p:cNvPr>
          <p:cNvSpPr txBox="1"/>
          <p:nvPr/>
        </p:nvSpPr>
        <p:spPr>
          <a:xfrm>
            <a:off x="268575" y="1129765"/>
            <a:ext cx="3967935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 dirty="0">
                <a:solidFill>
                  <a:srgbClr val="151515"/>
                </a:solidFill>
                <a:latin typeface="Arial"/>
              </a:rPr>
              <a:t>Observed association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20AC5E-8DEA-B6E9-9703-903473E2B310}"/>
              </a:ext>
            </a:extLst>
          </p:cNvPr>
          <p:cNvSpPr txBox="1"/>
          <p:nvPr/>
        </p:nvSpPr>
        <p:spPr>
          <a:xfrm>
            <a:off x="177135" y="1572768"/>
            <a:ext cx="4048095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700" b="0" i="0" dirty="0">
                <a:solidFill>
                  <a:srgbClr val="151515"/>
                </a:solidFill>
                <a:latin typeface="Cambria Math"/>
              </a:rPr>
              <a:t>E[Y | T = 1] − E[Y | T = 0]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D2C764B1-FB13-EA8D-1503-87144648A6C1}"/>
              </a:ext>
            </a:extLst>
          </p:cNvPr>
          <p:cNvSpPr/>
          <p:nvPr/>
        </p:nvSpPr>
        <p:spPr>
          <a:xfrm>
            <a:off x="5095906" y="974006"/>
            <a:ext cx="3945376" cy="1170840"/>
          </a:xfrm>
          <a:prstGeom prst="roundRect">
            <a:avLst/>
          </a:prstGeom>
          <a:solidFill>
            <a:srgbClr val="FDBB30"/>
          </a:solidFill>
          <a:ln w="12700"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9256D5-3D87-35B5-74C4-CDCD9EFFC0A5}"/>
              </a:ext>
            </a:extLst>
          </p:cNvPr>
          <p:cNvSpPr txBox="1"/>
          <p:nvPr/>
        </p:nvSpPr>
        <p:spPr>
          <a:xfrm>
            <a:off x="5279306" y="1104725"/>
            <a:ext cx="3967935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 dirty="0">
                <a:solidFill>
                  <a:srgbClr val="151515"/>
                </a:solidFill>
                <a:latin typeface="Arial"/>
              </a:rPr>
              <a:t>Causal effect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59AABC-6DE6-3376-CA8A-93957196B983}"/>
              </a:ext>
            </a:extLst>
          </p:cNvPr>
          <p:cNvSpPr txBox="1"/>
          <p:nvPr/>
        </p:nvSpPr>
        <p:spPr>
          <a:xfrm>
            <a:off x="5302388" y="1522190"/>
            <a:ext cx="4048095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700" b="0" i="0" dirty="0">
                <a:solidFill>
                  <a:srgbClr val="151515"/>
                </a:solidFill>
                <a:latin typeface="Cambria Math"/>
              </a:rPr>
              <a:t>E[Y(1)] − E[Y(0)]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9C2D7E-DA10-36F2-8F7F-975936E8C2E6}"/>
                  </a:ext>
                </a:extLst>
              </p:cNvPr>
              <p:cNvSpPr txBox="1"/>
              <p:nvPr/>
            </p:nvSpPr>
            <p:spPr>
              <a:xfrm>
                <a:off x="3763388" y="1089749"/>
                <a:ext cx="1783080" cy="923330"/>
              </a:xfrm>
              <a:prstGeom prst="rect">
                <a:avLst/>
              </a:prstGeom>
              <a:noFill/>
            </p:spPr>
            <p:txBody>
              <a:bodyPr wrap="square" lIns="45720" rIns="45720" anchor="ctr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1800" b="1" i="0" dirty="0">
                    <a:solidFill>
                      <a:srgbClr val="F2F2F2"/>
                    </a:solidFill>
                    <a:latin typeface="Arial"/>
                  </a:rPr>
                  <a:t> </a:t>
                </a:r>
              </a:p>
              <a:p>
                <a:pPr algn="ctr"/>
                <a:r>
                  <a:rPr lang="en-US" sz="1800" b="1" i="0" dirty="0">
                    <a:solidFill>
                      <a:srgbClr val="F2F2F2"/>
                    </a:solidFill>
                    <a:latin typeface="Arial"/>
                  </a:rPr>
                  <a:t>in </a:t>
                </a:r>
              </a:p>
              <a:p>
                <a:pPr algn="ctr"/>
                <a:r>
                  <a:rPr lang="en-US" sz="1800" b="1" i="0" dirty="0">
                    <a:solidFill>
                      <a:srgbClr val="F2F2F2"/>
                    </a:solidFill>
                    <a:latin typeface="Arial"/>
                  </a:rPr>
                  <a:t>general</a:t>
                </a:r>
                <a:endParaRPr sz="1800" b="1" i="0" dirty="0">
                  <a:solidFill>
                    <a:srgbClr val="F2F2F2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9C2D7E-DA10-36F2-8F7F-975936E8C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388" y="1089749"/>
                <a:ext cx="1783080" cy="923330"/>
              </a:xfrm>
              <a:prstGeom prst="rect">
                <a:avLst/>
              </a:prstGeom>
              <a:blipFill>
                <a:blip r:embed="rId2"/>
                <a:stretch>
                  <a:fillRect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E7618CBA-7E49-30E4-DC05-7894F44046A2}"/>
              </a:ext>
            </a:extLst>
          </p:cNvPr>
          <p:cNvSpPr/>
          <p:nvPr/>
        </p:nvSpPr>
        <p:spPr>
          <a:xfrm>
            <a:off x="177135" y="2390001"/>
            <a:ext cx="8755198" cy="2137334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88E230-B8C0-7CC2-3984-F0932416FB76}"/>
              </a:ext>
            </a:extLst>
          </p:cNvPr>
          <p:cNvSpPr txBox="1"/>
          <p:nvPr/>
        </p:nvSpPr>
        <p:spPr>
          <a:xfrm>
            <a:off x="499532" y="2417019"/>
            <a:ext cx="2683935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 dirty="0">
                <a:solidFill>
                  <a:srgbClr val="FDBB30"/>
                </a:solidFill>
                <a:latin typeface="Arial"/>
              </a:rPr>
              <a:t>Why can they differ?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225F40-F0E4-1964-440F-026225832E94}"/>
              </a:ext>
            </a:extLst>
          </p:cNvPr>
          <p:cNvSpPr txBox="1"/>
          <p:nvPr/>
        </p:nvSpPr>
        <p:spPr>
          <a:xfrm>
            <a:off x="464475" y="2908946"/>
            <a:ext cx="8114513" cy="1480405"/>
          </a:xfrm>
          <a:prstGeom prst="rect">
            <a:avLst/>
          </a:prstGeom>
          <a:noFill/>
        </p:spPr>
        <p:txBody>
          <a:bodyPr wrap="square" lIns="27432" tIns="18288" rIns="27432" bIns="0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2F2F2"/>
                </a:solidFill>
                <a:latin typeface="Arial"/>
              </a:defRPr>
            </a:pPr>
            <a:r>
              <a:rPr dirty="0"/>
              <a:t>• Confounding: treated and untreated groups may differ before treatment.</a:t>
            </a:r>
          </a:p>
          <a:p>
            <a:pPr>
              <a:spcAft>
                <a:spcPts val="600"/>
              </a:spcAft>
              <a:defRPr sz="1700">
                <a:solidFill>
                  <a:srgbClr val="F2F2F2"/>
                </a:solidFill>
                <a:latin typeface="Arial"/>
              </a:defRPr>
            </a:pPr>
            <a:r>
              <a:rPr dirty="0"/>
              <a:t>• Selection and treatment decisions can create strong associations without causal effects.</a:t>
            </a:r>
          </a:p>
          <a:p>
            <a:pPr>
              <a:spcAft>
                <a:spcPts val="600"/>
              </a:spcAft>
              <a:defRPr sz="1700">
                <a:solidFill>
                  <a:srgbClr val="F2F2F2"/>
                </a:solidFill>
                <a:latin typeface="Arial"/>
              </a:defRPr>
            </a:pPr>
            <a:r>
              <a:rPr dirty="0"/>
              <a:t>• Simpson’s paradox: aggregate and within-group comparisons can point in different directions.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CDC45E-D45B-24ED-84D2-0B6258CB4184}"/>
              </a:ext>
            </a:extLst>
          </p:cNvPr>
          <p:cNvSpPr txBox="1"/>
          <p:nvPr/>
        </p:nvSpPr>
        <p:spPr>
          <a:xfrm>
            <a:off x="252971" y="4712622"/>
            <a:ext cx="8891029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 dirty="0">
                <a:solidFill>
                  <a:srgbClr val="FDBB30"/>
                </a:solidFill>
                <a:latin typeface="Arial"/>
              </a:rPr>
              <a:t>Key idea: correlation can be a mixture of causal and noncausal association.</a:t>
            </a:r>
          </a:p>
        </p:txBody>
      </p:sp>
    </p:spTree>
    <p:extLst>
      <p:ext uri="{BB962C8B-B14F-4D97-AF65-F5344CB8AC3E}">
        <p14:creationId xmlns:p14="http://schemas.microsoft.com/office/powerpoint/2010/main" val="79895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12028-8EC1-0343-E695-8C72B192A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E8EA90-D8AE-7E22-0A7E-374B61F23345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Formulating a causal question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B56762-1769-4C14-D7A4-42480B5CE863}"/>
              </a:ext>
            </a:extLst>
          </p:cNvPr>
          <p:cNvSpPr/>
          <p:nvPr/>
        </p:nvSpPr>
        <p:spPr>
          <a:xfrm>
            <a:off x="489666" y="1070020"/>
            <a:ext cx="8324850" cy="4762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Five ingredients of a causal question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566A22-C29C-FB0B-22E2-F2432B96D959}"/>
              </a:ext>
            </a:extLst>
          </p:cNvPr>
          <p:cNvSpPr/>
          <p:nvPr/>
        </p:nvSpPr>
        <p:spPr>
          <a:xfrm>
            <a:off x="546816" y="2016170"/>
            <a:ext cx="1552441" cy="2101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Population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Who?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353AB2-B5B5-0BD8-B09E-944755CE998B}"/>
              </a:ext>
            </a:extLst>
          </p:cNvPr>
          <p:cNvSpPr/>
          <p:nvPr/>
        </p:nvSpPr>
        <p:spPr>
          <a:xfrm>
            <a:off x="2244681" y="2016170"/>
            <a:ext cx="1552441" cy="2101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2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Treatment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What intervention?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96A74A-5F6D-C81A-0653-78FC6087BD4E}"/>
              </a:ext>
            </a:extLst>
          </p:cNvPr>
          <p:cNvSpPr/>
          <p:nvPr/>
        </p:nvSpPr>
        <p:spPr>
          <a:xfrm>
            <a:off x="3942546" y="2016170"/>
            <a:ext cx="1552441" cy="2101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Comparator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Compared with what?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015668-CD72-B139-C90F-2EB5CEE10FE6}"/>
              </a:ext>
            </a:extLst>
          </p:cNvPr>
          <p:cNvSpPr/>
          <p:nvPr/>
        </p:nvSpPr>
        <p:spPr>
          <a:xfrm>
            <a:off x="5640411" y="2016170"/>
            <a:ext cx="1552441" cy="2101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4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Outcome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What endpoint?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AEA4CE-72FB-C406-F167-85782641E2FE}"/>
              </a:ext>
            </a:extLst>
          </p:cNvPr>
          <p:cNvSpPr/>
          <p:nvPr/>
        </p:nvSpPr>
        <p:spPr>
          <a:xfrm>
            <a:off x="7262075" y="2016170"/>
            <a:ext cx="1552441" cy="21018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Time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Over what horizon?</a:t>
            </a:r>
          </a:p>
        </p:txBody>
      </p:sp>
    </p:spTree>
    <p:extLst>
      <p:ext uri="{BB962C8B-B14F-4D97-AF65-F5344CB8AC3E}">
        <p14:creationId xmlns:p14="http://schemas.microsoft.com/office/powerpoint/2010/main" val="3532902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876A9-220E-895B-6D62-5EF710B9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F250AD-8484-FA11-3CE0-9CA910E2D265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Potential Outcomes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8B718CA-53E1-7A45-B4C0-34D9F3C51E32}"/>
              </a:ext>
            </a:extLst>
          </p:cNvPr>
          <p:cNvSpPr/>
          <p:nvPr/>
        </p:nvSpPr>
        <p:spPr>
          <a:xfrm>
            <a:off x="835152" y="1030224"/>
            <a:ext cx="3358896" cy="3456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World 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Treatment Received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 = 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Outcome: Y(1)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EFE41AC-9AA2-41EC-B123-E0B6924D7DA9}"/>
              </a:ext>
            </a:extLst>
          </p:cNvPr>
          <p:cNvSpPr/>
          <p:nvPr/>
        </p:nvSpPr>
        <p:spPr>
          <a:xfrm>
            <a:off x="4949954" y="1030224"/>
            <a:ext cx="3358896" cy="34564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World 2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No treatment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 = 0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Outcome: Y(0)</a:t>
            </a:r>
          </a:p>
        </p:txBody>
      </p:sp>
    </p:spTree>
    <p:extLst>
      <p:ext uri="{BB962C8B-B14F-4D97-AF65-F5344CB8AC3E}">
        <p14:creationId xmlns:p14="http://schemas.microsoft.com/office/powerpoint/2010/main" val="398480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C6DAA-45D4-3CE1-F764-80F57510D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66F5-1856-B397-1EA5-F4F83807EB56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Fundamental Problem of Causal Inference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1EE011DE-65D7-D920-1DCA-20D3BE65DC4A}"/>
              </a:ext>
            </a:extLst>
          </p:cNvPr>
          <p:cNvSpPr/>
          <p:nvPr/>
        </p:nvSpPr>
        <p:spPr>
          <a:xfrm>
            <a:off x="228600" y="1177290"/>
            <a:ext cx="3108960" cy="2286000"/>
          </a:xfrm>
          <a:prstGeom prst="roundRect">
            <a:avLst/>
          </a:prstGeom>
          <a:solidFill>
            <a:srgbClr val="5DAAE5"/>
          </a:solidFill>
          <a:ln w="12700">
            <a:solidFill>
              <a:srgbClr val="5DA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C210C9-3CC7-BC65-9A7A-95307DE410FF}"/>
                  </a:ext>
                </a:extLst>
              </p:cNvPr>
              <p:cNvSpPr txBox="1"/>
              <p:nvPr/>
            </p:nvSpPr>
            <p:spPr>
              <a:xfrm>
                <a:off x="548640" y="1479042"/>
                <a:ext cx="2468880" cy="353943"/>
              </a:xfrm>
              <a:prstGeom prst="rect">
                <a:avLst/>
              </a:prstGeom>
              <a:noFill/>
            </p:spPr>
            <p:txBody>
              <a:bodyPr wrap="square" lIns="45720" rIns="45720" anchor="t">
                <a:spAutoFit/>
              </a:bodyPr>
              <a:lstStyle/>
              <a:p>
                <a:pPr algn="ctr"/>
                <a:r>
                  <a:rPr lang="en-US" sz="1700" b="1" i="0" dirty="0">
                    <a:solidFill>
                      <a:srgbClr val="151515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1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700" b="1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700" b="1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700" b="1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sz="1700" b="1" i="0" dirty="0">
                  <a:solidFill>
                    <a:srgbClr val="15151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C210C9-3CC7-BC65-9A7A-95307DE41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479042"/>
                <a:ext cx="2468880" cy="353943"/>
              </a:xfrm>
              <a:prstGeom prst="rect">
                <a:avLst/>
              </a:prstGeom>
              <a:blipFill>
                <a:blip r:embed="rId2"/>
                <a:stretch>
                  <a:fillRect t="-689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917EBB-E8A9-9405-F4FA-58186517878F}"/>
                  </a:ext>
                </a:extLst>
              </p:cNvPr>
              <p:cNvSpPr txBox="1"/>
              <p:nvPr/>
            </p:nvSpPr>
            <p:spPr>
              <a:xfrm>
                <a:off x="548640" y="2073402"/>
                <a:ext cx="2468880" cy="415498"/>
              </a:xfrm>
              <a:prstGeom prst="rect">
                <a:avLst/>
              </a:prstGeom>
              <a:noFill/>
            </p:spPr>
            <p:txBody>
              <a:bodyPr wrap="square" lIns="45720" rIns="45720" anchor="t">
                <a:spAutoFit/>
              </a:bodyPr>
              <a:lstStyle/>
              <a:p>
                <a:pPr algn="ctr"/>
                <a:r>
                  <a:rPr lang="en-US" sz="2100" b="0" i="0" dirty="0">
                    <a:solidFill>
                      <a:srgbClr val="151515"/>
                    </a:solidFill>
                    <a:latin typeface="Cambria Math"/>
                  </a:rPr>
                  <a:t>Observed: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100" b="0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100" b="0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sz="2100" b="0" i="0" dirty="0">
                  <a:solidFill>
                    <a:srgbClr val="151515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917EBB-E8A9-9405-F4FA-581865178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2073402"/>
                <a:ext cx="2468880" cy="415498"/>
              </a:xfrm>
              <a:prstGeom prst="rect">
                <a:avLst/>
              </a:prstGeom>
              <a:blipFill>
                <a:blip r:embed="rId3"/>
                <a:stretch>
                  <a:fillRect t="-8824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3E9115E-9308-9053-1B68-7F48FBA1A3B8}"/>
                  </a:ext>
                </a:extLst>
              </p:cNvPr>
              <p:cNvSpPr txBox="1"/>
              <p:nvPr/>
            </p:nvSpPr>
            <p:spPr>
              <a:xfrm>
                <a:off x="548640" y="2622042"/>
                <a:ext cx="2468880" cy="415498"/>
              </a:xfrm>
              <a:prstGeom prst="rect">
                <a:avLst/>
              </a:prstGeom>
              <a:noFill/>
            </p:spPr>
            <p:txBody>
              <a:bodyPr wrap="square" lIns="45720" rIns="45720" anchor="t">
                <a:spAutoFit/>
              </a:bodyPr>
              <a:lstStyle/>
              <a:p>
                <a:pPr algn="ctr"/>
                <a:r>
                  <a:rPr lang="en-US" sz="2100" b="0" i="0" dirty="0">
                    <a:solidFill>
                      <a:srgbClr val="151515"/>
                    </a:solidFill>
                    <a:latin typeface="Cambria Math"/>
                  </a:rPr>
                  <a:t>Missing: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100" b="0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100" b="0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sz="2100" b="0" i="0" dirty="0">
                  <a:solidFill>
                    <a:srgbClr val="151515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3E9115E-9308-9053-1B68-7F48FBA1A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2622042"/>
                <a:ext cx="2468880" cy="415498"/>
              </a:xfrm>
              <a:prstGeom prst="rect">
                <a:avLst/>
              </a:prstGeom>
              <a:blipFill>
                <a:blip r:embed="rId4"/>
                <a:stretch>
                  <a:fillRect t="-8824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7C6C0FAD-3F1D-7932-305B-773579D96E16}"/>
              </a:ext>
            </a:extLst>
          </p:cNvPr>
          <p:cNvSpPr/>
          <p:nvPr/>
        </p:nvSpPr>
        <p:spPr>
          <a:xfrm>
            <a:off x="5806440" y="1177290"/>
            <a:ext cx="3108960" cy="2286000"/>
          </a:xfrm>
          <a:prstGeom prst="roundRect">
            <a:avLst/>
          </a:prstGeom>
          <a:solidFill>
            <a:srgbClr val="5DAAE5"/>
          </a:solidFill>
          <a:ln w="12700">
            <a:solidFill>
              <a:srgbClr val="5DA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53F346-3E93-C933-9F01-D2E9E9A84A1C}"/>
                  </a:ext>
                </a:extLst>
              </p:cNvPr>
              <p:cNvSpPr txBox="1"/>
              <p:nvPr/>
            </p:nvSpPr>
            <p:spPr>
              <a:xfrm>
                <a:off x="6126480" y="1479042"/>
                <a:ext cx="2468880" cy="353943"/>
              </a:xfrm>
              <a:prstGeom prst="rect">
                <a:avLst/>
              </a:prstGeom>
              <a:noFill/>
            </p:spPr>
            <p:txBody>
              <a:bodyPr wrap="square" lIns="45720" rIns="45720" anchor="t">
                <a:spAutoFit/>
              </a:bodyPr>
              <a:lstStyle/>
              <a:p>
                <a:pPr algn="ctr"/>
                <a:r>
                  <a:rPr lang="en-US" sz="1700" b="1" i="0" dirty="0">
                    <a:solidFill>
                      <a:srgbClr val="151515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1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700" b="1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700" b="1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700" b="1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sz="1700" b="1" i="0" dirty="0">
                  <a:solidFill>
                    <a:srgbClr val="15151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53F346-3E93-C933-9F01-D2E9E9A84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1479042"/>
                <a:ext cx="2468880" cy="353943"/>
              </a:xfrm>
              <a:prstGeom prst="rect">
                <a:avLst/>
              </a:prstGeom>
              <a:blipFill>
                <a:blip r:embed="rId5"/>
                <a:stretch>
                  <a:fillRect t="-6897"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24E1B38-F1F4-AE86-FE43-F5ABF4F86D9F}"/>
                  </a:ext>
                </a:extLst>
              </p:cNvPr>
              <p:cNvSpPr txBox="1"/>
              <p:nvPr/>
            </p:nvSpPr>
            <p:spPr>
              <a:xfrm>
                <a:off x="6126480" y="2073402"/>
                <a:ext cx="2468880" cy="415498"/>
              </a:xfrm>
              <a:prstGeom prst="rect">
                <a:avLst/>
              </a:prstGeom>
              <a:noFill/>
            </p:spPr>
            <p:txBody>
              <a:bodyPr wrap="square" lIns="45720" rIns="45720" anchor="t">
                <a:spAutoFit/>
              </a:bodyPr>
              <a:lstStyle/>
              <a:p>
                <a:pPr algn="ctr"/>
                <a:r>
                  <a:rPr lang="en-US" sz="2100" b="0" i="0" dirty="0">
                    <a:solidFill>
                      <a:srgbClr val="151515"/>
                    </a:solidFill>
                    <a:latin typeface="Cambria Math"/>
                  </a:rPr>
                  <a:t>Observed: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100" b="0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100" b="0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sz="2100" b="0" i="0" dirty="0">
                  <a:solidFill>
                    <a:srgbClr val="151515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24E1B38-F1F4-AE86-FE43-F5ABF4F86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2073402"/>
                <a:ext cx="2468880" cy="415498"/>
              </a:xfrm>
              <a:prstGeom prst="rect">
                <a:avLst/>
              </a:prstGeom>
              <a:blipFill>
                <a:blip r:embed="rId6"/>
                <a:stretch>
                  <a:fillRect t="-8824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ABB3A5C-F663-3280-B4C6-D0161FA1873D}"/>
                  </a:ext>
                </a:extLst>
              </p:cNvPr>
              <p:cNvSpPr txBox="1"/>
              <p:nvPr/>
            </p:nvSpPr>
            <p:spPr>
              <a:xfrm>
                <a:off x="6126480" y="2622042"/>
                <a:ext cx="2468880" cy="415498"/>
              </a:xfrm>
              <a:prstGeom prst="rect">
                <a:avLst/>
              </a:prstGeom>
              <a:noFill/>
            </p:spPr>
            <p:txBody>
              <a:bodyPr wrap="square" lIns="45720" rIns="45720" anchor="t">
                <a:spAutoFit/>
              </a:bodyPr>
              <a:lstStyle/>
              <a:p>
                <a:pPr algn="ctr"/>
                <a:r>
                  <a:rPr lang="en-US" sz="2100" b="0" i="0" dirty="0">
                    <a:solidFill>
                      <a:srgbClr val="151515"/>
                    </a:solidFill>
                    <a:latin typeface="Cambria Math"/>
                  </a:rPr>
                  <a:t>Missing: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100" b="0" i="1" dirty="0" smtClean="0">
                            <a:solidFill>
                              <a:srgbClr val="15151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100" b="0" i="1" dirty="0" smtClean="0">
                        <a:solidFill>
                          <a:srgbClr val="151515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sz="2100" b="0" i="0" dirty="0">
                  <a:solidFill>
                    <a:srgbClr val="151515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ABB3A5C-F663-3280-B4C6-D0161FA18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2622042"/>
                <a:ext cx="2468880" cy="415498"/>
              </a:xfrm>
              <a:prstGeom prst="rect">
                <a:avLst/>
              </a:prstGeom>
              <a:blipFill>
                <a:blip r:embed="rId7"/>
                <a:stretch>
                  <a:fillRect t="-8824" b="-29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C2657EC1-A3C6-8160-72C3-043A0DCBBED1}"/>
              </a:ext>
            </a:extLst>
          </p:cNvPr>
          <p:cNvSpPr txBox="1"/>
          <p:nvPr/>
        </p:nvSpPr>
        <p:spPr>
          <a:xfrm>
            <a:off x="3246120" y="1536192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 dirty="0">
                <a:solidFill>
                  <a:srgbClr val="F2F2F2"/>
                </a:solidFill>
                <a:latin typeface="Arial"/>
              </a:rPr>
              <a:t>FACTUAL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8F228F-E75A-7788-2E9F-01734A6939A0}"/>
              </a:ext>
            </a:extLst>
          </p:cNvPr>
          <p:cNvSpPr txBox="1"/>
          <p:nvPr/>
        </p:nvSpPr>
        <p:spPr>
          <a:xfrm>
            <a:off x="3749040" y="1956816"/>
            <a:ext cx="1828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400" b="0" i="0" dirty="0">
                <a:solidFill>
                  <a:srgbClr val="B9B9B9"/>
                </a:solidFill>
                <a:latin typeface="Arial"/>
              </a:rPr>
              <a:t>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E4A88B-B86A-B668-F066-DE41AE5D8EA4}"/>
              </a:ext>
            </a:extLst>
          </p:cNvPr>
          <p:cNvSpPr txBox="1"/>
          <p:nvPr/>
        </p:nvSpPr>
        <p:spPr>
          <a:xfrm>
            <a:off x="2880360" y="2660904"/>
            <a:ext cx="3566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 dirty="0">
                <a:solidFill>
                  <a:srgbClr val="F2F2F2"/>
                </a:solidFill>
                <a:latin typeface="Arial"/>
              </a:rPr>
              <a:t>COUNTERFACTUAL</a:t>
            </a:r>
          </a:p>
        </p:txBody>
      </p:sp>
      <p:sp>
        <p:nvSpPr>
          <p:cNvPr id="38" name="Rounded Rectangle 15">
            <a:extLst>
              <a:ext uri="{FF2B5EF4-FFF2-40B4-BE49-F238E27FC236}">
                <a16:creationId xmlns:a16="http://schemas.microsoft.com/office/drawing/2014/main" id="{AFB5CD4C-D774-8333-8DDD-2D6A2751A39C}"/>
              </a:ext>
            </a:extLst>
          </p:cNvPr>
          <p:cNvSpPr/>
          <p:nvPr/>
        </p:nvSpPr>
        <p:spPr>
          <a:xfrm>
            <a:off x="223520" y="3899362"/>
            <a:ext cx="8505419" cy="685967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F98B6E-F053-DD28-75C8-237F583CE534}"/>
              </a:ext>
            </a:extLst>
          </p:cNvPr>
          <p:cNvSpPr txBox="1"/>
          <p:nvPr/>
        </p:nvSpPr>
        <p:spPr>
          <a:xfrm>
            <a:off x="548640" y="3989070"/>
            <a:ext cx="7946377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 i="0" dirty="0">
                <a:solidFill>
                  <a:srgbClr val="F2F2F2"/>
                </a:solidFill>
                <a:latin typeface="Arial"/>
              </a:rPr>
              <a:t>Causal inference is therefore a structured missing-data problem.</a:t>
            </a:r>
          </a:p>
        </p:txBody>
      </p:sp>
    </p:spTree>
    <p:extLst>
      <p:ext uri="{BB962C8B-B14F-4D97-AF65-F5344CB8AC3E}">
        <p14:creationId xmlns:p14="http://schemas.microsoft.com/office/powerpoint/2010/main" val="410514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5BF4D-BF29-4BDA-5C2B-6CC512081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A80D83-7D10-A55B-DBBF-DD0489D3B3C0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What causal effects we are trying to estimate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E1EBD79-E5DC-B821-5DEF-40C7248707F8}"/>
              </a:ext>
            </a:extLst>
          </p:cNvPr>
          <p:cNvSpPr/>
          <p:nvPr/>
        </p:nvSpPr>
        <p:spPr>
          <a:xfrm>
            <a:off x="362887" y="1197308"/>
            <a:ext cx="8477915" cy="875030"/>
          </a:xfrm>
          <a:prstGeom prst="roundRect">
            <a:avLst/>
          </a:prstGeom>
          <a:solidFill>
            <a:srgbClr val="FDBB30"/>
          </a:solidFill>
          <a:ln w="12700"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688E2-0117-EB70-FE39-DC6912C5D1CF}"/>
              </a:ext>
            </a:extLst>
          </p:cNvPr>
          <p:cNvSpPr txBox="1"/>
          <p:nvPr/>
        </p:nvSpPr>
        <p:spPr>
          <a:xfrm>
            <a:off x="464328" y="1444704"/>
            <a:ext cx="1024415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 dirty="0">
                <a:solidFill>
                  <a:srgbClr val="151515"/>
                </a:solidFill>
                <a:latin typeface="Arial"/>
              </a:rPr>
              <a:t>ATE</a:t>
            </a:r>
            <a:r>
              <a:rPr lang="en-US" sz="1800" b="1" i="0" dirty="0">
                <a:solidFill>
                  <a:srgbClr val="151515"/>
                </a:solidFill>
                <a:latin typeface="Arial"/>
              </a:rPr>
              <a:t>:</a:t>
            </a:r>
            <a:endParaRPr sz="1800" b="1" i="0" dirty="0">
              <a:solidFill>
                <a:srgbClr val="151515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995C2-4156-2BE8-D3BC-278D1BCCAFB9}"/>
                  </a:ext>
                </a:extLst>
              </p:cNvPr>
              <p:cNvSpPr txBox="1"/>
              <p:nvPr/>
            </p:nvSpPr>
            <p:spPr>
              <a:xfrm>
                <a:off x="1590184" y="1374946"/>
                <a:ext cx="2545622" cy="507831"/>
              </a:xfrm>
              <a:prstGeom prst="rect">
                <a:avLst/>
              </a:prstGeom>
              <a:noFill/>
            </p:spPr>
            <p:txBody>
              <a:bodyPr wrap="square" lIns="45720" rIns="4572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7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7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7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7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(1) − </m:t>
                      </m:r>
                      <m:r>
                        <a:rPr lang="en-US" sz="27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7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(0)]</m:t>
                      </m:r>
                    </m:oMath>
                  </m:oMathPara>
                </a14:m>
                <a:endParaRPr sz="2700" b="0" i="0" dirty="0">
                  <a:solidFill>
                    <a:srgbClr val="151515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1995C2-4156-2BE8-D3BC-278D1BCCA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184" y="1374946"/>
                <a:ext cx="2545622" cy="5078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5A97645-7A36-085B-009E-96CD331662E5}"/>
              </a:ext>
            </a:extLst>
          </p:cNvPr>
          <p:cNvSpPr txBox="1"/>
          <p:nvPr/>
        </p:nvSpPr>
        <p:spPr>
          <a:xfrm>
            <a:off x="4351163" y="1444196"/>
            <a:ext cx="4274282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 dirty="0">
                <a:solidFill>
                  <a:srgbClr val="151515"/>
                </a:solidFill>
                <a:latin typeface="Arial"/>
              </a:rPr>
              <a:t>Average effect in the target population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796E81C3-28FC-CB37-A195-9E4A66A43AB0}"/>
              </a:ext>
            </a:extLst>
          </p:cNvPr>
          <p:cNvSpPr/>
          <p:nvPr/>
        </p:nvSpPr>
        <p:spPr>
          <a:xfrm>
            <a:off x="88567" y="2395304"/>
            <a:ext cx="2864674" cy="2152649"/>
          </a:xfrm>
          <a:prstGeom prst="roundRect">
            <a:avLst/>
          </a:prstGeom>
          <a:solidFill>
            <a:srgbClr val="5DAAE5"/>
          </a:solidFill>
          <a:ln w="12700">
            <a:solidFill>
              <a:srgbClr val="5DA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971EC5-DB0E-17EC-3A12-B277142A3E2E}"/>
              </a:ext>
            </a:extLst>
          </p:cNvPr>
          <p:cNvSpPr txBox="1"/>
          <p:nvPr/>
        </p:nvSpPr>
        <p:spPr>
          <a:xfrm>
            <a:off x="408607" y="2732756"/>
            <a:ext cx="2322709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51515"/>
                </a:solidFill>
                <a:latin typeface="Arial"/>
              </a:rPr>
              <a:t>ATT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C50E99-04FF-39C7-86A9-CCE90D1766C2}"/>
                  </a:ext>
                </a:extLst>
              </p:cNvPr>
              <p:cNvSpPr txBox="1"/>
              <p:nvPr/>
            </p:nvSpPr>
            <p:spPr>
              <a:xfrm>
                <a:off x="244916" y="3247179"/>
                <a:ext cx="2636074" cy="384721"/>
              </a:xfrm>
              <a:prstGeom prst="rect">
                <a:avLst/>
              </a:prstGeom>
              <a:noFill/>
            </p:spPr>
            <p:txBody>
              <a:bodyPr wrap="square" lIns="45720" rIns="4572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(1) − 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(0) | 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=1]</m:t>
                      </m:r>
                    </m:oMath>
                  </m:oMathPara>
                </a14:m>
                <a:endParaRPr sz="1900" b="0" i="0" dirty="0">
                  <a:solidFill>
                    <a:srgbClr val="151515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C50E99-04FF-39C7-86A9-CCE90D176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16" y="3247179"/>
                <a:ext cx="2636074" cy="384721"/>
              </a:xfrm>
              <a:prstGeom prst="rect">
                <a:avLst/>
              </a:prstGeom>
              <a:blipFill>
                <a:blip r:embed="rId3"/>
                <a:stretch>
                  <a:fillRect l="-924" b="-17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F9FCB4A-A693-5066-A733-BEADE0692AE4}"/>
              </a:ext>
            </a:extLst>
          </p:cNvPr>
          <p:cNvSpPr txBox="1"/>
          <p:nvPr/>
        </p:nvSpPr>
        <p:spPr>
          <a:xfrm>
            <a:off x="362887" y="3954866"/>
            <a:ext cx="2400133" cy="31547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50" b="0" i="0">
                <a:solidFill>
                  <a:srgbClr val="151515"/>
                </a:solidFill>
                <a:latin typeface="Arial"/>
              </a:rPr>
              <a:t>Effect among those treated</a:t>
            </a:r>
          </a:p>
        </p:txBody>
      </p:sp>
      <p:sp>
        <p:nvSpPr>
          <p:cNvPr id="27" name="Rounded Rectangle 7">
            <a:extLst>
              <a:ext uri="{FF2B5EF4-FFF2-40B4-BE49-F238E27FC236}">
                <a16:creationId xmlns:a16="http://schemas.microsoft.com/office/drawing/2014/main" id="{13AF022D-820C-8330-0DBD-B9E0F76D415B}"/>
              </a:ext>
            </a:extLst>
          </p:cNvPr>
          <p:cNvSpPr/>
          <p:nvPr/>
        </p:nvSpPr>
        <p:spPr>
          <a:xfrm>
            <a:off x="3201030" y="2395304"/>
            <a:ext cx="2864674" cy="2152649"/>
          </a:xfrm>
          <a:prstGeom prst="roundRect">
            <a:avLst/>
          </a:prstGeom>
          <a:solidFill>
            <a:srgbClr val="5DAAE5"/>
          </a:solidFill>
          <a:ln w="12700">
            <a:solidFill>
              <a:srgbClr val="5DA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B426B2-6087-047D-5262-7EB1FADB557B}"/>
              </a:ext>
            </a:extLst>
          </p:cNvPr>
          <p:cNvSpPr txBox="1"/>
          <p:nvPr/>
        </p:nvSpPr>
        <p:spPr>
          <a:xfrm>
            <a:off x="3521070" y="2732756"/>
            <a:ext cx="2322709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 dirty="0">
                <a:solidFill>
                  <a:srgbClr val="151515"/>
                </a:solidFill>
                <a:latin typeface="Arial"/>
              </a:rPr>
              <a:t>AT</a:t>
            </a:r>
            <a:r>
              <a:rPr lang="en-US" sz="1800" b="1" i="0" dirty="0">
                <a:solidFill>
                  <a:srgbClr val="151515"/>
                </a:solidFill>
                <a:latin typeface="Arial"/>
              </a:rPr>
              <a:t>C</a:t>
            </a:r>
            <a:endParaRPr sz="1800" b="1" i="0" dirty="0">
              <a:solidFill>
                <a:srgbClr val="151515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92C343-9D9E-50F8-A6DF-7EB48740557C}"/>
                  </a:ext>
                </a:extLst>
              </p:cNvPr>
              <p:cNvSpPr txBox="1"/>
              <p:nvPr/>
            </p:nvSpPr>
            <p:spPr>
              <a:xfrm>
                <a:off x="3357379" y="3247179"/>
                <a:ext cx="2636074" cy="384721"/>
              </a:xfrm>
              <a:prstGeom prst="rect">
                <a:avLst/>
              </a:prstGeom>
              <a:noFill/>
            </p:spPr>
            <p:txBody>
              <a:bodyPr wrap="square" lIns="45720" rIns="4572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(1) − 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(0) | 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=0]</m:t>
                      </m:r>
                    </m:oMath>
                  </m:oMathPara>
                </a14:m>
                <a:endParaRPr sz="1900" b="0" i="0" dirty="0">
                  <a:solidFill>
                    <a:srgbClr val="151515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92C343-9D9E-50F8-A6DF-7EB487405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379" y="3247179"/>
                <a:ext cx="2636074" cy="384721"/>
              </a:xfrm>
              <a:prstGeom prst="rect">
                <a:avLst/>
              </a:prstGeom>
              <a:blipFill>
                <a:blip r:embed="rId4"/>
                <a:stretch>
                  <a:fillRect l="-1157" r="-231" b="-17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DB741C9C-974D-FAAA-D596-6F987DC4311D}"/>
              </a:ext>
            </a:extLst>
          </p:cNvPr>
          <p:cNvSpPr txBox="1"/>
          <p:nvPr/>
        </p:nvSpPr>
        <p:spPr>
          <a:xfrm>
            <a:off x="3475350" y="3843297"/>
            <a:ext cx="2400133" cy="53860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50" b="0" i="0" dirty="0">
                <a:solidFill>
                  <a:srgbClr val="151515"/>
                </a:solidFill>
                <a:latin typeface="Arial"/>
              </a:rPr>
              <a:t>Effect among those </a:t>
            </a:r>
            <a:r>
              <a:rPr lang="en-US" sz="1450" b="0" i="0" dirty="0">
                <a:solidFill>
                  <a:srgbClr val="151515"/>
                </a:solidFill>
                <a:latin typeface="Arial"/>
              </a:rPr>
              <a:t>un</a:t>
            </a:r>
            <a:r>
              <a:rPr sz="1450" b="0" i="0" dirty="0">
                <a:solidFill>
                  <a:srgbClr val="151515"/>
                </a:solidFill>
                <a:latin typeface="Arial"/>
              </a:rPr>
              <a:t>treated</a:t>
            </a:r>
          </a:p>
        </p:txBody>
      </p:sp>
      <p:sp>
        <p:nvSpPr>
          <p:cNvPr id="41" name="Rounded Rectangle 7">
            <a:extLst>
              <a:ext uri="{FF2B5EF4-FFF2-40B4-BE49-F238E27FC236}">
                <a16:creationId xmlns:a16="http://schemas.microsoft.com/office/drawing/2014/main" id="{CF3F1B95-4AAC-73D7-F59E-DF18C58E1B3C}"/>
              </a:ext>
            </a:extLst>
          </p:cNvPr>
          <p:cNvSpPr/>
          <p:nvPr/>
        </p:nvSpPr>
        <p:spPr>
          <a:xfrm>
            <a:off x="6163819" y="2395304"/>
            <a:ext cx="2864674" cy="2152649"/>
          </a:xfrm>
          <a:prstGeom prst="roundRect">
            <a:avLst/>
          </a:prstGeom>
          <a:solidFill>
            <a:srgbClr val="5DAAE5"/>
          </a:solidFill>
          <a:ln w="12700">
            <a:solidFill>
              <a:srgbClr val="5DA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4E56FF-9799-14BB-BD13-8298CDBFC1F8}"/>
              </a:ext>
            </a:extLst>
          </p:cNvPr>
          <p:cNvSpPr txBox="1"/>
          <p:nvPr/>
        </p:nvSpPr>
        <p:spPr>
          <a:xfrm>
            <a:off x="6483859" y="2732756"/>
            <a:ext cx="2322709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lang="en-US" sz="1800" b="1" i="0" dirty="0">
                <a:solidFill>
                  <a:srgbClr val="151515"/>
                </a:solidFill>
                <a:latin typeface="Arial"/>
              </a:rPr>
              <a:t>CATE(x)</a:t>
            </a:r>
            <a:endParaRPr sz="1800" b="1" i="0" dirty="0">
              <a:solidFill>
                <a:srgbClr val="151515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6461CAF-357A-57F1-E5DE-64A7FD203189}"/>
                  </a:ext>
                </a:extLst>
              </p:cNvPr>
              <p:cNvSpPr txBox="1"/>
              <p:nvPr/>
            </p:nvSpPr>
            <p:spPr>
              <a:xfrm>
                <a:off x="6320168" y="3247179"/>
                <a:ext cx="2636074" cy="384721"/>
              </a:xfrm>
              <a:prstGeom prst="rect">
                <a:avLst/>
              </a:prstGeom>
              <a:noFill/>
            </p:spPr>
            <p:txBody>
              <a:bodyPr wrap="square" lIns="45720" rIns="4572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|"/>
                          <m:ctrlPr>
                            <a:rPr lang="en-US" sz="1900" b="0" i="1" dirty="0" smtClean="0">
                              <a:solidFill>
                                <a:srgbClr val="15151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solidFill>
                                <a:srgbClr val="151515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1900" b="0" i="1" dirty="0" smtClean="0">
                                  <a:solidFill>
                                    <a:srgbClr val="1515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b="0" i="1" dirty="0" smtClean="0">
                                  <a:solidFill>
                                    <a:srgbClr val="151515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1900" b="0" i="1" dirty="0" smtClean="0">
                              <a:solidFill>
                                <a:srgbClr val="151515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en-US" sz="1900" b="0" i="1" dirty="0" smtClean="0">
                              <a:solidFill>
                                <a:srgbClr val="151515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1900" b="0" i="1" dirty="0" smtClean="0">
                                  <a:solidFill>
                                    <a:srgbClr val="15151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b="0" i="1" dirty="0" smtClean="0">
                                  <a:solidFill>
                                    <a:srgbClr val="151515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900" b="0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sz="1900" b="0" i="0" dirty="0">
                  <a:solidFill>
                    <a:srgbClr val="151515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6461CAF-357A-57F1-E5DE-64A7FD203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168" y="3247179"/>
                <a:ext cx="2636074" cy="384721"/>
              </a:xfrm>
              <a:prstGeom prst="rect">
                <a:avLst/>
              </a:prstGeom>
              <a:blipFill>
                <a:blip r:embed="rId5"/>
                <a:stretch>
                  <a:fillRect b="-17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C9B7A0CE-3F87-EF45-6FA2-5FF70B55D2AF}"/>
              </a:ext>
            </a:extLst>
          </p:cNvPr>
          <p:cNvSpPr txBox="1"/>
          <p:nvPr/>
        </p:nvSpPr>
        <p:spPr>
          <a:xfrm>
            <a:off x="6438139" y="3843297"/>
            <a:ext cx="2400133" cy="53860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50" b="0" i="0" dirty="0">
                <a:solidFill>
                  <a:srgbClr val="151515"/>
                </a:solidFill>
                <a:latin typeface="Arial"/>
              </a:rPr>
              <a:t>Effect </a:t>
            </a:r>
            <a:r>
              <a:rPr lang="en-US" sz="1450" b="0" i="0" dirty="0">
                <a:solidFill>
                  <a:srgbClr val="151515"/>
                </a:solidFill>
                <a:latin typeface="Arial"/>
              </a:rPr>
              <a:t>in a covariate-defined subgroup</a:t>
            </a:r>
            <a:endParaRPr sz="1450" b="0" i="0" dirty="0">
              <a:solidFill>
                <a:srgbClr val="151515"/>
              </a:solidFill>
              <a:latin typeface="Arial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041013-0499-6E5D-2782-C0C692B33C1A}"/>
              </a:ext>
            </a:extLst>
          </p:cNvPr>
          <p:cNvSpPr txBox="1"/>
          <p:nvPr/>
        </p:nvSpPr>
        <p:spPr>
          <a:xfrm>
            <a:off x="88567" y="4737514"/>
            <a:ext cx="8966865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i="0" dirty="0">
                <a:solidFill>
                  <a:srgbClr val="FDBB30"/>
                </a:solidFill>
                <a:latin typeface="Arial"/>
              </a:rPr>
              <a:t>“Does the treatment work?” is incomplete until we specify for whom and which estimand.</a:t>
            </a:r>
          </a:p>
        </p:txBody>
      </p:sp>
    </p:spTree>
    <p:extLst>
      <p:ext uri="{BB962C8B-B14F-4D97-AF65-F5344CB8AC3E}">
        <p14:creationId xmlns:p14="http://schemas.microsoft.com/office/powerpoint/2010/main" val="1068863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034CC-D57E-1DBC-7446-700EB3FC1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4ECE06-AC64-A6EA-A048-0B89D36A563B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Causal Assumptions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2" name="Rounded Rectangle 4">
            <a:extLst>
              <a:ext uri="{FF2B5EF4-FFF2-40B4-BE49-F238E27FC236}">
                <a16:creationId xmlns:a16="http://schemas.microsoft.com/office/drawing/2014/main" id="{38A0FBB7-43B9-673F-FF48-311E5C829B6C}"/>
              </a:ext>
            </a:extLst>
          </p:cNvPr>
          <p:cNvSpPr/>
          <p:nvPr/>
        </p:nvSpPr>
        <p:spPr>
          <a:xfrm>
            <a:off x="177135" y="998218"/>
            <a:ext cx="4138071" cy="1357632"/>
          </a:xfrm>
          <a:prstGeom prst="roundRect">
            <a:avLst/>
          </a:prstGeom>
          <a:solidFill>
            <a:srgbClr val="5DAAE5"/>
          </a:solidFill>
          <a:ln w="12700">
            <a:solidFill>
              <a:srgbClr val="5DA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08C323-2175-1F3B-68DF-169753A54405}"/>
              </a:ext>
            </a:extLst>
          </p:cNvPr>
          <p:cNvSpPr txBox="1"/>
          <p:nvPr/>
        </p:nvSpPr>
        <p:spPr>
          <a:xfrm>
            <a:off x="405735" y="1208278"/>
            <a:ext cx="3780205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 dirty="0">
                <a:solidFill>
                  <a:srgbClr val="151515"/>
                </a:solidFill>
                <a:latin typeface="Arial"/>
              </a:rPr>
              <a:t>Consistency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6B3241-FF38-D74F-0AE0-91F8E147B1D0}"/>
              </a:ext>
            </a:extLst>
          </p:cNvPr>
          <p:cNvSpPr txBox="1"/>
          <p:nvPr/>
        </p:nvSpPr>
        <p:spPr>
          <a:xfrm>
            <a:off x="469743" y="1647189"/>
            <a:ext cx="3670102" cy="55635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50" b="0" i="0" dirty="0">
                <a:solidFill>
                  <a:srgbClr val="151515"/>
                </a:solidFill>
                <a:latin typeface="Arial"/>
              </a:rPr>
              <a:t>Observed Y equals the potential outcome under the treatment actually received.</a:t>
            </a:r>
          </a:p>
        </p:txBody>
      </p:sp>
      <p:sp>
        <p:nvSpPr>
          <p:cNvPr id="40" name="Rounded Rectangle 7">
            <a:extLst>
              <a:ext uri="{FF2B5EF4-FFF2-40B4-BE49-F238E27FC236}">
                <a16:creationId xmlns:a16="http://schemas.microsoft.com/office/drawing/2014/main" id="{9B0D3994-4AC1-1ED2-270D-E47B938748D6}"/>
              </a:ext>
            </a:extLst>
          </p:cNvPr>
          <p:cNvSpPr/>
          <p:nvPr/>
        </p:nvSpPr>
        <p:spPr>
          <a:xfrm>
            <a:off x="4616958" y="998218"/>
            <a:ext cx="4142232" cy="1357631"/>
          </a:xfrm>
          <a:prstGeom prst="roundRect">
            <a:avLst/>
          </a:prstGeom>
          <a:solidFill>
            <a:srgbClr val="5DAAE5"/>
          </a:solidFill>
          <a:ln w="12700">
            <a:solidFill>
              <a:srgbClr val="5DA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79D5A5-4639-770E-4DD5-1866AFE54B8C}"/>
              </a:ext>
            </a:extLst>
          </p:cNvPr>
          <p:cNvSpPr txBox="1"/>
          <p:nvPr/>
        </p:nvSpPr>
        <p:spPr>
          <a:xfrm>
            <a:off x="4773305" y="1199387"/>
            <a:ext cx="3964959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151515"/>
                </a:solidFill>
                <a:latin typeface="Arial"/>
              </a:rPr>
              <a:t>Exchangeability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F101A1-9D54-550A-2314-2F0CC86AC72D}"/>
              </a:ext>
            </a:extLst>
          </p:cNvPr>
          <p:cNvSpPr txBox="1"/>
          <p:nvPr/>
        </p:nvSpPr>
        <p:spPr>
          <a:xfrm>
            <a:off x="4815638" y="1638297"/>
            <a:ext cx="3849475" cy="56002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50" b="0" i="0">
                <a:solidFill>
                  <a:srgbClr val="151515"/>
                </a:solidFill>
                <a:latin typeface="Arial"/>
              </a:rPr>
              <a:t>After conditioning on X, treatment is independent of the potential outcomes.</a:t>
            </a:r>
          </a:p>
        </p:txBody>
      </p:sp>
      <p:sp>
        <p:nvSpPr>
          <p:cNvPr id="51" name="Rounded Rectangle 10">
            <a:extLst>
              <a:ext uri="{FF2B5EF4-FFF2-40B4-BE49-F238E27FC236}">
                <a16:creationId xmlns:a16="http://schemas.microsoft.com/office/drawing/2014/main" id="{5BE53D25-1564-555C-EA33-4285A54DB14B}"/>
              </a:ext>
            </a:extLst>
          </p:cNvPr>
          <p:cNvSpPr/>
          <p:nvPr/>
        </p:nvSpPr>
        <p:spPr>
          <a:xfrm>
            <a:off x="140325" y="2807266"/>
            <a:ext cx="4142232" cy="1362456"/>
          </a:xfrm>
          <a:prstGeom prst="roundRect">
            <a:avLst/>
          </a:prstGeom>
          <a:solidFill>
            <a:srgbClr val="5DAAE5"/>
          </a:solidFill>
          <a:ln w="12700">
            <a:solidFill>
              <a:srgbClr val="5DA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2C3AF12-B900-0BA4-4609-90A31319AE03}"/>
              </a:ext>
            </a:extLst>
          </p:cNvPr>
          <p:cNvSpPr txBox="1"/>
          <p:nvPr/>
        </p:nvSpPr>
        <p:spPr>
          <a:xfrm>
            <a:off x="368925" y="2966428"/>
            <a:ext cx="389536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151515"/>
                </a:solidFill>
                <a:latin typeface="Arial"/>
              </a:rPr>
              <a:t>Positivity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B78B13-0703-C680-A3CA-C860B16CBAB8}"/>
              </a:ext>
            </a:extLst>
          </p:cNvPr>
          <p:cNvSpPr txBox="1"/>
          <p:nvPr/>
        </p:nvSpPr>
        <p:spPr>
          <a:xfrm>
            <a:off x="432933" y="3437454"/>
            <a:ext cx="3781903" cy="53860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50" b="0" i="0">
                <a:solidFill>
                  <a:srgbClr val="151515"/>
                </a:solidFill>
                <a:latin typeface="Arial"/>
              </a:rPr>
              <a:t>Within relevant X strata, each treatment option has positive probability.</a:t>
            </a:r>
          </a:p>
        </p:txBody>
      </p:sp>
      <p:sp>
        <p:nvSpPr>
          <p:cNvPr id="57" name="Rounded Rectangle 13">
            <a:extLst>
              <a:ext uri="{FF2B5EF4-FFF2-40B4-BE49-F238E27FC236}">
                <a16:creationId xmlns:a16="http://schemas.microsoft.com/office/drawing/2014/main" id="{01DC8778-EAC5-060B-A090-4AAB78F0C986}"/>
              </a:ext>
            </a:extLst>
          </p:cNvPr>
          <p:cNvSpPr/>
          <p:nvPr/>
        </p:nvSpPr>
        <p:spPr>
          <a:xfrm>
            <a:off x="4724097" y="2807266"/>
            <a:ext cx="4142232" cy="1362456"/>
          </a:xfrm>
          <a:prstGeom prst="roundRect">
            <a:avLst/>
          </a:prstGeom>
          <a:solidFill>
            <a:srgbClr val="5DAAE5"/>
          </a:solidFill>
          <a:ln w="12700">
            <a:solidFill>
              <a:srgbClr val="5DA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490833-FB1B-E6EB-F70A-013AAD9207AC}"/>
              </a:ext>
            </a:extLst>
          </p:cNvPr>
          <p:cNvSpPr txBox="1"/>
          <p:nvPr/>
        </p:nvSpPr>
        <p:spPr>
          <a:xfrm>
            <a:off x="4856436" y="2960538"/>
            <a:ext cx="3887951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 dirty="0">
                <a:solidFill>
                  <a:srgbClr val="151515"/>
                </a:solidFill>
                <a:latin typeface="Arial"/>
              </a:rPr>
              <a:t>SUTVA / no interference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D2E5CD-5AC2-FD63-FD26-99ABD30E9E63}"/>
              </a:ext>
            </a:extLst>
          </p:cNvPr>
          <p:cNvSpPr txBox="1"/>
          <p:nvPr/>
        </p:nvSpPr>
        <p:spPr>
          <a:xfrm>
            <a:off x="4913057" y="3467752"/>
            <a:ext cx="3774710" cy="53860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50" b="0" i="0" dirty="0">
                <a:solidFill>
                  <a:srgbClr val="151515"/>
                </a:solidFill>
                <a:latin typeface="Arial"/>
              </a:rPr>
              <a:t>One unit’s treatment does not alter another unit’s outcome; treatment is well defined.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75DC15-1A84-9A4B-6F83-FCC96C3F5D6B}"/>
              </a:ext>
            </a:extLst>
          </p:cNvPr>
          <p:cNvSpPr txBox="1"/>
          <p:nvPr/>
        </p:nvSpPr>
        <p:spPr>
          <a:xfrm>
            <a:off x="598043" y="4621139"/>
            <a:ext cx="803783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 dirty="0">
                <a:solidFill>
                  <a:srgbClr val="FDBB30"/>
                </a:solidFill>
                <a:latin typeface="Arial"/>
              </a:rPr>
              <a:t>These assumptions are not fully testable from the observed data alone.</a:t>
            </a:r>
          </a:p>
        </p:txBody>
      </p:sp>
    </p:spTree>
    <p:extLst>
      <p:ext uri="{BB962C8B-B14F-4D97-AF65-F5344CB8AC3E}">
        <p14:creationId xmlns:p14="http://schemas.microsoft.com/office/powerpoint/2010/main" val="1259002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DC9A7-F2E6-172A-7BC1-A9CF1AFAE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6EC7AA-625A-4A6E-74FD-1B87CF14487A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Bridge to today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B23D5-1BAE-211A-9BC8-19670AA8CAFF}"/>
              </a:ext>
            </a:extLst>
          </p:cNvPr>
          <p:cNvSpPr txBox="1"/>
          <p:nvPr/>
        </p:nvSpPr>
        <p:spPr>
          <a:xfrm>
            <a:off x="0" y="984250"/>
            <a:ext cx="91389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0" i="0" dirty="0">
                <a:solidFill>
                  <a:srgbClr val="F2F2F2"/>
                </a:solidFill>
                <a:latin typeface="Arial"/>
              </a:rPr>
              <a:t>A statistical model can always produce an estimate.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91535-54C9-B9F6-D565-E39B07070F7B}"/>
              </a:ext>
            </a:extLst>
          </p:cNvPr>
          <p:cNvSpPr txBox="1"/>
          <p:nvPr/>
        </p:nvSpPr>
        <p:spPr>
          <a:xfrm>
            <a:off x="0" y="1421370"/>
            <a:ext cx="913892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 dirty="0">
                <a:solidFill>
                  <a:srgbClr val="FDBB30"/>
                </a:solidFill>
                <a:latin typeface="Arial"/>
              </a:rPr>
              <a:t>The causal question is whether the assumptions justify interpreting it as an effect.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840C993B-8918-EA19-3E85-CD1E69926C77}"/>
              </a:ext>
            </a:extLst>
          </p:cNvPr>
          <p:cNvSpPr/>
          <p:nvPr/>
        </p:nvSpPr>
        <p:spPr>
          <a:xfrm>
            <a:off x="59751" y="2262311"/>
            <a:ext cx="1774795" cy="927099"/>
          </a:xfrm>
          <a:prstGeom prst="roundRect">
            <a:avLst/>
          </a:prstGeom>
          <a:solidFill>
            <a:srgbClr val="5DAAE5"/>
          </a:solidFill>
          <a:ln w="12700">
            <a:solidFill>
              <a:srgbClr val="5DA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564B8D-C498-F3C7-3E93-5B3451F3CE85}"/>
              </a:ext>
            </a:extLst>
          </p:cNvPr>
          <p:cNvSpPr txBox="1"/>
          <p:nvPr/>
        </p:nvSpPr>
        <p:spPr>
          <a:xfrm>
            <a:off x="170237" y="2439362"/>
            <a:ext cx="1527149" cy="584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151515"/>
                </a:solidFill>
                <a:latin typeface="Arial"/>
              </a:rPr>
              <a:t>Causal
question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58A69F-9B6A-0FE8-C372-0A243B84659E}"/>
              </a:ext>
            </a:extLst>
          </p:cNvPr>
          <p:cNvSpPr txBox="1"/>
          <p:nvPr/>
        </p:nvSpPr>
        <p:spPr>
          <a:xfrm>
            <a:off x="1945032" y="2416048"/>
            <a:ext cx="454017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700" b="1" i="0" dirty="0">
                <a:solidFill>
                  <a:srgbClr val="F2F2F2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63B22E10-9F22-D652-2092-F630454A423D}"/>
              </a:ext>
            </a:extLst>
          </p:cNvPr>
          <p:cNvSpPr/>
          <p:nvPr/>
        </p:nvSpPr>
        <p:spPr>
          <a:xfrm>
            <a:off x="2497474" y="2262311"/>
            <a:ext cx="1774795" cy="927099"/>
          </a:xfrm>
          <a:prstGeom prst="roundRect">
            <a:avLst/>
          </a:prstGeom>
          <a:solidFill>
            <a:srgbClr val="5DAAE5"/>
          </a:solidFill>
          <a:ln w="12700">
            <a:solidFill>
              <a:srgbClr val="5DA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86289B-89B2-C2DD-BC10-A906586CCBAB}"/>
              </a:ext>
            </a:extLst>
          </p:cNvPr>
          <p:cNvSpPr txBox="1"/>
          <p:nvPr/>
        </p:nvSpPr>
        <p:spPr>
          <a:xfrm>
            <a:off x="2607960" y="2439362"/>
            <a:ext cx="1527149" cy="584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151515"/>
                </a:solidFill>
                <a:latin typeface="Arial"/>
              </a:rPr>
              <a:t>Causal
assumptions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B1782C-4058-16FA-1849-20AFA1E9079A}"/>
              </a:ext>
            </a:extLst>
          </p:cNvPr>
          <p:cNvSpPr txBox="1"/>
          <p:nvPr/>
        </p:nvSpPr>
        <p:spPr>
          <a:xfrm>
            <a:off x="4344991" y="2425700"/>
            <a:ext cx="454017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700" b="1" i="0" dirty="0">
                <a:solidFill>
                  <a:srgbClr val="F2F2F2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BC9BF98C-4055-1CE2-ACBA-4BA066070DC2}"/>
              </a:ext>
            </a:extLst>
          </p:cNvPr>
          <p:cNvSpPr/>
          <p:nvPr/>
        </p:nvSpPr>
        <p:spPr>
          <a:xfrm>
            <a:off x="4935197" y="2262311"/>
            <a:ext cx="1774795" cy="927099"/>
          </a:xfrm>
          <a:prstGeom prst="roundRect">
            <a:avLst/>
          </a:prstGeom>
          <a:solidFill>
            <a:srgbClr val="FDBB30"/>
          </a:solidFill>
          <a:ln w="12700"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07A5E4-6DA5-5A43-8C7C-BE6CEBA9F1A7}"/>
              </a:ext>
            </a:extLst>
          </p:cNvPr>
          <p:cNvSpPr txBox="1"/>
          <p:nvPr/>
        </p:nvSpPr>
        <p:spPr>
          <a:xfrm>
            <a:off x="5045683" y="2562472"/>
            <a:ext cx="1527149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151515"/>
                </a:solidFill>
                <a:latin typeface="Arial"/>
              </a:rPr>
              <a:t>Identification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9B49DE-25FD-B710-E399-FDF9E6B971DB}"/>
              </a:ext>
            </a:extLst>
          </p:cNvPr>
          <p:cNvSpPr txBox="1"/>
          <p:nvPr/>
        </p:nvSpPr>
        <p:spPr>
          <a:xfrm>
            <a:off x="6820478" y="2439362"/>
            <a:ext cx="454017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700" b="1" i="0" dirty="0">
                <a:solidFill>
                  <a:srgbClr val="F2F2F2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68BF677E-6FDC-0E36-CD4B-DC89777C5FDA}"/>
              </a:ext>
            </a:extLst>
          </p:cNvPr>
          <p:cNvSpPr/>
          <p:nvPr/>
        </p:nvSpPr>
        <p:spPr>
          <a:xfrm>
            <a:off x="7274495" y="2262310"/>
            <a:ext cx="1774795" cy="927099"/>
          </a:xfrm>
          <a:prstGeom prst="roundRect">
            <a:avLst/>
          </a:prstGeom>
          <a:solidFill>
            <a:srgbClr val="5DAAE5"/>
          </a:solidFill>
          <a:ln w="12700">
            <a:solidFill>
              <a:srgbClr val="5DA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08579A-B5B6-811D-44E6-4DF237C26E7C}"/>
              </a:ext>
            </a:extLst>
          </p:cNvPr>
          <p:cNvSpPr txBox="1"/>
          <p:nvPr/>
        </p:nvSpPr>
        <p:spPr>
          <a:xfrm>
            <a:off x="7384981" y="2562471"/>
            <a:ext cx="1527149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151515"/>
                </a:solidFill>
                <a:latin typeface="Arial"/>
              </a:rPr>
              <a:t>Estimation</a:t>
            </a:r>
          </a:p>
        </p:txBody>
      </p:sp>
      <p:sp>
        <p:nvSpPr>
          <p:cNvPr id="30" name="Rounded Rectangle 16">
            <a:extLst>
              <a:ext uri="{FF2B5EF4-FFF2-40B4-BE49-F238E27FC236}">
                <a16:creationId xmlns:a16="http://schemas.microsoft.com/office/drawing/2014/main" id="{75653FB1-A6B7-03D4-5587-D079F6BDD4B8}"/>
              </a:ext>
            </a:extLst>
          </p:cNvPr>
          <p:cNvSpPr/>
          <p:nvPr/>
        </p:nvSpPr>
        <p:spPr>
          <a:xfrm>
            <a:off x="170237" y="3504367"/>
            <a:ext cx="8868410" cy="852932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B28680-984B-D082-6C13-4BD7CDDBC248}"/>
              </a:ext>
            </a:extLst>
          </p:cNvPr>
          <p:cNvSpPr txBox="1"/>
          <p:nvPr/>
        </p:nvSpPr>
        <p:spPr>
          <a:xfrm>
            <a:off x="414549" y="3526323"/>
            <a:ext cx="8304057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0" i="0" dirty="0">
                <a:solidFill>
                  <a:srgbClr val="F2F2F2"/>
                </a:solidFill>
                <a:latin typeface="Arial"/>
              </a:rPr>
              <a:t>Last lecture: “Assume exchangeability after conditioning on X.”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FA0901-8044-829D-E70D-FAC1B1801BD9}"/>
              </a:ext>
            </a:extLst>
          </p:cNvPr>
          <p:cNvSpPr txBox="1"/>
          <p:nvPr/>
        </p:nvSpPr>
        <p:spPr>
          <a:xfrm>
            <a:off x="414549" y="3927177"/>
            <a:ext cx="8304057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b="1" i="0" dirty="0">
                <a:solidFill>
                  <a:srgbClr val="FDBB30"/>
                </a:solidFill>
                <a:latin typeface="Arial"/>
              </a:rPr>
              <a:t>Today’s question: Which variables belong in X — and which variables should we NOT adjust for?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7B7CA9-2437-CBF6-7189-2ACFD81A8017}"/>
              </a:ext>
            </a:extLst>
          </p:cNvPr>
          <p:cNvSpPr txBox="1"/>
          <p:nvPr/>
        </p:nvSpPr>
        <p:spPr>
          <a:xfrm>
            <a:off x="1563535" y="4522358"/>
            <a:ext cx="5562912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0" i="0" dirty="0">
                <a:solidFill>
                  <a:srgbClr val="F2F2F2"/>
                </a:solidFill>
                <a:latin typeface="Walter Turncoat"/>
              </a:rPr>
              <a:t>→ Directed Acyclic Graphs (DAGs)</a:t>
            </a:r>
          </a:p>
        </p:txBody>
      </p:sp>
    </p:spTree>
    <p:extLst>
      <p:ext uri="{BB962C8B-B14F-4D97-AF65-F5344CB8AC3E}">
        <p14:creationId xmlns:p14="http://schemas.microsoft.com/office/powerpoint/2010/main" val="2852871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48C3A-CD40-BE60-C705-F171AC7B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B1161C-5261-2D02-7BB7-6C72D7DF0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6350"/>
            <a:ext cx="5137150" cy="513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14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68309-64FD-9793-FA5F-59B831644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24A7E3-6C3D-4FB0-5E32-16EE85579EB6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Today: Assumptions to Adjustment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62D73-66D0-E056-0BDD-F8EEDA691022}"/>
              </a:ext>
            </a:extLst>
          </p:cNvPr>
          <p:cNvSpPr txBox="1"/>
          <p:nvPr/>
        </p:nvSpPr>
        <p:spPr>
          <a:xfrm>
            <a:off x="508000" y="869508"/>
            <a:ext cx="8026400" cy="3993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9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causal graphs? What a DAG does, and does not, claim.</a:t>
            </a:r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endParaRPr lang="en-US" sz="195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9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Nodes, arrows, parents, descendants, and paths.</a:t>
            </a:r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endParaRPr lang="en-US" sz="195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9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fundamental structures: chain, fork, collider.</a:t>
            </a:r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endParaRPr lang="en-US" sz="195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9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d-separation: when conditioning blocks or opens a path.</a:t>
            </a:r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endParaRPr lang="en-US" sz="195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9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 paths and valid covariate-adjustment sets.</a:t>
            </a:r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endParaRPr lang="en-US" sz="195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9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“control for everything” can create bias.</a:t>
            </a:r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endParaRPr lang="en-US" sz="195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9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coding lab: confounding, mediation, and collider bias.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3350066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BD383-453A-20B8-8F74-47C565629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D38F85-EE85-3EE9-1023-816E3FD06C4B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Conditional Exchangeability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4">
                <a:extLst>
                  <a:ext uri="{FF2B5EF4-FFF2-40B4-BE49-F238E27FC236}">
                    <a16:creationId xmlns:a16="http://schemas.microsoft.com/office/drawing/2014/main" id="{D8663FE3-9E75-D119-0220-16345395663D}"/>
                  </a:ext>
                </a:extLst>
              </p:cNvPr>
              <p:cNvSpPr/>
              <p:nvPr/>
            </p:nvSpPr>
            <p:spPr>
              <a:xfrm>
                <a:off x="236220" y="1183640"/>
                <a:ext cx="8450580" cy="657860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6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36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36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𝑡</m:t>
                      </m:r>
                      <m:r>
                        <a:rPr lang="en-US" sz="36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) ⟂ </m:t>
                      </m:r>
                      <m:r>
                        <a:rPr lang="en-US" sz="36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36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 |  </m:t>
                      </m:r>
                      <m:r>
                        <a:rPr lang="en-US" sz="3600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𝑋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 4">
                <a:extLst>
                  <a:ext uri="{FF2B5EF4-FFF2-40B4-BE49-F238E27FC236}">
                    <a16:creationId xmlns:a16="http://schemas.microsoft.com/office/drawing/2014/main" id="{D8663FE3-9E75-D119-0220-1634539566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" y="1183640"/>
                <a:ext cx="8450580" cy="6578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5">
            <a:extLst>
              <a:ext uri="{FF2B5EF4-FFF2-40B4-BE49-F238E27FC236}">
                <a16:creationId xmlns:a16="http://schemas.microsoft.com/office/drawing/2014/main" id="{57B91A23-8449-47FC-DD34-AF9DC1C27A25}"/>
              </a:ext>
            </a:extLst>
          </p:cNvPr>
          <p:cNvSpPr/>
          <p:nvPr/>
        </p:nvSpPr>
        <p:spPr>
          <a:xfrm>
            <a:off x="115975" y="2159635"/>
            <a:ext cx="8912049" cy="82423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levels of X, treatment assignment carries no additional information about the potential outcomes.</a:t>
            </a:r>
            <a:endParaRPr lang="en-US" sz="21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202B449-804D-4F88-DC2D-3CB6910FC0E9}"/>
              </a:ext>
            </a:extLst>
          </p:cNvPr>
          <p:cNvSpPr/>
          <p:nvPr/>
        </p:nvSpPr>
        <p:spPr>
          <a:xfrm>
            <a:off x="298044" y="3319930"/>
            <a:ext cx="8729980" cy="511279"/>
          </a:xfrm>
          <a:prstGeom prst="roundRect">
            <a:avLst>
              <a:gd name="adj" fmla="val 19355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0257A33-57AE-DA88-2029-36C9E53F475E}"/>
              </a:ext>
            </a:extLst>
          </p:cNvPr>
          <p:cNvSpPr/>
          <p:nvPr/>
        </p:nvSpPr>
        <p:spPr>
          <a:xfrm>
            <a:off x="443050" y="3364024"/>
            <a:ext cx="8402093" cy="41232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what belongs in X?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688080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9A94F-ADF8-B6E1-69C6-B6C2CB04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E6D86E-F6B0-FFE7-CF70-BA7C36B8D2CA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Dangerous Instinct: Adjust for Everything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4B68FB1-00C7-4500-9A0A-3F5318FDE801}"/>
              </a:ext>
            </a:extLst>
          </p:cNvPr>
          <p:cNvSpPr/>
          <p:nvPr/>
        </p:nvSpPr>
        <p:spPr>
          <a:xfrm>
            <a:off x="450850" y="1278656"/>
            <a:ext cx="8359140" cy="4104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regression instinct:</a:t>
            </a:r>
            <a:endParaRPr lang="en-US" sz="22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E799D3B-BF84-50C9-45F6-80E514EEC9F5}"/>
              </a:ext>
            </a:extLst>
          </p:cNvPr>
          <p:cNvSpPr/>
          <p:nvPr/>
        </p:nvSpPr>
        <p:spPr>
          <a:xfrm>
            <a:off x="53340" y="1991848"/>
            <a:ext cx="9037320" cy="905764"/>
          </a:xfrm>
          <a:prstGeom prst="roundRect">
            <a:avLst>
              <a:gd name="adj" fmla="val 12000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6E4D138-20A3-C7EF-97F3-7E5DDE9C07AF}"/>
              </a:ext>
            </a:extLst>
          </p:cNvPr>
          <p:cNvSpPr/>
          <p:nvPr/>
        </p:nvSpPr>
        <p:spPr>
          <a:xfrm>
            <a:off x="53340" y="2095987"/>
            <a:ext cx="9037320" cy="69913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every available covariate in the model. More adjustment must be safer.</a:t>
            </a:r>
            <a:endParaRPr lang="en-US" sz="20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7F8F119-0EB1-4397-FB43-88476D2486EA}"/>
              </a:ext>
            </a:extLst>
          </p:cNvPr>
          <p:cNvSpPr/>
          <p:nvPr/>
        </p:nvSpPr>
        <p:spPr>
          <a:xfrm>
            <a:off x="208280" y="3139440"/>
            <a:ext cx="8882380" cy="48641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E8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false for causal inference.</a:t>
            </a:r>
            <a:endParaRPr lang="en-US" sz="28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D3B9BA4-4DDB-1FDE-CEB0-E70BA129BA34}"/>
              </a:ext>
            </a:extLst>
          </p:cNvPr>
          <p:cNvSpPr/>
          <p:nvPr/>
        </p:nvSpPr>
        <p:spPr>
          <a:xfrm>
            <a:off x="450850" y="3625850"/>
            <a:ext cx="85039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variables remove bias.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variables remove part of the effect you want.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variables CREATE bias when conditioned on.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714152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3955D-1E95-74EF-99FB-44407D3E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8E9C55-5903-963C-1142-08E6A8B184EA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Why use a graph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7027812-09B1-C8E6-9395-278991FFBDFB}"/>
              </a:ext>
            </a:extLst>
          </p:cNvPr>
          <p:cNvSpPr/>
          <p:nvPr/>
        </p:nvSpPr>
        <p:spPr>
          <a:xfrm>
            <a:off x="296285" y="1174750"/>
            <a:ext cx="8593279" cy="24860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outcomes define the causal estimand precisely.</a:t>
            </a:r>
            <a:endParaRPr lang="en-US" sz="210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 encode assumptions about how variables generate one another.</a:t>
            </a:r>
            <a:endParaRPr lang="en-US" sz="210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assumptions imply which associations should disappear after conditioning.</a:t>
            </a:r>
            <a:endParaRPr lang="en-US" sz="210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helps us decide whether a causal effect is identifiable, and what to adjust for.</a:t>
            </a:r>
            <a:endParaRPr lang="en-US" sz="2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4C53A8-D66A-9E8A-8C83-87BF42876497}"/>
              </a:ext>
            </a:extLst>
          </p:cNvPr>
          <p:cNvSpPr/>
          <p:nvPr/>
        </p:nvSpPr>
        <p:spPr>
          <a:xfrm>
            <a:off x="177135" y="4064000"/>
            <a:ext cx="8831580" cy="734314"/>
          </a:xfrm>
          <a:prstGeom prst="roundRect">
            <a:avLst>
              <a:gd name="adj" fmla="val 19355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6236147-907D-CE5F-F449-83B9C316D681}"/>
              </a:ext>
            </a:extLst>
          </p:cNvPr>
          <p:cNvSpPr/>
          <p:nvPr/>
        </p:nvSpPr>
        <p:spPr>
          <a:xfrm>
            <a:off x="325957" y="4151261"/>
            <a:ext cx="8499877" cy="59218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outcomes tell us WHAT effect means; DAGs help organize WHY identification may be possible.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4226359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87FF7-0F19-4E72-9E27-676DAF5D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29129F-0CD6-E566-D128-3543B035F375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DAG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59634-933C-7B66-1D45-F78DD81FBA55}"/>
              </a:ext>
            </a:extLst>
          </p:cNvPr>
          <p:cNvSpPr txBox="1"/>
          <p:nvPr/>
        </p:nvSpPr>
        <p:spPr>
          <a:xfrm>
            <a:off x="609600" y="1054099"/>
            <a:ext cx="78168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: </a:t>
            </a: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Directed,	</a:t>
            </a:r>
            <a:r>
              <a:rPr lang="en-US" sz="18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:</a:t>
            </a: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Acyclic</a:t>
            </a:r>
            <a:r>
              <a:rPr lang="en-US" sz="18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	G : </a:t>
            </a: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Graph.</a:t>
            </a:r>
          </a:p>
          <a:p>
            <a:endParaRPr lang="en-US" sz="1800" b="1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Directed: arrows have orientation.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Acyclic: following arrows can never bring you back to the same node.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Graph: nodes connected by edges.</a:t>
            </a:r>
          </a:p>
          <a:p>
            <a:pPr marL="0" indent="0" algn="ctr">
              <a:buNone/>
            </a:pPr>
            <a:endParaRPr lang="en-US" sz="1800" dirty="0">
              <a:solidFill>
                <a:srgbClr val="F2F2F2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cs typeface="Arial" pitchFamily="34" charset="-120"/>
              </a:rPr>
              <a:t>A causal arrow is a scientific claim.</a:t>
            </a:r>
            <a:endParaRPr lang="en-US" sz="18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F9DDBE2-2588-BC9E-DE1E-AF836B95FE20}"/>
              </a:ext>
            </a:extLst>
          </p:cNvPr>
          <p:cNvSpPr/>
          <p:nvPr/>
        </p:nvSpPr>
        <p:spPr>
          <a:xfrm>
            <a:off x="2166874" y="3372568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E4858D5-07CD-53F2-9143-1EDBCB128F62}"/>
              </a:ext>
            </a:extLst>
          </p:cNvPr>
          <p:cNvSpPr/>
          <p:nvPr/>
        </p:nvSpPr>
        <p:spPr>
          <a:xfrm>
            <a:off x="2166874" y="3543741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7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141DB9F-C496-E11D-94C0-D4665B74219A}"/>
              </a:ext>
            </a:extLst>
          </p:cNvPr>
          <p:cNvSpPr/>
          <p:nvPr/>
        </p:nvSpPr>
        <p:spPr>
          <a:xfrm>
            <a:off x="1883410" y="40309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endParaRPr lang="en-US" sz="12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457867DC-18EF-E5B9-D7A5-BDEC14731C76}"/>
              </a:ext>
            </a:extLst>
          </p:cNvPr>
          <p:cNvSpPr/>
          <p:nvPr/>
        </p:nvSpPr>
        <p:spPr>
          <a:xfrm>
            <a:off x="6190234" y="3372568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E372A7AA-50EA-E5FA-EA05-F012B665FDFC}"/>
              </a:ext>
            </a:extLst>
          </p:cNvPr>
          <p:cNvSpPr/>
          <p:nvPr/>
        </p:nvSpPr>
        <p:spPr>
          <a:xfrm>
            <a:off x="6190234" y="3543741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36A1025-FCA6-A5E0-8C33-4CC50701CD00}"/>
              </a:ext>
            </a:extLst>
          </p:cNvPr>
          <p:cNvSpPr/>
          <p:nvPr/>
        </p:nvSpPr>
        <p:spPr>
          <a:xfrm>
            <a:off x="5906770" y="40309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51F693-0762-9741-9F96-83AF92EA1181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2788666" y="3658041"/>
            <a:ext cx="3401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AD0D1DB-A4D4-C1D1-BF36-0D98B343BBA0}"/>
              </a:ext>
            </a:extLst>
          </p:cNvPr>
          <p:cNvSpPr txBox="1"/>
          <p:nvPr/>
        </p:nvSpPr>
        <p:spPr>
          <a:xfrm>
            <a:off x="1175282" y="4441523"/>
            <a:ext cx="64891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Means: intervening on X could change Y through a direct causal mechanism represented by this edge.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77341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071D3-4069-6D6B-8590-99437EE2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1243F3-F8DB-414A-A2A9-2E816D5D360F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DAG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AB3A7-494E-E957-42C0-589BC2DCB8B4}"/>
              </a:ext>
            </a:extLst>
          </p:cNvPr>
          <p:cNvSpPr txBox="1"/>
          <p:nvPr/>
        </p:nvSpPr>
        <p:spPr>
          <a:xfrm>
            <a:off x="609600" y="1054099"/>
            <a:ext cx="78168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arrow is also an assumption.</a:t>
            </a:r>
          </a:p>
          <a:p>
            <a:endParaRPr lang="en-US" sz="2000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A885B48-4CB4-35A9-F517-1D25B3851100}"/>
              </a:ext>
            </a:extLst>
          </p:cNvPr>
          <p:cNvSpPr/>
          <p:nvPr/>
        </p:nvSpPr>
        <p:spPr>
          <a:xfrm>
            <a:off x="1764792" y="2571750"/>
            <a:ext cx="245973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DF623CF-64C5-ED3B-ABC3-928879AF25DC}"/>
              </a:ext>
            </a:extLst>
          </p:cNvPr>
          <p:cNvSpPr/>
          <p:nvPr/>
        </p:nvSpPr>
        <p:spPr>
          <a:xfrm>
            <a:off x="1106424" y="226085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FF997B3-2E7C-222F-B6CB-716D0B18AC42}"/>
              </a:ext>
            </a:extLst>
          </p:cNvPr>
          <p:cNvSpPr/>
          <p:nvPr/>
        </p:nvSpPr>
        <p:spPr>
          <a:xfrm>
            <a:off x="1106424" y="241630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7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6597DC1-089E-41BC-4A65-E84C0B525C2D}"/>
              </a:ext>
            </a:extLst>
          </p:cNvPr>
          <p:cNvSpPr/>
          <p:nvPr/>
        </p:nvSpPr>
        <p:spPr>
          <a:xfrm>
            <a:off x="4261104" y="2260854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B6E10F9-AFCD-385F-95E6-D46127846206}"/>
              </a:ext>
            </a:extLst>
          </p:cNvPr>
          <p:cNvSpPr/>
          <p:nvPr/>
        </p:nvSpPr>
        <p:spPr>
          <a:xfrm>
            <a:off x="4261104" y="241630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47EC1A68-E38E-177E-D497-4D3B60660F5F}"/>
              </a:ext>
            </a:extLst>
          </p:cNvPr>
          <p:cNvSpPr/>
          <p:nvPr/>
        </p:nvSpPr>
        <p:spPr>
          <a:xfrm>
            <a:off x="7415784" y="226085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7FEA633-DFEE-B5BC-A17D-4DDAFFC7A47F}"/>
              </a:ext>
            </a:extLst>
          </p:cNvPr>
          <p:cNvSpPr/>
          <p:nvPr/>
        </p:nvSpPr>
        <p:spPr>
          <a:xfrm>
            <a:off x="7415784" y="241630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7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0067D2-6491-AB62-61AA-7FB3675A15BA}"/>
              </a:ext>
            </a:extLst>
          </p:cNvPr>
          <p:cNvSpPr txBox="1"/>
          <p:nvPr/>
        </p:nvSpPr>
        <p:spPr>
          <a:xfrm>
            <a:off x="1327416" y="3146890"/>
            <a:ext cx="64891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asserts that the graph does not include a direct causal effect of X on Z, given the variables represented.</a:t>
            </a:r>
            <a:endParaRPr lang="en-US" sz="16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B5B6E8A8-15C1-EE2C-DB6C-97EE94EFF9D1}"/>
              </a:ext>
            </a:extLst>
          </p:cNvPr>
          <p:cNvSpPr/>
          <p:nvPr/>
        </p:nvSpPr>
        <p:spPr>
          <a:xfrm>
            <a:off x="177135" y="4076955"/>
            <a:ext cx="8876030" cy="621792"/>
          </a:xfrm>
          <a:prstGeom prst="roundRect">
            <a:avLst>
              <a:gd name="adj" fmla="val 19355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9D964480-1BAE-92F2-0CED-795F01A870F0}"/>
              </a:ext>
            </a:extLst>
          </p:cNvPr>
          <p:cNvSpPr/>
          <p:nvPr/>
        </p:nvSpPr>
        <p:spPr>
          <a:xfrm>
            <a:off x="327627" y="4131818"/>
            <a:ext cx="8542658" cy="50144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Graphical conclusions are only as credible as the causal assumptions used to draw the graph.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2178266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E2778-34FA-AA3B-E878-923936A3D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76769C-76C4-10F0-CEAD-EAF5E51F3354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DAG: Directed Acyclic Graph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3DC110-B9FB-EF3F-6801-B2CED3409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33" y="1106454"/>
            <a:ext cx="3194201" cy="17546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3585F0-945E-DCA9-C4C1-8DCE967BB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34" y="1106454"/>
            <a:ext cx="3222905" cy="17556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CB8D09-9746-536D-5CED-39041FCE0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033" y="3115902"/>
            <a:ext cx="3191256" cy="16089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E84B512-EB9E-C174-63C0-1907D034F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135" y="3115903"/>
            <a:ext cx="3231730" cy="160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81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4227-6A5F-FF83-1327-ADA68448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48E077-8597-C534-F300-C1B51751EF2D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DAG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75109-4FA1-F005-7745-B0287DC0E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55" y="1397000"/>
            <a:ext cx="3524545" cy="3175266"/>
          </a:xfrm>
          <a:prstGeom prst="rect">
            <a:avLst/>
          </a:prstGeom>
        </p:spPr>
      </p:pic>
      <p:sp>
        <p:nvSpPr>
          <p:cNvPr id="17" name="Shape 2">
            <a:extLst>
              <a:ext uri="{FF2B5EF4-FFF2-40B4-BE49-F238E27FC236}">
                <a16:creationId xmlns:a16="http://schemas.microsoft.com/office/drawing/2014/main" id="{B56432A5-B816-D4C4-3E8D-67A0D5084DC0}"/>
              </a:ext>
            </a:extLst>
          </p:cNvPr>
          <p:cNvSpPr/>
          <p:nvPr/>
        </p:nvSpPr>
        <p:spPr>
          <a:xfrm>
            <a:off x="5774944" y="1078669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FFCBB310-E90D-645F-1BBA-98B389AFFEEA}"/>
              </a:ext>
            </a:extLst>
          </p:cNvPr>
          <p:cNvSpPr/>
          <p:nvPr/>
        </p:nvSpPr>
        <p:spPr>
          <a:xfrm>
            <a:off x="5774944" y="1234117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6B18CFF5-A6FE-5FDE-D26C-138319B1EDD6}"/>
              </a:ext>
            </a:extLst>
          </p:cNvPr>
          <p:cNvSpPr/>
          <p:nvPr/>
        </p:nvSpPr>
        <p:spPr>
          <a:xfrm>
            <a:off x="5774944" y="2904167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D17095FD-9731-F477-5373-06CB322BFD5A}"/>
              </a:ext>
            </a:extLst>
          </p:cNvPr>
          <p:cNvSpPr/>
          <p:nvPr/>
        </p:nvSpPr>
        <p:spPr>
          <a:xfrm>
            <a:off x="5774944" y="3059615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3DBC108E-5ADB-6DCB-8639-CCF215232C17}"/>
              </a:ext>
            </a:extLst>
          </p:cNvPr>
          <p:cNvSpPr/>
          <p:nvPr/>
        </p:nvSpPr>
        <p:spPr>
          <a:xfrm>
            <a:off x="7269734" y="2831015"/>
            <a:ext cx="621792" cy="62179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4CAEB277-AD83-3F89-14A9-FABB6A2EB2CF}"/>
              </a:ext>
            </a:extLst>
          </p:cNvPr>
          <p:cNvSpPr/>
          <p:nvPr/>
        </p:nvSpPr>
        <p:spPr>
          <a:xfrm>
            <a:off x="7269734" y="2986463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C4FDE48A-831B-9238-3D36-89E868D1F208}"/>
              </a:ext>
            </a:extLst>
          </p:cNvPr>
          <p:cNvSpPr/>
          <p:nvPr/>
        </p:nvSpPr>
        <p:spPr>
          <a:xfrm>
            <a:off x="7168388" y="1078669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A31C1984-2A31-86C8-0A9D-1CEA692A70B1}"/>
              </a:ext>
            </a:extLst>
          </p:cNvPr>
          <p:cNvSpPr/>
          <p:nvPr/>
        </p:nvSpPr>
        <p:spPr>
          <a:xfrm>
            <a:off x="7168388" y="1234117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B</a:t>
            </a:r>
            <a:endParaRPr lang="en-US" sz="17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B62BE10-B312-26B8-F59F-EE36F7F97EA1}"/>
              </a:ext>
            </a:extLst>
          </p:cNvPr>
          <p:cNvCxnSpPr>
            <a:stCxn id="20" idx="3"/>
            <a:endCxn id="32" idx="1"/>
          </p:cNvCxnSpPr>
          <p:nvPr/>
        </p:nvCxnSpPr>
        <p:spPr>
          <a:xfrm>
            <a:off x="6396736" y="1348417"/>
            <a:ext cx="7716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ACECAA6-5BFA-61BE-CCF8-C1B86AB5E9FE}"/>
              </a:ext>
            </a:extLst>
          </p:cNvPr>
          <p:cNvCxnSpPr>
            <a:stCxn id="17" idx="4"/>
            <a:endCxn id="22" idx="0"/>
          </p:cNvCxnSpPr>
          <p:nvPr/>
        </p:nvCxnSpPr>
        <p:spPr>
          <a:xfrm>
            <a:off x="6085840" y="1700461"/>
            <a:ext cx="0" cy="12037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628A5BB-0D6F-CC44-49F7-95F9019F2447}"/>
              </a:ext>
            </a:extLst>
          </p:cNvPr>
          <p:cNvCxnSpPr>
            <a:stCxn id="30" idx="4"/>
            <a:endCxn id="22" idx="7"/>
          </p:cNvCxnSpPr>
          <p:nvPr/>
        </p:nvCxnSpPr>
        <p:spPr>
          <a:xfrm flipH="1">
            <a:off x="6305677" y="1700461"/>
            <a:ext cx="1173607" cy="1294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88C5CA-7E9E-DE76-AC18-E8870D9D574B}"/>
              </a:ext>
            </a:extLst>
          </p:cNvPr>
          <p:cNvCxnSpPr>
            <a:stCxn id="24" idx="3"/>
            <a:endCxn id="26" idx="2"/>
          </p:cNvCxnSpPr>
          <p:nvPr/>
        </p:nvCxnSpPr>
        <p:spPr>
          <a:xfrm flipV="1">
            <a:off x="6396736" y="3141911"/>
            <a:ext cx="872998" cy="320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A1C2AA9-4437-5D9E-394B-6F0D6D1D6555}"/>
              </a:ext>
            </a:extLst>
          </p:cNvPr>
          <p:cNvSpPr txBox="1"/>
          <p:nvPr/>
        </p:nvSpPr>
        <p:spPr>
          <a:xfrm>
            <a:off x="4464050" y="3730538"/>
            <a:ext cx="44022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solidFill>
                  <a:schemeClr val="bg1"/>
                </a:solidFill>
              </a:rPr>
              <a:t>Ancestors of C:</a:t>
            </a:r>
            <a:r>
              <a:rPr lang="en-US" sz="2000" dirty="0">
                <a:solidFill>
                  <a:schemeClr val="bg1"/>
                </a:solidFill>
              </a:rPr>
              <a:t>         </a:t>
            </a:r>
            <a:r>
              <a:rPr lang="en-US" sz="2000" u="sng" dirty="0">
                <a:solidFill>
                  <a:schemeClr val="bg1"/>
                </a:solidFill>
              </a:rPr>
              <a:t>A,B</a:t>
            </a:r>
          </a:p>
          <a:p>
            <a:r>
              <a:rPr lang="en-US" sz="2000" u="sng" dirty="0">
                <a:solidFill>
                  <a:schemeClr val="bg1"/>
                </a:solidFill>
              </a:rPr>
              <a:t>Descendents of A:</a:t>
            </a:r>
            <a:r>
              <a:rPr lang="en-US" sz="2000" dirty="0">
                <a:solidFill>
                  <a:schemeClr val="bg1"/>
                </a:solidFill>
              </a:rPr>
              <a:t>    </a:t>
            </a:r>
            <a:r>
              <a:rPr lang="en-US" sz="2000" u="sng" dirty="0">
                <a:solidFill>
                  <a:schemeClr val="bg1"/>
                </a:solidFill>
              </a:rPr>
              <a:t>B, C, D</a:t>
            </a:r>
          </a:p>
          <a:p>
            <a:r>
              <a:rPr lang="en-US" sz="2000" dirty="0">
                <a:solidFill>
                  <a:schemeClr val="bg1"/>
                </a:solidFill>
              </a:rPr>
              <a:t>Ancestors mean there is a directed path onto the node.</a:t>
            </a:r>
          </a:p>
        </p:txBody>
      </p:sp>
    </p:spTree>
    <p:extLst>
      <p:ext uri="{BB962C8B-B14F-4D97-AF65-F5344CB8AC3E}">
        <p14:creationId xmlns:p14="http://schemas.microsoft.com/office/powerpoint/2010/main" val="2392726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A3CB-7399-F249-3B99-C88BF455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93759-6266-C5A4-0B37-193DA5655362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DAG: Directed Acyclic Graph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03B98E29-FA1D-61FF-1BF7-A0B098C97C9B}"/>
              </a:ext>
            </a:extLst>
          </p:cNvPr>
          <p:cNvSpPr/>
          <p:nvPr/>
        </p:nvSpPr>
        <p:spPr>
          <a:xfrm>
            <a:off x="1196594" y="186080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0CF7E59-8306-BE40-E714-77C30628D95D}"/>
              </a:ext>
            </a:extLst>
          </p:cNvPr>
          <p:cNvSpPr/>
          <p:nvPr/>
        </p:nvSpPr>
        <p:spPr>
          <a:xfrm>
            <a:off x="1196594" y="20162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66998BF-A505-63FF-DFA3-8806402FE122}"/>
              </a:ext>
            </a:extLst>
          </p:cNvPr>
          <p:cNvSpPr/>
          <p:nvPr/>
        </p:nvSpPr>
        <p:spPr>
          <a:xfrm>
            <a:off x="1196594" y="3686302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DC0BBA2-5038-C09E-D076-9A79978424AA}"/>
              </a:ext>
            </a:extLst>
          </p:cNvPr>
          <p:cNvSpPr/>
          <p:nvPr/>
        </p:nvSpPr>
        <p:spPr>
          <a:xfrm>
            <a:off x="1196594" y="384175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5C34228-95E1-EFC8-3F26-6C27B393B109}"/>
              </a:ext>
            </a:extLst>
          </p:cNvPr>
          <p:cNvSpPr/>
          <p:nvPr/>
        </p:nvSpPr>
        <p:spPr>
          <a:xfrm>
            <a:off x="2691384" y="3613150"/>
            <a:ext cx="621792" cy="62179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F288383-2679-57A2-5E78-30D50F6B423F}"/>
              </a:ext>
            </a:extLst>
          </p:cNvPr>
          <p:cNvSpPr/>
          <p:nvPr/>
        </p:nvSpPr>
        <p:spPr>
          <a:xfrm>
            <a:off x="2691384" y="376859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E9BAAA1-7C61-A066-B5E1-48058462FAAA}"/>
              </a:ext>
            </a:extLst>
          </p:cNvPr>
          <p:cNvSpPr/>
          <p:nvPr/>
        </p:nvSpPr>
        <p:spPr>
          <a:xfrm>
            <a:off x="2590038" y="186080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3AAED51-B0FA-5C55-F86E-E71EA358ABA6}"/>
              </a:ext>
            </a:extLst>
          </p:cNvPr>
          <p:cNvSpPr/>
          <p:nvPr/>
        </p:nvSpPr>
        <p:spPr>
          <a:xfrm>
            <a:off x="2590038" y="20162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B</a:t>
            </a:r>
            <a:endParaRPr lang="en-US" sz="17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347999-5769-F4D5-9800-2B9849B3CA8A}"/>
              </a:ext>
            </a:extLst>
          </p:cNvPr>
          <p:cNvCxnSpPr>
            <a:stCxn id="3" idx="4"/>
            <a:endCxn id="6" idx="0"/>
          </p:cNvCxnSpPr>
          <p:nvPr/>
        </p:nvCxnSpPr>
        <p:spPr>
          <a:xfrm>
            <a:off x="1507490" y="2482596"/>
            <a:ext cx="0" cy="12037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8F84E3-13C2-6CA9-5F3E-81389CEEC04D}"/>
              </a:ext>
            </a:extLst>
          </p:cNvPr>
          <p:cNvCxnSpPr>
            <a:stCxn id="10" idx="4"/>
            <a:endCxn id="6" idx="7"/>
          </p:cNvCxnSpPr>
          <p:nvPr/>
        </p:nvCxnSpPr>
        <p:spPr>
          <a:xfrm flipH="1">
            <a:off x="1727327" y="2482596"/>
            <a:ext cx="1173607" cy="1294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CD0AF6-A643-5157-E106-A72813D8FEEE}"/>
              </a:ext>
            </a:extLst>
          </p:cNvPr>
          <p:cNvCxnSpPr>
            <a:stCxn id="7" idx="3"/>
            <a:endCxn id="8" idx="2"/>
          </p:cNvCxnSpPr>
          <p:nvPr/>
        </p:nvCxnSpPr>
        <p:spPr>
          <a:xfrm flipV="1">
            <a:off x="1818386" y="3924046"/>
            <a:ext cx="872998" cy="320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Shape 2">
            <a:extLst>
              <a:ext uri="{FF2B5EF4-FFF2-40B4-BE49-F238E27FC236}">
                <a16:creationId xmlns:a16="http://schemas.microsoft.com/office/drawing/2014/main" id="{7F9836DE-F5DD-87EA-4799-2D4C20B74F91}"/>
              </a:ext>
            </a:extLst>
          </p:cNvPr>
          <p:cNvSpPr/>
          <p:nvPr/>
        </p:nvSpPr>
        <p:spPr>
          <a:xfrm>
            <a:off x="5830826" y="1787652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57DAF702-2CD5-7DA1-C2FC-F23FCBDBC546}"/>
              </a:ext>
            </a:extLst>
          </p:cNvPr>
          <p:cNvSpPr/>
          <p:nvPr/>
        </p:nvSpPr>
        <p:spPr>
          <a:xfrm>
            <a:off x="5830826" y="194310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9CEC6DEA-72A9-A83E-95C3-8F8277D8421B}"/>
              </a:ext>
            </a:extLst>
          </p:cNvPr>
          <p:cNvSpPr/>
          <p:nvPr/>
        </p:nvSpPr>
        <p:spPr>
          <a:xfrm>
            <a:off x="5830826" y="3613150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AC9CCC58-EDB6-51EA-37D0-81AF9E3E1684}"/>
              </a:ext>
            </a:extLst>
          </p:cNvPr>
          <p:cNvSpPr/>
          <p:nvPr/>
        </p:nvSpPr>
        <p:spPr>
          <a:xfrm>
            <a:off x="5830826" y="376859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4A89D921-49CC-5614-AF9E-6697B53D0896}"/>
              </a:ext>
            </a:extLst>
          </p:cNvPr>
          <p:cNvSpPr/>
          <p:nvPr/>
        </p:nvSpPr>
        <p:spPr>
          <a:xfrm>
            <a:off x="7325616" y="3539998"/>
            <a:ext cx="621792" cy="62179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BBA1D618-9F43-DCA2-A8FA-05A0C30E6B94}"/>
              </a:ext>
            </a:extLst>
          </p:cNvPr>
          <p:cNvSpPr/>
          <p:nvPr/>
        </p:nvSpPr>
        <p:spPr>
          <a:xfrm>
            <a:off x="7325616" y="369544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C195B4D6-3323-2B80-8372-D4D6B35EF99A}"/>
              </a:ext>
            </a:extLst>
          </p:cNvPr>
          <p:cNvSpPr/>
          <p:nvPr/>
        </p:nvSpPr>
        <p:spPr>
          <a:xfrm>
            <a:off x="7224270" y="1738607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2C58CEB3-2603-E52C-6148-E9EFF0A08C06}"/>
              </a:ext>
            </a:extLst>
          </p:cNvPr>
          <p:cNvSpPr/>
          <p:nvPr/>
        </p:nvSpPr>
        <p:spPr>
          <a:xfrm>
            <a:off x="7224270" y="1894055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B</a:t>
            </a:r>
            <a:endParaRPr lang="en-US" sz="17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D33FC4D-9399-4788-3F06-9B46560C933D}"/>
              </a:ext>
            </a:extLst>
          </p:cNvPr>
          <p:cNvCxnSpPr>
            <a:stCxn id="16" idx="4"/>
            <a:endCxn id="19" idx="0"/>
          </p:cNvCxnSpPr>
          <p:nvPr/>
        </p:nvCxnSpPr>
        <p:spPr>
          <a:xfrm>
            <a:off x="6141722" y="2409444"/>
            <a:ext cx="0" cy="12037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F9F9793-7BB8-B7A9-E806-738CEDDD919C}"/>
              </a:ext>
            </a:extLst>
          </p:cNvPr>
          <p:cNvCxnSpPr>
            <a:stCxn id="21" idx="3"/>
            <a:endCxn id="23" idx="2"/>
          </p:cNvCxnSpPr>
          <p:nvPr/>
        </p:nvCxnSpPr>
        <p:spPr>
          <a:xfrm flipV="1">
            <a:off x="6452618" y="3850894"/>
            <a:ext cx="872998" cy="320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F4D9396-73CD-D1E8-D108-21C6D25D3521}"/>
              </a:ext>
            </a:extLst>
          </p:cNvPr>
          <p:cNvCxnSpPr>
            <a:stCxn id="27" idx="2"/>
            <a:endCxn id="18" idx="3"/>
          </p:cNvCxnSpPr>
          <p:nvPr/>
        </p:nvCxnSpPr>
        <p:spPr>
          <a:xfrm flipH="1">
            <a:off x="6452618" y="2049503"/>
            <a:ext cx="771652" cy="7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72E0120-7385-753C-6830-2824710C3522}"/>
              </a:ext>
            </a:extLst>
          </p:cNvPr>
          <p:cNvCxnSpPr>
            <a:stCxn id="19" idx="7"/>
            <a:endCxn id="27" idx="3"/>
          </p:cNvCxnSpPr>
          <p:nvPr/>
        </p:nvCxnSpPr>
        <p:spPr>
          <a:xfrm flipV="1">
            <a:off x="6361559" y="2269340"/>
            <a:ext cx="953770" cy="14348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8634F10-9574-CF1C-DFD3-79503D463624}"/>
              </a:ext>
            </a:extLst>
          </p:cNvPr>
          <p:cNvSpPr txBox="1"/>
          <p:nvPr/>
        </p:nvSpPr>
        <p:spPr>
          <a:xfrm>
            <a:off x="1507490" y="1200150"/>
            <a:ext cx="1183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DAG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AF6FF8-0258-D5F0-9482-20456B566165}"/>
              </a:ext>
            </a:extLst>
          </p:cNvPr>
          <p:cNvSpPr txBox="1"/>
          <p:nvPr/>
        </p:nvSpPr>
        <p:spPr>
          <a:xfrm>
            <a:off x="6038661" y="1175018"/>
            <a:ext cx="1599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NOT DAG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E2C92DC-D0BA-549C-275A-4397B14F817B}"/>
              </a:ext>
            </a:extLst>
          </p:cNvPr>
          <p:cNvCxnSpPr/>
          <p:nvPr/>
        </p:nvCxnSpPr>
        <p:spPr>
          <a:xfrm flipH="1">
            <a:off x="1818386" y="2170384"/>
            <a:ext cx="771652" cy="7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018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B401F-BB2D-D53C-B2FE-259C92D21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2951F4-4265-44BC-BD12-5546DDEBF96D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DAG: Directed Acyclic Graph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127E680-FE0B-0D1A-8510-8556BA5296A6}"/>
              </a:ext>
            </a:extLst>
          </p:cNvPr>
          <p:cNvSpPr/>
          <p:nvPr/>
        </p:nvSpPr>
        <p:spPr>
          <a:xfrm>
            <a:off x="478790" y="991108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DBB30"/>
          </a:solidFill>
          <a:ln w="1270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9A4E4EE0-5EC0-6688-B103-A9BF66A7E442}"/>
              </a:ext>
            </a:extLst>
          </p:cNvPr>
          <p:cNvSpPr/>
          <p:nvPr/>
        </p:nvSpPr>
        <p:spPr>
          <a:xfrm>
            <a:off x="524510" y="107315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EXAMPLE</a:t>
            </a:r>
            <a:endParaRPr lang="en-US" sz="100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E41B8D17-E03D-9FF8-35FC-83BD6C3DD6EF}"/>
              </a:ext>
            </a:extLst>
          </p:cNvPr>
          <p:cNvSpPr/>
          <p:nvPr/>
        </p:nvSpPr>
        <p:spPr>
          <a:xfrm>
            <a:off x="1196594" y="186080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E97A466-FAB1-620B-9DE4-02287F0133DC}"/>
              </a:ext>
            </a:extLst>
          </p:cNvPr>
          <p:cNvSpPr/>
          <p:nvPr/>
        </p:nvSpPr>
        <p:spPr>
          <a:xfrm>
            <a:off x="1196594" y="20162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9326C9A0-362B-4F97-83FF-B6226F403C5D}"/>
              </a:ext>
            </a:extLst>
          </p:cNvPr>
          <p:cNvSpPr/>
          <p:nvPr/>
        </p:nvSpPr>
        <p:spPr>
          <a:xfrm>
            <a:off x="5789676" y="1819656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1C92D401-4B5E-EE88-F917-7FD1CFF98B3C}"/>
              </a:ext>
            </a:extLst>
          </p:cNvPr>
          <p:cNvSpPr/>
          <p:nvPr/>
        </p:nvSpPr>
        <p:spPr>
          <a:xfrm>
            <a:off x="5789676" y="197510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65A4912E-C661-54D8-A233-2787B795A285}"/>
              </a:ext>
            </a:extLst>
          </p:cNvPr>
          <p:cNvSpPr/>
          <p:nvPr/>
        </p:nvSpPr>
        <p:spPr>
          <a:xfrm>
            <a:off x="1818386" y="3596778"/>
            <a:ext cx="621792" cy="62179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DD5AC97C-48E6-437B-1F82-16349BEDF7C4}"/>
              </a:ext>
            </a:extLst>
          </p:cNvPr>
          <p:cNvSpPr/>
          <p:nvPr/>
        </p:nvSpPr>
        <p:spPr>
          <a:xfrm>
            <a:off x="1818386" y="375222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A96B24A6-BAA0-F346-0742-AD41B3D3B8A1}"/>
              </a:ext>
            </a:extLst>
          </p:cNvPr>
          <p:cNvSpPr/>
          <p:nvPr/>
        </p:nvSpPr>
        <p:spPr>
          <a:xfrm>
            <a:off x="3574288" y="1836535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73A88ED4-72FA-19A8-867E-FAE1978991A2}"/>
              </a:ext>
            </a:extLst>
          </p:cNvPr>
          <p:cNvSpPr/>
          <p:nvPr/>
        </p:nvSpPr>
        <p:spPr>
          <a:xfrm>
            <a:off x="3574288" y="1991983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D38FB0-3F0F-477D-E597-D460CF1991EE}"/>
              </a:ext>
            </a:extLst>
          </p:cNvPr>
          <p:cNvSpPr txBox="1"/>
          <p:nvPr/>
        </p:nvSpPr>
        <p:spPr>
          <a:xfrm>
            <a:off x="1196593" y="2571750"/>
            <a:ext cx="550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DD9B0A-631C-69C1-15D9-A40AED8EB49B}"/>
              </a:ext>
            </a:extLst>
          </p:cNvPr>
          <p:cNvSpPr txBox="1"/>
          <p:nvPr/>
        </p:nvSpPr>
        <p:spPr>
          <a:xfrm>
            <a:off x="3351974" y="2590800"/>
            <a:ext cx="1066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Treatment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09AF68-6D6A-1445-895D-E34B6E46DF28}"/>
              </a:ext>
            </a:extLst>
          </p:cNvPr>
          <p:cNvCxnSpPr>
            <a:stCxn id="20" idx="3"/>
            <a:endCxn id="30" idx="2"/>
          </p:cNvCxnSpPr>
          <p:nvPr/>
        </p:nvCxnSpPr>
        <p:spPr>
          <a:xfrm>
            <a:off x="1818386" y="2130552"/>
            <a:ext cx="1755902" cy="16879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05D851B-19D7-AD81-6856-59C742A9B92E}"/>
              </a:ext>
            </a:extLst>
          </p:cNvPr>
          <p:cNvSpPr txBox="1"/>
          <p:nvPr/>
        </p:nvSpPr>
        <p:spPr>
          <a:xfrm>
            <a:off x="5567362" y="2571750"/>
            <a:ext cx="1066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Recovery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E0952E-CC74-D0D4-D99D-28FE69A05C7D}"/>
              </a:ext>
            </a:extLst>
          </p:cNvPr>
          <p:cNvSpPr txBox="1"/>
          <p:nvPr/>
        </p:nvSpPr>
        <p:spPr>
          <a:xfrm>
            <a:off x="1643348" y="4231453"/>
            <a:ext cx="971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Severity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F067325-C874-3EDF-14D3-284AF5DF923C}"/>
              </a:ext>
            </a:extLst>
          </p:cNvPr>
          <p:cNvCxnSpPr>
            <a:stCxn id="30" idx="6"/>
            <a:endCxn id="22" idx="2"/>
          </p:cNvCxnSpPr>
          <p:nvPr/>
        </p:nvCxnSpPr>
        <p:spPr>
          <a:xfrm flipV="1">
            <a:off x="4196080" y="2130552"/>
            <a:ext cx="1593596" cy="1687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4F2764E-7F65-89F5-BE22-189B718666E4}"/>
              </a:ext>
            </a:extLst>
          </p:cNvPr>
          <p:cNvCxnSpPr>
            <a:stCxn id="26" idx="7"/>
            <a:endCxn id="30" idx="3"/>
          </p:cNvCxnSpPr>
          <p:nvPr/>
        </p:nvCxnSpPr>
        <p:spPr>
          <a:xfrm flipV="1">
            <a:off x="2349119" y="2367268"/>
            <a:ext cx="1316228" cy="132056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7CACF8-881D-34D6-E19E-1FE46D767F00}"/>
              </a:ext>
            </a:extLst>
          </p:cNvPr>
          <p:cNvCxnSpPr>
            <a:cxnSpLocks/>
            <a:stCxn id="26" idx="6"/>
          </p:cNvCxnSpPr>
          <p:nvPr/>
        </p:nvCxnSpPr>
        <p:spPr>
          <a:xfrm flipV="1">
            <a:off x="2440178" y="2233466"/>
            <a:ext cx="3349498" cy="167420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 21">
            <a:extLst>
              <a:ext uri="{FF2B5EF4-FFF2-40B4-BE49-F238E27FC236}">
                <a16:creationId xmlns:a16="http://schemas.microsoft.com/office/drawing/2014/main" id="{B93C5E1F-A1A9-FF39-3B6A-15830671D98A}"/>
              </a:ext>
            </a:extLst>
          </p:cNvPr>
          <p:cNvSpPr/>
          <p:nvPr/>
        </p:nvSpPr>
        <p:spPr>
          <a:xfrm>
            <a:off x="4267074" y="3306754"/>
            <a:ext cx="4491101" cy="137390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8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and baseline severity influence both treatment choice and recovery; treatment itself may improve recovery.</a:t>
            </a:r>
            <a:endParaRPr lang="en-US" sz="1850" dirty="0"/>
          </a:p>
        </p:txBody>
      </p: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018ECE6F-603A-8036-9656-E6F0AED3BF71}"/>
              </a:ext>
            </a:extLst>
          </p:cNvPr>
          <p:cNvCxnSpPr>
            <a:stCxn id="17" idx="7"/>
            <a:endCxn id="22" idx="1"/>
          </p:cNvCxnSpPr>
          <p:nvPr/>
        </p:nvCxnSpPr>
        <p:spPr>
          <a:xfrm rot="5400000" flipH="1" flipV="1">
            <a:off x="3783457" y="-145415"/>
            <a:ext cx="41148" cy="4153408"/>
          </a:xfrm>
          <a:prstGeom prst="curvedConnector3">
            <a:avLst>
              <a:gd name="adj1" fmla="val 876852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492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95C70-A9B9-A84F-7F50-55889B75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CE8C2F-58DF-4058-54E2-CA74AE04F5F7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DAG: Directed Acyclic Graph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D1F41D19-37FD-01A8-9DB6-26F710896754}"/>
              </a:ext>
            </a:extLst>
          </p:cNvPr>
          <p:cNvSpPr/>
          <p:nvPr/>
        </p:nvSpPr>
        <p:spPr>
          <a:xfrm>
            <a:off x="1078992" y="1520190"/>
            <a:ext cx="186537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9915A44-71DB-FA60-AE6A-5AFDBA15DC17}"/>
              </a:ext>
            </a:extLst>
          </p:cNvPr>
          <p:cNvSpPr/>
          <p:nvPr/>
        </p:nvSpPr>
        <p:spPr>
          <a:xfrm>
            <a:off x="3639312" y="1520190"/>
            <a:ext cx="186537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557BC78-1EE5-9126-F814-9F40603B4CA1}"/>
              </a:ext>
            </a:extLst>
          </p:cNvPr>
          <p:cNvSpPr/>
          <p:nvPr/>
        </p:nvSpPr>
        <p:spPr>
          <a:xfrm>
            <a:off x="6199632" y="1520190"/>
            <a:ext cx="186537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D9BC75C3-6DB3-9015-518A-8A9F8C59C9F5}"/>
              </a:ext>
            </a:extLst>
          </p:cNvPr>
          <p:cNvSpPr/>
          <p:nvPr/>
        </p:nvSpPr>
        <p:spPr>
          <a:xfrm>
            <a:off x="3560341" y="1740744"/>
            <a:ext cx="2161009" cy="119565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E2A673AD-DC22-3650-9FBB-3629B50831FF}"/>
              </a:ext>
            </a:extLst>
          </p:cNvPr>
          <p:cNvSpPr/>
          <p:nvPr/>
        </p:nvSpPr>
        <p:spPr>
          <a:xfrm>
            <a:off x="420624" y="120929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F85C650C-7EE8-33E4-C787-307B9C7D2060}"/>
              </a:ext>
            </a:extLst>
          </p:cNvPr>
          <p:cNvSpPr/>
          <p:nvPr/>
        </p:nvSpPr>
        <p:spPr>
          <a:xfrm>
            <a:off x="420624" y="136474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3661D4DE-4EEB-8059-6131-C1667360CA6F}"/>
              </a:ext>
            </a:extLst>
          </p:cNvPr>
          <p:cNvSpPr/>
          <p:nvPr/>
        </p:nvSpPr>
        <p:spPr>
          <a:xfrm>
            <a:off x="2980944" y="120929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11243559-A96E-F030-E94F-DC91D8B2126B}"/>
              </a:ext>
            </a:extLst>
          </p:cNvPr>
          <p:cNvSpPr/>
          <p:nvPr/>
        </p:nvSpPr>
        <p:spPr>
          <a:xfrm>
            <a:off x="2980944" y="136474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D2B409-274D-D800-729A-ACA8A82795FD}"/>
              </a:ext>
            </a:extLst>
          </p:cNvPr>
          <p:cNvSpPr/>
          <p:nvPr/>
        </p:nvSpPr>
        <p:spPr>
          <a:xfrm>
            <a:off x="5541264" y="1209294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BC931DE-DD7B-7B16-E6D3-8FE05262B1BE}"/>
              </a:ext>
            </a:extLst>
          </p:cNvPr>
          <p:cNvSpPr/>
          <p:nvPr/>
        </p:nvSpPr>
        <p:spPr>
          <a:xfrm>
            <a:off x="5541264" y="136474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6E6184D-63BE-8255-E71E-84FE2E43FC0D}"/>
              </a:ext>
            </a:extLst>
          </p:cNvPr>
          <p:cNvSpPr/>
          <p:nvPr/>
        </p:nvSpPr>
        <p:spPr>
          <a:xfrm>
            <a:off x="8101584" y="1209294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056CBA-3771-DA64-314E-586CF23EC41A}"/>
              </a:ext>
            </a:extLst>
          </p:cNvPr>
          <p:cNvSpPr/>
          <p:nvPr/>
        </p:nvSpPr>
        <p:spPr>
          <a:xfrm>
            <a:off x="8101584" y="136474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73A6AFA-1B89-4652-27B6-94BF747B96B6}"/>
              </a:ext>
            </a:extLst>
          </p:cNvPr>
          <p:cNvSpPr/>
          <p:nvPr/>
        </p:nvSpPr>
        <p:spPr>
          <a:xfrm>
            <a:off x="5668264" y="2780964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7761DC1-E8C6-2D44-53F6-8E6FB3091A59}"/>
              </a:ext>
            </a:extLst>
          </p:cNvPr>
          <p:cNvSpPr/>
          <p:nvPr/>
        </p:nvSpPr>
        <p:spPr>
          <a:xfrm>
            <a:off x="5668264" y="29364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7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A9420556-0A07-CFFE-04CA-D85E6FE72944}"/>
              </a:ext>
            </a:extLst>
          </p:cNvPr>
          <p:cNvSpPr/>
          <p:nvPr/>
        </p:nvSpPr>
        <p:spPr>
          <a:xfrm>
            <a:off x="388655" y="3930845"/>
            <a:ext cx="8504379" cy="62179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ctr">
              <a:buClr>
                <a:schemeClr val="bg1"/>
              </a:buClr>
              <a:buAutoNum type="arabicPeriod"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of C?       2. Descendants of B?    </a:t>
            </a:r>
          </a:p>
          <a:p>
            <a:pPr marL="457200" indent="-457200" algn="ctr">
              <a:buAutoNum type="arabicPeriod"/>
            </a:pPr>
            <a:r>
              <a:rPr lang="en-US" sz="24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Ancestors of D?    4. Is E an ancestor of D?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86264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BC9DD-53BD-9596-5A71-4B1A57DD5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0B102B-6A0E-B10A-BBBD-C5051D8BE099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Paths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5E105-40CF-E7F5-1366-C17CCEC290CE}"/>
              </a:ext>
            </a:extLst>
          </p:cNvPr>
          <p:cNvSpPr txBox="1"/>
          <p:nvPr/>
        </p:nvSpPr>
        <p:spPr>
          <a:xfrm>
            <a:off x="577850" y="812800"/>
            <a:ext cx="8077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A path is a sequence of adjacent edges, regardless of arrow directions.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A directed path is where every arrow must point along the path.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A67F3ACD-B0CC-5DB7-53BF-67DAE039F719}"/>
              </a:ext>
            </a:extLst>
          </p:cNvPr>
          <p:cNvSpPr/>
          <p:nvPr/>
        </p:nvSpPr>
        <p:spPr>
          <a:xfrm flipH="1">
            <a:off x="1119997" y="2787896"/>
            <a:ext cx="631825" cy="680649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D5BB1650-ED83-B371-CC22-073561A9E348}"/>
              </a:ext>
            </a:extLst>
          </p:cNvPr>
          <p:cNvSpPr/>
          <p:nvPr/>
        </p:nvSpPr>
        <p:spPr>
          <a:xfrm>
            <a:off x="2269441" y="2576060"/>
            <a:ext cx="2924859" cy="861059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977689A-37A1-E8C1-6A64-4475EE37A927}"/>
              </a:ext>
            </a:extLst>
          </p:cNvPr>
          <p:cNvSpPr/>
          <p:nvPr/>
        </p:nvSpPr>
        <p:spPr>
          <a:xfrm>
            <a:off x="1217168" y="3665720"/>
            <a:ext cx="186537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6BA830C5-B466-4CEE-9F8F-92A97E95E268}"/>
              </a:ext>
            </a:extLst>
          </p:cNvPr>
          <p:cNvSpPr/>
          <p:nvPr/>
        </p:nvSpPr>
        <p:spPr>
          <a:xfrm>
            <a:off x="3777488" y="3665720"/>
            <a:ext cx="1371600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8B42D587-73ED-BE59-BCBB-11969C73EE84}"/>
              </a:ext>
            </a:extLst>
          </p:cNvPr>
          <p:cNvSpPr/>
          <p:nvPr/>
        </p:nvSpPr>
        <p:spPr>
          <a:xfrm>
            <a:off x="1651953" y="2290128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B90195E8-F87D-FE33-1CBE-E4CB38771A82}"/>
              </a:ext>
            </a:extLst>
          </p:cNvPr>
          <p:cNvSpPr/>
          <p:nvPr/>
        </p:nvSpPr>
        <p:spPr>
          <a:xfrm>
            <a:off x="1651953" y="244557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469DDDEF-6251-B4FF-F30C-FB1A99FE7329}"/>
              </a:ext>
            </a:extLst>
          </p:cNvPr>
          <p:cNvSpPr/>
          <p:nvPr/>
        </p:nvSpPr>
        <p:spPr>
          <a:xfrm>
            <a:off x="1368489" y="29484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confounder</a:t>
            </a:r>
            <a:endParaRPr lang="en-US" sz="1200" dirty="0"/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72A6BFEC-70CB-2B64-2D00-A765ED0E94CE}"/>
              </a:ext>
            </a:extLst>
          </p:cNvPr>
          <p:cNvSpPr/>
          <p:nvPr/>
        </p:nvSpPr>
        <p:spPr>
          <a:xfrm>
            <a:off x="558800" y="335482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C65598E7-B79B-14B5-98E4-07F99A6B7D2A}"/>
              </a:ext>
            </a:extLst>
          </p:cNvPr>
          <p:cNvSpPr/>
          <p:nvPr/>
        </p:nvSpPr>
        <p:spPr>
          <a:xfrm>
            <a:off x="558800" y="35102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A1E16F98-ABD5-43FF-F346-9281E8E3A9FB}"/>
              </a:ext>
            </a:extLst>
          </p:cNvPr>
          <p:cNvSpPr/>
          <p:nvPr/>
        </p:nvSpPr>
        <p:spPr>
          <a:xfrm>
            <a:off x="275336" y="40055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D2D72882-8E83-494E-F51A-C83215298542}"/>
              </a:ext>
            </a:extLst>
          </p:cNvPr>
          <p:cNvSpPr/>
          <p:nvPr/>
        </p:nvSpPr>
        <p:spPr>
          <a:xfrm>
            <a:off x="3119120" y="3354824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E9170D72-6CC9-9D88-5A2C-5D0988385E32}"/>
              </a:ext>
            </a:extLst>
          </p:cNvPr>
          <p:cNvSpPr/>
          <p:nvPr/>
        </p:nvSpPr>
        <p:spPr>
          <a:xfrm>
            <a:off x="3119120" y="35102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3F890A3D-8E3E-69F8-183C-E51C50D1CEAD}"/>
              </a:ext>
            </a:extLst>
          </p:cNvPr>
          <p:cNvSpPr/>
          <p:nvPr/>
        </p:nvSpPr>
        <p:spPr>
          <a:xfrm>
            <a:off x="2835656" y="4013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mediator</a:t>
            </a:r>
            <a:endParaRPr lang="en-US" sz="1200" dirty="0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9B5A8C34-28F9-F0D1-8A32-5F8DF082AAAC}"/>
              </a:ext>
            </a:extLst>
          </p:cNvPr>
          <p:cNvSpPr/>
          <p:nvPr/>
        </p:nvSpPr>
        <p:spPr>
          <a:xfrm>
            <a:off x="5149088" y="3331448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4A7EC171-0545-2EF7-7925-B05332739D1C}"/>
              </a:ext>
            </a:extLst>
          </p:cNvPr>
          <p:cNvSpPr/>
          <p:nvPr/>
        </p:nvSpPr>
        <p:spPr>
          <a:xfrm>
            <a:off x="5149088" y="348689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CFA6956E-0064-9EB0-01C0-FB30D69B0251}"/>
              </a:ext>
            </a:extLst>
          </p:cNvPr>
          <p:cNvSpPr/>
          <p:nvPr/>
        </p:nvSpPr>
        <p:spPr>
          <a:xfrm>
            <a:off x="4945888" y="39532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13037AB-523E-71E1-CEF6-1B4994FFAC3C}"/>
                  </a:ext>
                </a:extLst>
              </p:cNvPr>
              <p:cNvSpPr txBox="1"/>
              <p:nvPr/>
            </p:nvSpPr>
            <p:spPr>
              <a:xfrm>
                <a:off x="5974080" y="2053703"/>
                <a:ext cx="277906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1" dirty="0">
                    <a:solidFill>
                      <a:srgbClr val="FFFF00"/>
                    </a:solidFill>
                  </a:rPr>
                  <a:t>Causal Path: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M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Y</a:t>
                </a:r>
              </a:p>
              <a:p>
                <a:pPr algn="ctr"/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b="1" dirty="0">
                    <a:solidFill>
                      <a:srgbClr val="FFFF00"/>
                    </a:solidFill>
                  </a:rPr>
                  <a:t>Non-causal Path: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C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Y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13037AB-523E-71E1-CEF6-1B4994FFA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080" y="2053703"/>
                <a:ext cx="2779063" cy="2031325"/>
              </a:xfrm>
              <a:prstGeom prst="rect">
                <a:avLst/>
              </a:prstGeom>
              <a:blipFill>
                <a:blip r:embed="rId2"/>
                <a:stretch>
                  <a:fillRect l="-1754" t="-18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0932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7F209-9D66-42CF-43D2-483EAA001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BA6DBE-DA3A-CD55-8B37-B4F549F4329A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Three Building Blocks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68B60D2-6427-15B9-33D7-8132C80C72AE}"/>
              </a:ext>
            </a:extLst>
          </p:cNvPr>
          <p:cNvSpPr/>
          <p:nvPr/>
        </p:nvSpPr>
        <p:spPr>
          <a:xfrm>
            <a:off x="303530" y="1004570"/>
            <a:ext cx="2744470" cy="2945130"/>
          </a:xfrm>
          <a:prstGeom prst="roundRect">
            <a:avLst>
              <a:gd name="adj" fmla="val 3636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087C425-4A28-9EEB-E2EC-0D914A60BABF}"/>
              </a:ext>
            </a:extLst>
          </p:cNvPr>
          <p:cNvSpPr/>
          <p:nvPr/>
        </p:nvSpPr>
        <p:spPr>
          <a:xfrm>
            <a:off x="303530" y="1251458"/>
            <a:ext cx="2646180" cy="30206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EFEA5F9B-DBCD-583F-0729-C5BEEFEFCE8F}"/>
                  </a:ext>
                </a:extLst>
              </p:cNvPr>
              <p:cNvSpPr/>
              <p:nvPr/>
            </p:nvSpPr>
            <p:spPr>
              <a:xfrm>
                <a:off x="303530" y="2089917"/>
                <a:ext cx="2646180" cy="415339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171717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→</m:t>
                    </m:r>
                  </m:oMath>
                </a14:m>
                <a:r>
                  <a:rPr lang="en-US" sz="2400" b="1" dirty="0">
                    <a:solidFill>
                      <a:srgbClr val="171717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Z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→</m:t>
                    </m:r>
                  </m:oMath>
                </a14:m>
                <a:r>
                  <a:rPr lang="en-US" sz="2400" b="1" dirty="0">
                    <a:solidFill>
                      <a:srgbClr val="171717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Y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EFEA5F9B-DBCD-583F-0729-C5BEEFEFCE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30" y="2089917"/>
                <a:ext cx="2646180" cy="415339"/>
              </a:xfrm>
              <a:prstGeom prst="rect">
                <a:avLst/>
              </a:prstGeom>
              <a:blipFill>
                <a:blip r:embed="rId2"/>
                <a:stretch>
                  <a:fillRect t="-17647" b="-3823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4">
            <a:extLst>
              <a:ext uri="{FF2B5EF4-FFF2-40B4-BE49-F238E27FC236}">
                <a16:creationId xmlns:a16="http://schemas.microsoft.com/office/drawing/2014/main" id="{E80D8652-4F99-CDA5-C39B-E22F37FDF114}"/>
              </a:ext>
            </a:extLst>
          </p:cNvPr>
          <p:cNvSpPr/>
          <p:nvPr/>
        </p:nvSpPr>
        <p:spPr>
          <a:xfrm>
            <a:off x="352675" y="3009900"/>
            <a:ext cx="2646180" cy="71740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association</a:t>
            </a:r>
            <a:endParaRPr lang="en-US" sz="18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DA7F0988-0E50-5383-6C9C-50A317884154}"/>
              </a:ext>
            </a:extLst>
          </p:cNvPr>
          <p:cNvSpPr/>
          <p:nvPr/>
        </p:nvSpPr>
        <p:spPr>
          <a:xfrm>
            <a:off x="3263899" y="1004570"/>
            <a:ext cx="2743200" cy="2945130"/>
          </a:xfrm>
          <a:prstGeom prst="roundRect">
            <a:avLst>
              <a:gd name="adj" fmla="val 3636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EF80010-A4D1-186F-14CF-D2385C737306}"/>
              </a:ext>
            </a:extLst>
          </p:cNvPr>
          <p:cNvSpPr/>
          <p:nvPr/>
        </p:nvSpPr>
        <p:spPr>
          <a:xfrm>
            <a:off x="3368768" y="1206407"/>
            <a:ext cx="2533457" cy="30206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7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F440EE1A-0B5D-C692-EB2B-4EF78865802B}"/>
              </a:ext>
            </a:extLst>
          </p:cNvPr>
          <p:cNvSpPr/>
          <p:nvPr/>
        </p:nvSpPr>
        <p:spPr>
          <a:xfrm>
            <a:off x="3368770" y="2061796"/>
            <a:ext cx="2533457" cy="41533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17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← Z → Y</a:t>
            </a:r>
            <a:endParaRPr lang="en-US" sz="24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154CC05-A5BD-3F0A-536A-7C909A53157A}"/>
              </a:ext>
            </a:extLst>
          </p:cNvPr>
          <p:cNvSpPr/>
          <p:nvPr/>
        </p:nvSpPr>
        <p:spPr>
          <a:xfrm>
            <a:off x="3368769" y="2962729"/>
            <a:ext cx="2533457" cy="7174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cause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confounding</a:t>
            </a:r>
            <a:endParaRPr lang="en-US" sz="18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642B33F2-85D2-52C7-079F-D949835B395E}"/>
              </a:ext>
            </a:extLst>
          </p:cNvPr>
          <p:cNvSpPr/>
          <p:nvPr/>
        </p:nvSpPr>
        <p:spPr>
          <a:xfrm>
            <a:off x="6123129" y="1004569"/>
            <a:ext cx="2743200" cy="2945130"/>
          </a:xfrm>
          <a:prstGeom prst="roundRect">
            <a:avLst>
              <a:gd name="adj" fmla="val 3636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84FD753E-262C-C0AC-137B-AFB47BAE0C1E}"/>
              </a:ext>
            </a:extLst>
          </p:cNvPr>
          <p:cNvSpPr/>
          <p:nvPr/>
        </p:nvSpPr>
        <p:spPr>
          <a:xfrm>
            <a:off x="6123129" y="1206915"/>
            <a:ext cx="2476062" cy="30206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COLLIDER</a:t>
            </a:r>
            <a:endParaRPr lang="en-US" sz="17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C78D398-E81D-91D7-BDBD-D7185E67222C}"/>
              </a:ext>
            </a:extLst>
          </p:cNvPr>
          <p:cNvSpPr/>
          <p:nvPr/>
        </p:nvSpPr>
        <p:spPr>
          <a:xfrm>
            <a:off x="6281775" y="2089917"/>
            <a:ext cx="2476062" cy="41533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17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→ Z ← Y</a:t>
            </a:r>
            <a:endParaRPr lang="en-US" sz="24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087BF879-94A0-D4EE-CB07-E3828E2EFE59}"/>
              </a:ext>
            </a:extLst>
          </p:cNvPr>
          <p:cNvSpPr/>
          <p:nvPr/>
        </p:nvSpPr>
        <p:spPr>
          <a:xfrm>
            <a:off x="6281775" y="3016249"/>
            <a:ext cx="2476062" cy="71740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effect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800" dirty="0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5264D1EE-E896-3180-A177-8E685B347016}"/>
              </a:ext>
            </a:extLst>
          </p:cNvPr>
          <p:cNvSpPr/>
          <p:nvPr/>
        </p:nvSpPr>
        <p:spPr>
          <a:xfrm>
            <a:off x="603250" y="4320540"/>
            <a:ext cx="8108950" cy="523220"/>
          </a:xfrm>
          <a:prstGeom prst="roundRect">
            <a:avLst>
              <a:gd name="adj" fmla="val 19355"/>
            </a:avLst>
          </a:prstGeom>
          <a:solidFill>
            <a:srgbClr val="E88A8A"/>
          </a:solidFill>
          <a:ln w="15240">
            <a:solidFill>
              <a:srgbClr val="E88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3E24336A-BADC-4FCB-17D5-9E6CF0A7813E}"/>
              </a:ext>
            </a:extLst>
          </p:cNvPr>
          <p:cNvSpPr/>
          <p:nvPr/>
        </p:nvSpPr>
        <p:spPr>
          <a:xfrm>
            <a:off x="724932" y="4375404"/>
            <a:ext cx="7804388" cy="4219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 behaves differently in the collider.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3207195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001F9-EE27-13A2-F67B-D9A246AB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88867B-D980-6CA7-25B7-308F96AF0704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Structure 1: Chain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40EF7C1-54EB-F793-0756-026DD58CD37F}"/>
              </a:ext>
            </a:extLst>
          </p:cNvPr>
          <p:cNvSpPr/>
          <p:nvPr/>
        </p:nvSpPr>
        <p:spPr>
          <a:xfrm>
            <a:off x="422910" y="805688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DBB30"/>
          </a:solidFill>
          <a:ln w="1270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4B39CF3-F41B-BFA7-2D11-27058C3733D2}"/>
              </a:ext>
            </a:extLst>
          </p:cNvPr>
          <p:cNvSpPr/>
          <p:nvPr/>
        </p:nvSpPr>
        <p:spPr>
          <a:xfrm>
            <a:off x="468630" y="8879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10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4C6BE5D8-8230-6584-CFA3-FBC8F7B4C611}"/>
              </a:ext>
            </a:extLst>
          </p:cNvPr>
          <p:cNvSpPr/>
          <p:nvPr/>
        </p:nvSpPr>
        <p:spPr>
          <a:xfrm>
            <a:off x="1764792" y="1651000"/>
            <a:ext cx="245973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8282071C-C18B-5C8A-4DE1-353D67E4C417}"/>
              </a:ext>
            </a:extLst>
          </p:cNvPr>
          <p:cNvSpPr/>
          <p:nvPr/>
        </p:nvSpPr>
        <p:spPr>
          <a:xfrm>
            <a:off x="4919472" y="1651000"/>
            <a:ext cx="245973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27160866-10A4-863B-593C-96008687207E}"/>
              </a:ext>
            </a:extLst>
          </p:cNvPr>
          <p:cNvSpPr/>
          <p:nvPr/>
        </p:nvSpPr>
        <p:spPr>
          <a:xfrm>
            <a:off x="1106424" y="134010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6DD030E1-38BE-9003-32B5-6DDE570A81EA}"/>
              </a:ext>
            </a:extLst>
          </p:cNvPr>
          <p:cNvSpPr/>
          <p:nvPr/>
        </p:nvSpPr>
        <p:spPr>
          <a:xfrm>
            <a:off x="1106424" y="14955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7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C609C11E-DF59-C625-B32C-302FEBBC01C9}"/>
              </a:ext>
            </a:extLst>
          </p:cNvPr>
          <p:cNvSpPr/>
          <p:nvPr/>
        </p:nvSpPr>
        <p:spPr>
          <a:xfrm>
            <a:off x="4261104" y="1340104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6FC04BBE-71CE-AE98-7AAB-92AC0B25594F}"/>
              </a:ext>
            </a:extLst>
          </p:cNvPr>
          <p:cNvSpPr/>
          <p:nvPr/>
        </p:nvSpPr>
        <p:spPr>
          <a:xfrm>
            <a:off x="4261104" y="14955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70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62364CFD-6572-AE0D-FA93-1072260AFEE4}"/>
              </a:ext>
            </a:extLst>
          </p:cNvPr>
          <p:cNvSpPr/>
          <p:nvPr/>
        </p:nvSpPr>
        <p:spPr>
          <a:xfrm>
            <a:off x="7415784" y="1340104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77E020EA-495D-C10B-A87A-35620D8E68D6}"/>
              </a:ext>
            </a:extLst>
          </p:cNvPr>
          <p:cNvSpPr/>
          <p:nvPr/>
        </p:nvSpPr>
        <p:spPr>
          <a:xfrm>
            <a:off x="7415784" y="14955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14F5E6-4E29-440E-7A6A-A43413012226}"/>
              </a:ext>
            </a:extLst>
          </p:cNvPr>
          <p:cNvSpPr txBox="1"/>
          <p:nvPr/>
        </p:nvSpPr>
        <p:spPr>
          <a:xfrm>
            <a:off x="422910" y="2222500"/>
            <a:ext cx="81813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X influences Y through Z.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Without conditioning: path open. 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X and Y can be associated.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Intuition: once Z is known, X supplies no additional information about Y through this chain.</a:t>
            </a:r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51DA1F9F-9E17-2699-1EB3-8461CF006ABC}"/>
              </a:ext>
            </a:extLst>
          </p:cNvPr>
          <p:cNvSpPr/>
          <p:nvPr/>
        </p:nvSpPr>
        <p:spPr>
          <a:xfrm>
            <a:off x="4011596" y="2631806"/>
            <a:ext cx="3925570" cy="642115"/>
          </a:xfrm>
          <a:prstGeom prst="roundRect">
            <a:avLst>
              <a:gd name="adj" fmla="val 19355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11">
                <a:extLst>
                  <a:ext uri="{FF2B5EF4-FFF2-40B4-BE49-F238E27FC236}">
                    <a16:creationId xmlns:a16="http://schemas.microsoft.com/office/drawing/2014/main" id="{A36B829B-184E-1D1F-B5E9-7B4EADA0163C}"/>
                  </a:ext>
                </a:extLst>
              </p:cNvPr>
              <p:cNvSpPr/>
              <p:nvPr/>
            </p:nvSpPr>
            <p:spPr>
              <a:xfrm>
                <a:off x="4085316" y="2693947"/>
                <a:ext cx="3778131" cy="517835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95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𝑿</m:t>
                    </m:r>
                    <m:r>
                      <a:rPr lang="en-US" sz="195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⟂ </m:t>
                    </m:r>
                    <m:r>
                      <a:rPr lang="en-US" sz="195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𝒀</m:t>
                    </m:r>
                    <m:r>
                      <a:rPr lang="en-US" sz="195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| </m:t>
                    </m:r>
                    <m:r>
                      <a:rPr lang="en-US" sz="195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𝒁</m:t>
                    </m:r>
                    <m:r>
                      <a:rPr lang="en-US" sz="195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  </m:t>
                    </m:r>
                  </m:oMath>
                </a14:m>
                <a:r>
                  <a:rPr lang="en-US" sz="1950" b="1" dirty="0">
                    <a:solidFill>
                      <a:srgbClr val="17171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(for this path)</a:t>
                </a:r>
                <a:endParaRPr lang="en-US" sz="1950" dirty="0"/>
              </a:p>
            </p:txBody>
          </p:sp>
        </mc:Choice>
        <mc:Fallback xmlns="">
          <p:sp>
            <p:nvSpPr>
              <p:cNvPr id="40" name="Text 11">
                <a:extLst>
                  <a:ext uri="{FF2B5EF4-FFF2-40B4-BE49-F238E27FC236}">
                    <a16:creationId xmlns:a16="http://schemas.microsoft.com/office/drawing/2014/main" id="{A36B829B-184E-1D1F-B5E9-7B4EADA016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316" y="2693947"/>
                <a:ext cx="3778131" cy="517835"/>
              </a:xfrm>
              <a:prstGeom prst="rect">
                <a:avLst/>
              </a:prstGeom>
              <a:blipFill>
                <a:blip r:embed="rId2"/>
                <a:stretch>
                  <a:fillRect b="-941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1916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12364-A07E-C97D-6EC2-BF03CD093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8724EF-F640-F5C7-A364-1E87C9EDD7D9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Structure 2: Fork / Common Cause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95E7547-7400-0A2E-C358-3A9D916B608D}"/>
              </a:ext>
            </a:extLst>
          </p:cNvPr>
          <p:cNvSpPr/>
          <p:nvPr/>
        </p:nvSpPr>
        <p:spPr>
          <a:xfrm>
            <a:off x="422910" y="805688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DBB30"/>
          </a:solidFill>
          <a:ln w="1270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917A20B-852E-8587-4CBA-A341E65ED0D8}"/>
              </a:ext>
            </a:extLst>
          </p:cNvPr>
          <p:cNvSpPr/>
          <p:nvPr/>
        </p:nvSpPr>
        <p:spPr>
          <a:xfrm>
            <a:off x="468630" y="8879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0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689CC3F6-D026-A5B1-AC15-7B26AF321D9C}"/>
              </a:ext>
            </a:extLst>
          </p:cNvPr>
          <p:cNvSpPr/>
          <p:nvPr/>
        </p:nvSpPr>
        <p:spPr>
          <a:xfrm flipH="1">
            <a:off x="1728216" y="1651000"/>
            <a:ext cx="2532888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6FED4FB0-D845-9FBB-88D2-566458C782FD}"/>
              </a:ext>
            </a:extLst>
          </p:cNvPr>
          <p:cNvSpPr/>
          <p:nvPr/>
        </p:nvSpPr>
        <p:spPr>
          <a:xfrm>
            <a:off x="4919472" y="1651000"/>
            <a:ext cx="245973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D650906A-156B-52EC-8E18-381AAF586489}"/>
              </a:ext>
            </a:extLst>
          </p:cNvPr>
          <p:cNvSpPr/>
          <p:nvPr/>
        </p:nvSpPr>
        <p:spPr>
          <a:xfrm>
            <a:off x="1106424" y="134010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160C01E9-135E-2C43-3099-1E5C5ACE40E4}"/>
              </a:ext>
            </a:extLst>
          </p:cNvPr>
          <p:cNvSpPr/>
          <p:nvPr/>
        </p:nvSpPr>
        <p:spPr>
          <a:xfrm>
            <a:off x="1106424" y="14955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7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1784C51D-23CF-74A6-BD4D-A29261C861EC}"/>
              </a:ext>
            </a:extLst>
          </p:cNvPr>
          <p:cNvSpPr/>
          <p:nvPr/>
        </p:nvSpPr>
        <p:spPr>
          <a:xfrm>
            <a:off x="4261104" y="1340104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83A0EB39-308E-6AF1-924E-CC1AC940917A}"/>
              </a:ext>
            </a:extLst>
          </p:cNvPr>
          <p:cNvSpPr/>
          <p:nvPr/>
        </p:nvSpPr>
        <p:spPr>
          <a:xfrm>
            <a:off x="4261104" y="14955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70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E9F95258-2CF0-836A-38FE-30511CD36BD8}"/>
              </a:ext>
            </a:extLst>
          </p:cNvPr>
          <p:cNvSpPr/>
          <p:nvPr/>
        </p:nvSpPr>
        <p:spPr>
          <a:xfrm>
            <a:off x="7415784" y="1340104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FA92A3C6-CCD4-590C-2DAC-892C7B06CF92}"/>
              </a:ext>
            </a:extLst>
          </p:cNvPr>
          <p:cNvSpPr/>
          <p:nvPr/>
        </p:nvSpPr>
        <p:spPr>
          <a:xfrm>
            <a:off x="7415784" y="14955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9766D7-EDA0-2F97-D94D-06B7FADBFCF1}"/>
              </a:ext>
            </a:extLst>
          </p:cNvPr>
          <p:cNvSpPr txBox="1"/>
          <p:nvPr/>
        </p:nvSpPr>
        <p:spPr>
          <a:xfrm>
            <a:off x="422910" y="2542186"/>
            <a:ext cx="81813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A shared cause can make X and Y associated even when X does not cause Y.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Stratifying on the common cause</a:t>
            </a:r>
          </a:p>
          <a:p>
            <a:r>
              <a:rPr lang="en-US" sz="1800" dirty="0">
                <a:solidFill>
                  <a:schemeClr val="bg1"/>
                </a:solidFill>
              </a:rPr>
              <a:t>removes the spurious pathway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through Z. </a:t>
            </a:r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9E3EC9A4-C304-CAFE-416E-4798C1C9CB9C}"/>
              </a:ext>
            </a:extLst>
          </p:cNvPr>
          <p:cNvSpPr/>
          <p:nvPr/>
        </p:nvSpPr>
        <p:spPr>
          <a:xfrm>
            <a:off x="4732020" y="3369210"/>
            <a:ext cx="3925570" cy="642115"/>
          </a:xfrm>
          <a:prstGeom prst="roundRect">
            <a:avLst>
              <a:gd name="adj" fmla="val 19355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11">
                <a:extLst>
                  <a:ext uri="{FF2B5EF4-FFF2-40B4-BE49-F238E27FC236}">
                    <a16:creationId xmlns:a16="http://schemas.microsoft.com/office/drawing/2014/main" id="{286464CC-CA95-4F09-B4DB-D15A271A9FC8}"/>
                  </a:ext>
                </a:extLst>
              </p:cNvPr>
              <p:cNvSpPr/>
              <p:nvPr/>
            </p:nvSpPr>
            <p:spPr>
              <a:xfrm>
                <a:off x="4805740" y="3431351"/>
                <a:ext cx="3778131" cy="517835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95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𝑿</m:t>
                    </m:r>
                    <m:r>
                      <a:rPr lang="en-US" sz="195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⟂ </m:t>
                    </m:r>
                    <m:r>
                      <a:rPr lang="en-US" sz="195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𝒀</m:t>
                    </m:r>
                    <m:r>
                      <a:rPr lang="en-US" sz="195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| </m:t>
                    </m:r>
                    <m:r>
                      <a:rPr lang="en-US" sz="195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𝒁</m:t>
                    </m:r>
                    <m:r>
                      <a:rPr lang="en-US" sz="195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  </m:t>
                    </m:r>
                  </m:oMath>
                </a14:m>
                <a:r>
                  <a:rPr lang="en-US" sz="1950" b="1" dirty="0">
                    <a:solidFill>
                      <a:srgbClr val="17171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(for this fork)</a:t>
                </a:r>
                <a:endParaRPr lang="en-US" sz="1950" dirty="0"/>
              </a:p>
            </p:txBody>
          </p:sp>
        </mc:Choice>
        <mc:Fallback xmlns="">
          <p:sp>
            <p:nvSpPr>
              <p:cNvPr id="40" name="Text 11">
                <a:extLst>
                  <a:ext uri="{FF2B5EF4-FFF2-40B4-BE49-F238E27FC236}">
                    <a16:creationId xmlns:a16="http://schemas.microsoft.com/office/drawing/2014/main" id="{286464CC-CA95-4F09-B4DB-D15A271A9F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740" y="3431351"/>
                <a:ext cx="3778131" cy="517835"/>
              </a:xfrm>
              <a:prstGeom prst="rect">
                <a:avLst/>
              </a:prstGeom>
              <a:blipFill>
                <a:blip r:embed="rId2"/>
                <a:stretch>
                  <a:fillRect b="-941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9237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D637E-9144-7B58-2D32-0927767E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15313E-F1B0-A6DD-54B3-5ED501942C39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Structure 2: Fork / Common Cause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B94C6BF-29E4-7944-3A92-17C3B0AB7FE9}"/>
              </a:ext>
            </a:extLst>
          </p:cNvPr>
          <p:cNvSpPr/>
          <p:nvPr/>
        </p:nvSpPr>
        <p:spPr>
          <a:xfrm>
            <a:off x="422910" y="805688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DBB30"/>
          </a:solidFill>
          <a:ln w="1270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8C5CF5A-5E6D-0800-47CE-280FA215C86C}"/>
              </a:ext>
            </a:extLst>
          </p:cNvPr>
          <p:cNvSpPr/>
          <p:nvPr/>
        </p:nvSpPr>
        <p:spPr>
          <a:xfrm>
            <a:off x="468630" y="8879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0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64BBB4D7-C951-B4E3-969D-FCC8608EAAEA}"/>
              </a:ext>
            </a:extLst>
          </p:cNvPr>
          <p:cNvSpPr/>
          <p:nvPr/>
        </p:nvSpPr>
        <p:spPr>
          <a:xfrm flipH="1">
            <a:off x="1436116" y="1651000"/>
            <a:ext cx="2824988" cy="144170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424D70D5-14DF-77B0-B6E1-69D87D2F1F22}"/>
              </a:ext>
            </a:extLst>
          </p:cNvPr>
          <p:cNvSpPr/>
          <p:nvPr/>
        </p:nvSpPr>
        <p:spPr>
          <a:xfrm>
            <a:off x="4919472" y="1651000"/>
            <a:ext cx="2529332" cy="136855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6D716325-4C4A-2479-1837-91BCA3AF6517}"/>
              </a:ext>
            </a:extLst>
          </p:cNvPr>
          <p:cNvSpPr/>
          <p:nvPr/>
        </p:nvSpPr>
        <p:spPr>
          <a:xfrm>
            <a:off x="814324" y="286410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504F1A00-ABD1-D57D-0034-FF104EBE5DA5}"/>
              </a:ext>
            </a:extLst>
          </p:cNvPr>
          <p:cNvSpPr/>
          <p:nvPr/>
        </p:nvSpPr>
        <p:spPr>
          <a:xfrm>
            <a:off x="814324" y="30195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7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9A9F5C86-F33C-11C8-B794-0F6AE9DBAC79}"/>
              </a:ext>
            </a:extLst>
          </p:cNvPr>
          <p:cNvSpPr/>
          <p:nvPr/>
        </p:nvSpPr>
        <p:spPr>
          <a:xfrm>
            <a:off x="4261104" y="1340104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A51D3BEE-30AC-4140-3572-3074FB7D6647}"/>
              </a:ext>
            </a:extLst>
          </p:cNvPr>
          <p:cNvSpPr/>
          <p:nvPr/>
        </p:nvSpPr>
        <p:spPr>
          <a:xfrm>
            <a:off x="4261104" y="14955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70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FC383BCE-C3BD-BACD-31E7-B22B2E8AD98B}"/>
              </a:ext>
            </a:extLst>
          </p:cNvPr>
          <p:cNvSpPr/>
          <p:nvPr/>
        </p:nvSpPr>
        <p:spPr>
          <a:xfrm>
            <a:off x="7448804" y="2708656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6DC17F20-6652-FFCD-B740-DEA2D6AEDDF4}"/>
              </a:ext>
            </a:extLst>
          </p:cNvPr>
          <p:cNvSpPr/>
          <p:nvPr/>
        </p:nvSpPr>
        <p:spPr>
          <a:xfrm>
            <a:off x="7448804" y="286410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C0B62ABF-FEE5-60F8-33FF-663AE692AE4A}"/>
              </a:ext>
            </a:extLst>
          </p:cNvPr>
          <p:cNvSpPr/>
          <p:nvPr/>
        </p:nvSpPr>
        <p:spPr>
          <a:xfrm>
            <a:off x="4070604" y="20975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Severity</a:t>
            </a:r>
            <a:endParaRPr lang="en-US" sz="12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3B6CBF7F-10EA-7890-9B74-C437D28EA745}"/>
              </a:ext>
            </a:extLst>
          </p:cNvPr>
          <p:cNvSpPr/>
          <p:nvPr/>
        </p:nvSpPr>
        <p:spPr>
          <a:xfrm>
            <a:off x="530860" y="35341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0434559-40E0-6D23-4ACC-1364DEC3B882}"/>
              </a:ext>
            </a:extLst>
          </p:cNvPr>
          <p:cNvSpPr/>
          <p:nvPr/>
        </p:nvSpPr>
        <p:spPr>
          <a:xfrm>
            <a:off x="7165340" y="35341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Mortality</a:t>
            </a:r>
            <a:endParaRPr lang="en-US" sz="12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29E361D3-2C57-07F8-92C9-E2DBBAFD23FD}"/>
              </a:ext>
            </a:extLst>
          </p:cNvPr>
          <p:cNvSpPr/>
          <p:nvPr/>
        </p:nvSpPr>
        <p:spPr>
          <a:xfrm>
            <a:off x="0" y="4409463"/>
            <a:ext cx="8965946" cy="5496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patients are more likely to receive treatment AND more likely to die.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40910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34398-814A-473F-E20C-5C0F4AC7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BCDD9B-E112-F32D-C3EA-2FA07DB3632A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Structure 3: Collider / Common Effect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60EF980-ECCC-EF3B-6C75-59CEA2E2AF71}"/>
              </a:ext>
            </a:extLst>
          </p:cNvPr>
          <p:cNvSpPr/>
          <p:nvPr/>
        </p:nvSpPr>
        <p:spPr>
          <a:xfrm>
            <a:off x="422910" y="805688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DBB30"/>
          </a:solidFill>
          <a:ln w="1270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3583B07-DAC6-8B84-F34E-0B0AEBF61B45}"/>
              </a:ext>
            </a:extLst>
          </p:cNvPr>
          <p:cNvSpPr/>
          <p:nvPr/>
        </p:nvSpPr>
        <p:spPr>
          <a:xfrm>
            <a:off x="468630" y="8879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COLLIDER</a:t>
            </a:r>
            <a:endParaRPr lang="en-US" sz="10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EDA0DCC-B39D-3A1B-C160-105EEFCF68A7}"/>
              </a:ext>
            </a:extLst>
          </p:cNvPr>
          <p:cNvSpPr/>
          <p:nvPr/>
        </p:nvSpPr>
        <p:spPr>
          <a:xfrm flipV="1">
            <a:off x="3060446" y="1703841"/>
            <a:ext cx="1200658" cy="52322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AC073276-CFB6-8C5D-CC95-9217D1DF98DF}"/>
              </a:ext>
            </a:extLst>
          </p:cNvPr>
          <p:cNvSpPr/>
          <p:nvPr/>
        </p:nvSpPr>
        <p:spPr>
          <a:xfrm flipH="1" flipV="1">
            <a:off x="4882896" y="1724151"/>
            <a:ext cx="1289304" cy="462155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F0F0273B-0BCE-A1F8-C633-C0D456922F58}"/>
              </a:ext>
            </a:extLst>
          </p:cNvPr>
          <p:cNvSpPr/>
          <p:nvPr/>
        </p:nvSpPr>
        <p:spPr>
          <a:xfrm>
            <a:off x="2438654" y="2010676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3C701DC5-3FC5-F1B6-91CA-1C0C38C73D4C}"/>
              </a:ext>
            </a:extLst>
          </p:cNvPr>
          <p:cNvSpPr/>
          <p:nvPr/>
        </p:nvSpPr>
        <p:spPr>
          <a:xfrm>
            <a:off x="2438654" y="216612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7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DB86B6CB-1128-7442-C1D8-0F488AFB32C6}"/>
              </a:ext>
            </a:extLst>
          </p:cNvPr>
          <p:cNvSpPr/>
          <p:nvPr/>
        </p:nvSpPr>
        <p:spPr>
          <a:xfrm>
            <a:off x="4261104" y="1340104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F70C95C4-411D-17B0-BA82-C3C09BA264EF}"/>
              </a:ext>
            </a:extLst>
          </p:cNvPr>
          <p:cNvSpPr/>
          <p:nvPr/>
        </p:nvSpPr>
        <p:spPr>
          <a:xfrm>
            <a:off x="4261104" y="14955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70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B70FB766-61A5-4ACD-F720-E684087317B1}"/>
              </a:ext>
            </a:extLst>
          </p:cNvPr>
          <p:cNvSpPr/>
          <p:nvPr/>
        </p:nvSpPr>
        <p:spPr>
          <a:xfrm>
            <a:off x="6172200" y="1929650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B3860D8D-9190-4DEC-A894-6DDDC04295FE}"/>
              </a:ext>
            </a:extLst>
          </p:cNvPr>
          <p:cNvSpPr/>
          <p:nvPr/>
        </p:nvSpPr>
        <p:spPr>
          <a:xfrm>
            <a:off x="6172200" y="208509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3400320B-A78D-B1D8-9FB4-33DB156BE062}"/>
              </a:ext>
            </a:extLst>
          </p:cNvPr>
          <p:cNvSpPr/>
          <p:nvPr/>
        </p:nvSpPr>
        <p:spPr>
          <a:xfrm>
            <a:off x="4070604" y="20975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Effect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73311-23EF-8B02-9438-814D9822FDAC}"/>
              </a:ext>
            </a:extLst>
          </p:cNvPr>
          <p:cNvSpPr txBox="1"/>
          <p:nvPr/>
        </p:nvSpPr>
        <p:spPr>
          <a:xfrm>
            <a:off x="405662" y="2888122"/>
            <a:ext cx="82321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X tells us nothing about Y merely because they share a consequence.</a:t>
            </a:r>
          </a:p>
          <a:p>
            <a:endParaRPr lang="en-US" sz="1800" dirty="0">
              <a:solidFill>
                <a:srgbClr val="F2F2F2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sz="1800" dirty="0">
                <a:solidFill>
                  <a:srgbClr val="F2F2F2"/>
                </a:solidFill>
                <a:latin typeface="Arial" pitchFamily="34" charset="0"/>
                <a:cs typeface="Arial" pitchFamily="34" charset="-120"/>
              </a:rPr>
              <a:t>Without conditioning on Z, the path is closed.</a:t>
            </a:r>
          </a:p>
          <a:p>
            <a:endParaRPr lang="en-US" sz="1800" dirty="0">
              <a:solidFill>
                <a:srgbClr val="F2F2F2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sz="1800" dirty="0">
                <a:solidFill>
                  <a:srgbClr val="F2F2F2"/>
                </a:solidFill>
                <a:latin typeface="Arial" pitchFamily="34" charset="0"/>
                <a:cs typeface="Arial" pitchFamily="34" charset="-120"/>
              </a:rPr>
              <a:t>After conditioning on Z, X and Y can be associated.</a:t>
            </a:r>
          </a:p>
          <a:p>
            <a:endParaRPr lang="en-US" sz="1800" dirty="0">
              <a:solidFill>
                <a:srgbClr val="F2F2F2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sz="1800" dirty="0">
                <a:solidFill>
                  <a:srgbClr val="F2F2F2"/>
                </a:solidFill>
                <a:latin typeface="Arial" pitchFamily="34" charset="0"/>
                <a:cs typeface="Arial" pitchFamily="34" charset="-120"/>
              </a:rPr>
              <a:t>This is collider bias / selection bias.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47756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55A93-B30A-5D7C-D688-676F5C59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C44BAB-653C-C77D-7D02-ABBE514F5CBC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Structure 3: Collider / Common Effect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4C22546-8D19-0B61-AECD-93075F9B6D69}"/>
              </a:ext>
            </a:extLst>
          </p:cNvPr>
          <p:cNvSpPr/>
          <p:nvPr/>
        </p:nvSpPr>
        <p:spPr>
          <a:xfrm>
            <a:off x="422910" y="805688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DBB30"/>
          </a:solidFill>
          <a:ln w="1270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5A841D3-2911-9DD0-139A-2590F5767768}"/>
              </a:ext>
            </a:extLst>
          </p:cNvPr>
          <p:cNvSpPr/>
          <p:nvPr/>
        </p:nvSpPr>
        <p:spPr>
          <a:xfrm>
            <a:off x="468630" y="8879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0A222-9FA6-3012-B707-E46372C98D0B}"/>
              </a:ext>
            </a:extLst>
          </p:cNvPr>
          <p:cNvSpPr txBox="1"/>
          <p:nvPr/>
        </p:nvSpPr>
        <p:spPr>
          <a:xfrm>
            <a:off x="422910" y="1384300"/>
            <a:ext cx="8016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 to an elite program depend on BOTH academic score and special talent.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751AEB11-7797-E8AB-91EA-844187FE9A20}"/>
              </a:ext>
            </a:extLst>
          </p:cNvPr>
          <p:cNvSpPr/>
          <p:nvPr/>
        </p:nvSpPr>
        <p:spPr>
          <a:xfrm>
            <a:off x="3282950" y="2712427"/>
            <a:ext cx="932255" cy="30989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0C088D0D-D0E9-432A-667E-B7E4EDD7C564}"/>
              </a:ext>
            </a:extLst>
          </p:cNvPr>
          <p:cNvSpPr/>
          <p:nvPr/>
        </p:nvSpPr>
        <p:spPr>
          <a:xfrm>
            <a:off x="2706624" y="229514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DB84DA4E-7136-D090-8E84-B18D2D4DD899}"/>
              </a:ext>
            </a:extLst>
          </p:cNvPr>
          <p:cNvSpPr/>
          <p:nvPr/>
        </p:nvSpPr>
        <p:spPr>
          <a:xfrm>
            <a:off x="2706624" y="245059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A65064A9-2052-7DDE-8250-BDA56E6BFC3E}"/>
              </a:ext>
            </a:extLst>
          </p:cNvPr>
          <p:cNvSpPr/>
          <p:nvPr/>
        </p:nvSpPr>
        <p:spPr>
          <a:xfrm>
            <a:off x="2423160" y="29535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score</a:t>
            </a:r>
            <a:endParaRPr lang="en-US" sz="12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1FD9B325-0EF0-761C-AAF9-1CA650F35C7F}"/>
              </a:ext>
            </a:extLst>
          </p:cNvPr>
          <p:cNvSpPr/>
          <p:nvPr/>
        </p:nvSpPr>
        <p:spPr>
          <a:xfrm>
            <a:off x="4215205" y="2749002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51A9E52A-1CFF-A32F-8C43-F65B4ED88634}"/>
              </a:ext>
            </a:extLst>
          </p:cNvPr>
          <p:cNvSpPr/>
          <p:nvPr/>
        </p:nvSpPr>
        <p:spPr>
          <a:xfrm>
            <a:off x="4215205" y="290445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972C752A-625A-1B71-093A-B9F95F8F05D7}"/>
              </a:ext>
            </a:extLst>
          </p:cNvPr>
          <p:cNvSpPr/>
          <p:nvPr/>
        </p:nvSpPr>
        <p:spPr>
          <a:xfrm>
            <a:off x="3931741" y="340737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Admitted</a:t>
            </a:r>
            <a:endParaRPr lang="en-US" sz="12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CA242524-85DD-414F-A34E-2F42507D24B5}"/>
              </a:ext>
            </a:extLst>
          </p:cNvPr>
          <p:cNvSpPr/>
          <p:nvPr/>
        </p:nvSpPr>
        <p:spPr>
          <a:xfrm>
            <a:off x="5440322" y="2214079"/>
            <a:ext cx="621792" cy="621792"/>
          </a:xfrm>
          <a:prstGeom prst="ellipse">
            <a:avLst/>
          </a:prstGeom>
          <a:solidFill>
            <a:srgbClr val="FFFF0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50641095-7DB0-5F94-C1F8-2DD697F7046D}"/>
              </a:ext>
            </a:extLst>
          </p:cNvPr>
          <p:cNvSpPr/>
          <p:nvPr/>
        </p:nvSpPr>
        <p:spPr>
          <a:xfrm>
            <a:off x="5440322" y="2369527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S</a:t>
            </a:r>
            <a:endParaRPr lang="en-US" sz="17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C8E67BAE-3CC0-B1FD-B638-C26EA0D081B0}"/>
              </a:ext>
            </a:extLst>
          </p:cNvPr>
          <p:cNvSpPr/>
          <p:nvPr/>
        </p:nvSpPr>
        <p:spPr>
          <a:xfrm>
            <a:off x="5156858" y="2872447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Talent</a:t>
            </a:r>
            <a:endParaRPr lang="en-US" sz="1200" dirty="0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1E50B02E-CD95-15E2-7F32-C0C4F60BBEAD}"/>
              </a:ext>
            </a:extLst>
          </p:cNvPr>
          <p:cNvSpPr/>
          <p:nvPr/>
        </p:nvSpPr>
        <p:spPr>
          <a:xfrm flipH="1">
            <a:off x="4814265" y="2598127"/>
            <a:ext cx="621792" cy="356739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A2B93A2A-64A1-4F4D-F36A-3699938C5C19}"/>
              </a:ext>
            </a:extLst>
          </p:cNvPr>
          <p:cNvSpPr/>
          <p:nvPr/>
        </p:nvSpPr>
        <p:spPr>
          <a:xfrm>
            <a:off x="177135" y="4173718"/>
            <a:ext cx="8527438" cy="5232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admitted students only, a lower academic score may imply greater special talent.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18727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4F791-DE96-59B6-AD2D-C94C3F0E2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4EF4F1-25AD-B2B2-39C9-55E41A99438C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Chains, forks, colliders: One table to remember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0">
                <a:extLst>
                  <a:ext uri="{FF2B5EF4-FFF2-40B4-BE49-F238E27FC236}">
                    <a16:creationId xmlns:a16="http://schemas.microsoft.com/office/drawing/2014/main" id="{3BE5C8BC-C304-046E-7B38-A01BA30170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1252959"/>
                  </p:ext>
                </p:extLst>
              </p:nvPr>
            </p:nvGraphicFramePr>
            <p:xfrm>
              <a:off x="86995" y="1086485"/>
              <a:ext cx="8970010" cy="2970530"/>
            </p:xfrm>
            <a:graphic>
              <a:graphicData uri="http://schemas.openxmlformats.org/drawingml/2006/table">
                <a:tbl>
                  <a:tblPr/>
                  <a:tblGrid>
                    <a:gridCol w="347486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859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091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76371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Structure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Unconditioned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Condition on middle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98053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𝑋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→ 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𝑍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→ 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OPEN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BLOCKED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8053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𝑋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← 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𝑍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→ 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OPEN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BLOCKED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8053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𝑋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→ 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𝑍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← 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BLOCKED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OPEN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0">
                <a:extLst>
                  <a:ext uri="{FF2B5EF4-FFF2-40B4-BE49-F238E27FC236}">
                    <a16:creationId xmlns:a16="http://schemas.microsoft.com/office/drawing/2014/main" id="{3BE5C8BC-C304-046E-7B38-A01BA30170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1252959"/>
                  </p:ext>
                </p:extLst>
              </p:nvPr>
            </p:nvGraphicFramePr>
            <p:xfrm>
              <a:off x="86995" y="1086485"/>
              <a:ext cx="8970010" cy="2970530"/>
            </p:xfrm>
            <a:graphic>
              <a:graphicData uri="http://schemas.openxmlformats.org/drawingml/2006/table">
                <a:tbl>
                  <a:tblPr/>
                  <a:tblGrid>
                    <a:gridCol w="347486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859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9091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76371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Structure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Unconditioned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Condition on middle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980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5" t="-73282" r="-158596" b="-2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OPEN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BLOCKED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980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5" t="-173282" r="-158596" b="-1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OPEN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BLOCKED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980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5" t="-273282" r="-158596" b="-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BLOCKED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200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OPEN</a:t>
                          </a:r>
                          <a:endParaRPr lang="en-US" sz="200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L="109728" marR="109728" marT="109728" marB="109728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Shape 1">
            <a:extLst>
              <a:ext uri="{FF2B5EF4-FFF2-40B4-BE49-F238E27FC236}">
                <a16:creationId xmlns:a16="http://schemas.microsoft.com/office/drawing/2014/main" id="{35FBF6FA-AB85-4AB5-15D1-AFD1415E3982}"/>
              </a:ext>
            </a:extLst>
          </p:cNvPr>
          <p:cNvSpPr/>
          <p:nvPr/>
        </p:nvSpPr>
        <p:spPr>
          <a:xfrm>
            <a:off x="237490" y="4358639"/>
            <a:ext cx="8628839" cy="626875"/>
          </a:xfrm>
          <a:prstGeom prst="roundRect">
            <a:avLst>
              <a:gd name="adj" fmla="val 19355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E08E5BF-49F2-1700-6C40-FA691A03968E}"/>
              </a:ext>
            </a:extLst>
          </p:cNvPr>
          <p:cNvSpPr/>
          <p:nvPr/>
        </p:nvSpPr>
        <p:spPr>
          <a:xfrm>
            <a:off x="420370" y="4413504"/>
            <a:ext cx="8304751" cy="5055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Collider = the exception: conditioning OPENS instead of closes.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2599285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DC84A-C5D8-14AF-77D2-06B2B9AFC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883A6B-35C4-C7C1-2DD1-C88B69011790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Open or Closed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302C8724-951E-D50F-83FA-B943160F01A8}"/>
              </a:ext>
            </a:extLst>
          </p:cNvPr>
          <p:cNvSpPr/>
          <p:nvPr/>
        </p:nvSpPr>
        <p:spPr>
          <a:xfrm>
            <a:off x="100596" y="948690"/>
            <a:ext cx="8942808" cy="5232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path, say whether it is OPEN before conditioning and after conditioning on Z.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123CF5A-81A2-084B-C7C6-1D1E4147335D}"/>
              </a:ext>
            </a:extLst>
          </p:cNvPr>
          <p:cNvSpPr/>
          <p:nvPr/>
        </p:nvSpPr>
        <p:spPr>
          <a:xfrm>
            <a:off x="1259840" y="1574800"/>
            <a:ext cx="608076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A.   X → Z → Y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B.   X ← Z → Y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C.   X → Z ← 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67437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3363B-104E-5946-CA1B-CAC4DAA51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39AF79-91E6-7174-C555-FDFAEEB0CA92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Open or Closed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63F7F1B-4EF1-FEE0-A323-CFFB52AAF8EF}"/>
              </a:ext>
            </a:extLst>
          </p:cNvPr>
          <p:cNvSpPr/>
          <p:nvPr/>
        </p:nvSpPr>
        <p:spPr>
          <a:xfrm>
            <a:off x="100596" y="948690"/>
            <a:ext cx="8942808" cy="5232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path, say whether it is OPEN before conditioning and after conditioning on Z.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9ED81FD-BE4D-691C-0163-0D4D45E3AF55}"/>
              </a:ext>
            </a:extLst>
          </p:cNvPr>
          <p:cNvSpPr/>
          <p:nvPr/>
        </p:nvSpPr>
        <p:spPr>
          <a:xfrm>
            <a:off x="1259840" y="1574800"/>
            <a:ext cx="608076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A.   X → Z → Y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B.   X ← Z → Y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C.   X → Z ← Y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4DC5CD-496C-7D5F-7FDC-971DC82ACABD}"/>
              </a:ext>
            </a:extLst>
          </p:cNvPr>
          <p:cNvSpPr txBox="1"/>
          <p:nvPr/>
        </p:nvSpPr>
        <p:spPr>
          <a:xfrm>
            <a:off x="495300" y="4135120"/>
            <a:ext cx="80708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AutoNum type="alphaUcPeriod"/>
            </a:pPr>
            <a:r>
              <a:rPr lang="en-US" dirty="0">
                <a:solidFill>
                  <a:schemeClr val="bg1"/>
                </a:solidFill>
              </a:rPr>
              <a:t>Chain</a:t>
            </a:r>
          </a:p>
          <a:p>
            <a:pPr marL="342900" indent="-342900">
              <a:buClr>
                <a:schemeClr val="bg1"/>
              </a:buClr>
              <a:buAutoNum type="alphaUcPeriod"/>
            </a:pPr>
            <a:r>
              <a:rPr lang="en-US" dirty="0">
                <a:solidFill>
                  <a:schemeClr val="bg1"/>
                </a:solidFill>
              </a:rPr>
              <a:t>Fork</a:t>
            </a:r>
          </a:p>
          <a:p>
            <a:pPr marL="342900" indent="-342900">
              <a:buClr>
                <a:schemeClr val="bg1"/>
              </a:buClr>
              <a:buAutoNum type="alphaUcPeriod"/>
            </a:pPr>
            <a:r>
              <a:rPr lang="en-US" dirty="0">
                <a:solidFill>
                  <a:schemeClr val="bg1"/>
                </a:solidFill>
              </a:rPr>
              <a:t>Collider</a:t>
            </a:r>
          </a:p>
        </p:txBody>
      </p:sp>
    </p:spTree>
    <p:extLst>
      <p:ext uri="{BB962C8B-B14F-4D97-AF65-F5344CB8AC3E}">
        <p14:creationId xmlns:p14="http://schemas.microsoft.com/office/powerpoint/2010/main" val="17939065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B7886-E88B-4E37-9697-7ABDFB98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3E8F2A-FDC8-EF57-4185-15E9CF1D0529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42305F4-2572-A336-6120-9F66B244DE35}"/>
              </a:ext>
            </a:extLst>
          </p:cNvPr>
          <p:cNvSpPr/>
          <p:nvPr/>
        </p:nvSpPr>
        <p:spPr>
          <a:xfrm>
            <a:off x="644452" y="1056986"/>
            <a:ext cx="7855096" cy="95438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variables are d-separated by a set S when EVERY path between them is blocked after conditioning on S.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2">
                <a:extLst>
                  <a:ext uri="{FF2B5EF4-FFF2-40B4-BE49-F238E27FC236}">
                    <a16:creationId xmlns:a16="http://schemas.microsoft.com/office/drawing/2014/main" id="{4DE9A214-3A02-A1AF-6B66-C74A347A2FDE}"/>
                  </a:ext>
                </a:extLst>
              </p:cNvPr>
              <p:cNvSpPr/>
              <p:nvPr/>
            </p:nvSpPr>
            <p:spPr>
              <a:xfrm>
                <a:off x="1570990" y="2446330"/>
                <a:ext cx="5166360" cy="685800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𝑿</m:t>
                      </m:r>
                      <m:r>
                        <a:rPr lang="en-US" sz="3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⟂ᴅ </m:t>
                      </m:r>
                      <m:r>
                        <a:rPr lang="en-US" sz="3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𝒀</m:t>
                      </m:r>
                      <m:r>
                        <a:rPr lang="en-US" sz="3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| </m:t>
                      </m:r>
                      <m:r>
                        <a:rPr lang="en-US" sz="35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𝑺</m:t>
                      </m:r>
                    </m:oMath>
                  </m:oMathPara>
                </a14:m>
                <a:endParaRPr lang="en-US" sz="3500" dirty="0"/>
              </a:p>
            </p:txBody>
          </p:sp>
        </mc:Choice>
        <mc:Fallback xmlns="">
          <p:sp>
            <p:nvSpPr>
              <p:cNvPr id="8" name="Text 2">
                <a:extLst>
                  <a:ext uri="{FF2B5EF4-FFF2-40B4-BE49-F238E27FC236}">
                    <a16:creationId xmlns:a16="http://schemas.microsoft.com/office/drawing/2014/main" id="{4DE9A214-3A02-A1AF-6B66-C74A347A2F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990" y="2446330"/>
                <a:ext cx="516636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3">
            <a:extLst>
              <a:ext uri="{FF2B5EF4-FFF2-40B4-BE49-F238E27FC236}">
                <a16:creationId xmlns:a16="http://schemas.microsoft.com/office/drawing/2014/main" id="{8833813C-F515-1ACF-6B0D-0972998C526C}"/>
              </a:ext>
            </a:extLst>
          </p:cNvPr>
          <p:cNvSpPr/>
          <p:nvPr/>
        </p:nvSpPr>
        <p:spPr>
          <a:xfrm>
            <a:off x="177135" y="3760470"/>
            <a:ext cx="8653218" cy="792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Graphical separation  →  conditional independence under the causal Markov property.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169504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0A0AE-8F61-3220-7927-4B4D03BB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1C6A00-1696-92AF-1600-3845FE63192F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DDA7FDD5-FDE5-269B-E131-69AB84BC369E}"/>
              </a:ext>
            </a:extLst>
          </p:cNvPr>
          <p:cNvSpPr/>
          <p:nvPr/>
        </p:nvSpPr>
        <p:spPr>
          <a:xfrm>
            <a:off x="448310" y="862838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DBB30"/>
          </a:solidFill>
          <a:ln w="1270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718C36A-BF4E-D375-68C3-B80DD28281AB}"/>
              </a:ext>
            </a:extLst>
          </p:cNvPr>
          <p:cNvSpPr/>
          <p:nvPr/>
        </p:nvSpPr>
        <p:spPr>
          <a:xfrm>
            <a:off x="539750" y="94513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5D42BC-3867-267E-42A1-19645F4C55F9}"/>
                  </a:ext>
                </a:extLst>
              </p:cNvPr>
              <p:cNvSpPr txBox="1"/>
              <p:nvPr/>
            </p:nvSpPr>
            <p:spPr>
              <a:xfrm>
                <a:off x="317501" y="1816100"/>
                <a:ext cx="848995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buClr>
                    <a:schemeClr val="bg1"/>
                  </a:buClr>
                  <a:buSzPct val="100000"/>
                  <a:buChar char="•"/>
                </a:pPr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chain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𝑋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→ 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𝑍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→ 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𝑌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is blocked if we condition on Z.</a:t>
                </a:r>
                <a:endParaRPr lang="en-US" sz="2000" dirty="0"/>
              </a:p>
              <a:p>
                <a:pPr marL="228600" indent="-228600">
                  <a:buClr>
                    <a:schemeClr val="bg1"/>
                  </a:buClr>
                  <a:buSzPct val="100000"/>
                  <a:buChar char="•"/>
                </a:pPr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fork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𝑋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← 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𝑍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→ 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𝑌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is blocked if we condition on Z.</a:t>
                </a:r>
                <a:endParaRPr lang="en-US" sz="2000" dirty="0"/>
              </a:p>
              <a:p>
                <a:pPr marL="228600" indent="-228600">
                  <a:buClr>
                    <a:schemeClr val="bg1"/>
                  </a:buClr>
                  <a:buSzPct val="100000"/>
                  <a:buChar char="•"/>
                </a:pPr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collider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𝑋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→ 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𝑍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← 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𝑌</m:t>
                    </m:r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is blocked when we do NOT condition on Z or its descendants.</a:t>
                </a:r>
                <a:endParaRPr lang="en-US" sz="2000" dirty="0"/>
              </a:p>
              <a:p>
                <a:pPr marL="228600" indent="-228600">
                  <a:buClr>
                    <a:schemeClr val="bg1"/>
                  </a:buClr>
                  <a:buSzPct val="100000"/>
                  <a:buChar char="•"/>
                </a:pPr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collider path becomes open if we condition on the collider, or on one of its descendants.</a:t>
                </a:r>
                <a:endParaRPr lang="en-US" sz="2000" dirty="0"/>
              </a:p>
              <a:p>
                <a:pPr>
                  <a:buClr>
                    <a:schemeClr val="bg1"/>
                  </a:buClr>
                </a:pPr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5D42BC-3867-267E-42A1-19645F4C5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01" y="1816100"/>
                <a:ext cx="8489950" cy="2246769"/>
              </a:xfrm>
              <a:prstGeom prst="rect">
                <a:avLst/>
              </a:prstGeom>
              <a:blipFill>
                <a:blip r:embed="rId2"/>
                <a:stretch>
                  <a:fillRect l="-646" t="-1359" r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4">
            <a:extLst>
              <a:ext uri="{FF2B5EF4-FFF2-40B4-BE49-F238E27FC236}">
                <a16:creationId xmlns:a16="http://schemas.microsoft.com/office/drawing/2014/main" id="{8F156087-B6D4-2AF3-0D5F-039A1DB174E9}"/>
              </a:ext>
            </a:extLst>
          </p:cNvPr>
          <p:cNvSpPr/>
          <p:nvPr/>
        </p:nvSpPr>
        <p:spPr>
          <a:xfrm>
            <a:off x="300179" y="4225799"/>
            <a:ext cx="8566150" cy="567690"/>
          </a:xfrm>
          <a:prstGeom prst="roundRect">
            <a:avLst>
              <a:gd name="adj" fmla="val 19355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4BDF3BE-9D4A-94BE-3426-568C41955EC7}"/>
              </a:ext>
            </a:extLst>
          </p:cNvPr>
          <p:cNvSpPr/>
          <p:nvPr/>
        </p:nvSpPr>
        <p:spPr>
          <a:xfrm>
            <a:off x="439031" y="4280662"/>
            <a:ext cx="8244417" cy="45781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d-separate X and Y, EVERY path between them must be blocked.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34939537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26DFA-6302-7297-4D92-CD2C5CF1D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4A7AE-3F90-114A-6D76-72A8FCA19F61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1E987B9-A797-ED5E-10AA-7FD73552D9B9}"/>
              </a:ext>
            </a:extLst>
          </p:cNvPr>
          <p:cNvSpPr/>
          <p:nvPr/>
        </p:nvSpPr>
        <p:spPr>
          <a:xfrm>
            <a:off x="369824" y="1415022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E023B02-9E7D-AAD7-587F-0A5AE1233C48}"/>
              </a:ext>
            </a:extLst>
          </p:cNvPr>
          <p:cNvSpPr/>
          <p:nvPr/>
        </p:nvSpPr>
        <p:spPr>
          <a:xfrm>
            <a:off x="369824" y="157047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7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51C528C0-F3AA-84A7-2822-F61834A59524}"/>
              </a:ext>
            </a:extLst>
          </p:cNvPr>
          <p:cNvSpPr/>
          <p:nvPr/>
        </p:nvSpPr>
        <p:spPr>
          <a:xfrm>
            <a:off x="1783715" y="1415022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E043DABD-6041-7527-E44D-8251C495693B}"/>
              </a:ext>
            </a:extLst>
          </p:cNvPr>
          <p:cNvSpPr/>
          <p:nvPr/>
        </p:nvSpPr>
        <p:spPr>
          <a:xfrm>
            <a:off x="1783715" y="157047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7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373C3716-CB50-07AD-0135-4D304E99F9BE}"/>
              </a:ext>
            </a:extLst>
          </p:cNvPr>
          <p:cNvSpPr/>
          <p:nvPr/>
        </p:nvSpPr>
        <p:spPr>
          <a:xfrm>
            <a:off x="3189859" y="1415022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C14F1657-12FE-9405-F760-107DE2620CF0}"/>
              </a:ext>
            </a:extLst>
          </p:cNvPr>
          <p:cNvSpPr/>
          <p:nvPr/>
        </p:nvSpPr>
        <p:spPr>
          <a:xfrm>
            <a:off x="3189859" y="157047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5C9681-6698-CCEC-0018-5075687CC4B5}"/>
              </a:ext>
            </a:extLst>
          </p:cNvPr>
          <p:cNvCxnSpPr>
            <a:stCxn id="8" idx="3"/>
            <a:endCxn id="14" idx="1"/>
          </p:cNvCxnSpPr>
          <p:nvPr/>
        </p:nvCxnSpPr>
        <p:spPr>
          <a:xfrm>
            <a:off x="991616" y="1684770"/>
            <a:ext cx="7920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EF2D09-CF8E-90AA-B34B-1E4750E18C20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405507" y="1684770"/>
            <a:ext cx="784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1F8475C-D433-ACBD-4388-4FA5C0D45359}"/>
                  </a:ext>
                </a:extLst>
              </p:cNvPr>
              <p:cNvSpPr txBox="1"/>
              <p:nvPr/>
            </p:nvSpPr>
            <p:spPr>
              <a:xfrm>
                <a:off x="4229100" y="1371975"/>
                <a:ext cx="44005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 the chain is blocked by conditioning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1F8475C-D433-ACBD-4388-4FA5C0D45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100" y="1371975"/>
                <a:ext cx="4400550" cy="707886"/>
              </a:xfrm>
              <a:prstGeom prst="rect">
                <a:avLst/>
              </a:prstGeom>
              <a:blipFill>
                <a:blip r:embed="rId2"/>
                <a:stretch>
                  <a:fillRect l="-1524" t="-3448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Shape 3">
            <a:extLst>
              <a:ext uri="{FF2B5EF4-FFF2-40B4-BE49-F238E27FC236}">
                <a16:creationId xmlns:a16="http://schemas.microsoft.com/office/drawing/2014/main" id="{ACB13E48-4F56-B775-6D6A-65AE11E502E9}"/>
              </a:ext>
            </a:extLst>
          </p:cNvPr>
          <p:cNvSpPr/>
          <p:nvPr/>
        </p:nvSpPr>
        <p:spPr>
          <a:xfrm>
            <a:off x="369824" y="2418587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E44D03D-1019-0242-EEE8-6A95C0EDC1CC}"/>
              </a:ext>
            </a:extLst>
          </p:cNvPr>
          <p:cNvSpPr/>
          <p:nvPr/>
        </p:nvSpPr>
        <p:spPr>
          <a:xfrm>
            <a:off x="369824" y="2574035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70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8933D313-F9EF-8487-61CA-EC2268704C2A}"/>
              </a:ext>
            </a:extLst>
          </p:cNvPr>
          <p:cNvSpPr/>
          <p:nvPr/>
        </p:nvSpPr>
        <p:spPr>
          <a:xfrm>
            <a:off x="1783715" y="2418587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5A49982B-BD63-42DE-6E12-2F329AF1562C}"/>
              </a:ext>
            </a:extLst>
          </p:cNvPr>
          <p:cNvSpPr/>
          <p:nvPr/>
        </p:nvSpPr>
        <p:spPr>
          <a:xfrm>
            <a:off x="1783715" y="2574035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700" dirty="0"/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70DB2F01-844C-2A08-C8E8-7BE42900B24E}"/>
              </a:ext>
            </a:extLst>
          </p:cNvPr>
          <p:cNvSpPr/>
          <p:nvPr/>
        </p:nvSpPr>
        <p:spPr>
          <a:xfrm>
            <a:off x="3189859" y="2418587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D3E7CBF1-D345-D7A8-4E49-3B1B2D6E44C5}"/>
              </a:ext>
            </a:extLst>
          </p:cNvPr>
          <p:cNvSpPr/>
          <p:nvPr/>
        </p:nvSpPr>
        <p:spPr>
          <a:xfrm>
            <a:off x="3189859" y="2574035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1EC7FFC-9885-9AF8-8FCD-627430F9E6B8}"/>
              </a:ext>
            </a:extLst>
          </p:cNvPr>
          <p:cNvCxnSpPr>
            <a:cxnSpLocks/>
            <a:stCxn id="29" idx="1"/>
            <a:endCxn id="27" idx="3"/>
          </p:cNvCxnSpPr>
          <p:nvPr/>
        </p:nvCxnSpPr>
        <p:spPr>
          <a:xfrm flipH="1">
            <a:off x="991616" y="2688335"/>
            <a:ext cx="7920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D56CD24-69DC-4E2F-C7DE-0E461C467254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2405507" y="2688335"/>
            <a:ext cx="784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8BBCFF6-E06A-CA43-A95A-3A476FDD7012}"/>
                  </a:ext>
                </a:extLst>
              </p:cNvPr>
              <p:cNvSpPr txBox="1"/>
              <p:nvPr/>
            </p:nvSpPr>
            <p:spPr>
              <a:xfrm>
                <a:off x="4165600" y="2389524"/>
                <a:ext cx="44005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 the backdoor fork is blocked by conditioning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8BBCFF6-E06A-CA43-A95A-3A476FDD7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600" y="2389524"/>
                <a:ext cx="4400550" cy="707886"/>
              </a:xfrm>
              <a:prstGeom prst="rect">
                <a:avLst/>
              </a:prstGeom>
              <a:blipFill>
                <a:blip r:embed="rId3"/>
                <a:stretch>
                  <a:fillRect l="-1385" t="-4310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Shape 3">
            <a:extLst>
              <a:ext uri="{FF2B5EF4-FFF2-40B4-BE49-F238E27FC236}">
                <a16:creationId xmlns:a16="http://schemas.microsoft.com/office/drawing/2014/main" id="{9A5CB75E-9856-7C15-49C2-4AA93222B1A0}"/>
              </a:ext>
            </a:extLst>
          </p:cNvPr>
          <p:cNvSpPr/>
          <p:nvPr/>
        </p:nvSpPr>
        <p:spPr>
          <a:xfrm>
            <a:off x="369824" y="3451215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F3AD89EF-B175-B819-7ED5-59E195202E6C}"/>
              </a:ext>
            </a:extLst>
          </p:cNvPr>
          <p:cNvSpPr/>
          <p:nvPr/>
        </p:nvSpPr>
        <p:spPr>
          <a:xfrm>
            <a:off x="369824" y="3606663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700" dirty="0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ED9ABC1D-1928-510B-E883-CC74D94F2910}"/>
              </a:ext>
            </a:extLst>
          </p:cNvPr>
          <p:cNvSpPr/>
          <p:nvPr/>
        </p:nvSpPr>
        <p:spPr>
          <a:xfrm>
            <a:off x="1783715" y="3451215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9EAA5CD6-7B3C-7CF2-6EC6-3A351D023C18}"/>
              </a:ext>
            </a:extLst>
          </p:cNvPr>
          <p:cNvSpPr/>
          <p:nvPr/>
        </p:nvSpPr>
        <p:spPr>
          <a:xfrm>
            <a:off x="1783715" y="3606663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700" dirty="0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678E498F-9989-9941-ACB9-1D36B100B387}"/>
              </a:ext>
            </a:extLst>
          </p:cNvPr>
          <p:cNvSpPr/>
          <p:nvPr/>
        </p:nvSpPr>
        <p:spPr>
          <a:xfrm>
            <a:off x="3189859" y="3451215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12A30FB4-BAFB-30E7-C140-BF9E9C4D5D0F}"/>
              </a:ext>
            </a:extLst>
          </p:cNvPr>
          <p:cNvSpPr/>
          <p:nvPr/>
        </p:nvSpPr>
        <p:spPr>
          <a:xfrm>
            <a:off x="3189859" y="3606663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EB588C0-215F-E288-019E-2FAD1E0C853A}"/>
              </a:ext>
            </a:extLst>
          </p:cNvPr>
          <p:cNvCxnSpPr>
            <a:cxnSpLocks/>
          </p:cNvCxnSpPr>
          <p:nvPr/>
        </p:nvCxnSpPr>
        <p:spPr>
          <a:xfrm>
            <a:off x="991616" y="3733526"/>
            <a:ext cx="7630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AAFA47F-E713-8198-E8D7-5E33B05F398E}"/>
              </a:ext>
            </a:extLst>
          </p:cNvPr>
          <p:cNvCxnSpPr>
            <a:cxnSpLocks/>
            <a:stCxn id="47" idx="1"/>
            <a:endCxn id="45" idx="3"/>
          </p:cNvCxnSpPr>
          <p:nvPr/>
        </p:nvCxnSpPr>
        <p:spPr>
          <a:xfrm flipH="1">
            <a:off x="2405507" y="3720963"/>
            <a:ext cx="784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AA5E216-3B31-524A-0223-BBFF5E114C43}"/>
                  </a:ext>
                </a:extLst>
              </p:cNvPr>
              <p:cNvSpPr txBox="1"/>
              <p:nvPr/>
            </p:nvSpPr>
            <p:spPr>
              <a:xfrm>
                <a:off x="4165600" y="3422152"/>
                <a:ext cx="44005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 the collider path is blocked automatically.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AA5E216-3B31-524A-0223-BBFF5E114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600" y="3422152"/>
                <a:ext cx="4400550" cy="707886"/>
              </a:xfrm>
              <a:prstGeom prst="rect">
                <a:avLst/>
              </a:prstGeom>
              <a:blipFill>
                <a:blip r:embed="rId4"/>
                <a:stretch>
                  <a:fillRect l="-1385" t="-3448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078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28BAA-C96E-9689-E07D-8DAF4D4E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6C3ADD-99F5-C9FA-360E-C9E134131A3E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84FEC-C4BB-14C2-328A-5CC121D415D2}"/>
              </a:ext>
            </a:extLst>
          </p:cNvPr>
          <p:cNvSpPr txBox="1"/>
          <p:nvPr/>
        </p:nvSpPr>
        <p:spPr>
          <a:xfrm>
            <a:off x="596900" y="1425265"/>
            <a:ext cx="810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Conditioning on a DESCENDANT of a collider can open the path.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D7AA7EB0-A2A5-8CF4-6FA3-ECE597C52330}"/>
              </a:ext>
            </a:extLst>
          </p:cNvPr>
          <p:cNvSpPr/>
          <p:nvPr/>
        </p:nvSpPr>
        <p:spPr>
          <a:xfrm>
            <a:off x="1162192" y="2464405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846D08C0-9260-FC9D-82B1-02A37DC072F4}"/>
              </a:ext>
            </a:extLst>
          </p:cNvPr>
          <p:cNvSpPr/>
          <p:nvPr/>
        </p:nvSpPr>
        <p:spPr>
          <a:xfrm>
            <a:off x="1162192" y="2619853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7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6F36CC60-D3AC-9676-F697-2FC4CA1AE06D}"/>
              </a:ext>
            </a:extLst>
          </p:cNvPr>
          <p:cNvSpPr/>
          <p:nvPr/>
        </p:nvSpPr>
        <p:spPr>
          <a:xfrm>
            <a:off x="2972196" y="2451608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39238F0-2BB6-2989-F0E0-6CD2DF0C5795}"/>
              </a:ext>
            </a:extLst>
          </p:cNvPr>
          <p:cNvSpPr/>
          <p:nvPr/>
        </p:nvSpPr>
        <p:spPr>
          <a:xfrm>
            <a:off x="2972196" y="260705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E19F568E-4A60-F3A8-4508-39E3B4850500}"/>
              </a:ext>
            </a:extLst>
          </p:cNvPr>
          <p:cNvSpPr/>
          <p:nvPr/>
        </p:nvSpPr>
        <p:spPr>
          <a:xfrm>
            <a:off x="2067194" y="3073400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BF343885-8799-C61B-C6E4-2C33838C2131}"/>
              </a:ext>
            </a:extLst>
          </p:cNvPr>
          <p:cNvSpPr/>
          <p:nvPr/>
        </p:nvSpPr>
        <p:spPr>
          <a:xfrm>
            <a:off x="2067194" y="322884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70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ED8E55AB-0A03-DAC2-203E-EFF228C8A40B}"/>
              </a:ext>
            </a:extLst>
          </p:cNvPr>
          <p:cNvSpPr/>
          <p:nvPr/>
        </p:nvSpPr>
        <p:spPr>
          <a:xfrm>
            <a:off x="3382660" y="3155696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F3615499-C699-EE16-0DD9-2FBCEDB339D0}"/>
              </a:ext>
            </a:extLst>
          </p:cNvPr>
          <p:cNvSpPr/>
          <p:nvPr/>
        </p:nvSpPr>
        <p:spPr>
          <a:xfrm>
            <a:off x="3382660" y="3311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D841848-CAFC-D237-7456-10ABC6D6A3FC}"/>
              </a:ext>
            </a:extLst>
          </p:cNvPr>
          <p:cNvCxnSpPr>
            <a:cxnSpLocks/>
            <a:stCxn id="9" idx="5"/>
            <a:endCxn id="23" idx="1"/>
          </p:cNvCxnSpPr>
          <p:nvPr/>
        </p:nvCxnSpPr>
        <p:spPr>
          <a:xfrm>
            <a:off x="1692925" y="2995138"/>
            <a:ext cx="465328" cy="16932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D3F011D-FD4D-3BD8-5597-3FC70D39F4DB}"/>
              </a:ext>
            </a:extLst>
          </p:cNvPr>
          <p:cNvCxnSpPr>
            <a:cxnSpLocks/>
            <a:stCxn id="15" idx="3"/>
          </p:cNvCxnSpPr>
          <p:nvPr/>
        </p:nvCxnSpPr>
        <p:spPr>
          <a:xfrm flipH="1">
            <a:off x="2641425" y="2982341"/>
            <a:ext cx="421830" cy="24650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3C62D64-E102-64C6-A389-A8F1C8147F1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2688986" y="3418743"/>
            <a:ext cx="693674" cy="67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FAFD9F7-82EB-82EB-6173-1DE36AF8CC5D}"/>
              </a:ext>
            </a:extLst>
          </p:cNvPr>
          <p:cNvSpPr txBox="1"/>
          <p:nvPr/>
        </p:nvSpPr>
        <p:spPr>
          <a:xfrm>
            <a:off x="4804742" y="2607056"/>
            <a:ext cx="4061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 on D gives information about Z, which activates the collider path.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172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C6431-6DE3-C50E-5186-4CEE31B78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EDCFB-BFE9-E805-D39E-373FBC596002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5511F8-1E87-DA7F-D918-BDCB32161123}"/>
                  </a:ext>
                </a:extLst>
              </p:cNvPr>
              <p:cNvSpPr txBox="1"/>
              <p:nvPr/>
            </p:nvSpPr>
            <p:spPr>
              <a:xfrm>
                <a:off x="431800" y="1168400"/>
                <a:ext cx="82804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Suppose hospital admission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is a collider.</a:t>
                </a:r>
              </a:p>
              <a:p>
                <a:endParaRPr lang="en-US" sz="2000" dirty="0">
                  <a:solidFill>
                    <a:schemeClr val="bg1"/>
                  </a:solidFill>
                </a:endParaRP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Disease Severity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Insurance Status.</a:t>
                </a:r>
              </a:p>
              <a:p>
                <a:endParaRPr lang="en-US" sz="2000" dirty="0">
                  <a:solidFill>
                    <a:schemeClr val="bg1"/>
                  </a:solidFill>
                </a:endParaRP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Now suppose “received ICU bed” is caused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  <a:p>
                <a:endParaRPr lang="en-US" sz="20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ICU Bed.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5511F8-1E87-DA7F-D918-BDCB32161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00" y="1168400"/>
                <a:ext cx="8280400" cy="2246769"/>
              </a:xfrm>
              <a:prstGeom prst="rect">
                <a:avLst/>
              </a:prstGeom>
              <a:blipFill>
                <a:blip r:embed="rId2"/>
                <a:stretch>
                  <a:fillRect l="-810" t="-1359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BFD67415-9BF8-DAB7-B4C5-71DEA2ECDFD9}"/>
              </a:ext>
            </a:extLst>
          </p:cNvPr>
          <p:cNvSpPr/>
          <p:nvPr/>
        </p:nvSpPr>
        <p:spPr>
          <a:xfrm>
            <a:off x="355600" y="3797300"/>
            <a:ext cx="8356600" cy="838200"/>
          </a:xfrm>
          <a:prstGeom prst="roundRect">
            <a:avLst>
              <a:gd name="adj" fmla="val 19355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BFA8365-ED4F-F744-2AAB-5E0D97DBB427}"/>
              </a:ext>
            </a:extLst>
          </p:cNvPr>
          <p:cNvSpPr/>
          <p:nvPr/>
        </p:nvSpPr>
        <p:spPr>
          <a:xfrm>
            <a:off x="538480" y="3898621"/>
            <a:ext cx="8042737" cy="6759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 on ICU-bed recipients can indirectly select on H and induce collider bias.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3195506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79189-2A82-FC67-BA3E-80E33E6DC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B50F75-F49B-DC6A-C6C3-2914C37A285F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 practical d-Separation Algorithm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59C402C-60D0-F865-D8CB-3A6884C68FAD}"/>
              </a:ext>
            </a:extLst>
          </p:cNvPr>
          <p:cNvSpPr/>
          <p:nvPr/>
        </p:nvSpPr>
        <p:spPr>
          <a:xfrm>
            <a:off x="640080" y="900684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DBB30"/>
          </a:solidFill>
          <a:ln w="1270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5E21DBA-0693-EA6B-B352-DA4E40EF72F7}"/>
              </a:ext>
            </a:extLst>
          </p:cNvPr>
          <p:cNvSpPr/>
          <p:nvPr/>
        </p:nvSpPr>
        <p:spPr>
          <a:xfrm>
            <a:off x="640080" y="9829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5D8143-44E6-C749-1ABE-10C6E5E7AC72}"/>
                  </a:ext>
                </a:extLst>
              </p:cNvPr>
              <p:cNvSpPr txBox="1"/>
              <p:nvPr/>
            </p:nvSpPr>
            <p:spPr>
              <a:xfrm>
                <a:off x="136192" y="1625601"/>
                <a:ext cx="8871615" cy="29315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en-US" sz="205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1. List every path between X and Y.</a:t>
                </a:r>
              </a:p>
              <a:p>
                <a:pPr>
                  <a:buSzPct val="100000"/>
                </a:pPr>
                <a:endParaRPr lang="en-US" sz="2050" dirty="0"/>
              </a:p>
              <a:p>
                <a:pPr>
                  <a:buSzPct val="100000"/>
                </a:pPr>
                <a:r>
                  <a:rPr lang="en-US" sz="205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2. For each path, identify any collider(s).</a:t>
                </a:r>
              </a:p>
              <a:p>
                <a:pPr>
                  <a:buSzPct val="100000"/>
                </a:pPr>
                <a:endParaRPr lang="en-US" sz="2050" dirty="0"/>
              </a:p>
              <a:p>
                <a:pPr>
                  <a:buSzPct val="100000"/>
                </a:pPr>
                <a:r>
                  <a:rPr lang="en-US" sz="205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3. Ask whether a non-collider on the path is conditioned on </a:t>
                </a:r>
                <a14:m>
                  <m:oMath xmlns:m="http://schemas.openxmlformats.org/officeDocument/2006/math">
                    <m:r>
                      <a:rPr lang="en-US" sz="205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→</m:t>
                    </m:r>
                  </m:oMath>
                </a14:m>
                <a:r>
                  <a:rPr lang="en-US" sz="205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BLOCKED.</a:t>
                </a:r>
              </a:p>
              <a:p>
                <a:pPr>
                  <a:buSzPct val="100000"/>
                </a:pPr>
                <a:endParaRPr lang="en-US" sz="2050" dirty="0"/>
              </a:p>
              <a:p>
                <a:pPr>
                  <a:buSzPct val="100000"/>
                </a:pPr>
                <a:r>
                  <a:rPr lang="en-US" sz="205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4. If there is a collider, ask whether it or a descendant is conditioned on.</a:t>
                </a:r>
              </a:p>
              <a:p>
                <a:pPr>
                  <a:buSzPct val="100000"/>
                </a:pPr>
                <a:endParaRPr lang="en-US" sz="2050" dirty="0"/>
              </a:p>
              <a:p>
                <a:pPr>
                  <a:buSzPct val="100000"/>
                </a:pPr>
                <a:r>
                  <a:rPr lang="en-US" sz="205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5. X and Y are d-separated only if ALL paths are blocked.</a:t>
                </a:r>
                <a:endParaRPr lang="en-US" sz="205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5D8143-44E6-C749-1ABE-10C6E5E7A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92" y="1625601"/>
                <a:ext cx="8871615" cy="2931572"/>
              </a:xfrm>
              <a:prstGeom prst="rect">
                <a:avLst/>
              </a:prstGeom>
              <a:blipFill>
                <a:blip r:embed="rId2"/>
                <a:stretch>
                  <a:fillRect l="-755" t="-1247" b="-3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2106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BE483-DA8F-2D96-6AC8-6FD1DFB0F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EFF3B5-A724-9ED0-ED42-3A515BFF03B1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d-Separation: Exercise 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823ABD89-48F2-279A-DB72-BA655F44298C}"/>
              </a:ext>
            </a:extLst>
          </p:cNvPr>
          <p:cNvSpPr/>
          <p:nvPr/>
        </p:nvSpPr>
        <p:spPr>
          <a:xfrm>
            <a:off x="640080" y="900684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DBB30"/>
          </a:solidFill>
          <a:ln w="1270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CDD2135-E38C-A18A-4793-6CF262381C4F}"/>
              </a:ext>
            </a:extLst>
          </p:cNvPr>
          <p:cNvSpPr/>
          <p:nvPr/>
        </p:nvSpPr>
        <p:spPr>
          <a:xfrm>
            <a:off x="640080" y="9829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04B9024E-2014-67FF-2BFE-8FDB3DA040F5}"/>
              </a:ext>
            </a:extLst>
          </p:cNvPr>
          <p:cNvSpPr/>
          <p:nvPr/>
        </p:nvSpPr>
        <p:spPr>
          <a:xfrm flipH="1">
            <a:off x="2298699" y="1339216"/>
            <a:ext cx="1544226" cy="1508249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D93D2DC-F1D9-C4D9-80B7-263B7155BC83}"/>
              </a:ext>
            </a:extLst>
          </p:cNvPr>
          <p:cNvSpPr/>
          <p:nvPr/>
        </p:nvSpPr>
        <p:spPr>
          <a:xfrm>
            <a:off x="4397636" y="1326686"/>
            <a:ext cx="1819013" cy="1512018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F466EC69-B622-0292-1D0F-9AC846DFB92C}"/>
              </a:ext>
            </a:extLst>
          </p:cNvPr>
          <p:cNvSpPr/>
          <p:nvPr/>
        </p:nvSpPr>
        <p:spPr>
          <a:xfrm>
            <a:off x="2514600" y="3149600"/>
            <a:ext cx="1280414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D2E956C7-D57B-2799-65E9-B79A8FFB1196}"/>
              </a:ext>
            </a:extLst>
          </p:cNvPr>
          <p:cNvSpPr/>
          <p:nvPr/>
        </p:nvSpPr>
        <p:spPr>
          <a:xfrm>
            <a:off x="4423528" y="3130550"/>
            <a:ext cx="1585468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F800DAA3-848E-1B7D-EBB1-D527611CCE69}"/>
              </a:ext>
            </a:extLst>
          </p:cNvPr>
          <p:cNvSpPr/>
          <p:nvPr/>
        </p:nvSpPr>
        <p:spPr>
          <a:xfrm>
            <a:off x="3795014" y="827024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ED382FB1-D416-D880-77B2-B5A5B0B979E2}"/>
              </a:ext>
            </a:extLst>
          </p:cNvPr>
          <p:cNvSpPr/>
          <p:nvPr/>
        </p:nvSpPr>
        <p:spPr>
          <a:xfrm>
            <a:off x="3795014" y="9824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CD639A9E-8A3D-1FE1-3F85-8129FF6EA9C6}"/>
              </a:ext>
            </a:extLst>
          </p:cNvPr>
          <p:cNvSpPr/>
          <p:nvPr/>
        </p:nvSpPr>
        <p:spPr>
          <a:xfrm>
            <a:off x="1892808" y="283870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AC1E5F08-2A23-3DF9-FC5F-B1381467D2E7}"/>
              </a:ext>
            </a:extLst>
          </p:cNvPr>
          <p:cNvSpPr/>
          <p:nvPr/>
        </p:nvSpPr>
        <p:spPr>
          <a:xfrm>
            <a:off x="1892808" y="29941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CDB61A36-DB82-741E-6511-BA40B765B292}"/>
              </a:ext>
            </a:extLst>
          </p:cNvPr>
          <p:cNvSpPr/>
          <p:nvPr/>
        </p:nvSpPr>
        <p:spPr>
          <a:xfrm>
            <a:off x="3801736" y="2810256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E4D58EEF-6E9E-B247-FACC-CE72DF666E19}"/>
              </a:ext>
            </a:extLst>
          </p:cNvPr>
          <p:cNvSpPr/>
          <p:nvPr/>
        </p:nvSpPr>
        <p:spPr>
          <a:xfrm>
            <a:off x="3795014" y="29941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8A5B564C-2979-A1D6-1F02-16345E2EE6A5}"/>
              </a:ext>
            </a:extLst>
          </p:cNvPr>
          <p:cNvSpPr/>
          <p:nvPr/>
        </p:nvSpPr>
        <p:spPr>
          <a:xfrm>
            <a:off x="6015718" y="2832188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5F651749-75AB-AE05-F015-D7B256C812A1}"/>
              </a:ext>
            </a:extLst>
          </p:cNvPr>
          <p:cNvSpPr/>
          <p:nvPr/>
        </p:nvSpPr>
        <p:spPr>
          <a:xfrm>
            <a:off x="6015718" y="298763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15">
                <a:extLst>
                  <a:ext uri="{FF2B5EF4-FFF2-40B4-BE49-F238E27FC236}">
                    <a16:creationId xmlns:a16="http://schemas.microsoft.com/office/drawing/2014/main" id="{329E2054-2873-C982-9302-B9F76C55CA1D}"/>
                  </a:ext>
                </a:extLst>
              </p:cNvPr>
              <p:cNvSpPr/>
              <p:nvPr/>
            </p:nvSpPr>
            <p:spPr>
              <a:xfrm>
                <a:off x="5307142" y="1505236"/>
                <a:ext cx="3566160" cy="502920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DBB3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Conditioning set: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𝑺</m:t>
                    </m:r>
                    <m:r>
                      <a:rPr lang="en-US" sz="22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{</m:t>
                    </m:r>
                    <m:r>
                      <a:rPr lang="en-US" sz="22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𝑪</m:t>
                    </m:r>
                    <m:r>
                      <a:rPr lang="en-US" sz="22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}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1" name="Text 15">
                <a:extLst>
                  <a:ext uri="{FF2B5EF4-FFF2-40B4-BE49-F238E27FC236}">
                    <a16:creationId xmlns:a16="http://schemas.microsoft.com/office/drawing/2014/main" id="{329E2054-2873-C982-9302-B9F76C55CA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142" y="1505236"/>
                <a:ext cx="3566160" cy="502920"/>
              </a:xfrm>
              <a:prstGeom prst="rect">
                <a:avLst/>
              </a:prstGeom>
              <a:blipFill>
                <a:blip r:embed="rId2"/>
                <a:stretch>
                  <a:fillRect l="-2735" r="-1880" b="-1951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16">
                <a:extLst>
                  <a:ext uri="{FF2B5EF4-FFF2-40B4-BE49-F238E27FC236}">
                    <a16:creationId xmlns:a16="http://schemas.microsoft.com/office/drawing/2014/main" id="{FAE01DAA-4D0C-A18B-9F19-FB0263D942C6}"/>
                  </a:ext>
                </a:extLst>
              </p:cNvPr>
              <p:cNvSpPr/>
              <p:nvPr/>
            </p:nvSpPr>
            <p:spPr>
              <a:xfrm>
                <a:off x="2166094" y="3944620"/>
                <a:ext cx="4160520" cy="502920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500" dirty="0">
                    <a:solidFill>
                      <a:srgbClr val="F2F2F2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Question: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  <m:r>
                      <a:rPr lang="en-US" sz="25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⟂ᴅ </m:t>
                    </m:r>
                    <m:r>
                      <a:rPr lang="en-US" sz="25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𝑌</m:t>
                    </m:r>
                    <m:r>
                      <a:rPr lang="en-US" sz="25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| </m:t>
                    </m:r>
                    <m:r>
                      <a:rPr lang="en-US" sz="25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  <m:r>
                      <a:rPr lang="en-US" sz="25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</m:oMath>
                </a14:m>
                <a:r>
                  <a:rPr lang="en-US" sz="2500" dirty="0">
                    <a:solidFill>
                      <a:srgbClr val="F2F2F2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?</a:t>
                </a:r>
                <a:endParaRPr lang="en-US" sz="2500" dirty="0"/>
              </a:p>
            </p:txBody>
          </p:sp>
        </mc:Choice>
        <mc:Fallback xmlns="">
          <p:sp>
            <p:nvSpPr>
              <p:cNvPr id="33" name="Text 16">
                <a:extLst>
                  <a:ext uri="{FF2B5EF4-FFF2-40B4-BE49-F238E27FC236}">
                    <a16:creationId xmlns:a16="http://schemas.microsoft.com/office/drawing/2014/main" id="{FAE01DAA-4D0C-A18B-9F19-FB0263D94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094" y="3944620"/>
                <a:ext cx="4160520" cy="502920"/>
              </a:xfrm>
              <a:prstGeom prst="rect">
                <a:avLst/>
              </a:prstGeom>
              <a:blipFill>
                <a:blip r:embed="rId3"/>
                <a:stretch>
                  <a:fillRect t="-6024" b="-265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45684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B391-376F-9D5A-A1C9-FA1A0206F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D7AAC6-65D0-BCFD-A2B1-6D9883FA77EC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d-Separation: Exercise 1 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75EDBB1-DFCA-61CF-F699-DF5EFACD0BE9}"/>
              </a:ext>
            </a:extLst>
          </p:cNvPr>
          <p:cNvSpPr/>
          <p:nvPr/>
        </p:nvSpPr>
        <p:spPr>
          <a:xfrm>
            <a:off x="3354070" y="1027430"/>
            <a:ext cx="201168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</a:t>
            </a:r>
            <a:endParaRPr lang="en-US" sz="34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0C7FB11B-F066-6EE0-1234-640BCC71F45F}"/>
              </a:ext>
            </a:extLst>
          </p:cNvPr>
          <p:cNvSpPr/>
          <p:nvPr/>
        </p:nvSpPr>
        <p:spPr>
          <a:xfrm>
            <a:off x="513080" y="2109470"/>
            <a:ext cx="39319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Path 1: T ← C → Y</a:t>
            </a:r>
            <a:endParaRPr lang="en-US" sz="24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ED58F449-FB4C-88EC-F890-66909A329952}"/>
              </a:ext>
            </a:extLst>
          </p:cNvPr>
          <p:cNvSpPr/>
          <p:nvPr/>
        </p:nvSpPr>
        <p:spPr>
          <a:xfrm>
            <a:off x="4333240" y="2150895"/>
            <a:ext cx="42976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9AD7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by conditioning on C</a:t>
            </a:r>
            <a:endParaRPr lang="en-US" sz="20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A5A2029-ECA6-8161-72E0-8717A153A480}"/>
              </a:ext>
            </a:extLst>
          </p:cNvPr>
          <p:cNvSpPr/>
          <p:nvPr/>
        </p:nvSpPr>
        <p:spPr>
          <a:xfrm>
            <a:off x="513080" y="3095775"/>
            <a:ext cx="39319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Path 2: T → M → Y</a:t>
            </a:r>
            <a:endParaRPr lang="en-US" sz="24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3607DA64-9724-1218-0238-4627E0872F55}"/>
              </a:ext>
            </a:extLst>
          </p:cNvPr>
          <p:cNvSpPr/>
          <p:nvPr/>
        </p:nvSpPr>
        <p:spPr>
          <a:xfrm>
            <a:off x="4333240" y="3095775"/>
            <a:ext cx="42976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E8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open</a:t>
            </a:r>
            <a:endParaRPr lang="en-US" sz="2000" dirty="0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AD1AA5C9-6138-B700-47FE-74A9D878E98C}"/>
              </a:ext>
            </a:extLst>
          </p:cNvPr>
          <p:cNvSpPr/>
          <p:nvPr/>
        </p:nvSpPr>
        <p:spPr>
          <a:xfrm>
            <a:off x="177135" y="4116070"/>
            <a:ext cx="8689194" cy="589280"/>
          </a:xfrm>
          <a:prstGeom prst="roundRect">
            <a:avLst>
              <a:gd name="adj" fmla="val 19355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DDCCB6AE-AE04-C4EC-DCE1-F2C29169A1B9}"/>
              </a:ext>
            </a:extLst>
          </p:cNvPr>
          <p:cNvSpPr/>
          <p:nvPr/>
        </p:nvSpPr>
        <p:spPr>
          <a:xfrm>
            <a:off x="360015" y="4170934"/>
            <a:ext cx="8362839" cy="47522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d-separation requires EVERY path to be blocked.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23718822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DCB6A-96F1-02FD-BC2D-921FC215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5D399A-B4A5-FFBA-7F99-77B94FD44FD9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d-Separation: Exercise 2 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77B275D-7E83-3938-0FBE-54BF14664B40}"/>
              </a:ext>
            </a:extLst>
          </p:cNvPr>
          <p:cNvSpPr/>
          <p:nvPr/>
        </p:nvSpPr>
        <p:spPr>
          <a:xfrm>
            <a:off x="780763" y="1609344"/>
            <a:ext cx="565438" cy="621791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C55353C-19A5-7863-7BEC-44F4D77C49CD}"/>
              </a:ext>
            </a:extLst>
          </p:cNvPr>
          <p:cNvSpPr/>
          <p:nvPr/>
        </p:nvSpPr>
        <p:spPr>
          <a:xfrm flipH="1">
            <a:off x="1911639" y="1571752"/>
            <a:ext cx="365471" cy="523216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FFD5F24F-FD07-CD80-EC92-087E593A4652}"/>
              </a:ext>
            </a:extLst>
          </p:cNvPr>
          <p:cNvSpPr/>
          <p:nvPr/>
        </p:nvSpPr>
        <p:spPr>
          <a:xfrm flipV="1">
            <a:off x="2759456" y="1263650"/>
            <a:ext cx="1329944" cy="889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ADC2FEA-3AEA-45A7-0F89-1415F9EFAB45}"/>
              </a:ext>
            </a:extLst>
          </p:cNvPr>
          <p:cNvSpPr/>
          <p:nvPr/>
        </p:nvSpPr>
        <p:spPr>
          <a:xfrm>
            <a:off x="372364" y="989826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6A124DEE-4D0F-2E41-2496-F69F339110D6}"/>
              </a:ext>
            </a:extLst>
          </p:cNvPr>
          <p:cNvSpPr/>
          <p:nvPr/>
        </p:nvSpPr>
        <p:spPr>
          <a:xfrm>
            <a:off x="372364" y="114527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8E8FB281-A2A2-9FE6-475D-52A9C77A8A31}"/>
              </a:ext>
            </a:extLst>
          </p:cNvPr>
          <p:cNvSpPr/>
          <p:nvPr/>
        </p:nvSpPr>
        <p:spPr>
          <a:xfrm>
            <a:off x="2137664" y="987552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ACE01406-342F-2B32-3C2C-F918F11C4090}"/>
              </a:ext>
            </a:extLst>
          </p:cNvPr>
          <p:cNvSpPr/>
          <p:nvPr/>
        </p:nvSpPr>
        <p:spPr>
          <a:xfrm>
            <a:off x="2137664" y="114300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70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5BD01CFC-E4E5-211E-336A-943B0C7A5FD1}"/>
              </a:ext>
            </a:extLst>
          </p:cNvPr>
          <p:cNvSpPr/>
          <p:nvPr/>
        </p:nvSpPr>
        <p:spPr>
          <a:xfrm>
            <a:off x="4089400" y="961644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FD72B41-14F3-97EF-473A-4B774B8F2D1F}"/>
              </a:ext>
            </a:extLst>
          </p:cNvPr>
          <p:cNvSpPr/>
          <p:nvPr/>
        </p:nvSpPr>
        <p:spPr>
          <a:xfrm>
            <a:off x="4089400" y="111709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A66E3454-8554-BA6F-ABE6-EBD0AF3190AE}"/>
              </a:ext>
            </a:extLst>
          </p:cNvPr>
          <p:cNvSpPr/>
          <p:nvPr/>
        </p:nvSpPr>
        <p:spPr>
          <a:xfrm>
            <a:off x="1346201" y="1993392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8DFC1455-E022-11B9-048C-C01AB41FAFAD}"/>
              </a:ext>
            </a:extLst>
          </p:cNvPr>
          <p:cNvSpPr/>
          <p:nvPr/>
        </p:nvSpPr>
        <p:spPr>
          <a:xfrm>
            <a:off x="1346201" y="214884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076D954-BEE9-C3AB-6618-27659E2548F3}"/>
                  </a:ext>
                </a:extLst>
              </p:cNvPr>
              <p:cNvSpPr txBox="1"/>
              <p:nvPr/>
            </p:nvSpPr>
            <p:spPr>
              <a:xfrm>
                <a:off x="4999482" y="1380958"/>
                <a:ext cx="392480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Consider the path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What happens if we condition 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076D954-BEE9-C3AB-6618-27659E254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482" y="1380958"/>
                <a:ext cx="3924808" cy="923330"/>
              </a:xfrm>
              <a:prstGeom prst="rect">
                <a:avLst/>
              </a:prstGeom>
              <a:blipFill>
                <a:blip r:embed="rId2"/>
                <a:stretch>
                  <a:fillRect l="-1242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Shape 1">
            <a:extLst>
              <a:ext uri="{FF2B5EF4-FFF2-40B4-BE49-F238E27FC236}">
                <a16:creationId xmlns:a16="http://schemas.microsoft.com/office/drawing/2014/main" id="{9B39327C-B78A-4B3E-7523-5D0D3C5C0A11}"/>
              </a:ext>
            </a:extLst>
          </p:cNvPr>
          <p:cNvSpPr/>
          <p:nvPr/>
        </p:nvSpPr>
        <p:spPr>
          <a:xfrm>
            <a:off x="68767" y="2850653"/>
            <a:ext cx="4437000" cy="2101737"/>
          </a:xfrm>
          <a:prstGeom prst="roundRect">
            <a:avLst>
              <a:gd name="adj" fmla="val 2581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E6FEBB18-293B-2D30-F33D-76615335473D}"/>
              </a:ext>
            </a:extLst>
          </p:cNvPr>
          <p:cNvSpPr/>
          <p:nvPr/>
        </p:nvSpPr>
        <p:spPr>
          <a:xfrm>
            <a:off x="228011" y="3082238"/>
            <a:ext cx="4140200" cy="2301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conditioning on S</a:t>
            </a:r>
            <a:endParaRPr lang="en-US" sz="19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A381EBB3-907A-B35D-EB7E-BCFB1FEBAF11}"/>
              </a:ext>
            </a:extLst>
          </p:cNvPr>
          <p:cNvSpPr/>
          <p:nvPr/>
        </p:nvSpPr>
        <p:spPr>
          <a:xfrm>
            <a:off x="177135" y="3441988"/>
            <a:ext cx="4140200" cy="13929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is a collider.</a:t>
            </a:r>
            <a:endParaRPr lang="en-US" sz="1850" dirty="0"/>
          </a:p>
          <a:p>
            <a:pPr marL="0" indent="0" algn="l">
              <a:buNone/>
            </a:pP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→ S ← U → Y is BLOCKED at S.</a:t>
            </a:r>
            <a:endParaRPr lang="en-US" sz="1850" dirty="0"/>
          </a:p>
          <a:p>
            <a:pPr marL="0" indent="0" algn="l">
              <a:buNone/>
            </a:pP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path does not transmit association.</a:t>
            </a:r>
            <a:endParaRPr lang="en-US" sz="1850" dirty="0"/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7000E1C2-441A-7511-E8D4-35053D331D76}"/>
              </a:ext>
            </a:extLst>
          </p:cNvPr>
          <p:cNvSpPr/>
          <p:nvPr/>
        </p:nvSpPr>
        <p:spPr>
          <a:xfrm>
            <a:off x="4640393" y="2839213"/>
            <a:ext cx="4434840" cy="2103120"/>
          </a:xfrm>
          <a:prstGeom prst="roundRect">
            <a:avLst>
              <a:gd name="adj" fmla="val 2581"/>
            </a:avLst>
          </a:prstGeom>
          <a:solidFill>
            <a:srgbClr val="E88A8A"/>
          </a:solidFill>
          <a:ln w="15240">
            <a:solidFill>
              <a:srgbClr val="E88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D561528F-8917-A56C-A9D3-3B9C0EC11322}"/>
              </a:ext>
            </a:extLst>
          </p:cNvPr>
          <p:cNvSpPr/>
          <p:nvPr/>
        </p:nvSpPr>
        <p:spPr>
          <a:xfrm>
            <a:off x="4561586" y="2942265"/>
            <a:ext cx="4800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on S</a:t>
            </a:r>
            <a:endParaRPr lang="en-US" sz="1900" dirty="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D187CD5C-A6F1-37A7-6186-BB3D15D2EB42}"/>
              </a:ext>
            </a:extLst>
          </p:cNvPr>
          <p:cNvSpPr/>
          <p:nvPr/>
        </p:nvSpPr>
        <p:spPr>
          <a:xfrm>
            <a:off x="4868020" y="3473667"/>
            <a:ext cx="4187731" cy="13418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collider is activated.</a:t>
            </a:r>
            <a:endParaRPr lang="en-US" sz="1850" dirty="0"/>
          </a:p>
          <a:p>
            <a:pPr marL="0" indent="0" algn="l">
              <a:buNone/>
            </a:pP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becomes OPEN.</a:t>
            </a:r>
            <a:endParaRPr lang="en-US" sz="1850" dirty="0"/>
          </a:p>
          <a:p>
            <a:pPr marL="0" indent="0" algn="l">
              <a:buNone/>
            </a:pP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can now become associated with Y through U.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23365483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69211-2C3E-3709-44AF-D42B0A26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C0B70E-4F9A-E913-CAD1-AAE059D43B8E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d-Separation: Exercise 3 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CE3E278-DFDD-3B79-82ED-8B0DC6C27FBD}"/>
              </a:ext>
            </a:extLst>
          </p:cNvPr>
          <p:cNvSpPr/>
          <p:nvPr/>
        </p:nvSpPr>
        <p:spPr>
          <a:xfrm>
            <a:off x="911606" y="1226820"/>
            <a:ext cx="1073739" cy="867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C11155F-E01B-37C0-1BED-6DF399639115}"/>
              </a:ext>
            </a:extLst>
          </p:cNvPr>
          <p:cNvSpPr/>
          <p:nvPr/>
        </p:nvSpPr>
        <p:spPr>
          <a:xfrm>
            <a:off x="778845" y="1490472"/>
            <a:ext cx="621791" cy="598827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59795E8D-1D69-025C-76A6-65250C728803}"/>
              </a:ext>
            </a:extLst>
          </p:cNvPr>
          <p:cNvSpPr/>
          <p:nvPr/>
        </p:nvSpPr>
        <p:spPr>
          <a:xfrm>
            <a:off x="2622739" y="1251191"/>
            <a:ext cx="3041460" cy="78760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D88C1745-969E-CE76-0875-4BF1EB82BE66}"/>
              </a:ext>
            </a:extLst>
          </p:cNvPr>
          <p:cNvSpPr/>
          <p:nvPr/>
        </p:nvSpPr>
        <p:spPr>
          <a:xfrm>
            <a:off x="2022428" y="2170430"/>
            <a:ext cx="1127172" cy="2381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89552ABD-77EA-1BA8-A8A3-05647FEB2F74}"/>
              </a:ext>
            </a:extLst>
          </p:cNvPr>
          <p:cNvSpPr/>
          <p:nvPr/>
        </p:nvSpPr>
        <p:spPr>
          <a:xfrm>
            <a:off x="3779193" y="2170430"/>
            <a:ext cx="1885006" cy="2381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554CD59D-C332-624A-BFA9-0515ADF4C5E8}"/>
              </a:ext>
            </a:extLst>
          </p:cNvPr>
          <p:cNvSpPr/>
          <p:nvPr/>
        </p:nvSpPr>
        <p:spPr>
          <a:xfrm>
            <a:off x="289814" y="921892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46298063-D4FC-3B27-E646-94EACC16F935}"/>
              </a:ext>
            </a:extLst>
          </p:cNvPr>
          <p:cNvSpPr/>
          <p:nvPr/>
        </p:nvSpPr>
        <p:spPr>
          <a:xfrm>
            <a:off x="289814" y="107734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72F7E739-5BFD-9F1A-5DD3-01EFA80EA705}"/>
              </a:ext>
            </a:extLst>
          </p:cNvPr>
          <p:cNvSpPr/>
          <p:nvPr/>
        </p:nvSpPr>
        <p:spPr>
          <a:xfrm>
            <a:off x="1993146" y="940612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0A6A01C9-E315-9A7F-9A2D-4CF2C72E23A2}"/>
              </a:ext>
            </a:extLst>
          </p:cNvPr>
          <p:cNvSpPr/>
          <p:nvPr/>
        </p:nvSpPr>
        <p:spPr>
          <a:xfrm>
            <a:off x="1993146" y="10960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D03FAAC1-700E-20CE-B1B8-B0B1B19050AA}"/>
              </a:ext>
            </a:extLst>
          </p:cNvPr>
          <p:cNvSpPr/>
          <p:nvPr/>
        </p:nvSpPr>
        <p:spPr>
          <a:xfrm>
            <a:off x="1400636" y="1867332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A0594BBA-653D-EF9B-5EE7-8F88FDC9ECCE}"/>
              </a:ext>
            </a:extLst>
          </p:cNvPr>
          <p:cNvSpPr/>
          <p:nvPr/>
        </p:nvSpPr>
        <p:spPr>
          <a:xfrm>
            <a:off x="1400636" y="202278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2CF14485-F0CE-60FE-1E2D-52A422836510}"/>
              </a:ext>
            </a:extLst>
          </p:cNvPr>
          <p:cNvSpPr/>
          <p:nvPr/>
        </p:nvSpPr>
        <p:spPr>
          <a:xfrm>
            <a:off x="5642718" y="1867332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46E49EB7-70C4-130D-E294-E2EE045C90DF}"/>
              </a:ext>
            </a:extLst>
          </p:cNvPr>
          <p:cNvSpPr/>
          <p:nvPr/>
        </p:nvSpPr>
        <p:spPr>
          <a:xfrm>
            <a:off x="5642718" y="202278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6F08EB0C-49B4-FB30-5CD3-94C90EA5751B}"/>
              </a:ext>
            </a:extLst>
          </p:cNvPr>
          <p:cNvSpPr/>
          <p:nvPr/>
        </p:nvSpPr>
        <p:spPr>
          <a:xfrm>
            <a:off x="3157401" y="1883346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D553E43A-A27C-37BD-3103-303ED6552347}"/>
              </a:ext>
            </a:extLst>
          </p:cNvPr>
          <p:cNvSpPr/>
          <p:nvPr/>
        </p:nvSpPr>
        <p:spPr>
          <a:xfrm>
            <a:off x="3157401" y="203879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D5B0C9C4-4EE6-17FB-88DB-BB477F54CAAF}"/>
              </a:ext>
            </a:extLst>
          </p:cNvPr>
          <p:cNvSpPr/>
          <p:nvPr/>
        </p:nvSpPr>
        <p:spPr>
          <a:xfrm>
            <a:off x="4386834" y="963372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BED6F8A4-FC93-ED09-FE30-A64875A7DACC}"/>
              </a:ext>
            </a:extLst>
          </p:cNvPr>
          <p:cNvSpPr/>
          <p:nvPr/>
        </p:nvSpPr>
        <p:spPr>
          <a:xfrm>
            <a:off x="4386834" y="111882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60" name="Shape 5">
            <a:extLst>
              <a:ext uri="{FF2B5EF4-FFF2-40B4-BE49-F238E27FC236}">
                <a16:creationId xmlns:a16="http://schemas.microsoft.com/office/drawing/2014/main" id="{03EF13D8-0562-8A5E-59D0-C09685DA6150}"/>
              </a:ext>
            </a:extLst>
          </p:cNvPr>
          <p:cNvSpPr/>
          <p:nvPr/>
        </p:nvSpPr>
        <p:spPr>
          <a:xfrm>
            <a:off x="5008626" y="1320908"/>
            <a:ext cx="769874" cy="55464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">
            <a:extLst>
              <a:ext uri="{FF2B5EF4-FFF2-40B4-BE49-F238E27FC236}">
                <a16:creationId xmlns:a16="http://schemas.microsoft.com/office/drawing/2014/main" id="{441C6D58-4AE8-D9FF-2E76-84AD457F9E63}"/>
              </a:ext>
            </a:extLst>
          </p:cNvPr>
          <p:cNvSpPr/>
          <p:nvPr/>
        </p:nvSpPr>
        <p:spPr>
          <a:xfrm flipH="1">
            <a:off x="3696478" y="1417002"/>
            <a:ext cx="704506" cy="554639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61D0493-9E53-A02F-0B14-309922428047}"/>
                  </a:ext>
                </a:extLst>
              </p:cNvPr>
              <p:cNvSpPr txBox="1"/>
              <p:nvPr/>
            </p:nvSpPr>
            <p:spPr>
              <a:xfrm>
                <a:off x="6189785" y="1226820"/>
                <a:ext cx="275492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Find a conditioning set that d-separates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61D0493-9E53-A02F-0B14-309922428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85" y="1226820"/>
                <a:ext cx="2754923" cy="923330"/>
              </a:xfrm>
              <a:prstGeom prst="rect">
                <a:avLst/>
              </a:prstGeom>
              <a:blipFill>
                <a:blip r:embed="rId2"/>
                <a:stretch>
                  <a:fillRect l="-1770" t="-3289" r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EF3B5C8-FA2E-50DE-D1A6-E9F216E9BBE4}"/>
                  </a:ext>
                </a:extLst>
              </p:cNvPr>
              <p:cNvSpPr txBox="1"/>
              <p:nvPr/>
            </p:nvSpPr>
            <p:spPr>
              <a:xfrm>
                <a:off x="409277" y="3135133"/>
                <a:ext cx="814753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Three paths: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          :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 Path 1 – Open, chain.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  :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 Path 2 – Open, Backdoor path.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 :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 Path 3 – Closed, M is a collider. 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EF3B5C8-FA2E-50DE-D1A6-E9F216E9B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77" y="3135133"/>
                <a:ext cx="8147538" cy="1200329"/>
              </a:xfrm>
              <a:prstGeom prst="rect">
                <a:avLst/>
              </a:prstGeom>
              <a:blipFill>
                <a:blip r:embed="rId3"/>
                <a:stretch>
                  <a:fillRect l="-598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62811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A978-4E19-9B9A-A245-4A3B0349F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2017F4-4B29-793D-FBB6-E052997E976E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d-Separation: Exercise 3 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FB4BB79-04A7-F1BF-A4BF-B726BD596ED4}"/>
              </a:ext>
            </a:extLst>
          </p:cNvPr>
          <p:cNvSpPr/>
          <p:nvPr/>
        </p:nvSpPr>
        <p:spPr>
          <a:xfrm>
            <a:off x="911606" y="1226820"/>
            <a:ext cx="1073739" cy="867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4F6E76D-161A-597A-16DB-5468D09BA3B5}"/>
              </a:ext>
            </a:extLst>
          </p:cNvPr>
          <p:cNvSpPr/>
          <p:nvPr/>
        </p:nvSpPr>
        <p:spPr>
          <a:xfrm>
            <a:off x="778845" y="1490472"/>
            <a:ext cx="621791" cy="598827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50150681-7D8A-7059-AA1C-BD1A1D200F2A}"/>
              </a:ext>
            </a:extLst>
          </p:cNvPr>
          <p:cNvSpPr/>
          <p:nvPr/>
        </p:nvSpPr>
        <p:spPr>
          <a:xfrm>
            <a:off x="2622739" y="1251191"/>
            <a:ext cx="3041460" cy="78760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0449F593-EC95-8334-3556-E6AC5F749751}"/>
              </a:ext>
            </a:extLst>
          </p:cNvPr>
          <p:cNvSpPr/>
          <p:nvPr/>
        </p:nvSpPr>
        <p:spPr>
          <a:xfrm>
            <a:off x="2022428" y="2170430"/>
            <a:ext cx="1127172" cy="2381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DBD8F48E-43B0-BD27-AD45-CFBCE5ED5E2F}"/>
              </a:ext>
            </a:extLst>
          </p:cNvPr>
          <p:cNvSpPr/>
          <p:nvPr/>
        </p:nvSpPr>
        <p:spPr>
          <a:xfrm>
            <a:off x="3779193" y="2170430"/>
            <a:ext cx="1885006" cy="2381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D75D8E64-7D63-75FB-E974-9ECF029FBEF0}"/>
              </a:ext>
            </a:extLst>
          </p:cNvPr>
          <p:cNvSpPr/>
          <p:nvPr/>
        </p:nvSpPr>
        <p:spPr>
          <a:xfrm>
            <a:off x="289814" y="921892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A01CE15C-4D3E-0B59-165D-5A4C619B68FA}"/>
              </a:ext>
            </a:extLst>
          </p:cNvPr>
          <p:cNvSpPr/>
          <p:nvPr/>
        </p:nvSpPr>
        <p:spPr>
          <a:xfrm>
            <a:off x="289814" y="107734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71FE9096-77F7-EDAB-381D-A797EC685316}"/>
              </a:ext>
            </a:extLst>
          </p:cNvPr>
          <p:cNvSpPr/>
          <p:nvPr/>
        </p:nvSpPr>
        <p:spPr>
          <a:xfrm>
            <a:off x="1993146" y="940612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D9E8D17D-F9A6-5851-9FB7-23B7B9A5C7F0}"/>
              </a:ext>
            </a:extLst>
          </p:cNvPr>
          <p:cNvSpPr/>
          <p:nvPr/>
        </p:nvSpPr>
        <p:spPr>
          <a:xfrm>
            <a:off x="1993146" y="10960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FDAF5532-A458-E576-29D8-3CCC3D6F208D}"/>
              </a:ext>
            </a:extLst>
          </p:cNvPr>
          <p:cNvSpPr/>
          <p:nvPr/>
        </p:nvSpPr>
        <p:spPr>
          <a:xfrm>
            <a:off x="1400636" y="1867332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D2F17DDB-C067-7094-4FE5-7A635ED7B8BC}"/>
              </a:ext>
            </a:extLst>
          </p:cNvPr>
          <p:cNvSpPr/>
          <p:nvPr/>
        </p:nvSpPr>
        <p:spPr>
          <a:xfrm>
            <a:off x="1400636" y="202278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226078EA-7F2B-2D3D-952C-CABF3C20826B}"/>
              </a:ext>
            </a:extLst>
          </p:cNvPr>
          <p:cNvSpPr/>
          <p:nvPr/>
        </p:nvSpPr>
        <p:spPr>
          <a:xfrm>
            <a:off x="5642718" y="1867332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685D7D9E-CAE4-4E27-1944-64F15A2492D2}"/>
              </a:ext>
            </a:extLst>
          </p:cNvPr>
          <p:cNvSpPr/>
          <p:nvPr/>
        </p:nvSpPr>
        <p:spPr>
          <a:xfrm>
            <a:off x="5642718" y="202278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D7AD6281-16C3-CFD7-5104-2E28BD5E3036}"/>
              </a:ext>
            </a:extLst>
          </p:cNvPr>
          <p:cNvSpPr/>
          <p:nvPr/>
        </p:nvSpPr>
        <p:spPr>
          <a:xfrm>
            <a:off x="3157401" y="1883346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7BB6C4E8-5448-8AEE-B46B-09F1B776FC2C}"/>
              </a:ext>
            </a:extLst>
          </p:cNvPr>
          <p:cNvSpPr/>
          <p:nvPr/>
        </p:nvSpPr>
        <p:spPr>
          <a:xfrm>
            <a:off x="3157401" y="203879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772C6E8F-22E7-D787-D730-FF8E7E434DE4}"/>
              </a:ext>
            </a:extLst>
          </p:cNvPr>
          <p:cNvSpPr/>
          <p:nvPr/>
        </p:nvSpPr>
        <p:spPr>
          <a:xfrm>
            <a:off x="4386834" y="963372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BA1E651C-FDF2-B656-50AD-61BF905C4370}"/>
              </a:ext>
            </a:extLst>
          </p:cNvPr>
          <p:cNvSpPr/>
          <p:nvPr/>
        </p:nvSpPr>
        <p:spPr>
          <a:xfrm>
            <a:off x="4386834" y="111882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60" name="Shape 5">
            <a:extLst>
              <a:ext uri="{FF2B5EF4-FFF2-40B4-BE49-F238E27FC236}">
                <a16:creationId xmlns:a16="http://schemas.microsoft.com/office/drawing/2014/main" id="{0E6B1E57-5ED8-2DD2-6939-95EE68B66F65}"/>
              </a:ext>
            </a:extLst>
          </p:cNvPr>
          <p:cNvSpPr/>
          <p:nvPr/>
        </p:nvSpPr>
        <p:spPr>
          <a:xfrm>
            <a:off x="5008626" y="1320908"/>
            <a:ext cx="769874" cy="55464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">
            <a:extLst>
              <a:ext uri="{FF2B5EF4-FFF2-40B4-BE49-F238E27FC236}">
                <a16:creationId xmlns:a16="http://schemas.microsoft.com/office/drawing/2014/main" id="{CAD5162A-9630-8354-E5C9-A96252D4A078}"/>
              </a:ext>
            </a:extLst>
          </p:cNvPr>
          <p:cNvSpPr/>
          <p:nvPr/>
        </p:nvSpPr>
        <p:spPr>
          <a:xfrm flipH="1">
            <a:off x="3696478" y="1417002"/>
            <a:ext cx="704506" cy="554639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B918AA9-C652-0B83-ED91-17B4349C44E4}"/>
                  </a:ext>
                </a:extLst>
              </p:cNvPr>
              <p:cNvSpPr txBox="1"/>
              <p:nvPr/>
            </p:nvSpPr>
            <p:spPr>
              <a:xfrm>
                <a:off x="6189785" y="1226820"/>
                <a:ext cx="275492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Find a conditioning set that d-separates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B918AA9-C652-0B83-ED91-17B4349C4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85" y="1226820"/>
                <a:ext cx="2754923" cy="923330"/>
              </a:xfrm>
              <a:prstGeom prst="rect">
                <a:avLst/>
              </a:prstGeom>
              <a:blipFill>
                <a:blip r:embed="rId2"/>
                <a:stretch>
                  <a:fillRect l="-1770" t="-3289" r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04DF100-D296-566B-5B04-325656948792}"/>
                  </a:ext>
                </a:extLst>
              </p:cNvPr>
              <p:cNvSpPr txBox="1"/>
              <p:nvPr/>
            </p:nvSpPr>
            <p:spPr>
              <a:xfrm>
                <a:off x="409277" y="3135133"/>
                <a:ext cx="814753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Path 1 is an ordinary chain and is open by default. 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The only internal node on this path is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 Therefor to block this path, we must condition 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  So any d-separation set should contain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04DF100-D296-566B-5B04-325656948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77" y="3135133"/>
                <a:ext cx="8147538" cy="1200329"/>
              </a:xfrm>
              <a:prstGeom prst="rect">
                <a:avLst/>
              </a:prstGeom>
              <a:blipFill>
                <a:blip r:embed="rId3"/>
                <a:stretch>
                  <a:fillRect l="-598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36855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C50F5-487E-AC3C-984B-D2F75CF69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A1AF73-FF35-444A-C7A8-0AEE796F5FB0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d-Separation: Exercise 3 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9F88134-A270-A923-98A4-C98794373C70}"/>
              </a:ext>
            </a:extLst>
          </p:cNvPr>
          <p:cNvSpPr/>
          <p:nvPr/>
        </p:nvSpPr>
        <p:spPr>
          <a:xfrm>
            <a:off x="911606" y="1226820"/>
            <a:ext cx="1073739" cy="867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920E31B-FE09-CEC3-FC6D-939932D348D6}"/>
              </a:ext>
            </a:extLst>
          </p:cNvPr>
          <p:cNvSpPr/>
          <p:nvPr/>
        </p:nvSpPr>
        <p:spPr>
          <a:xfrm>
            <a:off x="778845" y="1490472"/>
            <a:ext cx="621791" cy="598827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A5A23BF4-7085-E4E8-B147-359076B7F174}"/>
              </a:ext>
            </a:extLst>
          </p:cNvPr>
          <p:cNvSpPr/>
          <p:nvPr/>
        </p:nvSpPr>
        <p:spPr>
          <a:xfrm>
            <a:off x="2622739" y="1251191"/>
            <a:ext cx="3041460" cy="78760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FBC2AF22-967C-FE0D-BC06-FD6A9ED30C90}"/>
              </a:ext>
            </a:extLst>
          </p:cNvPr>
          <p:cNvSpPr/>
          <p:nvPr/>
        </p:nvSpPr>
        <p:spPr>
          <a:xfrm>
            <a:off x="2022428" y="2170430"/>
            <a:ext cx="1127172" cy="2381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382ECF90-FFE5-A9E7-73CC-645DE14CB84A}"/>
              </a:ext>
            </a:extLst>
          </p:cNvPr>
          <p:cNvSpPr/>
          <p:nvPr/>
        </p:nvSpPr>
        <p:spPr>
          <a:xfrm>
            <a:off x="3779193" y="2170430"/>
            <a:ext cx="1885006" cy="2381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99EDBD53-47AE-249C-D5D7-0D15AD04F9E5}"/>
              </a:ext>
            </a:extLst>
          </p:cNvPr>
          <p:cNvSpPr/>
          <p:nvPr/>
        </p:nvSpPr>
        <p:spPr>
          <a:xfrm>
            <a:off x="289814" y="921892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52895851-DD98-8C43-25D6-438C110FE751}"/>
              </a:ext>
            </a:extLst>
          </p:cNvPr>
          <p:cNvSpPr/>
          <p:nvPr/>
        </p:nvSpPr>
        <p:spPr>
          <a:xfrm>
            <a:off x="289814" y="107734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BA1CB279-8F0E-840E-2FF3-1F65C8415A25}"/>
              </a:ext>
            </a:extLst>
          </p:cNvPr>
          <p:cNvSpPr/>
          <p:nvPr/>
        </p:nvSpPr>
        <p:spPr>
          <a:xfrm>
            <a:off x="1993146" y="940612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BFD26720-8139-E77D-3775-EA934F5BFE2F}"/>
              </a:ext>
            </a:extLst>
          </p:cNvPr>
          <p:cNvSpPr/>
          <p:nvPr/>
        </p:nvSpPr>
        <p:spPr>
          <a:xfrm>
            <a:off x="1993146" y="10960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41FE3EF6-B46C-5243-0EFA-153E4B572093}"/>
              </a:ext>
            </a:extLst>
          </p:cNvPr>
          <p:cNvSpPr/>
          <p:nvPr/>
        </p:nvSpPr>
        <p:spPr>
          <a:xfrm>
            <a:off x="1400636" y="1867332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F7863A5-3760-E48D-DD01-7EF291C392CE}"/>
              </a:ext>
            </a:extLst>
          </p:cNvPr>
          <p:cNvSpPr/>
          <p:nvPr/>
        </p:nvSpPr>
        <p:spPr>
          <a:xfrm>
            <a:off x="1400636" y="202278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7912ECD2-D11C-FC4B-631C-92F9BC0D8B86}"/>
              </a:ext>
            </a:extLst>
          </p:cNvPr>
          <p:cNvSpPr/>
          <p:nvPr/>
        </p:nvSpPr>
        <p:spPr>
          <a:xfrm>
            <a:off x="5642718" y="1867332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6BA7A9E1-F23D-F58D-940C-D2FAA263FFAE}"/>
              </a:ext>
            </a:extLst>
          </p:cNvPr>
          <p:cNvSpPr/>
          <p:nvPr/>
        </p:nvSpPr>
        <p:spPr>
          <a:xfrm>
            <a:off x="5642718" y="202278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6CFA155E-78C4-2740-F7E8-E547B156680E}"/>
              </a:ext>
            </a:extLst>
          </p:cNvPr>
          <p:cNvSpPr/>
          <p:nvPr/>
        </p:nvSpPr>
        <p:spPr>
          <a:xfrm>
            <a:off x="3157401" y="1883346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F8609F97-9F20-405D-7DC7-CF41A0B5A454}"/>
              </a:ext>
            </a:extLst>
          </p:cNvPr>
          <p:cNvSpPr/>
          <p:nvPr/>
        </p:nvSpPr>
        <p:spPr>
          <a:xfrm>
            <a:off x="3157401" y="203879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6E24113F-7B84-3DEF-7953-95D0B570DAEF}"/>
              </a:ext>
            </a:extLst>
          </p:cNvPr>
          <p:cNvSpPr/>
          <p:nvPr/>
        </p:nvSpPr>
        <p:spPr>
          <a:xfrm>
            <a:off x="4386834" y="963372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CE7D8B07-7781-87F9-3CA2-66768A8A59D4}"/>
              </a:ext>
            </a:extLst>
          </p:cNvPr>
          <p:cNvSpPr/>
          <p:nvPr/>
        </p:nvSpPr>
        <p:spPr>
          <a:xfrm>
            <a:off x="4386834" y="111882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60" name="Shape 5">
            <a:extLst>
              <a:ext uri="{FF2B5EF4-FFF2-40B4-BE49-F238E27FC236}">
                <a16:creationId xmlns:a16="http://schemas.microsoft.com/office/drawing/2014/main" id="{88EC4569-7F5A-4FBC-6560-D4F02C331902}"/>
              </a:ext>
            </a:extLst>
          </p:cNvPr>
          <p:cNvSpPr/>
          <p:nvPr/>
        </p:nvSpPr>
        <p:spPr>
          <a:xfrm>
            <a:off x="5008626" y="1320908"/>
            <a:ext cx="769874" cy="55464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">
            <a:extLst>
              <a:ext uri="{FF2B5EF4-FFF2-40B4-BE49-F238E27FC236}">
                <a16:creationId xmlns:a16="http://schemas.microsoft.com/office/drawing/2014/main" id="{27AB9EE6-019E-60F9-FCD0-08338EC81B26}"/>
              </a:ext>
            </a:extLst>
          </p:cNvPr>
          <p:cNvSpPr/>
          <p:nvPr/>
        </p:nvSpPr>
        <p:spPr>
          <a:xfrm flipH="1">
            <a:off x="3696478" y="1417002"/>
            <a:ext cx="704506" cy="554639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43F895B-4448-40B3-B9BF-5FAA5A833860}"/>
                  </a:ext>
                </a:extLst>
              </p:cNvPr>
              <p:cNvSpPr txBox="1"/>
              <p:nvPr/>
            </p:nvSpPr>
            <p:spPr>
              <a:xfrm>
                <a:off x="6189785" y="1226820"/>
                <a:ext cx="275492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Find a conditioning set that d-separates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43F895B-4448-40B3-B9BF-5FAA5A833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85" y="1226820"/>
                <a:ext cx="2754923" cy="923330"/>
              </a:xfrm>
              <a:prstGeom prst="rect">
                <a:avLst/>
              </a:prstGeom>
              <a:blipFill>
                <a:blip r:embed="rId2"/>
                <a:stretch>
                  <a:fillRect l="-1770" t="-3289" r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F69E48E-1375-7EB1-D9B2-49656D04DDBC}"/>
                  </a:ext>
                </a:extLst>
              </p:cNvPr>
              <p:cNvSpPr txBox="1"/>
              <p:nvPr/>
            </p:nvSpPr>
            <p:spPr>
              <a:xfrm>
                <a:off x="409277" y="3135133"/>
                <a:ext cx="814753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Path 2 is also open by default. There are no colliders. 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We can block it by conditioning on either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The conditioning set must also contain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F69E48E-1375-7EB1-D9B2-49656D04D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77" y="3135133"/>
                <a:ext cx="8147538" cy="1477328"/>
              </a:xfrm>
              <a:prstGeom prst="rect">
                <a:avLst/>
              </a:prstGeom>
              <a:blipFill>
                <a:blip r:embed="rId3"/>
                <a:stretch>
                  <a:fillRect l="-598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62279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5BDEB-F673-5C5E-217E-855EEDBEC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FC1FDA-4307-46D5-5BEA-D05BB97AF813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d-Separation: Exercise 3 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65E1CD3-9920-FB82-8C17-64464FA791C7}"/>
              </a:ext>
            </a:extLst>
          </p:cNvPr>
          <p:cNvSpPr/>
          <p:nvPr/>
        </p:nvSpPr>
        <p:spPr>
          <a:xfrm>
            <a:off x="911606" y="1226820"/>
            <a:ext cx="1073739" cy="867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E88E8D0B-FCA6-20B9-13FD-61BA73DF7A5C}"/>
              </a:ext>
            </a:extLst>
          </p:cNvPr>
          <p:cNvSpPr/>
          <p:nvPr/>
        </p:nvSpPr>
        <p:spPr>
          <a:xfrm>
            <a:off x="778845" y="1490472"/>
            <a:ext cx="621791" cy="598827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97E484CD-27D4-4F44-1E1E-09DE88898D33}"/>
              </a:ext>
            </a:extLst>
          </p:cNvPr>
          <p:cNvSpPr/>
          <p:nvPr/>
        </p:nvSpPr>
        <p:spPr>
          <a:xfrm>
            <a:off x="2622739" y="1251191"/>
            <a:ext cx="3041460" cy="78760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1064F8C9-2779-FBD5-FA42-A8BDCD970AC8}"/>
              </a:ext>
            </a:extLst>
          </p:cNvPr>
          <p:cNvSpPr/>
          <p:nvPr/>
        </p:nvSpPr>
        <p:spPr>
          <a:xfrm>
            <a:off x="2022428" y="2170430"/>
            <a:ext cx="1127172" cy="2381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4A3BFD10-D708-B06F-FECA-2DE97E793BA4}"/>
              </a:ext>
            </a:extLst>
          </p:cNvPr>
          <p:cNvSpPr/>
          <p:nvPr/>
        </p:nvSpPr>
        <p:spPr>
          <a:xfrm>
            <a:off x="3779193" y="2170430"/>
            <a:ext cx="1885006" cy="2381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E6F58EF4-E9DC-01FA-8201-2B49EEFD9534}"/>
              </a:ext>
            </a:extLst>
          </p:cNvPr>
          <p:cNvSpPr/>
          <p:nvPr/>
        </p:nvSpPr>
        <p:spPr>
          <a:xfrm>
            <a:off x="289814" y="921892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4244BA04-F878-A31E-27DD-E31B051E0823}"/>
              </a:ext>
            </a:extLst>
          </p:cNvPr>
          <p:cNvSpPr/>
          <p:nvPr/>
        </p:nvSpPr>
        <p:spPr>
          <a:xfrm>
            <a:off x="289814" y="107734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AA4E9E58-E918-6AA3-45B9-79784C88DDD3}"/>
              </a:ext>
            </a:extLst>
          </p:cNvPr>
          <p:cNvSpPr/>
          <p:nvPr/>
        </p:nvSpPr>
        <p:spPr>
          <a:xfrm>
            <a:off x="1993146" y="940612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17EE53D4-5D26-DD64-8102-94136DC754B8}"/>
              </a:ext>
            </a:extLst>
          </p:cNvPr>
          <p:cNvSpPr/>
          <p:nvPr/>
        </p:nvSpPr>
        <p:spPr>
          <a:xfrm>
            <a:off x="1993146" y="10960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66E756A3-D697-D002-EAC2-87E3E6597AC7}"/>
              </a:ext>
            </a:extLst>
          </p:cNvPr>
          <p:cNvSpPr/>
          <p:nvPr/>
        </p:nvSpPr>
        <p:spPr>
          <a:xfrm>
            <a:off x="1400636" y="1867332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C7D38D67-A872-D392-4E3A-D4AC1E92739D}"/>
              </a:ext>
            </a:extLst>
          </p:cNvPr>
          <p:cNvSpPr/>
          <p:nvPr/>
        </p:nvSpPr>
        <p:spPr>
          <a:xfrm>
            <a:off x="1400636" y="202278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17ECF0F2-D0C2-B126-F01B-19626D0FDF2A}"/>
              </a:ext>
            </a:extLst>
          </p:cNvPr>
          <p:cNvSpPr/>
          <p:nvPr/>
        </p:nvSpPr>
        <p:spPr>
          <a:xfrm>
            <a:off x="5642718" y="1867332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8A587815-C741-788B-2184-9743FD1F964E}"/>
              </a:ext>
            </a:extLst>
          </p:cNvPr>
          <p:cNvSpPr/>
          <p:nvPr/>
        </p:nvSpPr>
        <p:spPr>
          <a:xfrm>
            <a:off x="5642718" y="202278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12367F9B-4769-44BE-8A27-1EB0887DF292}"/>
              </a:ext>
            </a:extLst>
          </p:cNvPr>
          <p:cNvSpPr/>
          <p:nvPr/>
        </p:nvSpPr>
        <p:spPr>
          <a:xfrm>
            <a:off x="3157401" y="1883346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A1DD981F-F988-BEEB-C1EA-DB803DE07B67}"/>
              </a:ext>
            </a:extLst>
          </p:cNvPr>
          <p:cNvSpPr/>
          <p:nvPr/>
        </p:nvSpPr>
        <p:spPr>
          <a:xfrm>
            <a:off x="3157401" y="203879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1427F4D2-8A8C-3059-DFC7-89CAE0C2AC3E}"/>
              </a:ext>
            </a:extLst>
          </p:cNvPr>
          <p:cNvSpPr/>
          <p:nvPr/>
        </p:nvSpPr>
        <p:spPr>
          <a:xfrm>
            <a:off x="4386834" y="963372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039BE2A4-338B-DD87-2008-318144EAFEE6}"/>
              </a:ext>
            </a:extLst>
          </p:cNvPr>
          <p:cNvSpPr/>
          <p:nvPr/>
        </p:nvSpPr>
        <p:spPr>
          <a:xfrm>
            <a:off x="4386834" y="111882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60" name="Shape 5">
            <a:extLst>
              <a:ext uri="{FF2B5EF4-FFF2-40B4-BE49-F238E27FC236}">
                <a16:creationId xmlns:a16="http://schemas.microsoft.com/office/drawing/2014/main" id="{12FC0E6E-7279-0C8A-F2EF-61F0754D1B6F}"/>
              </a:ext>
            </a:extLst>
          </p:cNvPr>
          <p:cNvSpPr/>
          <p:nvPr/>
        </p:nvSpPr>
        <p:spPr>
          <a:xfrm>
            <a:off x="5008626" y="1320908"/>
            <a:ext cx="769874" cy="55464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">
            <a:extLst>
              <a:ext uri="{FF2B5EF4-FFF2-40B4-BE49-F238E27FC236}">
                <a16:creationId xmlns:a16="http://schemas.microsoft.com/office/drawing/2014/main" id="{9800066E-4A8F-D797-63CF-3EE3ADE104F8}"/>
              </a:ext>
            </a:extLst>
          </p:cNvPr>
          <p:cNvSpPr/>
          <p:nvPr/>
        </p:nvSpPr>
        <p:spPr>
          <a:xfrm flipH="1">
            <a:off x="3696478" y="1417002"/>
            <a:ext cx="704506" cy="554639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AA98E42-0526-7DDA-9703-6DA5265DD84E}"/>
                  </a:ext>
                </a:extLst>
              </p:cNvPr>
              <p:cNvSpPr txBox="1"/>
              <p:nvPr/>
            </p:nvSpPr>
            <p:spPr>
              <a:xfrm>
                <a:off x="6189785" y="1226820"/>
                <a:ext cx="275492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Find a conditioning set that d-separates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AA98E42-0526-7DDA-9703-6DA5265DD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85" y="1226820"/>
                <a:ext cx="2754923" cy="923330"/>
              </a:xfrm>
              <a:prstGeom prst="rect">
                <a:avLst/>
              </a:prstGeom>
              <a:blipFill>
                <a:blip r:embed="rId2"/>
                <a:stretch>
                  <a:fillRect l="-1770" t="-3289" r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2EE9AE9-B788-A20F-2EA6-62836606F669}"/>
                  </a:ext>
                </a:extLst>
              </p:cNvPr>
              <p:cNvSpPr txBox="1"/>
              <p:nvPr/>
            </p:nvSpPr>
            <p:spPr>
              <a:xfrm>
                <a:off x="409277" y="3135133"/>
                <a:ext cx="814753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So is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enough?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Look at Path 3.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is a collider, so conditioning on it opens Path 3. So we have to close it again. For that, we need to condition 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2EE9AE9-B788-A20F-2EA6-62836606F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77" y="3135133"/>
                <a:ext cx="8147538" cy="1200329"/>
              </a:xfrm>
              <a:prstGeom prst="rect">
                <a:avLst/>
              </a:prstGeom>
              <a:blipFill>
                <a:blip r:embed="rId3"/>
                <a:stretch>
                  <a:fillRect l="-598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33021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178E1-E0F8-1E40-E5ED-D352D59B1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722025-DC23-6126-0D03-B6D2DEE262C3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d-Separation: Exercise 3 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17D775E-49D8-7E69-4AA7-51A8F9025122}"/>
              </a:ext>
            </a:extLst>
          </p:cNvPr>
          <p:cNvSpPr/>
          <p:nvPr/>
        </p:nvSpPr>
        <p:spPr>
          <a:xfrm>
            <a:off x="911606" y="1226820"/>
            <a:ext cx="1073739" cy="867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C2E4DBFF-C00D-F248-6CAB-0F80313C3F01}"/>
              </a:ext>
            </a:extLst>
          </p:cNvPr>
          <p:cNvSpPr/>
          <p:nvPr/>
        </p:nvSpPr>
        <p:spPr>
          <a:xfrm>
            <a:off x="778845" y="1490472"/>
            <a:ext cx="621791" cy="598827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69963187-7ED4-C297-77A8-05C36AC74D05}"/>
              </a:ext>
            </a:extLst>
          </p:cNvPr>
          <p:cNvSpPr/>
          <p:nvPr/>
        </p:nvSpPr>
        <p:spPr>
          <a:xfrm>
            <a:off x="2622739" y="1251191"/>
            <a:ext cx="3041460" cy="78760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96D6D0BC-CB81-718D-4367-1F987F85B4B3}"/>
              </a:ext>
            </a:extLst>
          </p:cNvPr>
          <p:cNvSpPr/>
          <p:nvPr/>
        </p:nvSpPr>
        <p:spPr>
          <a:xfrm>
            <a:off x="2022428" y="2170430"/>
            <a:ext cx="1127172" cy="2381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3C103F79-AA32-F16A-109F-08EF4F0FE616}"/>
              </a:ext>
            </a:extLst>
          </p:cNvPr>
          <p:cNvSpPr/>
          <p:nvPr/>
        </p:nvSpPr>
        <p:spPr>
          <a:xfrm>
            <a:off x="3779193" y="2170430"/>
            <a:ext cx="1885006" cy="2381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EBD7D6A5-23D2-B8A7-7465-ABDB21A15A7E}"/>
              </a:ext>
            </a:extLst>
          </p:cNvPr>
          <p:cNvSpPr/>
          <p:nvPr/>
        </p:nvSpPr>
        <p:spPr>
          <a:xfrm>
            <a:off x="289814" y="921892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5B1528AD-DB4F-F074-8798-7B4BB18D6499}"/>
              </a:ext>
            </a:extLst>
          </p:cNvPr>
          <p:cNvSpPr/>
          <p:nvPr/>
        </p:nvSpPr>
        <p:spPr>
          <a:xfrm>
            <a:off x="289814" y="107734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799C3492-C93C-6BEA-6200-4F84575041BD}"/>
              </a:ext>
            </a:extLst>
          </p:cNvPr>
          <p:cNvSpPr/>
          <p:nvPr/>
        </p:nvSpPr>
        <p:spPr>
          <a:xfrm>
            <a:off x="1993146" y="940612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ECB1F7ED-1322-651C-ED19-9ADECC64B27A}"/>
              </a:ext>
            </a:extLst>
          </p:cNvPr>
          <p:cNvSpPr/>
          <p:nvPr/>
        </p:nvSpPr>
        <p:spPr>
          <a:xfrm>
            <a:off x="1993146" y="10960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18B23AFB-DFCB-1032-1C7F-0E24257EE0E2}"/>
              </a:ext>
            </a:extLst>
          </p:cNvPr>
          <p:cNvSpPr/>
          <p:nvPr/>
        </p:nvSpPr>
        <p:spPr>
          <a:xfrm>
            <a:off x="1400636" y="1867332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22FC5A4A-FD95-4108-D214-EC08C8817736}"/>
              </a:ext>
            </a:extLst>
          </p:cNvPr>
          <p:cNvSpPr/>
          <p:nvPr/>
        </p:nvSpPr>
        <p:spPr>
          <a:xfrm>
            <a:off x="1400636" y="202278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EA09C7DA-3784-58A3-C3BD-48B2EF905BC1}"/>
              </a:ext>
            </a:extLst>
          </p:cNvPr>
          <p:cNvSpPr/>
          <p:nvPr/>
        </p:nvSpPr>
        <p:spPr>
          <a:xfrm>
            <a:off x="5642718" y="1867332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AD2692E0-8612-FC9A-BCEF-DB6FB7C6156D}"/>
              </a:ext>
            </a:extLst>
          </p:cNvPr>
          <p:cNvSpPr/>
          <p:nvPr/>
        </p:nvSpPr>
        <p:spPr>
          <a:xfrm>
            <a:off x="5642718" y="202278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B37B09ED-3024-428D-F5C0-049F27A8B75A}"/>
              </a:ext>
            </a:extLst>
          </p:cNvPr>
          <p:cNvSpPr/>
          <p:nvPr/>
        </p:nvSpPr>
        <p:spPr>
          <a:xfrm>
            <a:off x="3157401" y="1883346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D6B31FF6-01ED-E75A-4825-C59F2C4F31F4}"/>
              </a:ext>
            </a:extLst>
          </p:cNvPr>
          <p:cNvSpPr/>
          <p:nvPr/>
        </p:nvSpPr>
        <p:spPr>
          <a:xfrm>
            <a:off x="3157401" y="203879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21D78F51-5E70-777E-0011-1F95225BADE1}"/>
              </a:ext>
            </a:extLst>
          </p:cNvPr>
          <p:cNvSpPr/>
          <p:nvPr/>
        </p:nvSpPr>
        <p:spPr>
          <a:xfrm>
            <a:off x="4386834" y="963372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A34B7FD3-3ED8-8084-0800-63EB47A4DD20}"/>
              </a:ext>
            </a:extLst>
          </p:cNvPr>
          <p:cNvSpPr/>
          <p:nvPr/>
        </p:nvSpPr>
        <p:spPr>
          <a:xfrm>
            <a:off x="4386834" y="111882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60" name="Shape 5">
            <a:extLst>
              <a:ext uri="{FF2B5EF4-FFF2-40B4-BE49-F238E27FC236}">
                <a16:creationId xmlns:a16="http://schemas.microsoft.com/office/drawing/2014/main" id="{76BB9E48-8358-C43F-D90F-148465EED8DE}"/>
              </a:ext>
            </a:extLst>
          </p:cNvPr>
          <p:cNvSpPr/>
          <p:nvPr/>
        </p:nvSpPr>
        <p:spPr>
          <a:xfrm>
            <a:off x="5008626" y="1320908"/>
            <a:ext cx="769874" cy="55464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">
            <a:extLst>
              <a:ext uri="{FF2B5EF4-FFF2-40B4-BE49-F238E27FC236}">
                <a16:creationId xmlns:a16="http://schemas.microsoft.com/office/drawing/2014/main" id="{515A682D-20FA-0D75-297A-A91FAFE9E864}"/>
              </a:ext>
            </a:extLst>
          </p:cNvPr>
          <p:cNvSpPr/>
          <p:nvPr/>
        </p:nvSpPr>
        <p:spPr>
          <a:xfrm flipH="1">
            <a:off x="3696478" y="1417002"/>
            <a:ext cx="704506" cy="554639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3866E79-224A-9629-E8D2-29370FE0E3FF}"/>
                  </a:ext>
                </a:extLst>
              </p:cNvPr>
              <p:cNvSpPr txBox="1"/>
              <p:nvPr/>
            </p:nvSpPr>
            <p:spPr>
              <a:xfrm>
                <a:off x="6189785" y="1226820"/>
                <a:ext cx="275492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Find a conditioning set that d-separates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3866E79-224A-9629-E8D2-29370FE0E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85" y="1226820"/>
                <a:ext cx="2754923" cy="923330"/>
              </a:xfrm>
              <a:prstGeom prst="rect">
                <a:avLst/>
              </a:prstGeom>
              <a:blipFill>
                <a:blip r:embed="rId2"/>
                <a:stretch>
                  <a:fillRect l="-1770" t="-3289" r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23C95DE-206A-4A2F-748C-8828BAD90EB9}"/>
                  </a:ext>
                </a:extLst>
              </p:cNvPr>
              <p:cNvSpPr txBox="1"/>
              <p:nvPr/>
            </p:nvSpPr>
            <p:spPr>
              <a:xfrm>
                <a:off x="409277" y="3135133"/>
                <a:ext cx="814753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is required for Path 1,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is required for Path 2.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is required because conditioning 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opens Path 3.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d-separation sets: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23C95DE-206A-4A2F-748C-8828BAD90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77" y="3135133"/>
                <a:ext cx="8147538" cy="1200329"/>
              </a:xfrm>
              <a:prstGeom prst="rect">
                <a:avLst/>
              </a:prstGeom>
              <a:blipFill>
                <a:blip r:embed="rId3"/>
                <a:stretch>
                  <a:fillRect l="-598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85950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BA39E-9099-4A8E-0B63-E8BE456F6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6A8DE3-E341-D701-7BDF-AA0B2105DDA9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d-Separation: Exercise 3 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1734F46-EB5F-BD09-4D92-D0426B0A33C6}"/>
              </a:ext>
            </a:extLst>
          </p:cNvPr>
          <p:cNvSpPr/>
          <p:nvPr/>
        </p:nvSpPr>
        <p:spPr>
          <a:xfrm>
            <a:off x="911606" y="1226820"/>
            <a:ext cx="1073739" cy="867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2BF36B5-5BEF-0125-4AB0-478CC82BC028}"/>
              </a:ext>
            </a:extLst>
          </p:cNvPr>
          <p:cNvSpPr/>
          <p:nvPr/>
        </p:nvSpPr>
        <p:spPr>
          <a:xfrm>
            <a:off x="778845" y="1490472"/>
            <a:ext cx="621791" cy="598827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55162D60-D523-D076-81BB-134D6C493082}"/>
              </a:ext>
            </a:extLst>
          </p:cNvPr>
          <p:cNvSpPr/>
          <p:nvPr/>
        </p:nvSpPr>
        <p:spPr>
          <a:xfrm>
            <a:off x="2622739" y="1251191"/>
            <a:ext cx="3041460" cy="78760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61ED07F8-34B7-7847-5587-6382F1EADC32}"/>
              </a:ext>
            </a:extLst>
          </p:cNvPr>
          <p:cNvSpPr/>
          <p:nvPr/>
        </p:nvSpPr>
        <p:spPr>
          <a:xfrm>
            <a:off x="2022428" y="2170430"/>
            <a:ext cx="1127172" cy="2381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6DF74FE1-14B2-763F-D2D9-9CE54984BD7A}"/>
              </a:ext>
            </a:extLst>
          </p:cNvPr>
          <p:cNvSpPr/>
          <p:nvPr/>
        </p:nvSpPr>
        <p:spPr>
          <a:xfrm>
            <a:off x="3779193" y="2170430"/>
            <a:ext cx="1885006" cy="2381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DD6BB446-BA7B-3BC8-C8DF-086F65ACE592}"/>
              </a:ext>
            </a:extLst>
          </p:cNvPr>
          <p:cNvSpPr/>
          <p:nvPr/>
        </p:nvSpPr>
        <p:spPr>
          <a:xfrm>
            <a:off x="289814" y="921892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4B02B2C2-F984-6C3D-3FA3-201F9E920E62}"/>
              </a:ext>
            </a:extLst>
          </p:cNvPr>
          <p:cNvSpPr/>
          <p:nvPr/>
        </p:nvSpPr>
        <p:spPr>
          <a:xfrm>
            <a:off x="289814" y="107734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34A20630-9E92-6830-4954-059E3EFA7864}"/>
              </a:ext>
            </a:extLst>
          </p:cNvPr>
          <p:cNvSpPr/>
          <p:nvPr/>
        </p:nvSpPr>
        <p:spPr>
          <a:xfrm>
            <a:off x="1993146" y="940612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6DCA5BF0-250E-AF90-6A73-3C9A5FAB153E}"/>
              </a:ext>
            </a:extLst>
          </p:cNvPr>
          <p:cNvSpPr/>
          <p:nvPr/>
        </p:nvSpPr>
        <p:spPr>
          <a:xfrm>
            <a:off x="1993146" y="10960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9DA4E513-375E-52DF-5721-6EFEDE0B657A}"/>
              </a:ext>
            </a:extLst>
          </p:cNvPr>
          <p:cNvSpPr/>
          <p:nvPr/>
        </p:nvSpPr>
        <p:spPr>
          <a:xfrm>
            <a:off x="1400636" y="1867332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477D12A3-B070-D21A-D763-B8980B5DF9E2}"/>
              </a:ext>
            </a:extLst>
          </p:cNvPr>
          <p:cNvSpPr/>
          <p:nvPr/>
        </p:nvSpPr>
        <p:spPr>
          <a:xfrm>
            <a:off x="1400636" y="202278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64EB057A-18B8-70C7-C025-129CA8387652}"/>
              </a:ext>
            </a:extLst>
          </p:cNvPr>
          <p:cNvSpPr/>
          <p:nvPr/>
        </p:nvSpPr>
        <p:spPr>
          <a:xfrm>
            <a:off x="5642718" y="1867332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AEFB6105-7C5E-6E8A-BA05-EB747431E282}"/>
              </a:ext>
            </a:extLst>
          </p:cNvPr>
          <p:cNvSpPr/>
          <p:nvPr/>
        </p:nvSpPr>
        <p:spPr>
          <a:xfrm>
            <a:off x="5642718" y="202278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0F7AA5E9-CD33-8673-116B-EFEE3415AADD}"/>
              </a:ext>
            </a:extLst>
          </p:cNvPr>
          <p:cNvSpPr/>
          <p:nvPr/>
        </p:nvSpPr>
        <p:spPr>
          <a:xfrm>
            <a:off x="3157401" y="1883346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0B2ADF8E-81AE-F64F-A022-88745632AE80}"/>
              </a:ext>
            </a:extLst>
          </p:cNvPr>
          <p:cNvSpPr/>
          <p:nvPr/>
        </p:nvSpPr>
        <p:spPr>
          <a:xfrm>
            <a:off x="3157401" y="203879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AF1ADA03-E1C6-3F9F-0599-A06132F35BA5}"/>
              </a:ext>
            </a:extLst>
          </p:cNvPr>
          <p:cNvSpPr/>
          <p:nvPr/>
        </p:nvSpPr>
        <p:spPr>
          <a:xfrm>
            <a:off x="4386834" y="963372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64E936F3-B582-4201-01C0-5D0FE1D33124}"/>
              </a:ext>
            </a:extLst>
          </p:cNvPr>
          <p:cNvSpPr/>
          <p:nvPr/>
        </p:nvSpPr>
        <p:spPr>
          <a:xfrm>
            <a:off x="4386834" y="111882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60" name="Shape 5">
            <a:extLst>
              <a:ext uri="{FF2B5EF4-FFF2-40B4-BE49-F238E27FC236}">
                <a16:creationId xmlns:a16="http://schemas.microsoft.com/office/drawing/2014/main" id="{2CDBF96F-16B9-FF9A-4ECF-63B989F421A4}"/>
              </a:ext>
            </a:extLst>
          </p:cNvPr>
          <p:cNvSpPr/>
          <p:nvPr/>
        </p:nvSpPr>
        <p:spPr>
          <a:xfrm>
            <a:off x="5008626" y="1320908"/>
            <a:ext cx="769874" cy="55464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">
            <a:extLst>
              <a:ext uri="{FF2B5EF4-FFF2-40B4-BE49-F238E27FC236}">
                <a16:creationId xmlns:a16="http://schemas.microsoft.com/office/drawing/2014/main" id="{AC707590-B3D7-BED3-56D2-52AC4A73F97F}"/>
              </a:ext>
            </a:extLst>
          </p:cNvPr>
          <p:cNvSpPr/>
          <p:nvPr/>
        </p:nvSpPr>
        <p:spPr>
          <a:xfrm flipH="1">
            <a:off x="3696478" y="1417002"/>
            <a:ext cx="704506" cy="554639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C8AA59-8BEE-D925-C922-813C689E9FF2}"/>
                  </a:ext>
                </a:extLst>
              </p:cNvPr>
              <p:cNvSpPr txBox="1"/>
              <p:nvPr/>
            </p:nvSpPr>
            <p:spPr>
              <a:xfrm>
                <a:off x="6189785" y="1226820"/>
                <a:ext cx="275492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chemeClr val="bg1"/>
                    </a:solidFill>
                  </a:rPr>
                  <a:t>Find a conditioning set that d-separates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C8AA59-8BEE-D925-C922-813C689E9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85" y="1226820"/>
                <a:ext cx="2754923" cy="923330"/>
              </a:xfrm>
              <a:prstGeom prst="rect">
                <a:avLst/>
              </a:prstGeom>
              <a:blipFill>
                <a:blip r:embed="rId2"/>
                <a:stretch>
                  <a:fillRect l="-1770" t="-3289" r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580AF39-A7A3-5A7A-993C-C1FF4414DA11}"/>
                  </a:ext>
                </a:extLst>
              </p:cNvPr>
              <p:cNvSpPr txBox="1"/>
              <p:nvPr/>
            </p:nvSpPr>
            <p:spPr>
              <a:xfrm>
                <a:off x="409277" y="3135133"/>
                <a:ext cx="814753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Receiving an intense treatment.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Recovery.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Biological response to treatment.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Baseline disease severity.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Baseline organ damage.</a:t>
                </a:r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Genetic risk factor. 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580AF39-A7A3-5A7A-993C-C1FF4414D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77" y="3135133"/>
                <a:ext cx="8147538" cy="1754326"/>
              </a:xfrm>
              <a:prstGeom prst="rect">
                <a:avLst/>
              </a:prstGeom>
              <a:blipFill>
                <a:blip r:embed="rId3"/>
                <a:stretch>
                  <a:fillRect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CBF9B97-DA5B-1DB1-4794-455FAD690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626" y="3017889"/>
            <a:ext cx="3305636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3118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04B78-6EEA-D003-C3F7-C86C4F4B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F81F26-2039-8B85-DC49-957594226471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2F2F2"/>
                </a:solidFill>
                <a:latin typeface="Walbaum Text"/>
              </a:rPr>
              <a:t>d-Separation ≠ Causal Adjustment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E4DAA6D-DDFB-D452-29F4-B855BC3ADCA5}"/>
              </a:ext>
            </a:extLst>
          </p:cNvPr>
          <p:cNvSpPr/>
          <p:nvPr/>
        </p:nvSpPr>
        <p:spPr>
          <a:xfrm>
            <a:off x="177135" y="909320"/>
            <a:ext cx="3988465" cy="2106930"/>
          </a:xfrm>
          <a:prstGeom prst="roundRect">
            <a:avLst/>
          </a:prstGeom>
          <a:solidFill>
            <a:srgbClr val="6FA8DC"/>
          </a:solidFill>
          <a:ln>
            <a:solidFill>
              <a:srgbClr val="6FA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 dirty="0">
                <a:solidFill>
                  <a:srgbClr val="171717"/>
                </a:solidFill>
                <a:latin typeface="Arial"/>
              </a:rPr>
              <a:t>d-SEPARATION</a:t>
            </a:r>
          </a:p>
          <a:p>
            <a:pPr algn="ctr">
              <a:spcBef>
                <a:spcPts val="700"/>
              </a:spcBef>
            </a:pPr>
            <a:r>
              <a:rPr sz="1500" dirty="0">
                <a:solidFill>
                  <a:srgbClr val="171717"/>
                </a:solidFill>
                <a:latin typeface="Arial"/>
              </a:rPr>
              <a:t>Question:
Can we make T and Y conditionally independent?
Goal: BLOCK ALL paths.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EE94E090-8589-E96C-2AA3-3DF2F9A9658A}"/>
              </a:ext>
            </a:extLst>
          </p:cNvPr>
          <p:cNvSpPr/>
          <p:nvPr/>
        </p:nvSpPr>
        <p:spPr>
          <a:xfrm>
            <a:off x="4399281" y="909320"/>
            <a:ext cx="4567584" cy="2106930"/>
          </a:xfrm>
          <a:prstGeom prst="roundRect">
            <a:avLst/>
          </a:prstGeom>
          <a:solidFill>
            <a:srgbClr val="FDBB30"/>
          </a:solidFill>
          <a:ln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>
                <a:solidFill>
                  <a:srgbClr val="171717"/>
                </a:solidFill>
                <a:latin typeface="Arial"/>
              </a:rPr>
              <a:t>CAUSAL ADJUSTMENT: TOTAL EFFECT</a:t>
            </a:r>
          </a:p>
          <a:p>
            <a:pPr algn="ctr">
              <a:spcBef>
                <a:spcPts val="700"/>
              </a:spcBef>
            </a:pPr>
            <a:r>
              <a:rPr sz="1500">
                <a:solidFill>
                  <a:srgbClr val="171717"/>
                </a:solidFill>
                <a:latin typeface="Arial"/>
              </a:rPr>
              <a:t>Question:
What should we condition on to identify the total effect?
Goal: BLOCK NONCAUSAL backdoor paths.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FBDB724-5F3D-C7B1-3655-277D0E8FA61C}"/>
              </a:ext>
            </a:extLst>
          </p:cNvPr>
          <p:cNvSpPr txBox="1"/>
          <p:nvPr/>
        </p:nvSpPr>
        <p:spPr>
          <a:xfrm>
            <a:off x="379730" y="334746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300" b="1">
                <a:solidFill>
                  <a:srgbClr val="FDBB30"/>
                </a:solidFill>
                <a:latin typeface="Arial"/>
              </a:rPr>
              <a:t>Example: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B23E68-FD8A-DB31-5FFC-B8414F8AFC79}"/>
              </a:ext>
            </a:extLst>
          </p:cNvPr>
          <p:cNvSpPr/>
          <p:nvPr/>
        </p:nvSpPr>
        <p:spPr>
          <a:xfrm>
            <a:off x="1705610" y="3484626"/>
            <a:ext cx="475488" cy="475488"/>
          </a:xfrm>
          <a:prstGeom prst="ellipse">
            <a:avLst/>
          </a:prstGeom>
          <a:solidFill>
            <a:srgbClr val="91C791"/>
          </a:solidFill>
          <a:ln w="152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500" b="1">
                <a:solidFill>
                  <a:srgbClr val="171717"/>
                </a:solidFill>
                <a:latin typeface="Arial"/>
              </a:rPr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64E534-40DA-CBD2-B29A-CEBC227355AB}"/>
              </a:ext>
            </a:extLst>
          </p:cNvPr>
          <p:cNvSpPr/>
          <p:nvPr/>
        </p:nvSpPr>
        <p:spPr>
          <a:xfrm>
            <a:off x="2757170" y="4170425"/>
            <a:ext cx="475488" cy="475488"/>
          </a:xfrm>
          <a:prstGeom prst="ellipse">
            <a:avLst/>
          </a:prstGeom>
          <a:solidFill>
            <a:srgbClr val="6FA8DC"/>
          </a:solidFill>
          <a:ln w="152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500" b="1">
                <a:solidFill>
                  <a:srgbClr val="171717"/>
                </a:solidFill>
                <a:latin typeface="Arial"/>
              </a:rPr>
              <a:t>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56EDBB3-8CAA-E620-4211-11B8FDAACBE6}"/>
              </a:ext>
            </a:extLst>
          </p:cNvPr>
          <p:cNvSpPr/>
          <p:nvPr/>
        </p:nvSpPr>
        <p:spPr>
          <a:xfrm>
            <a:off x="4037330" y="4170425"/>
            <a:ext cx="475488" cy="475488"/>
          </a:xfrm>
          <a:prstGeom prst="ellipse">
            <a:avLst/>
          </a:prstGeom>
          <a:solidFill>
            <a:srgbClr val="B592D6"/>
          </a:solidFill>
          <a:ln w="152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500" b="1">
                <a:solidFill>
                  <a:srgbClr val="171717"/>
                </a:solidFill>
                <a:latin typeface="Arial"/>
              </a:rPr>
              <a:t>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CA52D18-9ED2-4FBC-59D3-95FAB7545291}"/>
              </a:ext>
            </a:extLst>
          </p:cNvPr>
          <p:cNvSpPr/>
          <p:nvPr/>
        </p:nvSpPr>
        <p:spPr>
          <a:xfrm>
            <a:off x="5363210" y="4170425"/>
            <a:ext cx="475488" cy="475488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500" b="1">
                <a:solidFill>
                  <a:srgbClr val="171717"/>
                </a:solidFill>
                <a:latin typeface="Arial"/>
              </a:rPr>
              <a:t>Y</a:t>
            </a:r>
          </a:p>
        </p:txBody>
      </p:sp>
      <p:cxnSp>
        <p:nvCxnSpPr>
          <p:cNvPr id="14" name="Connector 9">
            <a:extLst>
              <a:ext uri="{FF2B5EF4-FFF2-40B4-BE49-F238E27FC236}">
                <a16:creationId xmlns:a16="http://schemas.microsoft.com/office/drawing/2014/main" id="{24899FD2-7886-BCD9-CD8E-9DFBEE84235A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034793" y="3952748"/>
            <a:ext cx="722377" cy="455421"/>
          </a:xfrm>
          <a:prstGeom prst="line">
            <a:avLst/>
          </a:prstGeom>
          <a:ln w="19050">
            <a:solidFill>
              <a:srgbClr val="F2F2F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0">
            <a:extLst>
              <a:ext uri="{FF2B5EF4-FFF2-40B4-BE49-F238E27FC236}">
                <a16:creationId xmlns:a16="http://schemas.microsoft.com/office/drawing/2014/main" id="{49C80AFD-AF9C-236F-05FD-7E7388F0C36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190242" y="3722370"/>
            <a:ext cx="3242602" cy="517689"/>
          </a:xfrm>
          <a:prstGeom prst="line">
            <a:avLst/>
          </a:prstGeom>
          <a:ln w="19050">
            <a:solidFill>
              <a:srgbClr val="F2F2F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1">
            <a:extLst>
              <a:ext uri="{FF2B5EF4-FFF2-40B4-BE49-F238E27FC236}">
                <a16:creationId xmlns:a16="http://schemas.microsoft.com/office/drawing/2014/main" id="{2B0F2DF1-13B9-E141-4CE1-B996997FEB2E}"/>
              </a:ext>
            </a:extLst>
          </p:cNvPr>
          <p:cNvCxnSpPr/>
          <p:nvPr/>
        </p:nvCxnSpPr>
        <p:spPr>
          <a:xfrm>
            <a:off x="3232658" y="4408170"/>
            <a:ext cx="804672" cy="0"/>
          </a:xfrm>
          <a:prstGeom prst="line">
            <a:avLst/>
          </a:prstGeom>
          <a:ln w="19050">
            <a:solidFill>
              <a:srgbClr val="F2F2F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2">
            <a:extLst>
              <a:ext uri="{FF2B5EF4-FFF2-40B4-BE49-F238E27FC236}">
                <a16:creationId xmlns:a16="http://schemas.microsoft.com/office/drawing/2014/main" id="{8DAC221F-B729-DDD8-66F1-4C46C0571C94}"/>
              </a:ext>
            </a:extLst>
          </p:cNvPr>
          <p:cNvCxnSpPr/>
          <p:nvPr/>
        </p:nvCxnSpPr>
        <p:spPr>
          <a:xfrm>
            <a:off x="4512818" y="4408170"/>
            <a:ext cx="850392" cy="0"/>
          </a:xfrm>
          <a:prstGeom prst="line">
            <a:avLst/>
          </a:prstGeom>
          <a:ln w="19050">
            <a:solidFill>
              <a:srgbClr val="F2F2F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3">
                <a:extLst>
                  <a:ext uri="{FF2B5EF4-FFF2-40B4-BE49-F238E27FC236}">
                    <a16:creationId xmlns:a16="http://schemas.microsoft.com/office/drawing/2014/main" id="{F76D87B6-DA81-C52A-A289-64BA06A12C64}"/>
                  </a:ext>
                </a:extLst>
              </p:cNvPr>
              <p:cNvSpPr txBox="1"/>
              <p:nvPr/>
            </p:nvSpPr>
            <p:spPr>
              <a:xfrm>
                <a:off x="6049010" y="3420618"/>
                <a:ext cx="23317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l"/>
                <a:r>
                  <a:rPr sz="1400" b="1" dirty="0">
                    <a:solidFill>
                      <a:srgbClr val="F2F2F2"/>
                    </a:solidFill>
                    <a:latin typeface="Arial"/>
                  </a:rPr>
                  <a:t>Backdoor path:
T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sz="1400" b="1" dirty="0">
                    <a:solidFill>
                      <a:srgbClr val="F2F2F2"/>
                    </a:solidFill>
                    <a:latin typeface="Arial"/>
                  </a:rPr>
                  <a:t> C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400" b="1" dirty="0">
                    <a:solidFill>
                      <a:srgbClr val="F2F2F2"/>
                    </a:solidFill>
                    <a:latin typeface="Arial"/>
                  </a:rPr>
                  <a:t> Y</a:t>
                </a:r>
              </a:p>
            </p:txBody>
          </p:sp>
        </mc:Choice>
        <mc:Fallback xmlns="">
          <p:sp>
            <p:nvSpPr>
              <p:cNvPr id="18" name="TextBox 13">
                <a:extLst>
                  <a:ext uri="{FF2B5EF4-FFF2-40B4-BE49-F238E27FC236}">
                    <a16:creationId xmlns:a16="http://schemas.microsoft.com/office/drawing/2014/main" id="{F76D87B6-DA81-C52A-A289-64BA06A12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010" y="3420618"/>
                <a:ext cx="2331720" cy="523220"/>
              </a:xfrm>
              <a:prstGeom prst="rect">
                <a:avLst/>
              </a:prstGeom>
              <a:blipFill>
                <a:blip r:embed="rId2"/>
                <a:stretch>
                  <a:fillRect l="-783"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4">
                <a:extLst>
                  <a:ext uri="{FF2B5EF4-FFF2-40B4-BE49-F238E27FC236}">
                    <a16:creationId xmlns:a16="http://schemas.microsoft.com/office/drawing/2014/main" id="{010D92F8-16E4-03DD-55CC-F36B1FAE597D}"/>
                  </a:ext>
                </a:extLst>
              </p:cNvPr>
              <p:cNvSpPr txBox="1"/>
              <p:nvPr/>
            </p:nvSpPr>
            <p:spPr>
              <a:xfrm>
                <a:off x="6049010" y="4005834"/>
                <a:ext cx="23317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l"/>
                <a:r>
                  <a:rPr sz="1400" b="1" dirty="0">
                    <a:solidFill>
                      <a:srgbClr val="F2F2F2"/>
                    </a:solidFill>
                    <a:latin typeface="Arial"/>
                  </a:rPr>
                  <a:t>Causal path:
T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400" b="1" dirty="0">
                    <a:solidFill>
                      <a:srgbClr val="F2F2F2"/>
                    </a:solidFill>
                    <a:latin typeface="Arial"/>
                  </a:rPr>
                  <a:t> M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400" b="1" dirty="0">
                    <a:solidFill>
                      <a:srgbClr val="F2F2F2"/>
                    </a:solidFill>
                    <a:latin typeface="Arial"/>
                  </a:rPr>
                  <a:t> Y</a:t>
                </a:r>
              </a:p>
            </p:txBody>
          </p:sp>
        </mc:Choice>
        <mc:Fallback xmlns="">
          <p:sp>
            <p:nvSpPr>
              <p:cNvPr id="19" name="TextBox 14">
                <a:extLst>
                  <a:ext uri="{FF2B5EF4-FFF2-40B4-BE49-F238E27FC236}">
                    <a16:creationId xmlns:a16="http://schemas.microsoft.com/office/drawing/2014/main" id="{010D92F8-16E4-03DD-55CC-F36B1FAE5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010" y="4005834"/>
                <a:ext cx="2331720" cy="523220"/>
              </a:xfrm>
              <a:prstGeom prst="rect">
                <a:avLst/>
              </a:prstGeom>
              <a:blipFill>
                <a:blip r:embed="rId3"/>
                <a:stretch>
                  <a:fillRect l="-783"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5">
            <a:extLst>
              <a:ext uri="{FF2B5EF4-FFF2-40B4-BE49-F238E27FC236}">
                <a16:creationId xmlns:a16="http://schemas.microsoft.com/office/drawing/2014/main" id="{FA2791A5-B911-5F0C-4506-C2F2C3D91C3F}"/>
              </a:ext>
            </a:extLst>
          </p:cNvPr>
          <p:cNvSpPr txBox="1"/>
          <p:nvPr/>
        </p:nvSpPr>
        <p:spPr>
          <a:xfrm>
            <a:off x="6049010" y="453618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300" b="1">
                <a:solidFill>
                  <a:srgbClr val="91C791"/>
                </a:solidFill>
                <a:latin typeface="Arial"/>
              </a:rPr>
              <a:t>For total effect: adjust for C,
not M.</a:t>
            </a:r>
          </a:p>
        </p:txBody>
      </p:sp>
    </p:spTree>
    <p:extLst>
      <p:ext uri="{BB962C8B-B14F-4D97-AF65-F5344CB8AC3E}">
        <p14:creationId xmlns:p14="http://schemas.microsoft.com/office/powerpoint/2010/main" val="2702265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BECA8-5D7C-41D9-4545-E64318BFC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9CC408-4A82-4E6F-751D-780D6A71112B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Backdoor path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D34C787-0928-462D-CDE2-C218CC6C1A01}"/>
              </a:ext>
            </a:extLst>
          </p:cNvPr>
          <p:cNvSpPr/>
          <p:nvPr/>
        </p:nvSpPr>
        <p:spPr>
          <a:xfrm flipH="1">
            <a:off x="1047593" y="1594359"/>
            <a:ext cx="621790" cy="62179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26269C86-25A9-E6E1-7672-D5A7540DEBBA}"/>
              </a:ext>
            </a:extLst>
          </p:cNvPr>
          <p:cNvSpPr/>
          <p:nvPr/>
        </p:nvSpPr>
        <p:spPr>
          <a:xfrm>
            <a:off x="2264155" y="1528572"/>
            <a:ext cx="701296" cy="523221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009FF43C-2C25-E29E-D3EC-1D9258FEEFEB}"/>
              </a:ext>
            </a:extLst>
          </p:cNvPr>
          <p:cNvSpPr/>
          <p:nvPr/>
        </p:nvSpPr>
        <p:spPr>
          <a:xfrm flipV="1">
            <a:off x="1144777" y="2371599"/>
            <a:ext cx="1726947" cy="116331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944BE289-AFD1-5FB0-8063-9890F27DB95A}"/>
              </a:ext>
            </a:extLst>
          </p:cNvPr>
          <p:cNvSpPr/>
          <p:nvPr/>
        </p:nvSpPr>
        <p:spPr>
          <a:xfrm>
            <a:off x="1642364" y="114452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BC0BFBC-0B5C-18DF-6165-B20114338BD5}"/>
              </a:ext>
            </a:extLst>
          </p:cNvPr>
          <p:cNvSpPr/>
          <p:nvPr/>
        </p:nvSpPr>
        <p:spPr>
          <a:xfrm>
            <a:off x="1642364" y="12999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CBA4D8C5-2B3C-F5FD-A691-4AB9E9918D5C}"/>
              </a:ext>
            </a:extLst>
          </p:cNvPr>
          <p:cNvSpPr/>
          <p:nvPr/>
        </p:nvSpPr>
        <p:spPr>
          <a:xfrm>
            <a:off x="622554" y="2170151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86F7268-2171-3E1C-2C69-EA9C56E22F3F}"/>
              </a:ext>
            </a:extLst>
          </p:cNvPr>
          <p:cNvSpPr/>
          <p:nvPr/>
        </p:nvSpPr>
        <p:spPr>
          <a:xfrm>
            <a:off x="622554" y="2325599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7DD90941-7063-D444-CDAF-24654BB29E28}"/>
              </a:ext>
            </a:extLst>
          </p:cNvPr>
          <p:cNvSpPr/>
          <p:nvPr/>
        </p:nvSpPr>
        <p:spPr>
          <a:xfrm>
            <a:off x="2871724" y="1953518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7145CC07-7C94-6445-CA07-A49C33438715}"/>
              </a:ext>
            </a:extLst>
          </p:cNvPr>
          <p:cNvSpPr/>
          <p:nvPr/>
        </p:nvSpPr>
        <p:spPr>
          <a:xfrm>
            <a:off x="2871724" y="210896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9816DD-2346-FA78-6F49-08E97FF67557}"/>
                  </a:ext>
                </a:extLst>
              </p:cNvPr>
              <p:cNvSpPr txBox="1"/>
              <p:nvPr/>
            </p:nvSpPr>
            <p:spPr>
              <a:xfrm>
                <a:off x="3891534" y="1462265"/>
                <a:ext cx="45910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A path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that begins with an arrow INTO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9816DD-2346-FA78-6F49-08E97FF67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534" y="1462265"/>
                <a:ext cx="4591050" cy="707886"/>
              </a:xfrm>
              <a:prstGeom prst="rect">
                <a:avLst/>
              </a:prstGeom>
              <a:blipFill>
                <a:blip r:embed="rId2"/>
                <a:stretch>
                  <a:fillRect l="-1326" t="-4310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C7C35A77-1F01-31E3-1B96-2FD9C7280DE5}"/>
              </a:ext>
            </a:extLst>
          </p:cNvPr>
          <p:cNvSpPr txBox="1"/>
          <p:nvPr/>
        </p:nvSpPr>
        <p:spPr>
          <a:xfrm>
            <a:off x="443484" y="3087848"/>
            <a:ext cx="8039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set S that blocks every backdoor path from T to Y.</a:t>
            </a:r>
            <a:endParaRPr lang="en-US" sz="1800" dirty="0">
              <a:solidFill>
                <a:schemeClr val="bg1"/>
              </a:solidFill>
            </a:endParaRPr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include descendants of T in a standard total-effect adjustment set.</a:t>
            </a:r>
            <a:endParaRPr lang="en-US" sz="1800" dirty="0">
              <a:solidFill>
                <a:schemeClr val="bg1"/>
              </a:solidFill>
            </a:endParaRPr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blocking backdoor paths, the remaining association from T to Y can be interpreted causally under the graph’s assumptions.</a:t>
            </a: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BD0B500B-DF54-C26D-8BAA-54B3113CF7A1}"/>
              </a:ext>
            </a:extLst>
          </p:cNvPr>
          <p:cNvSpPr/>
          <p:nvPr/>
        </p:nvSpPr>
        <p:spPr>
          <a:xfrm>
            <a:off x="1092454" y="4437622"/>
            <a:ext cx="7168896" cy="523220"/>
          </a:xfrm>
          <a:prstGeom prst="roundRect">
            <a:avLst>
              <a:gd name="adj" fmla="val 19355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C0B53261-08A7-30A5-0A94-0F4290581132}"/>
              </a:ext>
            </a:extLst>
          </p:cNvPr>
          <p:cNvSpPr/>
          <p:nvPr/>
        </p:nvSpPr>
        <p:spPr>
          <a:xfrm>
            <a:off x="1181223" y="4492486"/>
            <a:ext cx="6899642" cy="4219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noncausal paths. Leave causal paths open.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22648248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68C56-E727-5419-500F-0A189F162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460274-30D8-2DCE-E597-11605AD028CC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Backdoor path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941BB06B-70FA-3DB9-C94C-89C002780F5E}"/>
              </a:ext>
            </a:extLst>
          </p:cNvPr>
          <p:cNvSpPr/>
          <p:nvPr/>
        </p:nvSpPr>
        <p:spPr>
          <a:xfrm flipH="1">
            <a:off x="1047593" y="1594359"/>
            <a:ext cx="621790" cy="62179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2C245062-7D76-17B9-14F4-7504FEDA5DAE}"/>
              </a:ext>
            </a:extLst>
          </p:cNvPr>
          <p:cNvSpPr/>
          <p:nvPr/>
        </p:nvSpPr>
        <p:spPr>
          <a:xfrm>
            <a:off x="2264155" y="1528572"/>
            <a:ext cx="701296" cy="523221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579FA5C7-DA0F-DA70-96F4-677AF1E01266}"/>
              </a:ext>
            </a:extLst>
          </p:cNvPr>
          <p:cNvSpPr/>
          <p:nvPr/>
        </p:nvSpPr>
        <p:spPr>
          <a:xfrm flipV="1">
            <a:off x="1144777" y="2371599"/>
            <a:ext cx="1726947" cy="116331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D25DC531-EC7C-143F-FE29-1E3EA374BED5}"/>
              </a:ext>
            </a:extLst>
          </p:cNvPr>
          <p:cNvSpPr/>
          <p:nvPr/>
        </p:nvSpPr>
        <p:spPr>
          <a:xfrm>
            <a:off x="1642364" y="114452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AB89CD51-0B23-92A0-9349-B016064F6E2C}"/>
              </a:ext>
            </a:extLst>
          </p:cNvPr>
          <p:cNvSpPr/>
          <p:nvPr/>
        </p:nvSpPr>
        <p:spPr>
          <a:xfrm>
            <a:off x="1642364" y="12999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B8AF92B5-3DDB-22D0-6034-80E65CC46AA7}"/>
              </a:ext>
            </a:extLst>
          </p:cNvPr>
          <p:cNvSpPr/>
          <p:nvPr/>
        </p:nvSpPr>
        <p:spPr>
          <a:xfrm>
            <a:off x="622554" y="2170151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C7167B56-29B0-0622-04D2-7D27527E7105}"/>
              </a:ext>
            </a:extLst>
          </p:cNvPr>
          <p:cNvSpPr/>
          <p:nvPr/>
        </p:nvSpPr>
        <p:spPr>
          <a:xfrm>
            <a:off x="622554" y="2325599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8743FAE9-A54B-7E26-4798-FCA6B5DBC44D}"/>
              </a:ext>
            </a:extLst>
          </p:cNvPr>
          <p:cNvSpPr/>
          <p:nvPr/>
        </p:nvSpPr>
        <p:spPr>
          <a:xfrm>
            <a:off x="2871724" y="1953518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E282BC08-6683-63B7-C06A-B3FCA9325D9E}"/>
              </a:ext>
            </a:extLst>
          </p:cNvPr>
          <p:cNvSpPr/>
          <p:nvPr/>
        </p:nvSpPr>
        <p:spPr>
          <a:xfrm>
            <a:off x="2871724" y="210896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83E2034B-4281-52EC-DEFA-1F6FB6CD753D}"/>
              </a:ext>
            </a:extLst>
          </p:cNvPr>
          <p:cNvSpPr/>
          <p:nvPr/>
        </p:nvSpPr>
        <p:spPr>
          <a:xfrm>
            <a:off x="2743200" y="1606812"/>
            <a:ext cx="64008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600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Backdoor path: T ← C → Y</a:t>
            </a:r>
            <a:endParaRPr lang="en-US" sz="2600" dirty="0"/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33FC5DE7-11D0-CF64-85DA-27C83C2D4716}"/>
              </a:ext>
            </a:extLst>
          </p:cNvPr>
          <p:cNvSpPr/>
          <p:nvPr/>
        </p:nvSpPr>
        <p:spPr>
          <a:xfrm>
            <a:off x="177135" y="3598678"/>
            <a:ext cx="8689194" cy="621791"/>
          </a:xfrm>
          <a:prstGeom prst="roundRect">
            <a:avLst>
              <a:gd name="adj" fmla="val 19355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FD42D1CD-D2C9-C6A7-6AC7-5EA647ADCCE3}"/>
              </a:ext>
            </a:extLst>
          </p:cNvPr>
          <p:cNvSpPr/>
          <p:nvPr/>
        </p:nvSpPr>
        <p:spPr>
          <a:xfrm>
            <a:off x="360015" y="3653543"/>
            <a:ext cx="8362839" cy="5014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 on C blocks the backdoor path without blocking T → Y.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41462886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5BF0-CFFA-2EBF-28DD-77C7367E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7D2FCA-9CD8-0075-44F1-A8DB39A44E44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Backdoor path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905A4371-1A56-1715-C3F3-A6CAAA5D500A}"/>
              </a:ext>
            </a:extLst>
          </p:cNvPr>
          <p:cNvSpPr/>
          <p:nvPr/>
        </p:nvSpPr>
        <p:spPr>
          <a:xfrm flipH="1">
            <a:off x="1047593" y="1594359"/>
            <a:ext cx="621790" cy="621792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83B6ED75-F7AD-99CC-E942-98588B8C31BD}"/>
              </a:ext>
            </a:extLst>
          </p:cNvPr>
          <p:cNvSpPr/>
          <p:nvPr/>
        </p:nvSpPr>
        <p:spPr>
          <a:xfrm>
            <a:off x="2264155" y="1528572"/>
            <a:ext cx="701296" cy="523221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976BF526-546F-2E6C-EB60-14EE4C9800C1}"/>
              </a:ext>
            </a:extLst>
          </p:cNvPr>
          <p:cNvSpPr/>
          <p:nvPr/>
        </p:nvSpPr>
        <p:spPr>
          <a:xfrm flipV="1">
            <a:off x="1144777" y="2371599"/>
            <a:ext cx="1726947" cy="116331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A1EB997A-4B7A-6C94-6F26-A5391B646117}"/>
              </a:ext>
            </a:extLst>
          </p:cNvPr>
          <p:cNvSpPr/>
          <p:nvPr/>
        </p:nvSpPr>
        <p:spPr>
          <a:xfrm>
            <a:off x="1642364" y="114452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C791F701-3FDD-6521-CE08-6CB774169C9E}"/>
              </a:ext>
            </a:extLst>
          </p:cNvPr>
          <p:cNvSpPr/>
          <p:nvPr/>
        </p:nvSpPr>
        <p:spPr>
          <a:xfrm>
            <a:off x="1642364" y="12999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2B0D83DE-C79B-3D97-587B-526092719C05}"/>
              </a:ext>
            </a:extLst>
          </p:cNvPr>
          <p:cNvSpPr/>
          <p:nvPr/>
        </p:nvSpPr>
        <p:spPr>
          <a:xfrm>
            <a:off x="622554" y="2170151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E80F4E5-24B5-6FAB-CEA3-2DCA39C08FBB}"/>
              </a:ext>
            </a:extLst>
          </p:cNvPr>
          <p:cNvSpPr/>
          <p:nvPr/>
        </p:nvSpPr>
        <p:spPr>
          <a:xfrm>
            <a:off x="622554" y="2325599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63FABAC9-0C61-7D57-B54D-5BFECD2CEDFA}"/>
              </a:ext>
            </a:extLst>
          </p:cNvPr>
          <p:cNvSpPr/>
          <p:nvPr/>
        </p:nvSpPr>
        <p:spPr>
          <a:xfrm>
            <a:off x="2871724" y="1953518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2D47E5-22C9-5943-14E5-FE4FA71E7EC0}"/>
              </a:ext>
            </a:extLst>
          </p:cNvPr>
          <p:cNvSpPr/>
          <p:nvPr/>
        </p:nvSpPr>
        <p:spPr>
          <a:xfrm>
            <a:off x="2871724" y="210896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88B337C-2B47-7938-A046-ED6850995E4B}"/>
              </a:ext>
            </a:extLst>
          </p:cNvPr>
          <p:cNvSpPr/>
          <p:nvPr/>
        </p:nvSpPr>
        <p:spPr>
          <a:xfrm>
            <a:off x="303782" y="1006465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F1BF171D-717B-394D-4B50-9C5B13C94AF6}"/>
              </a:ext>
            </a:extLst>
          </p:cNvPr>
          <p:cNvSpPr/>
          <p:nvPr/>
        </p:nvSpPr>
        <p:spPr>
          <a:xfrm>
            <a:off x="303782" y="1161913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8ED2F2-7B1C-7DD1-78CA-2A234D318AD1}"/>
              </a:ext>
            </a:extLst>
          </p:cNvPr>
          <p:cNvCxnSpPr>
            <a:stCxn id="5" idx="4"/>
            <a:endCxn id="18" idx="0"/>
          </p:cNvCxnSpPr>
          <p:nvPr/>
        </p:nvCxnSpPr>
        <p:spPr>
          <a:xfrm>
            <a:off x="614678" y="1628257"/>
            <a:ext cx="318772" cy="54189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D9E2A0-4F40-3F30-1DEB-C88C393A9EF5}"/>
              </a:ext>
            </a:extLst>
          </p:cNvPr>
          <p:cNvCxnSpPr>
            <a:stCxn id="5" idx="5"/>
            <a:endCxn id="23" idx="2"/>
          </p:cNvCxnSpPr>
          <p:nvPr/>
        </p:nvCxnSpPr>
        <p:spPr>
          <a:xfrm>
            <a:off x="834515" y="1537198"/>
            <a:ext cx="2037209" cy="7272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15">
            <a:extLst>
              <a:ext uri="{FF2B5EF4-FFF2-40B4-BE49-F238E27FC236}">
                <a16:creationId xmlns:a16="http://schemas.microsoft.com/office/drawing/2014/main" id="{9CF95A3C-4308-3939-BDFD-8C799D3B2A13}"/>
              </a:ext>
            </a:extLst>
          </p:cNvPr>
          <p:cNvSpPr/>
          <p:nvPr/>
        </p:nvSpPr>
        <p:spPr>
          <a:xfrm>
            <a:off x="4481705" y="1802642"/>
            <a:ext cx="3827780" cy="4617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 ← A → Y     and     T ← B → Y</a:t>
            </a:r>
            <a:endParaRPr lang="en-US" sz="24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53420BA4-2D19-3DAB-8AE9-CD3E4E60A58B}"/>
              </a:ext>
            </a:extLst>
          </p:cNvPr>
          <p:cNvSpPr/>
          <p:nvPr/>
        </p:nvSpPr>
        <p:spPr>
          <a:xfrm>
            <a:off x="5461636" y="1487681"/>
            <a:ext cx="2011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 paths</a:t>
            </a:r>
            <a:endParaRPr lang="en-US" sz="1800" dirty="0"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D881547D-BB46-7E3F-021F-98D1E882993A}"/>
              </a:ext>
            </a:extLst>
          </p:cNvPr>
          <p:cNvSpPr/>
          <p:nvPr/>
        </p:nvSpPr>
        <p:spPr>
          <a:xfrm>
            <a:off x="542800" y="3710640"/>
            <a:ext cx="7877810" cy="541894"/>
          </a:xfrm>
          <a:prstGeom prst="roundRect">
            <a:avLst>
              <a:gd name="adj" fmla="val 19355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19ECCE1F-6940-E78B-0A67-56D3B988157C}"/>
              </a:ext>
            </a:extLst>
          </p:cNvPr>
          <p:cNvSpPr/>
          <p:nvPr/>
        </p:nvSpPr>
        <p:spPr>
          <a:xfrm>
            <a:off x="725680" y="3765504"/>
            <a:ext cx="7581930" cy="43701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block BOTH paths: adjust for A and B.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40575673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BBCAC-D6A2-C5F2-E845-22C8BDFE1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3919D4-40FC-DACF-CB12-48B93ADCCF53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Minimal Adjustment Set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8099DE6-A435-3E45-5B02-F5A124940C11}"/>
              </a:ext>
            </a:extLst>
          </p:cNvPr>
          <p:cNvSpPr/>
          <p:nvPr/>
        </p:nvSpPr>
        <p:spPr>
          <a:xfrm>
            <a:off x="479425" y="1179830"/>
            <a:ext cx="8185150" cy="10236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 adjustment set is MINIMAL if removing any variable from it would leave at least one backdoor path open.</a:t>
            </a:r>
            <a:endParaRPr lang="en-US" sz="23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A82F3C3-69B2-1970-899B-1E9234912B0C}"/>
              </a:ext>
            </a:extLst>
          </p:cNvPr>
          <p:cNvSpPr/>
          <p:nvPr/>
        </p:nvSpPr>
        <p:spPr>
          <a:xfrm>
            <a:off x="479425" y="277495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F310EE7D-691D-5347-626E-59FF3B87D23B}"/>
              </a:ext>
            </a:extLst>
          </p:cNvPr>
          <p:cNvSpPr/>
          <p:nvPr/>
        </p:nvSpPr>
        <p:spPr>
          <a:xfrm>
            <a:off x="662305" y="2957830"/>
            <a:ext cx="33832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set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{Age, Severity, Sex}</a:t>
            </a:r>
            <a:endParaRPr lang="en-US" sz="20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A741FB25-BCDE-D91F-854A-CF13C67FBBE0}"/>
              </a:ext>
            </a:extLst>
          </p:cNvPr>
          <p:cNvSpPr/>
          <p:nvPr/>
        </p:nvSpPr>
        <p:spPr>
          <a:xfrm>
            <a:off x="4732655" y="277495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B84029B0-CE6F-5457-6BBF-2793F7DF7785}"/>
              </a:ext>
            </a:extLst>
          </p:cNvPr>
          <p:cNvSpPr/>
          <p:nvPr/>
        </p:nvSpPr>
        <p:spPr>
          <a:xfrm>
            <a:off x="4915535" y="2957830"/>
            <a:ext cx="33832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Minimal?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the graph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534463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E4004-118C-531E-0F19-CB2AFA911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17BB42-A3A4-C52B-6FDA-1140D62F6347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“Pre-treatment” does NOT mean “adjust for it”</a:t>
            </a: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D86F63FE-0586-EF4E-D5D9-6ABB3FD4AA9F}"/>
              </a:ext>
            </a:extLst>
          </p:cNvPr>
          <p:cNvSpPr/>
          <p:nvPr/>
        </p:nvSpPr>
        <p:spPr>
          <a:xfrm>
            <a:off x="1241044" y="110515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89AE3ED6-CED0-E166-8A12-5D3CA5D3DEA9}"/>
              </a:ext>
            </a:extLst>
          </p:cNvPr>
          <p:cNvSpPr/>
          <p:nvPr/>
        </p:nvSpPr>
        <p:spPr>
          <a:xfrm>
            <a:off x="1241044" y="126060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6DB5681-EBA9-EAFD-85FA-34B959A6D0C8}"/>
              </a:ext>
            </a:extLst>
          </p:cNvPr>
          <p:cNvSpPr/>
          <p:nvPr/>
        </p:nvSpPr>
        <p:spPr>
          <a:xfrm>
            <a:off x="4209288" y="110515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5925FD4-E66C-1356-C9F2-14D889E4FB5E}"/>
              </a:ext>
            </a:extLst>
          </p:cNvPr>
          <p:cNvSpPr/>
          <p:nvPr/>
        </p:nvSpPr>
        <p:spPr>
          <a:xfrm>
            <a:off x="4209288" y="126060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BCCFD7ED-027F-2925-7141-8A7BA180476A}"/>
              </a:ext>
            </a:extLst>
          </p:cNvPr>
          <p:cNvSpPr/>
          <p:nvPr/>
        </p:nvSpPr>
        <p:spPr>
          <a:xfrm>
            <a:off x="2880614" y="1529103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880FF55-BD66-D67E-AB2B-270D143A7DFB}"/>
              </a:ext>
            </a:extLst>
          </p:cNvPr>
          <p:cNvSpPr/>
          <p:nvPr/>
        </p:nvSpPr>
        <p:spPr>
          <a:xfrm>
            <a:off x="2880614" y="1684551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451E456A-DE7E-8479-868D-F3381B0DD696}"/>
              </a:ext>
            </a:extLst>
          </p:cNvPr>
          <p:cNvSpPr/>
          <p:nvPr/>
        </p:nvSpPr>
        <p:spPr>
          <a:xfrm>
            <a:off x="1241044" y="2150895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B9E2F335-4C31-5657-0EC1-8307557751B6}"/>
              </a:ext>
            </a:extLst>
          </p:cNvPr>
          <p:cNvSpPr/>
          <p:nvPr/>
        </p:nvSpPr>
        <p:spPr>
          <a:xfrm>
            <a:off x="1241044" y="2306343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2D5F249C-393F-1B43-2AE7-EC1E209B5C13}"/>
              </a:ext>
            </a:extLst>
          </p:cNvPr>
          <p:cNvSpPr/>
          <p:nvPr/>
        </p:nvSpPr>
        <p:spPr>
          <a:xfrm>
            <a:off x="4261104" y="2224047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7A968FAD-38A5-3D97-1C04-05791A786DE4}"/>
              </a:ext>
            </a:extLst>
          </p:cNvPr>
          <p:cNvSpPr/>
          <p:nvPr/>
        </p:nvSpPr>
        <p:spPr>
          <a:xfrm>
            <a:off x="4261104" y="2379495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7799BA-A1BA-4423-8B26-02C0D3483D67}"/>
              </a:ext>
            </a:extLst>
          </p:cNvPr>
          <p:cNvCxnSpPr>
            <a:cxnSpLocks/>
            <a:stCxn id="5" idx="6"/>
            <a:endCxn id="17" idx="1"/>
          </p:cNvCxnSpPr>
          <p:nvPr/>
        </p:nvCxnSpPr>
        <p:spPr>
          <a:xfrm>
            <a:off x="1862836" y="1416050"/>
            <a:ext cx="1017778" cy="382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004804D-FBD9-D7D2-8799-CAA51D748409}"/>
              </a:ext>
            </a:extLst>
          </p:cNvPr>
          <p:cNvCxnSpPr>
            <a:cxnSpLocks/>
            <a:stCxn id="12" idx="1"/>
            <a:endCxn id="17" idx="3"/>
          </p:cNvCxnSpPr>
          <p:nvPr/>
        </p:nvCxnSpPr>
        <p:spPr>
          <a:xfrm flipH="1">
            <a:off x="3502406" y="1374902"/>
            <a:ext cx="706882" cy="423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3001130-9E18-D9B7-1499-65378D5007F4}"/>
              </a:ext>
            </a:extLst>
          </p:cNvPr>
          <p:cNvCxnSpPr>
            <a:cxnSpLocks/>
            <a:stCxn id="10" idx="4"/>
            <a:endCxn id="24" idx="0"/>
          </p:cNvCxnSpPr>
          <p:nvPr/>
        </p:nvCxnSpPr>
        <p:spPr>
          <a:xfrm>
            <a:off x="4520184" y="1726946"/>
            <a:ext cx="51816" cy="497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045BBA-0943-C524-2545-A87B1170395C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1862836" y="2493795"/>
            <a:ext cx="2398268" cy="77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12">
            <a:extLst>
              <a:ext uri="{FF2B5EF4-FFF2-40B4-BE49-F238E27FC236}">
                <a16:creationId xmlns:a16="http://schemas.microsoft.com/office/drawing/2014/main" id="{DDE1BFBF-F065-8EDA-382C-2D41D4AD323C}"/>
              </a:ext>
            </a:extLst>
          </p:cNvPr>
          <p:cNvSpPr/>
          <p:nvPr/>
        </p:nvSpPr>
        <p:spPr>
          <a:xfrm>
            <a:off x="2648966" y="2169067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pre-treatment collider</a:t>
            </a:r>
            <a:endParaRPr lang="en-US" sz="1200" dirty="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B5962C62-8C07-A842-10D5-9A1AAAEAC295}"/>
              </a:ext>
            </a:extLst>
          </p:cNvPr>
          <p:cNvSpPr/>
          <p:nvPr/>
        </p:nvSpPr>
        <p:spPr>
          <a:xfrm>
            <a:off x="5407914" y="1520836"/>
            <a:ext cx="3201670" cy="866925"/>
          </a:xfrm>
          <a:prstGeom prst="roundRect">
            <a:avLst>
              <a:gd name="adj" fmla="val 19355"/>
            </a:avLst>
          </a:prstGeom>
          <a:solidFill>
            <a:srgbClr val="E88A8A"/>
          </a:solidFill>
          <a:ln w="15240">
            <a:solidFill>
              <a:srgbClr val="E8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18">
                <a:extLst>
                  <a:ext uri="{FF2B5EF4-FFF2-40B4-BE49-F238E27FC236}">
                    <a16:creationId xmlns:a16="http://schemas.microsoft.com/office/drawing/2014/main" id="{8B56F6F3-827B-68D6-E767-E574A60E465A}"/>
                  </a:ext>
                </a:extLst>
              </p:cNvPr>
              <p:cNvSpPr/>
              <p:nvPr/>
            </p:nvSpPr>
            <p:spPr>
              <a:xfrm>
                <a:off x="5494018" y="1664276"/>
                <a:ext cx="3039372" cy="665502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 fontScale="77500" lnSpcReduction="20000"/>
              </a:bodyPr>
              <a:lstStyle/>
              <a:p>
                <a:pPr marL="0" indent="0" algn="ctr">
                  <a:buNone/>
                </a:pPr>
                <a:r>
                  <a:rPr lang="en-US" sz="2100" b="1" dirty="0">
                    <a:solidFill>
                      <a:srgbClr val="17171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 occurs before treatment—but adjusting for C opens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950" b="1" i="1" dirty="0" smtClean="0">
                          <a:solidFill>
                            <a:srgbClr val="17171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𝑻</m:t>
                      </m:r>
                      <m:r>
                        <a:rPr lang="en-US" sz="1950" b="1" i="1" dirty="0" smtClean="0">
                          <a:solidFill>
                            <a:srgbClr val="17171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← </m:t>
                      </m:r>
                      <m:r>
                        <a:rPr lang="en-US" sz="1950" b="1" i="1" dirty="0">
                          <a:solidFill>
                            <a:srgbClr val="17171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𝑨</m:t>
                      </m:r>
                      <m:r>
                        <a:rPr lang="en-US" sz="1950" b="1" i="1" dirty="0">
                          <a:solidFill>
                            <a:srgbClr val="17171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→ </m:t>
                      </m:r>
                      <m:r>
                        <a:rPr lang="en-US" sz="1950" b="1" i="1" dirty="0">
                          <a:solidFill>
                            <a:srgbClr val="17171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𝑪</m:t>
                      </m:r>
                      <m:r>
                        <a:rPr lang="en-US" sz="1950" b="1" i="1" dirty="0">
                          <a:solidFill>
                            <a:srgbClr val="17171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← </m:t>
                      </m:r>
                      <m:r>
                        <a:rPr lang="en-US" sz="1950" b="1" i="1" dirty="0">
                          <a:solidFill>
                            <a:srgbClr val="17171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𝑩</m:t>
                      </m:r>
                      <m:r>
                        <a:rPr lang="en-US" sz="1950" b="1" i="1" dirty="0">
                          <a:solidFill>
                            <a:srgbClr val="17171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 → </m:t>
                      </m:r>
                      <m:r>
                        <a:rPr lang="en-US" sz="1950" b="1" i="1" dirty="0">
                          <a:solidFill>
                            <a:srgbClr val="17171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𝒀</m:t>
                      </m:r>
                      <m:r>
                        <a:rPr lang="en-US" sz="1950" b="1" i="1" dirty="0">
                          <a:solidFill>
                            <a:srgbClr val="171717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.</m:t>
                      </m:r>
                    </m:oMath>
                  </m:oMathPara>
                </a14:m>
                <a:endParaRPr lang="en-US" sz="1950" dirty="0"/>
              </a:p>
            </p:txBody>
          </p:sp>
        </mc:Choice>
        <mc:Fallback xmlns="">
          <p:sp>
            <p:nvSpPr>
              <p:cNvPr id="49" name="Text 18">
                <a:extLst>
                  <a:ext uri="{FF2B5EF4-FFF2-40B4-BE49-F238E27FC236}">
                    <a16:creationId xmlns:a16="http://schemas.microsoft.com/office/drawing/2014/main" id="{8B56F6F3-827B-68D6-E767-E574A60E46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018" y="1664276"/>
                <a:ext cx="3039372" cy="665502"/>
              </a:xfrm>
              <a:prstGeom prst="rect">
                <a:avLst/>
              </a:prstGeom>
              <a:blipFill>
                <a:blip r:embed="rId2"/>
                <a:stretch>
                  <a:fillRect t="-1376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6A83A01-DB2D-4F0C-3C5B-86DFB33361D7}"/>
                  </a:ext>
                </a:extLst>
              </p:cNvPr>
              <p:cNvSpPr txBox="1"/>
              <p:nvPr/>
            </p:nvSpPr>
            <p:spPr>
              <a:xfrm>
                <a:off x="406400" y="2980157"/>
                <a:ext cx="812699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buClr>
                    <a:schemeClr val="bg1"/>
                  </a:buClr>
                </a:pPr>
                <a:r>
                  <a:rPr lang="en-US" sz="2000" dirty="0">
                    <a:solidFill>
                      <a:schemeClr val="bg1"/>
                    </a:solidFill>
                  </a:rPr>
                  <a:t>Example:</a:t>
                </a:r>
              </a:p>
              <a:p>
                <a:pPr marL="285750" lvl="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T = applicant attended an expensive private high school </a:t>
                </a:r>
              </a:p>
              <a:p>
                <a:pPr marL="285750" lvl="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= admission to a selective university </a:t>
                </a:r>
              </a:p>
              <a:p>
                <a:pPr marL="285750" lvl="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= family wealth </a:t>
                </a:r>
              </a:p>
              <a:p>
                <a:pPr marL="285750" lvl="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= parental education </a:t>
                </a:r>
              </a:p>
              <a:p>
                <a:pPr marL="285750" lvl="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= participation in an elite pre-college enrichment program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6A83A01-DB2D-4F0C-3C5B-86DFB3336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2980157"/>
                <a:ext cx="8126990" cy="1938992"/>
              </a:xfrm>
              <a:prstGeom prst="rect">
                <a:avLst/>
              </a:prstGeom>
              <a:blipFill>
                <a:blip r:embed="rId3"/>
                <a:stretch>
                  <a:fillRect l="-825" t="-1572" b="-5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84A7F43-F243-B319-18EC-BB9ED8D2291F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1551940" y="1726946"/>
            <a:ext cx="25908" cy="423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3171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58CCD-BD15-4C77-8058-437C3D9C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F72159-DB7C-E32A-40F0-1DB8FB8BBC4B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Post-Treatment variables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B768F52-D407-321D-5EFE-3D6871E4A1AA}"/>
              </a:ext>
            </a:extLst>
          </p:cNvPr>
          <p:cNvSpPr/>
          <p:nvPr/>
        </p:nvSpPr>
        <p:spPr>
          <a:xfrm>
            <a:off x="1252982" y="1710690"/>
            <a:ext cx="273405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2410B4E-1FA9-F652-900A-1195072B20D0}"/>
              </a:ext>
            </a:extLst>
          </p:cNvPr>
          <p:cNvSpPr/>
          <p:nvPr/>
        </p:nvSpPr>
        <p:spPr>
          <a:xfrm>
            <a:off x="4681982" y="1710690"/>
            <a:ext cx="273405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C2F3204F-2DC5-F92E-D95E-9D83CBE0A888}"/>
              </a:ext>
            </a:extLst>
          </p:cNvPr>
          <p:cNvSpPr/>
          <p:nvPr/>
        </p:nvSpPr>
        <p:spPr>
          <a:xfrm>
            <a:off x="1252982" y="1710690"/>
            <a:ext cx="616305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CD8BEB8B-8357-5EEB-01B6-A4C56DD11156}"/>
              </a:ext>
            </a:extLst>
          </p:cNvPr>
          <p:cNvSpPr/>
          <p:nvPr/>
        </p:nvSpPr>
        <p:spPr>
          <a:xfrm>
            <a:off x="594614" y="139979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D8C5CCBC-EBE6-E8AC-1A30-BFB4213E0E86}"/>
              </a:ext>
            </a:extLst>
          </p:cNvPr>
          <p:cNvSpPr/>
          <p:nvPr/>
        </p:nvSpPr>
        <p:spPr>
          <a:xfrm>
            <a:off x="594614" y="155524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153CC650-5A5A-5723-9F31-41D82CBCD46F}"/>
              </a:ext>
            </a:extLst>
          </p:cNvPr>
          <p:cNvSpPr/>
          <p:nvPr/>
        </p:nvSpPr>
        <p:spPr>
          <a:xfrm>
            <a:off x="4023614" y="1399794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B891021-A569-868F-93F6-421C08E926AB}"/>
              </a:ext>
            </a:extLst>
          </p:cNvPr>
          <p:cNvSpPr/>
          <p:nvPr/>
        </p:nvSpPr>
        <p:spPr>
          <a:xfrm>
            <a:off x="4023614" y="155524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5033702-3DF6-7A42-1A5A-AE4A95DDCF5B}"/>
              </a:ext>
            </a:extLst>
          </p:cNvPr>
          <p:cNvSpPr/>
          <p:nvPr/>
        </p:nvSpPr>
        <p:spPr>
          <a:xfrm>
            <a:off x="3740150" y="205816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post-treatment</a:t>
            </a:r>
            <a:endParaRPr lang="en-US" sz="120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75C16DF9-A17D-128B-DD90-D6929F1EE0FE}"/>
              </a:ext>
            </a:extLst>
          </p:cNvPr>
          <p:cNvSpPr/>
          <p:nvPr/>
        </p:nvSpPr>
        <p:spPr>
          <a:xfrm>
            <a:off x="7452614" y="1399794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98F80F00-3953-1456-62A6-184E55CC4475}"/>
              </a:ext>
            </a:extLst>
          </p:cNvPr>
          <p:cNvSpPr/>
          <p:nvPr/>
        </p:nvSpPr>
        <p:spPr>
          <a:xfrm>
            <a:off x="7452614" y="155524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7338F71A-8B1A-0D1F-43ED-01DC1BC1CD3A}"/>
              </a:ext>
            </a:extLst>
          </p:cNvPr>
          <p:cNvSpPr/>
          <p:nvPr/>
        </p:nvSpPr>
        <p:spPr>
          <a:xfrm>
            <a:off x="345440" y="2426974"/>
            <a:ext cx="8097520" cy="43280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is caused by T.</a:t>
            </a:r>
            <a:endParaRPr lang="en-US" sz="210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F13B0A46-4CFD-29CA-EE6F-5AD751E2A2A5}"/>
              </a:ext>
            </a:extLst>
          </p:cNvPr>
          <p:cNvSpPr/>
          <p:nvPr/>
        </p:nvSpPr>
        <p:spPr>
          <a:xfrm>
            <a:off x="0" y="3084958"/>
            <a:ext cx="9142578" cy="835907"/>
          </a:xfrm>
          <a:prstGeom prst="roundRect">
            <a:avLst>
              <a:gd name="adj" fmla="val 19355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9AEBC0E2-44B5-99D7-263D-80FA266AF9CA}"/>
              </a:ext>
            </a:extLst>
          </p:cNvPr>
          <p:cNvSpPr/>
          <p:nvPr/>
        </p:nvSpPr>
        <p:spPr>
          <a:xfrm>
            <a:off x="182879" y="3139822"/>
            <a:ext cx="8799195" cy="67411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estimating the TOTAL effect of T on Y, adjusting for M blocks part of the effect.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826498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DCBA3-D1D1-B0D2-83F9-D2011E851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42220E-42FD-8310-7B4E-D4210A85403F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Mediator: part of the causal mechanism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17E44A5-1C35-8B25-70F9-0A0529BC281E}"/>
              </a:ext>
            </a:extLst>
          </p:cNvPr>
          <p:cNvSpPr/>
          <p:nvPr/>
        </p:nvSpPr>
        <p:spPr>
          <a:xfrm>
            <a:off x="1252982" y="1950701"/>
            <a:ext cx="273405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F04809A7-2702-E88D-4523-5171C38ECFD1}"/>
              </a:ext>
            </a:extLst>
          </p:cNvPr>
          <p:cNvSpPr/>
          <p:nvPr/>
        </p:nvSpPr>
        <p:spPr>
          <a:xfrm>
            <a:off x="4681982" y="1950701"/>
            <a:ext cx="273405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4B22A45C-4475-1299-A742-807B5C1FB791}"/>
              </a:ext>
            </a:extLst>
          </p:cNvPr>
          <p:cNvSpPr/>
          <p:nvPr/>
        </p:nvSpPr>
        <p:spPr>
          <a:xfrm>
            <a:off x="1252982" y="1950701"/>
            <a:ext cx="616305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F1265EB7-57EC-A5D4-077B-15D1170FDF74}"/>
              </a:ext>
            </a:extLst>
          </p:cNvPr>
          <p:cNvSpPr/>
          <p:nvPr/>
        </p:nvSpPr>
        <p:spPr>
          <a:xfrm>
            <a:off x="594614" y="1639805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B18EFDC3-2DFD-92F3-3EF4-010F31AE88EE}"/>
              </a:ext>
            </a:extLst>
          </p:cNvPr>
          <p:cNvSpPr/>
          <p:nvPr/>
        </p:nvSpPr>
        <p:spPr>
          <a:xfrm>
            <a:off x="594614" y="1795253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E535BF03-1410-6DDB-A39B-0CA0CA53C793}"/>
              </a:ext>
            </a:extLst>
          </p:cNvPr>
          <p:cNvSpPr/>
          <p:nvPr/>
        </p:nvSpPr>
        <p:spPr>
          <a:xfrm>
            <a:off x="4023614" y="1639805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D70DA8B6-BB15-3C48-A3B2-4232A44C0A6F}"/>
              </a:ext>
            </a:extLst>
          </p:cNvPr>
          <p:cNvSpPr/>
          <p:nvPr/>
        </p:nvSpPr>
        <p:spPr>
          <a:xfrm>
            <a:off x="4023614" y="1795253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E78F5405-CE52-C1CD-F25D-FA692783CF3D}"/>
              </a:ext>
            </a:extLst>
          </p:cNvPr>
          <p:cNvSpPr/>
          <p:nvPr/>
        </p:nvSpPr>
        <p:spPr>
          <a:xfrm>
            <a:off x="3740150" y="2298173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Weight-loss</a:t>
            </a:r>
            <a:endParaRPr lang="en-US" sz="120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49BAE735-90A0-C7ED-CD70-F20B346F26C1}"/>
              </a:ext>
            </a:extLst>
          </p:cNvPr>
          <p:cNvSpPr/>
          <p:nvPr/>
        </p:nvSpPr>
        <p:spPr>
          <a:xfrm>
            <a:off x="7452614" y="1639805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EA4667C1-44B9-1BD4-4FD4-52DA908F4BFF}"/>
              </a:ext>
            </a:extLst>
          </p:cNvPr>
          <p:cNvSpPr/>
          <p:nvPr/>
        </p:nvSpPr>
        <p:spPr>
          <a:xfrm>
            <a:off x="7452614" y="1795253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8A5A26AF-ADE4-5206-CBD3-D79E8A896348}"/>
              </a:ext>
            </a:extLst>
          </p:cNvPr>
          <p:cNvSpPr/>
          <p:nvPr/>
        </p:nvSpPr>
        <p:spPr>
          <a:xfrm>
            <a:off x="233426" y="828294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FDBB30"/>
          </a:solidFill>
          <a:ln w="1270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64576BA-4CA0-C30D-0BC9-B50738F14088}"/>
              </a:ext>
            </a:extLst>
          </p:cNvPr>
          <p:cNvSpPr/>
          <p:nvPr/>
        </p:nvSpPr>
        <p:spPr>
          <a:xfrm>
            <a:off x="324866" y="92504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MEDIATION</a:t>
            </a:r>
            <a:endParaRPr lang="en-US" sz="10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7E927B4-FA3B-75E4-507C-028733E4786E}"/>
              </a:ext>
            </a:extLst>
          </p:cNvPr>
          <p:cNvSpPr/>
          <p:nvPr/>
        </p:nvSpPr>
        <p:spPr>
          <a:xfrm>
            <a:off x="7169150" y="2261597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Pressure</a:t>
            </a:r>
            <a:endParaRPr lang="en-US" sz="12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DB8B208-2281-9900-6167-FE68612C8CB5}"/>
              </a:ext>
            </a:extLst>
          </p:cNvPr>
          <p:cNvSpPr/>
          <p:nvPr/>
        </p:nvSpPr>
        <p:spPr>
          <a:xfrm>
            <a:off x="324866" y="2276055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5">
                <a:extLst>
                  <a:ext uri="{FF2B5EF4-FFF2-40B4-BE49-F238E27FC236}">
                    <a16:creationId xmlns:a16="http://schemas.microsoft.com/office/drawing/2014/main" id="{480CF00E-E804-DFC0-9AD8-DDA307CE07C8}"/>
                  </a:ext>
                </a:extLst>
              </p:cNvPr>
              <p:cNvSpPr/>
              <p:nvPr/>
            </p:nvSpPr>
            <p:spPr>
              <a:xfrm>
                <a:off x="594614" y="3069279"/>
                <a:ext cx="7853934" cy="429767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100" b="1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Total effect = direct pathway </a:t>
                </a:r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+</m:t>
                    </m:r>
                  </m:oMath>
                </a14:m>
                <a:r>
                  <a:rPr lang="en-US" sz="2100" b="1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mediated pathway.</a:t>
                </a:r>
                <a:endParaRPr lang="en-US" sz="2100" dirty="0"/>
              </a:p>
            </p:txBody>
          </p:sp>
        </mc:Choice>
        <mc:Fallback xmlns="">
          <p:sp>
            <p:nvSpPr>
              <p:cNvPr id="19" name="Text 15">
                <a:extLst>
                  <a:ext uri="{FF2B5EF4-FFF2-40B4-BE49-F238E27FC236}">
                    <a16:creationId xmlns:a16="http://schemas.microsoft.com/office/drawing/2014/main" id="{480CF00E-E804-DFC0-9AD8-DDA307CE07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14" y="3069279"/>
                <a:ext cx="7853934" cy="429767"/>
              </a:xfrm>
              <a:prstGeom prst="rect">
                <a:avLst/>
              </a:prstGeom>
              <a:blipFill>
                <a:blip r:embed="rId2"/>
                <a:stretch>
                  <a:fillRect t="-5634" b="-2535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16">
            <a:extLst>
              <a:ext uri="{FF2B5EF4-FFF2-40B4-BE49-F238E27FC236}">
                <a16:creationId xmlns:a16="http://schemas.microsoft.com/office/drawing/2014/main" id="{91035722-D35C-2E0A-55A2-75A94C43F35E}"/>
              </a:ext>
            </a:extLst>
          </p:cNvPr>
          <p:cNvSpPr/>
          <p:nvPr/>
        </p:nvSpPr>
        <p:spPr>
          <a:xfrm>
            <a:off x="1154430" y="3921221"/>
            <a:ext cx="7203440" cy="49070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Adjusting for M changes the estimand.</a:t>
            </a:r>
            <a:endParaRPr lang="en-US" sz="2200" dirty="0"/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45A23536-77DF-2BC6-7AC4-B066ECBD141E}"/>
              </a:ext>
            </a:extLst>
          </p:cNvPr>
          <p:cNvCxnSpPr>
            <a:stCxn id="14" idx="7"/>
            <a:endCxn id="32" idx="1"/>
          </p:cNvCxnSpPr>
          <p:nvPr/>
        </p:nvCxnSpPr>
        <p:spPr>
          <a:xfrm rot="5400000" flipH="1" flipV="1">
            <a:off x="4334510" y="-1478299"/>
            <a:ext cx="12700" cy="6418326"/>
          </a:xfrm>
          <a:prstGeom prst="curvedConnector3">
            <a:avLst>
              <a:gd name="adj1" fmla="val 2517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2657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B4CC5-7E72-C2A5-0A1D-15B2CDFE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E08481-692C-7915-2947-D428B6F9E42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Total Effect vs Direct Effect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1203492-C82E-BB17-853A-4DD8DA5A9BE6}"/>
              </a:ext>
            </a:extLst>
          </p:cNvPr>
          <p:cNvSpPr/>
          <p:nvPr/>
        </p:nvSpPr>
        <p:spPr>
          <a:xfrm>
            <a:off x="177135" y="1238884"/>
            <a:ext cx="4349750" cy="3237865"/>
          </a:xfrm>
          <a:prstGeom prst="roundRect">
            <a:avLst>
              <a:gd name="adj" fmla="val 2581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D439127-55C1-C6EB-18C0-CAA4FFAD76CE}"/>
              </a:ext>
            </a:extLst>
          </p:cNvPr>
          <p:cNvSpPr/>
          <p:nvPr/>
        </p:nvSpPr>
        <p:spPr>
          <a:xfrm>
            <a:off x="360015" y="1440053"/>
            <a:ext cx="4041803" cy="31334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EFFECT</a:t>
            </a:r>
            <a:endParaRPr lang="en-US" sz="19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E2919F68-3472-8BD7-2917-CD03D99B087B}"/>
              </a:ext>
            </a:extLst>
          </p:cNvPr>
          <p:cNvSpPr/>
          <p:nvPr/>
        </p:nvSpPr>
        <p:spPr>
          <a:xfrm>
            <a:off x="451455" y="1979549"/>
            <a:ext cx="3887830" cy="243710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850" u="sng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 Y if we intervene on T?</a:t>
            </a:r>
            <a:endParaRPr lang="en-US" sz="1850" dirty="0"/>
          </a:p>
          <a:p>
            <a:pPr marL="0" indent="0" algn="l">
              <a:buNone/>
            </a:pP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block causal mediators when the total effect is the target.</a:t>
            </a:r>
            <a:endParaRPr lang="en-US" sz="185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B22C792E-9A2F-A940-0ED8-D3FD3415748A}"/>
              </a:ext>
            </a:extLst>
          </p:cNvPr>
          <p:cNvSpPr/>
          <p:nvPr/>
        </p:nvSpPr>
        <p:spPr>
          <a:xfrm>
            <a:off x="4676138" y="1238884"/>
            <a:ext cx="4352544" cy="3237865"/>
          </a:xfrm>
          <a:prstGeom prst="roundRect">
            <a:avLst>
              <a:gd name="adj" fmla="val 2581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8B9502AE-D135-0A69-BAB1-F36032A5B29C}"/>
              </a:ext>
            </a:extLst>
          </p:cNvPr>
          <p:cNvSpPr/>
          <p:nvPr/>
        </p:nvSpPr>
        <p:spPr>
          <a:xfrm>
            <a:off x="4854591" y="1440052"/>
            <a:ext cx="3817027" cy="31334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/ MEDIATED EFFECTS</a:t>
            </a:r>
            <a:endParaRPr lang="en-US" sz="19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587FA864-3D9A-A3DC-C1C8-1C1D007E4384}"/>
              </a:ext>
            </a:extLst>
          </p:cNvPr>
          <p:cNvSpPr/>
          <p:nvPr/>
        </p:nvSpPr>
        <p:spPr>
          <a:xfrm>
            <a:off x="4943817" y="1979548"/>
            <a:ext cx="3671617" cy="243710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850" u="sng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the effect operates through M?</a:t>
            </a:r>
            <a:endParaRPr lang="en-US" sz="1850" dirty="0"/>
          </a:p>
          <a:p>
            <a:pPr marL="0" indent="0" algn="l">
              <a:buNone/>
            </a:pP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different estimand and requires mediation-specific assumptions.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40385124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6D655-1C86-C951-FE3B-A5B633A32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35199938-1831-8447-F7C2-E50E3F710588}"/>
              </a:ext>
            </a:extLst>
          </p:cNvPr>
          <p:cNvSpPr/>
          <p:nvPr/>
        </p:nvSpPr>
        <p:spPr>
          <a:xfrm>
            <a:off x="4394200" y="2545243"/>
            <a:ext cx="4622800" cy="2365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EF56BA-5C79-6EB6-6F0A-4C98D59293A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Collider adjustment bias with randomized T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4DB8DB1-0E59-A94D-CF9A-B1418772BA0B}"/>
              </a:ext>
            </a:extLst>
          </p:cNvPr>
          <p:cNvSpPr/>
          <p:nvPr/>
        </p:nvSpPr>
        <p:spPr>
          <a:xfrm>
            <a:off x="772414" y="96545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1E01FA1-82CA-E181-982B-77BD160B46E8}"/>
              </a:ext>
            </a:extLst>
          </p:cNvPr>
          <p:cNvSpPr/>
          <p:nvPr/>
        </p:nvSpPr>
        <p:spPr>
          <a:xfrm>
            <a:off x="772414" y="112090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0C55FA08-4BE7-C382-5665-D2A4F7723809}"/>
              </a:ext>
            </a:extLst>
          </p:cNvPr>
          <p:cNvSpPr/>
          <p:nvPr/>
        </p:nvSpPr>
        <p:spPr>
          <a:xfrm>
            <a:off x="2671064" y="96545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DD48747-992D-1584-3635-D659548D5AC1}"/>
              </a:ext>
            </a:extLst>
          </p:cNvPr>
          <p:cNvSpPr/>
          <p:nvPr/>
        </p:nvSpPr>
        <p:spPr>
          <a:xfrm>
            <a:off x="2671064" y="112090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7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B171BBDA-D0C2-1248-E61B-1A6D24B0B5BB}"/>
              </a:ext>
            </a:extLst>
          </p:cNvPr>
          <p:cNvSpPr/>
          <p:nvPr/>
        </p:nvSpPr>
        <p:spPr>
          <a:xfrm>
            <a:off x="1858264" y="1828800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9F391772-2903-12E3-5E6F-EC7CE8A0BACD}"/>
              </a:ext>
            </a:extLst>
          </p:cNvPr>
          <p:cNvSpPr/>
          <p:nvPr/>
        </p:nvSpPr>
        <p:spPr>
          <a:xfrm>
            <a:off x="1858264" y="198424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B5178638-A801-B787-B432-B97D809046D8}"/>
              </a:ext>
            </a:extLst>
          </p:cNvPr>
          <p:cNvSpPr/>
          <p:nvPr/>
        </p:nvSpPr>
        <p:spPr>
          <a:xfrm>
            <a:off x="3217164" y="1949958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7AC783D6-E81E-6E06-D81D-10D9E5CB8CB3}"/>
              </a:ext>
            </a:extLst>
          </p:cNvPr>
          <p:cNvSpPr/>
          <p:nvPr/>
        </p:nvSpPr>
        <p:spPr>
          <a:xfrm>
            <a:off x="3217164" y="210540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626E874-626E-6DC4-FC6A-8B905B5FF238}"/>
              </a:ext>
            </a:extLst>
          </p:cNvPr>
          <p:cNvCxnSpPr>
            <a:stCxn id="7" idx="5"/>
            <a:endCxn id="17" idx="1"/>
          </p:cNvCxnSpPr>
          <p:nvPr/>
        </p:nvCxnSpPr>
        <p:spPr>
          <a:xfrm>
            <a:off x="1303147" y="1496187"/>
            <a:ext cx="646176" cy="42367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C56ADC1-32A8-B8E5-D091-44A3ACA4415F}"/>
              </a:ext>
            </a:extLst>
          </p:cNvPr>
          <p:cNvCxnSpPr>
            <a:cxnSpLocks/>
          </p:cNvCxnSpPr>
          <p:nvPr/>
        </p:nvCxnSpPr>
        <p:spPr>
          <a:xfrm>
            <a:off x="3184271" y="1530858"/>
            <a:ext cx="217170" cy="45339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814C11D-1723-A08A-7210-ED9B28EE49D5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394206" y="1349502"/>
            <a:ext cx="1822958" cy="87020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931AA6F-CA19-6BBE-C51F-0E99B16ED937}"/>
              </a:ext>
            </a:extLst>
          </p:cNvPr>
          <p:cNvCxnSpPr>
            <a:cxnSpLocks/>
            <a:stCxn id="12" idx="3"/>
          </p:cNvCxnSpPr>
          <p:nvPr/>
        </p:nvCxnSpPr>
        <p:spPr>
          <a:xfrm flipH="1">
            <a:off x="2458212" y="1496187"/>
            <a:ext cx="303911" cy="48806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 14">
            <a:extLst>
              <a:ext uri="{FF2B5EF4-FFF2-40B4-BE49-F238E27FC236}">
                <a16:creationId xmlns:a16="http://schemas.microsoft.com/office/drawing/2014/main" id="{4D9E0777-2ADA-C731-9711-979B3E7DEE21}"/>
              </a:ext>
            </a:extLst>
          </p:cNvPr>
          <p:cNvSpPr/>
          <p:nvPr/>
        </p:nvSpPr>
        <p:spPr>
          <a:xfrm>
            <a:off x="3715004" y="1350137"/>
            <a:ext cx="3200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 on M opens:</a:t>
            </a:r>
            <a:endParaRPr lang="en-US" sz="18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2470B79A-7D95-7D2B-7BD4-3179EE25CA39}"/>
              </a:ext>
            </a:extLst>
          </p:cNvPr>
          <p:cNvSpPr/>
          <p:nvPr/>
        </p:nvSpPr>
        <p:spPr>
          <a:xfrm>
            <a:off x="6641084" y="1258697"/>
            <a:ext cx="2217298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 → M ← U → Y</a:t>
            </a:r>
            <a:endParaRPr lang="en-US" sz="2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18BFF9C-F24B-0F4E-F68B-154121CAD03E}"/>
                  </a:ext>
                </a:extLst>
              </p:cNvPr>
              <p:cNvSpPr txBox="1"/>
              <p:nvPr/>
            </p:nvSpPr>
            <p:spPr>
              <a:xfrm>
                <a:off x="38671" y="3206990"/>
                <a:ext cx="4355529" cy="16444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buClr>
                    <a:schemeClr val="bg1"/>
                  </a:buClr>
                </a:pPr>
                <a:r>
                  <a:rPr lang="en-US" sz="2000" dirty="0">
                    <a:solidFill>
                      <a:schemeClr val="bg1"/>
                    </a:solidFill>
                  </a:rPr>
                  <a:t>Example:</a:t>
                </a:r>
              </a:p>
              <a:p>
                <a:pPr marL="342900" lvl="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T: randomized chemotherapy </a:t>
                </a:r>
              </a:p>
              <a:p>
                <a:pPr marL="342900" lvl="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: treatment-induced weight loss </a:t>
                </a:r>
              </a:p>
              <a:p>
                <a:pPr marL="342900" lvl="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: underlying frailty </a:t>
                </a:r>
              </a:p>
              <a:p>
                <a:pPr marL="342900" lvl="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: survival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18BFF9C-F24B-0F4E-F68B-154121CAD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1" y="3206990"/>
                <a:ext cx="4355529" cy="1644410"/>
              </a:xfrm>
              <a:prstGeom prst="rect">
                <a:avLst/>
              </a:prstGeom>
              <a:blipFill>
                <a:blip r:embed="rId2"/>
                <a:stretch>
                  <a:fillRect l="-1399" t="-1481" r="-699" b="-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5D5C787-53F7-4D1B-FDFB-A196E55DB56F}"/>
                  </a:ext>
                </a:extLst>
              </p:cNvPr>
              <p:cNvSpPr txBox="1"/>
              <p:nvPr/>
            </p:nvSpPr>
            <p:spPr>
              <a:xfrm>
                <a:off x="4476750" y="2602901"/>
                <a:ext cx="4475734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dirty="0">
                    <a:solidFill>
                      <a:schemeClr val="tx1"/>
                    </a:solidFill>
                  </a:rPr>
                  <a:t>If you adjust for weight loss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, you induce an association between treatment and frailty, and that can bias the treatment effect on survival.</a:t>
                </a:r>
              </a:p>
              <a:p>
                <a:pPr algn="just"/>
                <a:r>
                  <a:rPr lang="en-US" sz="1800" dirty="0"/>
                  <a:t>Randomization protects you at baseline, but you can destroy that protection by conditioning on the wrong post-treatment variable.</a:t>
                </a:r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5D5C787-53F7-4D1B-FDFB-A196E55DB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0" y="2602901"/>
                <a:ext cx="4475734" cy="2308324"/>
              </a:xfrm>
              <a:prstGeom prst="rect">
                <a:avLst/>
              </a:prstGeom>
              <a:blipFill>
                <a:blip r:embed="rId3"/>
                <a:stretch>
                  <a:fillRect l="-1088" t="-1583" r="-1088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15660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F2378-A3EA-B765-8251-BE21A8A3D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6C0C28-942A-778A-C05D-CE79061CBEF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M-bias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6F4AA65A-FDBA-7F57-B6E6-FA0B6927B2F7}"/>
              </a:ext>
            </a:extLst>
          </p:cNvPr>
          <p:cNvSpPr/>
          <p:nvPr/>
        </p:nvSpPr>
        <p:spPr>
          <a:xfrm>
            <a:off x="284734" y="827651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465748B-F106-86AC-5F8A-ECEDFE63840C}"/>
              </a:ext>
            </a:extLst>
          </p:cNvPr>
          <p:cNvSpPr/>
          <p:nvPr/>
        </p:nvSpPr>
        <p:spPr>
          <a:xfrm>
            <a:off x="284734" y="983099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U₁</a:t>
            </a:r>
            <a:endParaRPr lang="en-US" sz="17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B92297F2-1CAB-64EF-133F-B2AB8D8A443E}"/>
              </a:ext>
            </a:extLst>
          </p:cNvPr>
          <p:cNvSpPr/>
          <p:nvPr/>
        </p:nvSpPr>
        <p:spPr>
          <a:xfrm>
            <a:off x="3069844" y="772406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896C821-822C-771C-881A-96DB09A06E9D}"/>
              </a:ext>
            </a:extLst>
          </p:cNvPr>
          <p:cNvSpPr/>
          <p:nvPr/>
        </p:nvSpPr>
        <p:spPr>
          <a:xfrm>
            <a:off x="3069844" y="92785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U₂</a:t>
            </a:r>
            <a:endParaRPr lang="en-US" sz="17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2B62F79E-C91D-2C7C-85C1-AE3A360783BA}"/>
              </a:ext>
            </a:extLst>
          </p:cNvPr>
          <p:cNvSpPr/>
          <p:nvPr/>
        </p:nvSpPr>
        <p:spPr>
          <a:xfrm>
            <a:off x="1782064" y="1604891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75F0D088-0318-E6CC-F707-34B0DE75101B}"/>
              </a:ext>
            </a:extLst>
          </p:cNvPr>
          <p:cNvSpPr/>
          <p:nvPr/>
        </p:nvSpPr>
        <p:spPr>
          <a:xfrm>
            <a:off x="1782064" y="1760339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918BD8F8-AA13-9430-A73B-52A97260D39D}"/>
              </a:ext>
            </a:extLst>
          </p:cNvPr>
          <p:cNvSpPr/>
          <p:nvPr/>
        </p:nvSpPr>
        <p:spPr>
          <a:xfrm>
            <a:off x="294386" y="2469189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EA97620A-01FC-D325-8FCB-92522B0914EA}"/>
              </a:ext>
            </a:extLst>
          </p:cNvPr>
          <p:cNvSpPr/>
          <p:nvPr/>
        </p:nvSpPr>
        <p:spPr>
          <a:xfrm>
            <a:off x="294386" y="2624637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4D4C5E90-DB6D-C8FA-BA29-009B15757A25}"/>
              </a:ext>
            </a:extLst>
          </p:cNvPr>
          <p:cNvSpPr/>
          <p:nvPr/>
        </p:nvSpPr>
        <p:spPr>
          <a:xfrm>
            <a:off x="3104896" y="2501003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1368D81D-90B6-ECEC-12FF-919864D6CD32}"/>
              </a:ext>
            </a:extLst>
          </p:cNvPr>
          <p:cNvSpPr/>
          <p:nvPr/>
        </p:nvSpPr>
        <p:spPr>
          <a:xfrm>
            <a:off x="3104896" y="2656451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C56ED74-44C9-67FD-6560-CD00F84B2976}"/>
              </a:ext>
            </a:extLst>
          </p:cNvPr>
          <p:cNvCxnSpPr>
            <a:stCxn id="4" idx="6"/>
            <a:endCxn id="16" idx="1"/>
          </p:cNvCxnSpPr>
          <p:nvPr/>
        </p:nvCxnSpPr>
        <p:spPr>
          <a:xfrm>
            <a:off x="906526" y="1138547"/>
            <a:ext cx="966597" cy="55740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B0BE67D-1842-945E-DBAD-00C4E0CB6A26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605282" y="1426265"/>
            <a:ext cx="1080" cy="10429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0086386-7994-4284-D8BF-BD21F379DA8A}"/>
              </a:ext>
            </a:extLst>
          </p:cNvPr>
          <p:cNvCxnSpPr>
            <a:cxnSpLocks/>
            <a:stCxn id="9" idx="4"/>
            <a:endCxn id="30" idx="0"/>
          </p:cNvCxnSpPr>
          <p:nvPr/>
        </p:nvCxnSpPr>
        <p:spPr>
          <a:xfrm>
            <a:off x="3380740" y="1394198"/>
            <a:ext cx="35052" cy="110680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6174F0E-6E0C-3296-B02D-FFAF3A18C6BA}"/>
              </a:ext>
            </a:extLst>
          </p:cNvPr>
          <p:cNvCxnSpPr>
            <a:cxnSpLocks/>
            <a:stCxn id="9" idx="2"/>
            <a:endCxn id="16" idx="7"/>
          </p:cNvCxnSpPr>
          <p:nvPr/>
        </p:nvCxnSpPr>
        <p:spPr>
          <a:xfrm flipH="1">
            <a:off x="2312797" y="1083302"/>
            <a:ext cx="757047" cy="61264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FD839FA-A5E7-CEEF-5B19-7798D8ADFD3A}"/>
              </a:ext>
            </a:extLst>
          </p:cNvPr>
          <p:cNvCxnSpPr>
            <a:cxnSpLocks/>
          </p:cNvCxnSpPr>
          <p:nvPr/>
        </p:nvCxnSpPr>
        <p:spPr>
          <a:xfrm>
            <a:off x="916178" y="2779735"/>
            <a:ext cx="2188718" cy="895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 12">
            <a:extLst>
              <a:ext uri="{FF2B5EF4-FFF2-40B4-BE49-F238E27FC236}">
                <a16:creationId xmlns:a16="http://schemas.microsoft.com/office/drawing/2014/main" id="{7BD7891C-A94D-D5AF-03CB-D6A621B085A2}"/>
              </a:ext>
            </a:extLst>
          </p:cNvPr>
          <p:cNvSpPr/>
          <p:nvPr/>
        </p:nvSpPr>
        <p:spPr>
          <a:xfrm>
            <a:off x="1600073" y="2263259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collider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17">
                <a:extLst>
                  <a:ext uri="{FF2B5EF4-FFF2-40B4-BE49-F238E27FC236}">
                    <a16:creationId xmlns:a16="http://schemas.microsoft.com/office/drawing/2014/main" id="{B38D8B6A-802F-8E30-CF6C-F56695A36224}"/>
                  </a:ext>
                </a:extLst>
              </p:cNvPr>
              <p:cNvSpPr/>
              <p:nvPr/>
            </p:nvSpPr>
            <p:spPr>
              <a:xfrm>
                <a:off x="3781811" y="1435569"/>
                <a:ext cx="5076571" cy="791114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85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Without adjusting for M, the path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5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𝑇</m:t>
                    </m:r>
                    <m:r>
                      <a:rPr lang="en-US" sz="185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← 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𝑈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₁ → 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𝑀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← 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𝑈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₂ → 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𝑌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185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is blocked at M.</a:t>
                </a:r>
                <a:endParaRPr lang="en-US" sz="1850" dirty="0"/>
              </a:p>
            </p:txBody>
          </p:sp>
        </mc:Choice>
        <mc:Fallback xmlns="">
          <p:sp>
            <p:nvSpPr>
              <p:cNvPr id="78" name="Text 17">
                <a:extLst>
                  <a:ext uri="{FF2B5EF4-FFF2-40B4-BE49-F238E27FC236}">
                    <a16:creationId xmlns:a16="http://schemas.microsoft.com/office/drawing/2014/main" id="{B38D8B6A-802F-8E30-CF6C-F56695A362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811" y="1435569"/>
                <a:ext cx="5076571" cy="791114"/>
              </a:xfrm>
              <a:prstGeom prst="rect">
                <a:avLst/>
              </a:prstGeom>
              <a:blipFill>
                <a:blip r:embed="rId2"/>
                <a:stretch>
                  <a:fillRect b="-461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FFE5DFD4-1293-98EF-CC49-2355037EC4C0}"/>
              </a:ext>
            </a:extLst>
          </p:cNvPr>
          <p:cNvSpPr txBox="1"/>
          <p:nvPr/>
        </p:nvSpPr>
        <p:spPr>
          <a:xfrm>
            <a:off x="228600" y="3447905"/>
            <a:ext cx="88074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predictor of treatment or outcome is a confounder.</a:t>
            </a:r>
            <a:endParaRPr lang="en-US" sz="180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variable can be statistically associated with both T and Y yet still be a bad adjustment variable.</a:t>
            </a:r>
            <a:endParaRPr lang="en-US" sz="180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covariate choice should combine subject-matter knowledge, temporal ordering, and causal structure.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663290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FDD22-D4CC-4FAC-ADD2-00CBC398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886008-B985-E2E6-03EF-25E1BE33FC5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Overadjustment Bias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A2341-6BBA-F099-9A0B-3A55E6F70098}"/>
              </a:ext>
            </a:extLst>
          </p:cNvPr>
          <p:cNvSpPr txBox="1"/>
          <p:nvPr/>
        </p:nvSpPr>
        <p:spPr>
          <a:xfrm>
            <a:off x="118388" y="1166447"/>
            <a:ext cx="90256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Overadjustment usually means conditioning on a variable that lies on, or is caused by, a causal pathway you intend to estimate.</a:t>
            </a:r>
            <a:endParaRPr lang="en-US" sz="2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90D70C79-E30C-B65E-EE10-4A3CA45E2B54}"/>
              </a:ext>
            </a:extLst>
          </p:cNvPr>
          <p:cNvSpPr/>
          <p:nvPr/>
        </p:nvSpPr>
        <p:spPr>
          <a:xfrm>
            <a:off x="1417066" y="2796208"/>
            <a:ext cx="264261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D2530EF2-D4BD-DB3A-752D-43A9349B3D1C}"/>
              </a:ext>
            </a:extLst>
          </p:cNvPr>
          <p:cNvSpPr/>
          <p:nvPr/>
        </p:nvSpPr>
        <p:spPr>
          <a:xfrm>
            <a:off x="4754626" y="2796208"/>
            <a:ext cx="264261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7C0A532-E5E8-5CC2-0F00-B0E97373BF8A}"/>
              </a:ext>
            </a:extLst>
          </p:cNvPr>
          <p:cNvSpPr/>
          <p:nvPr/>
        </p:nvSpPr>
        <p:spPr>
          <a:xfrm>
            <a:off x="758698" y="2485312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6EE3CB00-BD73-DD0D-70A1-8C8F72AD6259}"/>
              </a:ext>
            </a:extLst>
          </p:cNvPr>
          <p:cNvSpPr/>
          <p:nvPr/>
        </p:nvSpPr>
        <p:spPr>
          <a:xfrm>
            <a:off x="758698" y="26407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DC07505D-E0C9-7DC5-7766-A723EFB6E487}"/>
              </a:ext>
            </a:extLst>
          </p:cNvPr>
          <p:cNvSpPr/>
          <p:nvPr/>
        </p:nvSpPr>
        <p:spPr>
          <a:xfrm>
            <a:off x="4096258" y="2485312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B26FFB40-FBB8-FE46-D260-99387F1278D2}"/>
              </a:ext>
            </a:extLst>
          </p:cNvPr>
          <p:cNvSpPr/>
          <p:nvPr/>
        </p:nvSpPr>
        <p:spPr>
          <a:xfrm>
            <a:off x="4096258" y="26407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67714251-CD17-ACB6-8679-2D004E476035}"/>
              </a:ext>
            </a:extLst>
          </p:cNvPr>
          <p:cNvSpPr/>
          <p:nvPr/>
        </p:nvSpPr>
        <p:spPr>
          <a:xfrm>
            <a:off x="7433818" y="2485312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9B781131-F4C0-571F-E115-47BD87896881}"/>
              </a:ext>
            </a:extLst>
          </p:cNvPr>
          <p:cNvSpPr/>
          <p:nvPr/>
        </p:nvSpPr>
        <p:spPr>
          <a:xfrm>
            <a:off x="7433818" y="26407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10">
                <a:extLst>
                  <a:ext uri="{FF2B5EF4-FFF2-40B4-BE49-F238E27FC236}">
                    <a16:creationId xmlns:a16="http://schemas.microsoft.com/office/drawing/2014/main" id="{FA175FC7-5A1A-0355-AFC6-BA7E5360691A}"/>
                  </a:ext>
                </a:extLst>
              </p:cNvPr>
              <p:cNvSpPr/>
              <p:nvPr/>
            </p:nvSpPr>
            <p:spPr>
              <a:xfrm>
                <a:off x="379234" y="3606800"/>
                <a:ext cx="8503920" cy="594360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DBB3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Adjust for M → estimated “effect of T” no longer contains 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rgbClr val="FDBB3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rgbClr val="FDBB3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Y.</a:t>
                </a:r>
                <a:endParaRPr lang="en-US" sz="2000" dirty="0"/>
              </a:p>
            </p:txBody>
          </p:sp>
        </mc:Choice>
        <mc:Fallback xmlns="">
          <p:sp>
            <p:nvSpPr>
              <p:cNvPr id="32" name="Text 10">
                <a:extLst>
                  <a:ext uri="{FF2B5EF4-FFF2-40B4-BE49-F238E27FC236}">
                    <a16:creationId xmlns:a16="http://schemas.microsoft.com/office/drawing/2014/main" id="{FA175FC7-5A1A-0355-AFC6-BA7E536069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34" y="3606800"/>
                <a:ext cx="8503920" cy="594360"/>
              </a:xfrm>
              <a:prstGeom prst="rect">
                <a:avLst/>
              </a:prstGeom>
              <a:blipFill>
                <a:blip r:embed="rId2"/>
                <a:stretch>
                  <a:fillRect l="-717" r="-789" b="-309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172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229F6-AB3F-8B6E-967C-0674F51F8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3C9E8-E94C-4986-F9FC-253BF3BD518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Selection Bias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BE603B46-0F2D-3E9B-B125-F001BDADFF6A}"/>
              </a:ext>
            </a:extLst>
          </p:cNvPr>
          <p:cNvSpPr/>
          <p:nvPr/>
        </p:nvSpPr>
        <p:spPr>
          <a:xfrm>
            <a:off x="2157984" y="151790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E31827C-DC1E-B143-9FA3-98FAFA407626}"/>
              </a:ext>
            </a:extLst>
          </p:cNvPr>
          <p:cNvSpPr/>
          <p:nvPr/>
        </p:nvSpPr>
        <p:spPr>
          <a:xfrm>
            <a:off x="2157984" y="16733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A78D117-1498-211F-E4A8-9C19FCDB8EEA}"/>
              </a:ext>
            </a:extLst>
          </p:cNvPr>
          <p:cNvSpPr/>
          <p:nvPr/>
        </p:nvSpPr>
        <p:spPr>
          <a:xfrm>
            <a:off x="1874520" y="2176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</a:t>
            </a:r>
            <a:endParaRPr lang="en-US" sz="12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00E8BFA3-4DC4-1050-2FD4-747B637788A5}"/>
              </a:ext>
            </a:extLst>
          </p:cNvPr>
          <p:cNvSpPr/>
          <p:nvPr/>
        </p:nvSpPr>
        <p:spPr>
          <a:xfrm>
            <a:off x="5458970" y="142900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3EDAC3CD-47BD-1435-543A-B527991D4270}"/>
              </a:ext>
            </a:extLst>
          </p:cNvPr>
          <p:cNvSpPr/>
          <p:nvPr/>
        </p:nvSpPr>
        <p:spPr>
          <a:xfrm>
            <a:off x="5458970" y="15844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7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4A8F5829-C83D-9F04-C737-5C9AE2BAC18E}"/>
              </a:ext>
            </a:extLst>
          </p:cNvPr>
          <p:cNvSpPr/>
          <p:nvPr/>
        </p:nvSpPr>
        <p:spPr>
          <a:xfrm>
            <a:off x="5175506" y="20873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</a:t>
            </a:r>
            <a:endParaRPr lang="en-US" sz="12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C093FEEE-6466-2EE2-0374-9049635DEBF6}"/>
              </a:ext>
            </a:extLst>
          </p:cNvPr>
          <p:cNvSpPr/>
          <p:nvPr/>
        </p:nvSpPr>
        <p:spPr>
          <a:xfrm>
            <a:off x="3782314" y="2139696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B18AA449-E811-BEAD-D8E9-0A663C85E7EB}"/>
              </a:ext>
            </a:extLst>
          </p:cNvPr>
          <p:cNvSpPr/>
          <p:nvPr/>
        </p:nvSpPr>
        <p:spPr>
          <a:xfrm>
            <a:off x="3782314" y="2295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7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61BB14E2-976A-7CFA-0AE6-90BFE0866EA3}"/>
              </a:ext>
            </a:extLst>
          </p:cNvPr>
          <p:cNvSpPr/>
          <p:nvPr/>
        </p:nvSpPr>
        <p:spPr>
          <a:xfrm>
            <a:off x="3498850" y="27980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hospitalized</a:t>
            </a:r>
            <a:endParaRPr lang="en-US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EB9C61A-8043-8495-BCC1-0356C0F351A9}"/>
              </a:ext>
            </a:extLst>
          </p:cNvPr>
          <p:cNvCxnSpPr>
            <a:stCxn id="4" idx="6"/>
            <a:endCxn id="22" idx="1"/>
          </p:cNvCxnSpPr>
          <p:nvPr/>
        </p:nvCxnSpPr>
        <p:spPr>
          <a:xfrm>
            <a:off x="2779776" y="1828800"/>
            <a:ext cx="1093597" cy="40195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1643E90-A624-C001-0DA2-B2F61B998EA8}"/>
              </a:ext>
            </a:extLst>
          </p:cNvPr>
          <p:cNvCxnSpPr>
            <a:cxnSpLocks/>
            <a:endCxn id="22" idx="7"/>
          </p:cNvCxnSpPr>
          <p:nvPr/>
        </p:nvCxnSpPr>
        <p:spPr>
          <a:xfrm flipH="1">
            <a:off x="4313047" y="1741424"/>
            <a:ext cx="1129235" cy="48933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12">
            <a:extLst>
              <a:ext uri="{FF2B5EF4-FFF2-40B4-BE49-F238E27FC236}">
                <a16:creationId xmlns:a16="http://schemas.microsoft.com/office/drawing/2014/main" id="{9BB6D24F-6F99-2981-0938-BE4228B9F025}"/>
              </a:ext>
            </a:extLst>
          </p:cNvPr>
          <p:cNvSpPr/>
          <p:nvPr/>
        </p:nvSpPr>
        <p:spPr>
          <a:xfrm>
            <a:off x="323723" y="3285997"/>
            <a:ext cx="8496554" cy="630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dataset contains only H = 1 patients, you have conditioned on a collider.</a:t>
            </a:r>
            <a:endParaRPr lang="en-US" sz="1800" dirty="0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157C0083-E220-1DBA-BEC8-CF91BBC91BA0}"/>
              </a:ext>
            </a:extLst>
          </p:cNvPr>
          <p:cNvSpPr/>
          <p:nvPr/>
        </p:nvSpPr>
        <p:spPr>
          <a:xfrm>
            <a:off x="323723" y="4128007"/>
            <a:ext cx="8576310" cy="630935"/>
          </a:xfrm>
          <a:prstGeom prst="roundRect">
            <a:avLst>
              <a:gd name="adj" fmla="val 19355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254F7A6D-ADDA-84AB-562A-815A314FAA2B}"/>
              </a:ext>
            </a:extLst>
          </p:cNvPr>
          <p:cNvSpPr/>
          <p:nvPr/>
        </p:nvSpPr>
        <p:spPr>
          <a:xfrm>
            <a:off x="506603" y="4182871"/>
            <a:ext cx="8254195" cy="50881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hospital, D and R can appear associated even if they are independent in the population.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15519230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E4285-44AB-2293-FFE7-0DD20EDA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EF3E3E-7076-E6A5-4EBB-D3428AAFC64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Selection can happen before analysis starts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974C3-F189-D905-5D4A-57EC4795D5D2}"/>
              </a:ext>
            </a:extLst>
          </p:cNvPr>
          <p:cNvSpPr txBox="1"/>
          <p:nvPr/>
        </p:nvSpPr>
        <p:spPr>
          <a:xfrm>
            <a:off x="469900" y="1346200"/>
            <a:ext cx="7899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criteria can condition on a collider.</a:t>
            </a:r>
            <a:endParaRPr lang="en-US" sz="200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Complete-case analysis can condition on causes of missingness.</a:t>
            </a:r>
            <a:endParaRPr lang="en-US" sz="200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response can depend on both exposure and outcome-related factors.</a:t>
            </a:r>
            <a:endParaRPr lang="en-US" sz="200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Clinic-based samples can differ systematically from the source population.</a:t>
            </a:r>
            <a:endParaRPr lang="en-US" sz="2000" dirty="0"/>
          </a:p>
          <a:p>
            <a:pPr>
              <a:buClr>
                <a:schemeClr val="bg1"/>
              </a:buClr>
            </a:pPr>
            <a:endParaRPr lang="en-US" sz="20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DF1ED72-E94A-9007-4813-4CC04F0F4DAC}"/>
              </a:ext>
            </a:extLst>
          </p:cNvPr>
          <p:cNvSpPr/>
          <p:nvPr/>
        </p:nvSpPr>
        <p:spPr>
          <a:xfrm>
            <a:off x="179651" y="3751394"/>
            <a:ext cx="8735749" cy="655505"/>
          </a:xfrm>
          <a:prstGeom prst="roundRect">
            <a:avLst>
              <a:gd name="adj" fmla="val 19355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561D49E8-D916-E939-F053-EDE4F65A0474}"/>
              </a:ext>
            </a:extLst>
          </p:cNvPr>
          <p:cNvSpPr/>
          <p:nvPr/>
        </p:nvSpPr>
        <p:spPr>
          <a:xfrm>
            <a:off x="362531" y="3806258"/>
            <a:ext cx="8407646" cy="52863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“What had to happen for someone to enter my dataset?”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18693642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10A91-3FBA-4CEC-1AB6-23298BE5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4AE306-D2A6-C155-ADC1-0A72C03D54A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How to draw a DAG from a research question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E3C02-7D2F-A5FC-6ACC-2849318CB83D}"/>
              </a:ext>
            </a:extLst>
          </p:cNvPr>
          <p:cNvSpPr txBox="1"/>
          <p:nvPr/>
        </p:nvSpPr>
        <p:spPr>
          <a:xfrm>
            <a:off x="141744" y="1073150"/>
            <a:ext cx="88605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Define treatment/exposure T and outcome Y clearly.</a:t>
            </a:r>
          </a:p>
          <a:p>
            <a:pPr>
              <a:buSzPct val="100000"/>
            </a:pP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List causes of T, causes of Y, and common causes.</a:t>
            </a:r>
          </a:p>
          <a:p>
            <a:pPr>
              <a:buSzPct val="100000"/>
            </a:pP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Add plausible mediators and important selection variables.</a:t>
            </a:r>
          </a:p>
          <a:p>
            <a:pPr>
              <a:buSzPct val="100000"/>
            </a:pP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Respect temporal ordering whenever possible.</a:t>
            </a:r>
          </a:p>
          <a:p>
            <a:pPr>
              <a:buSzPct val="100000"/>
            </a:pP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Draw arrows from cause to consequence, not from correlation to correlation.</a:t>
            </a:r>
          </a:p>
          <a:p>
            <a:pPr>
              <a:buSzPct val="100000"/>
            </a:pP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Use the graph to inspect backdoor paths and identify adjustment sets.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22463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6E333-CA12-B97A-5068-50F6B52A1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554981-6959-2CD5-B780-322A41E9D54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Build a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2639CE-1C76-33A5-C311-310E429729E5}"/>
                  </a:ext>
                </a:extLst>
              </p:cNvPr>
              <p:cNvSpPr txBox="1"/>
              <p:nvPr/>
            </p:nvSpPr>
            <p:spPr>
              <a:xfrm>
                <a:off x="141744" y="1073150"/>
                <a:ext cx="8860512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Research question: Does a new intensive blood-pressure treatment reduce 1-year cardiovascular events?</a:t>
                </a:r>
              </a:p>
              <a:p>
                <a:pPr marL="0" indent="0" algn="ctr">
                  <a:buNone/>
                </a:pPr>
                <a:endParaRPr lang="en-US" sz="2000" b="1" dirty="0">
                  <a:solidFill>
                    <a:srgbClr val="F2F2F2"/>
                  </a:solidFill>
                  <a:latin typeface="Arial" pitchFamily="34" charset="0"/>
                  <a:cs typeface="Arial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Candidate variables:</a:t>
                </a: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Age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baseline systolic BP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diabetes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physician treatment preference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treatment assignment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achieved BP at 3 months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medication adherence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cardiovascular event</a:t>
                </a: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2639CE-1C76-33A5-C311-310E42972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4" y="1073150"/>
                <a:ext cx="8860512" cy="2554545"/>
              </a:xfrm>
              <a:prstGeom prst="rect">
                <a:avLst/>
              </a:prstGeom>
              <a:blipFill>
                <a:blip r:embed="rId2"/>
                <a:stretch>
                  <a:fillRect t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5">
            <a:extLst>
              <a:ext uri="{FF2B5EF4-FFF2-40B4-BE49-F238E27FC236}">
                <a16:creationId xmlns:a16="http://schemas.microsoft.com/office/drawing/2014/main" id="{2A5406BB-AE9E-418A-20DD-B9291068267C}"/>
              </a:ext>
            </a:extLst>
          </p:cNvPr>
          <p:cNvSpPr/>
          <p:nvPr/>
        </p:nvSpPr>
        <p:spPr>
          <a:xfrm>
            <a:off x="317500" y="3627695"/>
            <a:ext cx="8540882" cy="93160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plausible DAG. Circle the variables you would adjust for to estimate the TOTAL treatment effect.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6113369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A4A78-CE97-994C-BEE7-2A33080DE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E1D76-8C85-D43F-7451-91897C1A990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One plausible DAG</a:t>
            </a:r>
          </a:p>
        </p:txBody>
      </p:sp>
      <p:sp>
        <p:nvSpPr>
          <p:cNvPr id="64" name="Shape 14">
            <a:extLst>
              <a:ext uri="{FF2B5EF4-FFF2-40B4-BE49-F238E27FC236}">
                <a16:creationId xmlns:a16="http://schemas.microsoft.com/office/drawing/2014/main" id="{E13835AE-D9E9-DC01-43F8-C3D8B1A43E0F}"/>
              </a:ext>
            </a:extLst>
          </p:cNvPr>
          <p:cNvSpPr/>
          <p:nvPr/>
        </p:nvSpPr>
        <p:spPr>
          <a:xfrm>
            <a:off x="923544" y="110642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170A221B-931F-60C8-5E12-19D85C3D1166}"/>
              </a:ext>
            </a:extLst>
          </p:cNvPr>
          <p:cNvSpPr/>
          <p:nvPr/>
        </p:nvSpPr>
        <p:spPr>
          <a:xfrm>
            <a:off x="923544" y="12618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700" dirty="0"/>
          </a:p>
        </p:txBody>
      </p:sp>
      <p:sp>
        <p:nvSpPr>
          <p:cNvPr id="68" name="Shape 16">
            <a:extLst>
              <a:ext uri="{FF2B5EF4-FFF2-40B4-BE49-F238E27FC236}">
                <a16:creationId xmlns:a16="http://schemas.microsoft.com/office/drawing/2014/main" id="{82B183EC-A100-4795-DC18-922A84570A39}"/>
              </a:ext>
            </a:extLst>
          </p:cNvPr>
          <p:cNvSpPr/>
          <p:nvPr/>
        </p:nvSpPr>
        <p:spPr>
          <a:xfrm>
            <a:off x="2525014" y="110642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CA64C12F-189A-E47A-CE1C-AACEA5CF947A}"/>
              </a:ext>
            </a:extLst>
          </p:cNvPr>
          <p:cNvSpPr/>
          <p:nvPr/>
        </p:nvSpPr>
        <p:spPr>
          <a:xfrm>
            <a:off x="2525014" y="12618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</a:t>
            </a:r>
            <a:endParaRPr lang="en-US" sz="1700" dirty="0"/>
          </a:p>
        </p:txBody>
      </p:sp>
      <p:sp>
        <p:nvSpPr>
          <p:cNvPr id="72" name="Shape 18">
            <a:extLst>
              <a:ext uri="{FF2B5EF4-FFF2-40B4-BE49-F238E27FC236}">
                <a16:creationId xmlns:a16="http://schemas.microsoft.com/office/drawing/2014/main" id="{BEB365B0-722F-7A8D-E0C8-B70C8E4ED92F}"/>
              </a:ext>
            </a:extLst>
          </p:cNvPr>
          <p:cNvSpPr/>
          <p:nvPr/>
        </p:nvSpPr>
        <p:spPr>
          <a:xfrm>
            <a:off x="4334256" y="110642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19">
            <a:extLst>
              <a:ext uri="{FF2B5EF4-FFF2-40B4-BE49-F238E27FC236}">
                <a16:creationId xmlns:a16="http://schemas.microsoft.com/office/drawing/2014/main" id="{41F3C75E-FFBF-4960-245D-BCE608133662}"/>
              </a:ext>
            </a:extLst>
          </p:cNvPr>
          <p:cNvSpPr/>
          <p:nvPr/>
        </p:nvSpPr>
        <p:spPr>
          <a:xfrm>
            <a:off x="4334256" y="12618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</a:t>
            </a:r>
            <a:endParaRPr lang="en-US" sz="1700" dirty="0"/>
          </a:p>
        </p:txBody>
      </p:sp>
      <p:sp>
        <p:nvSpPr>
          <p:cNvPr id="76" name="Shape 20">
            <a:extLst>
              <a:ext uri="{FF2B5EF4-FFF2-40B4-BE49-F238E27FC236}">
                <a16:creationId xmlns:a16="http://schemas.microsoft.com/office/drawing/2014/main" id="{D8837FC4-1414-8A90-B9A8-5C434F0B08BA}"/>
              </a:ext>
            </a:extLst>
          </p:cNvPr>
          <p:cNvSpPr/>
          <p:nvPr/>
        </p:nvSpPr>
        <p:spPr>
          <a:xfrm>
            <a:off x="6089904" y="1106424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21">
            <a:extLst>
              <a:ext uri="{FF2B5EF4-FFF2-40B4-BE49-F238E27FC236}">
                <a16:creationId xmlns:a16="http://schemas.microsoft.com/office/drawing/2014/main" id="{63A30A2A-140C-0BEE-4754-4A4E17CD6230}"/>
              </a:ext>
            </a:extLst>
          </p:cNvPr>
          <p:cNvSpPr/>
          <p:nvPr/>
        </p:nvSpPr>
        <p:spPr>
          <a:xfrm>
            <a:off x="6089904" y="12618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</a:t>
            </a:r>
            <a:endParaRPr lang="en-US" sz="1700" dirty="0"/>
          </a:p>
        </p:txBody>
      </p:sp>
      <p:sp>
        <p:nvSpPr>
          <p:cNvPr id="80" name="Shape 22">
            <a:extLst>
              <a:ext uri="{FF2B5EF4-FFF2-40B4-BE49-F238E27FC236}">
                <a16:creationId xmlns:a16="http://schemas.microsoft.com/office/drawing/2014/main" id="{66B81606-896E-C3D7-D0A0-7F6913461133}"/>
              </a:ext>
            </a:extLst>
          </p:cNvPr>
          <p:cNvSpPr/>
          <p:nvPr/>
        </p:nvSpPr>
        <p:spPr>
          <a:xfrm>
            <a:off x="2525014" y="2404872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23">
            <a:extLst>
              <a:ext uri="{FF2B5EF4-FFF2-40B4-BE49-F238E27FC236}">
                <a16:creationId xmlns:a16="http://schemas.microsoft.com/office/drawing/2014/main" id="{6039FBC6-466B-E673-9AA1-5C4759BD23BD}"/>
              </a:ext>
            </a:extLst>
          </p:cNvPr>
          <p:cNvSpPr/>
          <p:nvPr/>
        </p:nvSpPr>
        <p:spPr>
          <a:xfrm>
            <a:off x="2525014" y="256032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84" name="Shape 24">
            <a:extLst>
              <a:ext uri="{FF2B5EF4-FFF2-40B4-BE49-F238E27FC236}">
                <a16:creationId xmlns:a16="http://schemas.microsoft.com/office/drawing/2014/main" id="{08862AE2-A22E-E629-35CA-FCE39320D8BE}"/>
              </a:ext>
            </a:extLst>
          </p:cNvPr>
          <p:cNvSpPr/>
          <p:nvPr/>
        </p:nvSpPr>
        <p:spPr>
          <a:xfrm>
            <a:off x="4334256" y="2404872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25">
            <a:extLst>
              <a:ext uri="{FF2B5EF4-FFF2-40B4-BE49-F238E27FC236}">
                <a16:creationId xmlns:a16="http://schemas.microsoft.com/office/drawing/2014/main" id="{8A6372E6-4B3A-2792-D4D3-CA26A96532C6}"/>
              </a:ext>
            </a:extLst>
          </p:cNvPr>
          <p:cNvSpPr/>
          <p:nvPr/>
        </p:nvSpPr>
        <p:spPr>
          <a:xfrm>
            <a:off x="4334256" y="256032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 BP</a:t>
            </a:r>
            <a:endParaRPr lang="en-US" sz="1700" dirty="0"/>
          </a:p>
        </p:txBody>
      </p:sp>
      <p:sp>
        <p:nvSpPr>
          <p:cNvPr id="88" name="Shape 26">
            <a:extLst>
              <a:ext uri="{FF2B5EF4-FFF2-40B4-BE49-F238E27FC236}">
                <a16:creationId xmlns:a16="http://schemas.microsoft.com/office/drawing/2014/main" id="{598C49E5-AD04-55C6-D4E4-59B0B80FD52D}"/>
              </a:ext>
            </a:extLst>
          </p:cNvPr>
          <p:cNvSpPr/>
          <p:nvPr/>
        </p:nvSpPr>
        <p:spPr>
          <a:xfrm>
            <a:off x="6143498" y="2353564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27">
            <a:extLst>
              <a:ext uri="{FF2B5EF4-FFF2-40B4-BE49-F238E27FC236}">
                <a16:creationId xmlns:a16="http://schemas.microsoft.com/office/drawing/2014/main" id="{5967BA8E-D3DF-C37C-DCF0-2EFDDBD0A998}"/>
              </a:ext>
            </a:extLst>
          </p:cNvPr>
          <p:cNvSpPr/>
          <p:nvPr/>
        </p:nvSpPr>
        <p:spPr>
          <a:xfrm>
            <a:off x="6143498" y="25090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</a:t>
            </a:r>
            <a:endParaRPr lang="en-US" sz="1700" dirty="0"/>
          </a:p>
        </p:txBody>
      </p:sp>
      <p:sp>
        <p:nvSpPr>
          <p:cNvPr id="92" name="Shape 28">
            <a:extLst>
              <a:ext uri="{FF2B5EF4-FFF2-40B4-BE49-F238E27FC236}">
                <a16:creationId xmlns:a16="http://schemas.microsoft.com/office/drawing/2014/main" id="{8490D3DB-52E4-5D29-2144-92D685FE3008}"/>
              </a:ext>
            </a:extLst>
          </p:cNvPr>
          <p:cNvSpPr/>
          <p:nvPr/>
        </p:nvSpPr>
        <p:spPr>
          <a:xfrm>
            <a:off x="4334256" y="3962654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29">
            <a:extLst>
              <a:ext uri="{FF2B5EF4-FFF2-40B4-BE49-F238E27FC236}">
                <a16:creationId xmlns:a16="http://schemas.microsoft.com/office/drawing/2014/main" id="{CC72D933-4A77-0F3A-FBAF-AC67258671E8}"/>
              </a:ext>
            </a:extLst>
          </p:cNvPr>
          <p:cNvSpPr/>
          <p:nvPr/>
        </p:nvSpPr>
        <p:spPr>
          <a:xfrm>
            <a:off x="4334256" y="411810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5244028-3F02-91E2-90FC-1DC2EAB78036}"/>
              </a:ext>
            </a:extLst>
          </p:cNvPr>
          <p:cNvCxnSpPr>
            <a:stCxn id="64" idx="5"/>
            <a:endCxn id="80" idx="1"/>
          </p:cNvCxnSpPr>
          <p:nvPr/>
        </p:nvCxnSpPr>
        <p:spPr>
          <a:xfrm>
            <a:off x="1454277" y="1637157"/>
            <a:ext cx="1161796" cy="85877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9FDE65F-8261-C482-E97E-0D460342E1CE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3055747" y="2944368"/>
            <a:ext cx="1369568" cy="11093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AF7B898-CCDA-2737-68CD-018706388A37}"/>
              </a:ext>
            </a:extLst>
          </p:cNvPr>
          <p:cNvCxnSpPr>
            <a:cxnSpLocks/>
            <a:stCxn id="68" idx="4"/>
            <a:endCxn id="80" idx="0"/>
          </p:cNvCxnSpPr>
          <p:nvPr/>
        </p:nvCxnSpPr>
        <p:spPr>
          <a:xfrm>
            <a:off x="2835910" y="1728216"/>
            <a:ext cx="0" cy="67665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1A93AAD-10E1-6601-F915-68A42C024824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2902458" y="1712976"/>
            <a:ext cx="1522857" cy="234073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7676B6E-2886-B18A-C8DC-E6B126CB6C9F}"/>
              </a:ext>
            </a:extLst>
          </p:cNvPr>
          <p:cNvCxnSpPr>
            <a:cxnSpLocks/>
            <a:endCxn id="70" idx="1"/>
          </p:cNvCxnSpPr>
          <p:nvPr/>
        </p:nvCxnSpPr>
        <p:spPr>
          <a:xfrm flipV="1">
            <a:off x="1570990" y="1376172"/>
            <a:ext cx="954024" cy="2324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8633A86-782D-94BF-9220-6BB5EB4D09D7}"/>
              </a:ext>
            </a:extLst>
          </p:cNvPr>
          <p:cNvCxnSpPr>
            <a:cxnSpLocks/>
            <a:endCxn id="74" idx="1"/>
          </p:cNvCxnSpPr>
          <p:nvPr/>
        </p:nvCxnSpPr>
        <p:spPr>
          <a:xfrm flipV="1">
            <a:off x="3146806" y="1376172"/>
            <a:ext cx="1187450" cy="1943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EFB4F75-7F49-9EC2-D43B-B98B2E9A911A}"/>
              </a:ext>
            </a:extLst>
          </p:cNvPr>
          <p:cNvCxnSpPr>
            <a:cxnSpLocks/>
            <a:stCxn id="72" idx="3"/>
            <a:endCxn id="80" idx="7"/>
          </p:cNvCxnSpPr>
          <p:nvPr/>
        </p:nvCxnSpPr>
        <p:spPr>
          <a:xfrm flipH="1">
            <a:off x="3055747" y="1637157"/>
            <a:ext cx="1369568" cy="85877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73B01FE-C626-A1F9-1739-97F23E213995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4645152" y="1728216"/>
            <a:ext cx="0" cy="67665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84D863D-BB56-3ACE-3D74-D2A956E3A2F3}"/>
              </a:ext>
            </a:extLst>
          </p:cNvPr>
          <p:cNvCxnSpPr>
            <a:cxnSpLocks/>
            <a:endCxn id="92" idx="0"/>
          </p:cNvCxnSpPr>
          <p:nvPr/>
        </p:nvCxnSpPr>
        <p:spPr>
          <a:xfrm>
            <a:off x="4645152" y="3021584"/>
            <a:ext cx="0" cy="94107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12CD87D-3007-6868-9D15-40C5F42F6250}"/>
              </a:ext>
            </a:extLst>
          </p:cNvPr>
          <p:cNvCxnSpPr>
            <a:cxnSpLocks/>
            <a:endCxn id="92" idx="7"/>
          </p:cNvCxnSpPr>
          <p:nvPr/>
        </p:nvCxnSpPr>
        <p:spPr>
          <a:xfrm flipH="1">
            <a:off x="4864989" y="2975356"/>
            <a:ext cx="1535811" cy="10783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8E12297-B88A-2453-2557-820E8FEACB13}"/>
              </a:ext>
            </a:extLst>
          </p:cNvPr>
          <p:cNvCxnSpPr>
            <a:cxnSpLocks/>
            <a:endCxn id="88" idx="0"/>
          </p:cNvCxnSpPr>
          <p:nvPr/>
        </p:nvCxnSpPr>
        <p:spPr>
          <a:xfrm>
            <a:off x="6400800" y="1719390"/>
            <a:ext cx="53594" cy="63417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41287642-9C95-3FBD-6F9D-40154D3E6C91}"/>
              </a:ext>
            </a:extLst>
          </p:cNvPr>
          <p:cNvCxnSpPr>
            <a:cxnSpLocks/>
            <a:endCxn id="88" idx="2"/>
          </p:cNvCxnSpPr>
          <p:nvPr/>
        </p:nvCxnSpPr>
        <p:spPr>
          <a:xfrm flipV="1">
            <a:off x="4956048" y="2664460"/>
            <a:ext cx="1187450" cy="2603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85E2CFEB-7A03-A055-6665-9BEAB8E9C8A5}"/>
              </a:ext>
            </a:extLst>
          </p:cNvPr>
          <p:cNvCxnSpPr>
            <a:cxnSpLocks/>
            <a:endCxn id="86" idx="1"/>
          </p:cNvCxnSpPr>
          <p:nvPr/>
        </p:nvCxnSpPr>
        <p:spPr>
          <a:xfrm flipV="1">
            <a:off x="3145536" y="2674620"/>
            <a:ext cx="1188720" cy="1587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9762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8841-1BBF-783E-613A-865906980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752D69-7896-9C74-41FC-6D9250CC7E5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For TOTAL effect, what would we adjust for?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530A713-0252-3E41-3E56-76CE8DD02733}"/>
              </a:ext>
            </a:extLst>
          </p:cNvPr>
          <p:cNvSpPr/>
          <p:nvPr/>
        </p:nvSpPr>
        <p:spPr>
          <a:xfrm>
            <a:off x="127000" y="1113790"/>
            <a:ext cx="4428506" cy="3597910"/>
          </a:xfrm>
          <a:prstGeom prst="roundRect">
            <a:avLst>
              <a:gd name="adj" fmla="val 2581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8E364EE-25BF-C236-130B-03CB86C532E0}"/>
              </a:ext>
            </a:extLst>
          </p:cNvPr>
          <p:cNvSpPr/>
          <p:nvPr/>
        </p:nvSpPr>
        <p:spPr>
          <a:xfrm>
            <a:off x="309879" y="1314957"/>
            <a:ext cx="3912871" cy="35494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CANDIDATES</a:t>
            </a:r>
            <a:endParaRPr lang="en-US" sz="19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DB1641A-7815-9251-39E0-3970ED5E781B}"/>
              </a:ext>
            </a:extLst>
          </p:cNvPr>
          <p:cNvSpPr/>
          <p:nvPr/>
        </p:nvSpPr>
        <p:spPr>
          <a:xfrm>
            <a:off x="309879" y="1890374"/>
            <a:ext cx="4170680" cy="27365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causes of treatment and outcome:</a:t>
            </a:r>
            <a:endParaRPr lang="en-US" sz="1850" dirty="0"/>
          </a:p>
          <a:p>
            <a:pPr marL="0" indent="0" algn="l">
              <a:buNone/>
            </a:pP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baseline BP</a:t>
            </a: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diabetes</a:t>
            </a: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 (if it causes outcome and/or treatment through measured paths)</a:t>
            </a: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physician preference if it lies on an open backdoor path between treatment and outcome.</a:t>
            </a:r>
            <a:endParaRPr lang="en-US" sz="185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25C64C33-95A3-B704-3ACA-3B7EAFE487F7}"/>
              </a:ext>
            </a:extLst>
          </p:cNvPr>
          <p:cNvSpPr/>
          <p:nvPr/>
        </p:nvSpPr>
        <p:spPr>
          <a:xfrm>
            <a:off x="4610828" y="1109980"/>
            <a:ext cx="4406172" cy="3597910"/>
          </a:xfrm>
          <a:prstGeom prst="roundRect">
            <a:avLst>
              <a:gd name="adj" fmla="val 2581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6CBE9C8-6936-A156-FDAF-679679EAC138}"/>
              </a:ext>
            </a:extLst>
          </p:cNvPr>
          <p:cNvSpPr/>
          <p:nvPr/>
        </p:nvSpPr>
        <p:spPr>
          <a:xfrm>
            <a:off x="4737101" y="1249480"/>
            <a:ext cx="4200416" cy="34637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AUTOMATICALLY ADJUST</a:t>
            </a:r>
            <a:endParaRPr lang="en-US" sz="19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5A805F09-18CC-A166-149F-783DEB0F2BE4}"/>
              </a:ext>
            </a:extLst>
          </p:cNvPr>
          <p:cNvSpPr/>
          <p:nvPr/>
        </p:nvSpPr>
        <p:spPr>
          <a:xfrm>
            <a:off x="5018595" y="1854455"/>
            <a:ext cx="4058714" cy="26603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Post-treatment variables:</a:t>
            </a:r>
            <a:endParaRPr lang="en-US" sz="1850" dirty="0"/>
          </a:p>
          <a:p>
            <a:pPr marL="0" indent="0" algn="l">
              <a:buNone/>
            </a:pP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achieved 3-month BP</a:t>
            </a: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adherence</a:t>
            </a:r>
            <a:endParaRPr lang="en-US" sz="1850" dirty="0"/>
          </a:p>
          <a:p>
            <a:pPr marL="0" indent="0" algn="l">
              <a:buNone/>
            </a:pP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may mediate the treatment effect or become colliders.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36985261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D3CC9-4EDC-4DA3-D0E9-AC35D1DE1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FF73EB-F792-4A1C-E806-C235F06CC43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Next: Identification to Estimation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E32D16D-FCAA-259C-A6DD-7905384B9089}"/>
              </a:ext>
            </a:extLst>
          </p:cNvPr>
          <p:cNvSpPr txBox="1"/>
          <p:nvPr/>
        </p:nvSpPr>
        <p:spPr>
          <a:xfrm>
            <a:off x="480060" y="95631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800" b="1">
                <a:solidFill>
                  <a:srgbClr val="FDBB30"/>
                </a:solidFill>
                <a:latin typeface="Arial"/>
              </a:rPr>
              <a:t>Today: Which variables should we adjust for?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E361811-8A15-E96B-A8FF-3A57980F5707}"/>
              </a:ext>
            </a:extLst>
          </p:cNvPr>
          <p:cNvSpPr txBox="1"/>
          <p:nvPr/>
        </p:nvSpPr>
        <p:spPr>
          <a:xfrm>
            <a:off x="594360" y="15468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800" b="1">
                <a:solidFill>
                  <a:srgbClr val="F2F2F2"/>
                </a:solidFill>
                <a:latin typeface="Arial"/>
              </a:rPr>
              <a:t>Next: How do we create a fair treated-versus-untreated comparison?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4">
                <a:extLst>
                  <a:ext uri="{FF2B5EF4-FFF2-40B4-BE49-F238E27FC236}">
                    <a16:creationId xmlns:a16="http://schemas.microsoft.com/office/drawing/2014/main" id="{3D146377-022E-CFC7-DE89-39103B7F200E}"/>
                  </a:ext>
                </a:extLst>
              </p:cNvPr>
              <p:cNvSpPr/>
              <p:nvPr/>
            </p:nvSpPr>
            <p:spPr>
              <a:xfrm>
                <a:off x="438911" y="2129791"/>
                <a:ext cx="2542032" cy="1645920"/>
              </a:xfrm>
              <a:prstGeom prst="roundRect">
                <a:avLst/>
              </a:prstGeom>
              <a:solidFill>
                <a:srgbClr val="6FA8DC"/>
              </a:solidFill>
              <a:ln>
                <a:solidFill>
                  <a:srgbClr val="6FA8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09728" tIns="73152" rIns="109728" bIns="54864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r>
                  <a:rPr sz="1700" b="1" dirty="0">
                    <a:solidFill>
                      <a:srgbClr val="171717"/>
                    </a:solidFill>
                    <a:latin typeface="Arial"/>
                  </a:rPr>
                  <a:t>PROPENSITY SCORE</a:t>
                </a:r>
              </a:p>
              <a:p>
                <a:pPr algn="ctr">
                  <a:spcBef>
                    <a:spcPts val="700"/>
                  </a:spcBef>
                </a:pPr>
                <a14:m>
                  <m:oMath xmlns:m="http://schemas.openxmlformats.org/officeDocument/2006/math">
                    <m:r>
                      <a:rPr lang="en-US" sz="1300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300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00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300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300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300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00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300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</a:rPr>
                      <m:t> = 1 | </m:t>
                    </m:r>
                    <m:r>
                      <a:rPr lang="en-US" sz="1300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300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300" dirty="0">
                    <a:solidFill>
                      <a:srgbClr val="171717"/>
                    </a:solidFill>
                    <a:latin typeface="Arial"/>
                  </a:rPr>
                  <a:t>
Summarize treatment assignment using baseline covariates.</a:t>
                </a:r>
              </a:p>
            </p:txBody>
          </p:sp>
        </mc:Choice>
        <mc:Fallback xmlns="">
          <p:sp>
            <p:nvSpPr>
              <p:cNvPr id="6" name="Rounded Rectangle 4">
                <a:extLst>
                  <a:ext uri="{FF2B5EF4-FFF2-40B4-BE49-F238E27FC236}">
                    <a16:creationId xmlns:a16="http://schemas.microsoft.com/office/drawing/2014/main" id="{3D146377-022E-CFC7-DE89-39103B7F20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1" y="2129791"/>
                <a:ext cx="2542032" cy="16459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6FA8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6CBD4AF5-D497-EA33-436E-54878DA991C9}"/>
              </a:ext>
            </a:extLst>
          </p:cNvPr>
          <p:cNvSpPr/>
          <p:nvPr/>
        </p:nvSpPr>
        <p:spPr>
          <a:xfrm>
            <a:off x="3300983" y="2129791"/>
            <a:ext cx="2542032" cy="1645920"/>
          </a:xfrm>
          <a:prstGeom prst="roundRect">
            <a:avLst/>
          </a:prstGeom>
          <a:solidFill>
            <a:srgbClr val="91C791"/>
          </a:solidFill>
          <a:ln>
            <a:solidFill>
              <a:srgbClr val="91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700" b="1">
                <a:solidFill>
                  <a:srgbClr val="171717"/>
                </a:solidFill>
                <a:latin typeface="Arial"/>
              </a:rPr>
              <a:t>MATCHING &amp; WEIGHTING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171717"/>
                </a:solidFill>
                <a:latin typeface="Arial"/>
              </a:rPr>
              <a:t>Build a comparison population in which treated and untreated groups are more comparable.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702BD331-EA4D-439A-A866-CEA7D415D136}"/>
              </a:ext>
            </a:extLst>
          </p:cNvPr>
          <p:cNvSpPr/>
          <p:nvPr/>
        </p:nvSpPr>
        <p:spPr>
          <a:xfrm>
            <a:off x="6163055" y="2129791"/>
            <a:ext cx="2542032" cy="1645920"/>
          </a:xfrm>
          <a:prstGeom prst="roundRect">
            <a:avLst/>
          </a:prstGeom>
          <a:solidFill>
            <a:srgbClr val="FDBB30"/>
          </a:solidFill>
          <a:ln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700" b="1">
                <a:solidFill>
                  <a:srgbClr val="171717"/>
                </a:solidFill>
                <a:latin typeface="Arial"/>
              </a:rPr>
              <a:t>DIAGNOSTICS</a:t>
            </a:r>
          </a:p>
          <a:p>
            <a:pPr algn="ctr">
              <a:spcBef>
                <a:spcPts val="700"/>
              </a:spcBef>
            </a:pPr>
            <a:r>
              <a:rPr sz="1300">
                <a:solidFill>
                  <a:srgbClr val="171717"/>
                </a:solidFill>
                <a:latin typeface="Arial"/>
              </a:rPr>
              <a:t>Overlap, positivity, covariate balance, and what to do when comparable patients do not exist.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43DF65DF-9EB1-2491-43C1-C425474C150C}"/>
              </a:ext>
            </a:extLst>
          </p:cNvPr>
          <p:cNvSpPr/>
          <p:nvPr/>
        </p:nvSpPr>
        <p:spPr>
          <a:xfrm>
            <a:off x="261825" y="4187190"/>
            <a:ext cx="8503920" cy="566928"/>
          </a:xfrm>
          <a:prstGeom prst="roundRect">
            <a:avLst/>
          </a:prstGeom>
          <a:solidFill>
            <a:srgbClr val="E88989"/>
          </a:solidFill>
          <a:ln>
            <a:solidFill>
              <a:srgbClr val="E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500" b="1">
                <a:solidFill>
                  <a:srgbClr val="171717"/>
                </a:solidFill>
                <a:latin typeface="Arial"/>
              </a:rPr>
              <a:t>Preview question: Can an observational study be reweighted to mimic some features of randomization?</a:t>
            </a:r>
          </a:p>
        </p:txBody>
      </p:sp>
    </p:spTree>
    <p:extLst>
      <p:ext uri="{BB962C8B-B14F-4D97-AF65-F5344CB8AC3E}">
        <p14:creationId xmlns:p14="http://schemas.microsoft.com/office/powerpoint/2010/main" val="3266969388"/>
      </p:ext>
    </p:extLst>
  </p:cSld>
  <p:clrMapOvr>
    <a:masterClrMapping/>
  </p:clrMapOvr>
</p:sld>
</file>

<file path=ppt/theme/theme1.xml><?xml version="1.0" encoding="utf-8"?>
<a:theme xmlns:a="http://schemas.openxmlformats.org/drawingml/2006/main" name="Ursula template">
  <a:themeElements>
    <a:clrScheme name="Custom 347">
      <a:dk1>
        <a:srgbClr val="000000"/>
      </a:dk1>
      <a:lt1>
        <a:srgbClr val="FFFFFF"/>
      </a:lt1>
      <a:dk2>
        <a:srgbClr val="D1D8DF"/>
      </a:dk2>
      <a:lt2>
        <a:srgbClr val="4F565C"/>
      </a:lt2>
      <a:accent1>
        <a:srgbClr val="71AEF0"/>
      </a:accent1>
      <a:accent2>
        <a:srgbClr val="88E6DC"/>
      </a:accent2>
      <a:accent3>
        <a:srgbClr val="A6D145"/>
      </a:accent3>
      <a:accent4>
        <a:srgbClr val="FFE000"/>
      </a:accent4>
      <a:accent5>
        <a:srgbClr val="FC765C"/>
      </a:accent5>
      <a:accent6>
        <a:srgbClr val="A693C9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9799</TotalTime>
  <Words>3419</Words>
  <Application>Microsoft Office PowerPoint</Application>
  <PresentationFormat>On-screen Show (16:9)</PresentationFormat>
  <Paragraphs>688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Walter Turncoat</vt:lpstr>
      <vt:lpstr>Arial</vt:lpstr>
      <vt:lpstr>Sniglet</vt:lpstr>
      <vt:lpstr>Walbaum Text</vt:lpstr>
      <vt:lpstr>Cambria Math</vt:lpstr>
      <vt:lpstr>Ursula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Samhita Pal</dc:creator>
  <cp:lastModifiedBy>Dhrubajyoti Ghosh</cp:lastModifiedBy>
  <cp:revision>225</cp:revision>
  <dcterms:modified xsi:type="dcterms:W3CDTF">2026-09-21T02:26:51Z</dcterms:modified>
</cp:coreProperties>
</file>