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82"/>
  </p:notesMasterIdLst>
  <p:sldIdLst>
    <p:sldId id="297" r:id="rId2"/>
    <p:sldId id="523" r:id="rId3"/>
    <p:sldId id="524" r:id="rId4"/>
    <p:sldId id="522" r:id="rId5"/>
    <p:sldId id="525" r:id="rId6"/>
    <p:sldId id="526" r:id="rId7"/>
    <p:sldId id="527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  <p:sldId id="539" r:id="rId20"/>
    <p:sldId id="540" r:id="rId21"/>
    <p:sldId id="541" r:id="rId22"/>
    <p:sldId id="542" r:id="rId23"/>
    <p:sldId id="543" r:id="rId24"/>
    <p:sldId id="544" r:id="rId25"/>
    <p:sldId id="545" r:id="rId26"/>
    <p:sldId id="546" r:id="rId27"/>
    <p:sldId id="547" r:id="rId28"/>
    <p:sldId id="548" r:id="rId29"/>
    <p:sldId id="549" r:id="rId30"/>
    <p:sldId id="550" r:id="rId31"/>
    <p:sldId id="551" r:id="rId32"/>
    <p:sldId id="552" r:id="rId33"/>
    <p:sldId id="553" r:id="rId34"/>
    <p:sldId id="554" r:id="rId35"/>
    <p:sldId id="555" r:id="rId36"/>
    <p:sldId id="556" r:id="rId37"/>
    <p:sldId id="557" r:id="rId38"/>
    <p:sldId id="558" r:id="rId39"/>
    <p:sldId id="559" r:id="rId40"/>
    <p:sldId id="560" r:id="rId41"/>
    <p:sldId id="561" r:id="rId42"/>
    <p:sldId id="562" r:id="rId43"/>
    <p:sldId id="563" r:id="rId44"/>
    <p:sldId id="564" r:id="rId45"/>
    <p:sldId id="565" r:id="rId46"/>
    <p:sldId id="566" r:id="rId47"/>
    <p:sldId id="567" r:id="rId48"/>
    <p:sldId id="568" r:id="rId49"/>
    <p:sldId id="569" r:id="rId50"/>
    <p:sldId id="570" r:id="rId51"/>
    <p:sldId id="571" r:id="rId52"/>
    <p:sldId id="572" r:id="rId53"/>
    <p:sldId id="573" r:id="rId54"/>
    <p:sldId id="574" r:id="rId55"/>
    <p:sldId id="575" r:id="rId56"/>
    <p:sldId id="576" r:id="rId57"/>
    <p:sldId id="577" r:id="rId58"/>
    <p:sldId id="580" r:id="rId59"/>
    <p:sldId id="581" r:id="rId60"/>
    <p:sldId id="582" r:id="rId61"/>
    <p:sldId id="583" r:id="rId62"/>
    <p:sldId id="584" r:id="rId63"/>
    <p:sldId id="585" r:id="rId64"/>
    <p:sldId id="578" r:id="rId65"/>
    <p:sldId id="579" r:id="rId66"/>
    <p:sldId id="586" r:id="rId67"/>
    <p:sldId id="587" r:id="rId68"/>
    <p:sldId id="588" r:id="rId69"/>
    <p:sldId id="589" r:id="rId70"/>
    <p:sldId id="590" r:id="rId71"/>
    <p:sldId id="591" r:id="rId72"/>
    <p:sldId id="592" r:id="rId73"/>
    <p:sldId id="593" r:id="rId74"/>
    <p:sldId id="594" r:id="rId75"/>
    <p:sldId id="595" r:id="rId76"/>
    <p:sldId id="596" r:id="rId77"/>
    <p:sldId id="597" r:id="rId78"/>
    <p:sldId id="598" r:id="rId79"/>
    <p:sldId id="599" r:id="rId80"/>
    <p:sldId id="600" r:id="rId8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83"/>
    </p:embeddedFont>
    <p:embeddedFont>
      <p:font typeface="Consolas" panose="020B0609020204030204" pitchFamily="49" charset="0"/>
      <p:regular r:id="rId84"/>
      <p:bold r:id="rId85"/>
      <p:italic r:id="rId86"/>
      <p:boldItalic r:id="rId87"/>
    </p:embeddedFont>
    <p:embeddedFont>
      <p:font typeface="Sniglet" panose="020B0604020202020204" charset="0"/>
      <p:regular r:id="rId88"/>
    </p:embeddedFont>
    <p:embeddedFont>
      <p:font typeface="Walter Turncoat" panose="020B0604020202020204" charset="0"/>
      <p:regular r:id="rId8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D0B942B-5FDC-419F-A31C-88048C057ADA}">
  <a:tblStyle styleId="{3D0B942B-5FDC-419F-A31C-88048C057A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F752B63-FEDA-48D4-B3B7-9A5BAED3138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2203" autoAdjust="0"/>
  </p:normalViewPr>
  <p:slideViewPr>
    <p:cSldViewPr snapToGrid="0">
      <p:cViewPr varScale="1">
        <p:scale>
          <a:sx n="116" d="100"/>
          <a:sy n="116" d="100"/>
        </p:scale>
        <p:origin x="4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2.fntdata"/><Relationship Id="rId89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font" Target="fonts/font3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1.fntdata"/><Relationship Id="rId88" Type="http://schemas.openxmlformats.org/officeDocument/2006/relationships/font" Target="fonts/font6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5.fntdata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38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680A-52E6-C506-51AB-D9DB7FFDC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E7E1A2-A81C-15DC-512E-3CF0713B5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C8CFA-8EC9-54B9-76C4-19AF1AA9B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071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2C93-386E-34BD-020B-F7CA306EB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C28C0-76DF-E7B0-308E-443EE061E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EF80A-15F5-6E28-DF9C-A930DD4A8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50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5447-533F-7646-6447-8A89B0AF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D49C5-3391-906F-4B11-A1AB4BC3A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933DE-209F-F2B6-5B59-B907843990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3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CE07-ACC4-D38E-BA30-42BBE4E2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BFEA2-F565-5344-F29F-9E1144DAB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4F241-4746-05D4-EA23-1415DAA5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3454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E630-B5D9-42A3-A8B0-2582E966A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BF011-BD14-53A8-92BE-6A392B025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1C971-21E4-3C02-CB37-47C24820D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80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2D58-7147-6BFB-FADF-463BF54C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2D8F3-F7A9-0199-E4E3-28AC14E0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878BE-54A6-0290-6A59-79771B285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684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DC9E1-91E7-8EB7-4DF6-63168F71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CD2307-C142-7A34-0A87-9263BC14A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5F71E-91A8-8C69-A404-0D6FA283D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723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67FE2-65A8-C66D-1DDD-C0DAF2459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B4718-B6D7-B5F6-4E1E-A05A79C2A4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503FF-DCC4-4F13-D7D3-D9EA687007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6753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8EB6-646A-C44E-3706-A5E67A90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379E1-9813-86B7-AFFF-11BAB307E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01B7B-3D31-17B6-366D-E9B1F71EE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922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630D4-42BD-43DA-49B9-6BBB0D5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137D3-E297-1A93-6E5D-26955202B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0364D-3419-5E1F-D927-51B760B89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780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13C0-EED3-C979-1E2E-593FECDB9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E2355-5AEC-70E2-7764-44EA6A447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09D2B-7F30-21FF-AD85-9C6F7B524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537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0960A-816A-3EFE-9C29-30794F86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C6D3F-67E5-A5AC-4671-DAAEC80C61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04C1B9-4F6F-CA3B-46AF-8656F2B26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068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11C7-34C4-A56E-18F1-CA01390A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180E7-5EF4-0655-701D-953059D42B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8063E-AF68-8CC9-3918-F27A650C1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79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6AF0-8F98-309A-18E7-06C6F5089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403F2-1461-C7C9-6952-EBF899D6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5E679-B065-7226-C6DE-6742871E4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545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C0D75-FE21-3FD0-7155-A2A7B0F2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9E71F-73BC-87F2-9DAC-035A5E1BE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803EAD-23FA-6E05-626E-C06A14F53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082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DB46-2EC9-21A3-0983-FEA053B14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1D805-2B7C-5816-33CF-87ED645DB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4F27F-1586-9771-4C19-17781CFA6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65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6D7D7-10C4-F5E6-97BC-8B6B721D4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2E9E6-9264-A2AD-29B6-339246B03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6BE3B-C17E-561A-73AB-C841581D4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3713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95EE-B605-2490-B915-EF626262C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FC07B-7774-7B3D-D49E-60DDA2D2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A2848-AF67-850C-1E7A-94D3DB83D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5259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E432-80AC-267E-AB0E-72D8714C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EC4A4-9ACC-4826-747A-C0EF3A03F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CEFD1-FC4A-FB46-AEAC-BAE9D04F0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422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4A28-0F2B-04E7-785C-47A0A831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E08D0-7065-C64D-2CFF-97217F3E7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1556D4-26AA-DCD5-247C-FBC00E69C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9950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21ABC-33BF-7A4F-B50D-61890186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BC0A8-663B-FB95-094D-C59357F7F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0AF62-FD58-AA08-D1B9-4B69181A5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94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1052C-88A2-26C2-37AB-F6F7DE5F0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1A1B3-F9D3-52B8-9948-5F7C7FBA4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76D24-567B-A693-78CC-300B37B75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992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135DA-AF2E-495B-4873-752181E4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2ADBC-7704-5331-16A3-82CC1BA40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B8DDE-0687-16AD-81D5-3189E9397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8159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4D7C6-135E-355E-3661-DE84171E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E50BE3-981A-3AB0-B280-AC2BB0C73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635061-9FB4-8657-895B-24B9E2D103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736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38056-024A-6001-4150-FC644C3F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9CB543-8988-EC1B-00B7-D4D72BA55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67DCE9-39F1-19EA-76E0-367D5B876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129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B70B7-B43D-AFAF-050C-C55160348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7B19B-23BA-779C-C8F7-7A422499B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438EC-54F5-22CE-B41C-2DEA8D7FB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1406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C3E56-B3D9-EA1B-08D6-1AE44F3AC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DF3F8-A181-32C8-ECF5-8ED7A51D6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2EC0E-CED9-0250-64DF-ADADC08DC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269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49D4D-1B4A-AE49-626E-125F11A65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8F2D0-3890-484E-31C5-C221D9F57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3BFF5-B390-558B-B978-FC7E55165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9296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F1536-0300-99BD-D0DD-BA11A3EA8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399DD-8F12-B7F0-9686-0DDF73CC8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4E3D9F-BE82-5C91-545B-8A235E005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405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10EA-DD8D-E732-FB8D-DE3EF2E30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AC221-4423-FC1B-CF92-6A3CF6DDF8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9043C-A004-2E7A-6324-EDE23C3F7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6696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7B14-7ED6-786A-E8CA-4C0678D2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51AEE-7BE3-8F03-C75A-2325FC402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AF899-7707-EA9B-53CB-97FD4590D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4912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CF60-667A-1724-D806-9A4E42FD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80D22-6A31-5801-F240-9057BD048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E37CB-E0B8-99DD-A4EA-1284C91E7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5571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4022C-0DD9-27D6-C1AE-214A9049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CF6C1-6EA8-EBA9-C8C0-1F60758CA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B60FE-3022-D34A-662A-8960F3F69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539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E10E7-02AD-0651-E847-FDFBB65F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94F95-86E1-CE36-B085-BFBE88826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3267B6-2A03-ABBE-9CFF-69437C3D4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2852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30CF-9B11-49A7-BAF3-C1A5C929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2FA7F-640E-E5AF-BA51-DA15B80066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A18D-2F77-96DE-86A1-AC5794752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76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93.png"/><Relationship Id="rId9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134EF000-1360-AEF0-B6CC-E38FC7950DC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69955" y="294994"/>
            <a:ext cx="8229600" cy="19050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STAT 7900: Special Topic: </a:t>
            </a:r>
          </a:p>
          <a:p>
            <a:r>
              <a:rPr lang="en-US" dirty="0">
                <a:solidFill>
                  <a:schemeClr val="bg1"/>
                </a:solidFill>
                <a:latin typeface="Walter Turncoat" panose="020B0604020202020204" charset="0"/>
              </a:rPr>
              <a:t>Causal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FDCB5-F084-8EE3-64F9-3FEEE886EC0D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738512" y="235668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KENNESAW STATE UNIVERSITY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Walter Turncoat" panose="020B0604020202020204" charset="0"/>
              </a:rPr>
              <a:t>STAT 7900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8E625-98C4-4A42-C24D-4A91B5CF56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-51800" y="2297602"/>
            <a:ext cx="4013200" cy="182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None/>
              <a:defRPr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1800" b="1" dirty="0">
                <a:solidFill>
                  <a:schemeClr val="bg1"/>
                </a:solidFill>
                <a:latin typeface="Walter Turncoat" panose="020B0604020202020204" charset="0"/>
              </a:rPr>
              <a:t>Instructor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  <a:latin typeface="Walter Turncoat" panose="020B0604020202020204" charset="0"/>
              </a:rPr>
              <a:t> Dhrubajyoti Ghosh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93739B6-31BF-A8C0-52D4-A784612214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68895" y="2171700"/>
            <a:ext cx="8477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12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66BC7-95F3-AC8F-6154-42CBEA1C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39FFB-D751-DCE1-F33F-8F563FD6156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Before Any Estimator: Define the Causal Target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FD6F4-AEC4-A7A3-7373-4C3FBC94A253}"/>
              </a:ext>
            </a:extLst>
          </p:cNvPr>
          <p:cNvSpPr txBox="1"/>
          <p:nvPr/>
        </p:nvSpPr>
        <p:spPr>
          <a:xfrm>
            <a:off x="685800" y="1069320"/>
            <a:ext cx="734263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>
                <a:solidFill>
                  <a:srgbClr val="F6B737"/>
                </a:solidFill>
                <a:latin typeface="Cambria Math"/>
              </a:defRPr>
            </a:pPr>
            <a:r>
              <a:t>ATE = E[Y(1) − Y(0)]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93E0F22-8B00-4EE5-4E31-B2065545BB02}"/>
              </a:ext>
            </a:extLst>
          </p:cNvPr>
          <p:cNvSpPr/>
          <p:nvPr/>
        </p:nvSpPr>
        <p:spPr>
          <a:xfrm>
            <a:off x="48844" y="2013899"/>
            <a:ext cx="2846679" cy="15595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9998E-DD35-D090-7851-EBDA39B8B7CF}"/>
              </a:ext>
            </a:extLst>
          </p:cNvPr>
          <p:cNvSpPr txBox="1"/>
          <p:nvPr/>
        </p:nvSpPr>
        <p:spPr>
          <a:xfrm>
            <a:off x="213436" y="2123627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Population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9CB442-C3B6-C730-6327-21C9B8154A75}"/>
              </a:ext>
            </a:extLst>
          </p:cNvPr>
          <p:cNvSpPr txBox="1"/>
          <p:nvPr/>
        </p:nvSpPr>
        <p:spPr>
          <a:xfrm>
            <a:off x="146304" y="2672402"/>
            <a:ext cx="291381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Whose effect do we want?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50D6BE82-BE12-2EB6-A54A-8734E34E2085}"/>
              </a:ext>
            </a:extLst>
          </p:cNvPr>
          <p:cNvSpPr/>
          <p:nvPr/>
        </p:nvSpPr>
        <p:spPr>
          <a:xfrm>
            <a:off x="2974580" y="2041276"/>
            <a:ext cx="3011271" cy="15595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7E29EC-7DDA-3197-68D1-3C5ECD551404}"/>
              </a:ext>
            </a:extLst>
          </p:cNvPr>
          <p:cNvSpPr txBox="1"/>
          <p:nvPr/>
        </p:nvSpPr>
        <p:spPr>
          <a:xfrm>
            <a:off x="3120770" y="2123627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Treatment &amp; comparator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26CAE8-9413-7466-AFBE-228A7708E0CF}"/>
              </a:ext>
            </a:extLst>
          </p:cNvPr>
          <p:cNvSpPr txBox="1"/>
          <p:nvPr/>
        </p:nvSpPr>
        <p:spPr>
          <a:xfrm>
            <a:off x="3157575" y="2618052"/>
            <a:ext cx="2846679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What intervention versus what alternative?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D30752EC-D0FE-DDC0-A4B5-BF710EF1F3CE}"/>
              </a:ext>
            </a:extLst>
          </p:cNvPr>
          <p:cNvSpPr/>
          <p:nvPr/>
        </p:nvSpPr>
        <p:spPr>
          <a:xfrm>
            <a:off x="6064909" y="2013899"/>
            <a:ext cx="3011271" cy="15595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C75FC3-7C06-7C8D-173C-50C2E94E87CF}"/>
              </a:ext>
            </a:extLst>
          </p:cNvPr>
          <p:cNvSpPr txBox="1"/>
          <p:nvPr/>
        </p:nvSpPr>
        <p:spPr>
          <a:xfrm>
            <a:off x="6229501" y="2123627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Outcome &amp; time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3A21AC-97E9-4EFA-15E4-D88F188F724E}"/>
              </a:ext>
            </a:extLst>
          </p:cNvPr>
          <p:cNvSpPr txBox="1"/>
          <p:nvPr/>
        </p:nvSpPr>
        <p:spPr>
          <a:xfrm>
            <a:off x="6229501" y="2544251"/>
            <a:ext cx="3145536" cy="17922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What endpoint, measured when?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FAD75D75-B62E-4946-3BAE-AA7BD46CAA65}"/>
              </a:ext>
            </a:extLst>
          </p:cNvPr>
          <p:cNvSpPr/>
          <p:nvPr/>
        </p:nvSpPr>
        <p:spPr>
          <a:xfrm>
            <a:off x="146304" y="4208593"/>
            <a:ext cx="8712078" cy="7120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AF9344-5AB2-6D03-9C22-918DE0D53AC8}"/>
              </a:ext>
            </a:extLst>
          </p:cNvPr>
          <p:cNvSpPr txBox="1"/>
          <p:nvPr/>
        </p:nvSpPr>
        <p:spPr>
          <a:xfrm>
            <a:off x="310896" y="4373185"/>
            <a:ext cx="83968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Estimator choice comes after the estimand and identification assumptions.</a:t>
            </a:r>
          </a:p>
        </p:txBody>
      </p:sp>
    </p:spTree>
    <p:extLst>
      <p:ext uri="{BB962C8B-B14F-4D97-AF65-F5344CB8AC3E}">
        <p14:creationId xmlns:p14="http://schemas.microsoft.com/office/powerpoint/2010/main" val="379309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F974-E2AA-9608-D495-5E3DE735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1BF7AC-C612-0042-2DB8-64EFC7EE634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Common Identification Assumptions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EE96A3-C73F-87F7-95E6-ACF08E114D39}"/>
              </a:ext>
            </a:extLst>
          </p:cNvPr>
          <p:cNvSpPr/>
          <p:nvPr/>
        </p:nvSpPr>
        <p:spPr>
          <a:xfrm>
            <a:off x="249014" y="1439700"/>
            <a:ext cx="2320208" cy="171334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68044-5335-3B27-D709-31FDB8A76C0A}"/>
              </a:ext>
            </a:extLst>
          </p:cNvPr>
          <p:cNvSpPr txBox="1"/>
          <p:nvPr/>
        </p:nvSpPr>
        <p:spPr>
          <a:xfrm>
            <a:off x="413605" y="1549427"/>
            <a:ext cx="202712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Consistency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418F56-4186-FE1B-3A14-937AA6490B20}"/>
              </a:ext>
            </a:extLst>
          </p:cNvPr>
          <p:cNvSpPr txBox="1"/>
          <p:nvPr/>
        </p:nvSpPr>
        <p:spPr>
          <a:xfrm>
            <a:off x="413605" y="1970051"/>
            <a:ext cx="2027129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t>Observed Y equals the potential outcome under the treatment actually received.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98BF6865-74C9-A95E-5EF3-EC79C970C865}"/>
              </a:ext>
            </a:extLst>
          </p:cNvPr>
          <p:cNvSpPr/>
          <p:nvPr/>
        </p:nvSpPr>
        <p:spPr>
          <a:xfrm>
            <a:off x="2605325" y="1439700"/>
            <a:ext cx="1994565" cy="174596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4790F4-7DBA-07A8-5310-207CABA53F5E}"/>
              </a:ext>
            </a:extLst>
          </p:cNvPr>
          <p:cNvSpPr txBox="1"/>
          <p:nvPr/>
        </p:nvSpPr>
        <p:spPr>
          <a:xfrm>
            <a:off x="2769917" y="1549427"/>
            <a:ext cx="202712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Exchangeability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12A0C7-EA8E-668A-8F0F-5BBBD5D4C169}"/>
                  </a:ext>
                </a:extLst>
              </p:cNvPr>
              <p:cNvSpPr txBox="1"/>
              <p:nvPr/>
            </p:nvSpPr>
            <p:spPr>
              <a:xfrm>
                <a:off x="2543452" y="2200522"/>
                <a:ext cx="2027129" cy="43345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⟂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F12A0C7-EA8E-668A-8F0F-5BBBD5D4C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3452" y="2200522"/>
                <a:ext cx="2027129" cy="4334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8FE84F91-D29A-1E2E-FDC7-FE7B68A50756}"/>
              </a:ext>
            </a:extLst>
          </p:cNvPr>
          <p:cNvSpPr/>
          <p:nvPr/>
        </p:nvSpPr>
        <p:spPr>
          <a:xfrm>
            <a:off x="4635993" y="1471251"/>
            <a:ext cx="2191721" cy="174596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DC708F-15B1-A0BD-C3E1-FB6702C6E1A9}"/>
              </a:ext>
            </a:extLst>
          </p:cNvPr>
          <p:cNvSpPr txBox="1"/>
          <p:nvPr/>
        </p:nvSpPr>
        <p:spPr>
          <a:xfrm>
            <a:off x="4800585" y="1580978"/>
            <a:ext cx="202712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Positivity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7C3EC-27EC-E742-02EE-5C6C7F541756}"/>
              </a:ext>
            </a:extLst>
          </p:cNvPr>
          <p:cNvSpPr txBox="1"/>
          <p:nvPr/>
        </p:nvSpPr>
        <p:spPr>
          <a:xfrm>
            <a:off x="4800585" y="2001602"/>
            <a:ext cx="2027129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Both treatments are possible within relevant X profiles.</a:t>
            </a:r>
          </a:p>
        </p:txBody>
      </p:sp>
      <p:sp>
        <p:nvSpPr>
          <p:cNvPr id="32" name="Rounded Rectangle 13">
            <a:extLst>
              <a:ext uri="{FF2B5EF4-FFF2-40B4-BE49-F238E27FC236}">
                <a16:creationId xmlns:a16="http://schemas.microsoft.com/office/drawing/2014/main" id="{97353F9C-490E-81CE-2E6D-5DBE1B8226FF}"/>
              </a:ext>
            </a:extLst>
          </p:cNvPr>
          <p:cNvSpPr/>
          <p:nvPr/>
        </p:nvSpPr>
        <p:spPr>
          <a:xfrm>
            <a:off x="6863817" y="1481328"/>
            <a:ext cx="1994565" cy="171334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EADD1E-5915-3B31-8F4D-AFF79BFD4912}"/>
              </a:ext>
            </a:extLst>
          </p:cNvPr>
          <p:cNvSpPr txBox="1"/>
          <p:nvPr/>
        </p:nvSpPr>
        <p:spPr>
          <a:xfrm>
            <a:off x="7028409" y="1591055"/>
            <a:ext cx="170148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No interference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8C7F5B-C77F-5FC7-C240-6F3CFFB4535F}"/>
              </a:ext>
            </a:extLst>
          </p:cNvPr>
          <p:cNvSpPr txBox="1"/>
          <p:nvPr/>
        </p:nvSpPr>
        <p:spPr>
          <a:xfrm>
            <a:off x="7028409" y="2011679"/>
            <a:ext cx="1701486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t>One unit’s treatment does not alter another unit’s outcome.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105E2A-CE4E-FF15-0BB0-AC07FA682D04}"/>
              </a:ext>
            </a:extLst>
          </p:cNvPr>
          <p:cNvSpPr txBox="1"/>
          <p:nvPr/>
        </p:nvSpPr>
        <p:spPr>
          <a:xfrm>
            <a:off x="169188" y="3955497"/>
            <a:ext cx="87708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E66767"/>
                </a:solidFill>
                <a:latin typeface="Cambria Math"/>
              </a:defRPr>
            </a:pPr>
            <a:r>
              <a:rPr dirty="0"/>
              <a:t>These methods estimate causal effects only after identification is justified.</a:t>
            </a:r>
          </a:p>
        </p:txBody>
      </p:sp>
    </p:spTree>
    <p:extLst>
      <p:ext uri="{BB962C8B-B14F-4D97-AF65-F5344CB8AC3E}">
        <p14:creationId xmlns:p14="http://schemas.microsoft.com/office/powerpoint/2010/main" val="50704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4FA1-2FAC-89FB-8100-13FB513D4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C18088-17E1-E3C6-DE64-FC2C11575E7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Recap: Four Ways to Estimate Causal Effects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F2B239C6-BEC2-E6C0-EFBA-29E859173139}"/>
              </a:ext>
            </a:extLst>
          </p:cNvPr>
          <p:cNvSpPr/>
          <p:nvPr/>
        </p:nvSpPr>
        <p:spPr>
          <a:xfrm>
            <a:off x="52626" y="1219309"/>
            <a:ext cx="2106946" cy="227152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926C3C-38AD-6C94-1B56-94761F27C8BB}"/>
              </a:ext>
            </a:extLst>
          </p:cNvPr>
          <p:cNvSpPr txBox="1"/>
          <p:nvPr/>
        </p:nvSpPr>
        <p:spPr>
          <a:xfrm>
            <a:off x="164592" y="1329037"/>
            <a:ext cx="2276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g-computation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BF62C7-AED7-E990-3C2C-AEE31C03F93E}"/>
              </a:ext>
            </a:extLst>
          </p:cNvPr>
          <p:cNvSpPr txBox="1"/>
          <p:nvPr/>
        </p:nvSpPr>
        <p:spPr>
          <a:xfrm>
            <a:off x="126052" y="1960967"/>
            <a:ext cx="199498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Model outcomes and predict both treatment worlds.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8A2548F1-2754-80B6-7E06-0DAADD919853}"/>
              </a:ext>
            </a:extLst>
          </p:cNvPr>
          <p:cNvSpPr/>
          <p:nvPr/>
        </p:nvSpPr>
        <p:spPr>
          <a:xfrm>
            <a:off x="2230948" y="1261082"/>
            <a:ext cx="2331532" cy="227152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E48DC6-0459-F135-FA38-F09BBB2677B6}"/>
              </a:ext>
            </a:extLst>
          </p:cNvPr>
          <p:cNvSpPr txBox="1"/>
          <p:nvPr/>
        </p:nvSpPr>
        <p:spPr>
          <a:xfrm>
            <a:off x="2395540" y="1370810"/>
            <a:ext cx="2276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PSM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99EE4B-53E1-4157-C0A6-885C6FC868D2}"/>
              </a:ext>
            </a:extLst>
          </p:cNvPr>
          <p:cNvSpPr txBox="1"/>
          <p:nvPr/>
        </p:nvSpPr>
        <p:spPr>
          <a:xfrm>
            <a:off x="2258286" y="1928413"/>
            <a:ext cx="227685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Select comparable observed treatment and control units.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C3A59779-4B7E-8E6E-A63F-C6CC53CEED2E}"/>
              </a:ext>
            </a:extLst>
          </p:cNvPr>
          <p:cNvSpPr/>
          <p:nvPr/>
        </p:nvSpPr>
        <p:spPr>
          <a:xfrm>
            <a:off x="4690496" y="1292116"/>
            <a:ext cx="2276856" cy="224049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B952FA-E8FC-F950-4D01-BBF3278A8012}"/>
              </a:ext>
            </a:extLst>
          </p:cNvPr>
          <p:cNvSpPr txBox="1"/>
          <p:nvPr/>
        </p:nvSpPr>
        <p:spPr>
          <a:xfrm>
            <a:off x="4855088" y="1401844"/>
            <a:ext cx="2276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IPW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71998E-83B1-BEA4-C37E-9FC6CE44609A}"/>
              </a:ext>
            </a:extLst>
          </p:cNvPr>
          <p:cNvSpPr txBox="1"/>
          <p:nvPr/>
        </p:nvSpPr>
        <p:spPr>
          <a:xfrm>
            <a:off x="4708596" y="2001220"/>
            <a:ext cx="227685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Reweight observed units to construct a pseudo-population.</a:t>
            </a:r>
          </a:p>
        </p:txBody>
      </p:sp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D62514EC-CDD5-24D8-FF1C-F7B8D5D06E4A}"/>
              </a:ext>
            </a:extLst>
          </p:cNvPr>
          <p:cNvSpPr/>
          <p:nvPr/>
        </p:nvSpPr>
        <p:spPr>
          <a:xfrm>
            <a:off x="7052140" y="1286868"/>
            <a:ext cx="2039234" cy="227152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CBA1F9-2212-1EDC-919F-11EA4207F959}"/>
              </a:ext>
            </a:extLst>
          </p:cNvPr>
          <p:cNvSpPr txBox="1"/>
          <p:nvPr/>
        </p:nvSpPr>
        <p:spPr>
          <a:xfrm>
            <a:off x="7225160" y="1401844"/>
            <a:ext cx="22768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AIPW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058372-7877-7C75-4F05-1B4AB1DAEEF9}"/>
              </a:ext>
            </a:extLst>
          </p:cNvPr>
          <p:cNvSpPr txBox="1"/>
          <p:nvPr/>
        </p:nvSpPr>
        <p:spPr>
          <a:xfrm>
            <a:off x="7051244" y="1884244"/>
            <a:ext cx="2091861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Combine outcome predictions with weighting corrections.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83873D-A9F2-A8C0-9B8B-35CCA5677D69}"/>
              </a:ext>
            </a:extLst>
          </p:cNvPr>
          <p:cNvSpPr txBox="1"/>
          <p:nvPr/>
        </p:nvSpPr>
        <p:spPr>
          <a:xfrm>
            <a:off x="440753" y="4220682"/>
            <a:ext cx="8316881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5BC7C2"/>
                </a:solidFill>
                <a:latin typeface="Cambria Math"/>
              </a:defRPr>
            </a:pPr>
            <a:r>
              <a:rPr dirty="0"/>
              <a:t>Different estimators • same causal identification problem</a:t>
            </a:r>
          </a:p>
        </p:txBody>
      </p:sp>
    </p:spTree>
    <p:extLst>
      <p:ext uri="{BB962C8B-B14F-4D97-AF65-F5344CB8AC3E}">
        <p14:creationId xmlns:p14="http://schemas.microsoft.com/office/powerpoint/2010/main" val="386937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ECA2-2424-DFF4-C823-F957D50C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3E6A16-7E7D-D0B1-D0F0-7476D5F8C92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One Causal Question: Four Estimation Strategies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9EDDFA7-E75D-4EBF-66B0-9446EBF47663}"/>
              </a:ext>
            </a:extLst>
          </p:cNvPr>
          <p:cNvSpPr/>
          <p:nvPr/>
        </p:nvSpPr>
        <p:spPr>
          <a:xfrm>
            <a:off x="81901" y="1521178"/>
            <a:ext cx="2066499" cy="200353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90B677-B305-4D22-BD66-BF7DFF7CC545}"/>
              </a:ext>
            </a:extLst>
          </p:cNvPr>
          <p:cNvSpPr txBox="1"/>
          <p:nvPr/>
        </p:nvSpPr>
        <p:spPr>
          <a:xfrm>
            <a:off x="246493" y="1630907"/>
            <a:ext cx="206649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g-computation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1940A5-7983-57F5-F99F-4F404706D9BE}"/>
              </a:ext>
            </a:extLst>
          </p:cNvPr>
          <p:cNvSpPr txBox="1"/>
          <p:nvPr/>
        </p:nvSpPr>
        <p:spPr>
          <a:xfrm>
            <a:off x="91642" y="2125118"/>
            <a:ext cx="2094261" cy="145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Use X to model Y.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Predict Y(1) and Y(0).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Average the contrast.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276520D6-C2D1-B0A0-5824-510A8A6456A8}"/>
              </a:ext>
            </a:extLst>
          </p:cNvPr>
          <p:cNvSpPr/>
          <p:nvPr/>
        </p:nvSpPr>
        <p:spPr>
          <a:xfrm>
            <a:off x="2250469" y="1517745"/>
            <a:ext cx="2153012" cy="201752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7661B-4C11-1201-52EC-399D4CBA1B40}"/>
              </a:ext>
            </a:extLst>
          </p:cNvPr>
          <p:cNvSpPr txBox="1"/>
          <p:nvPr/>
        </p:nvSpPr>
        <p:spPr>
          <a:xfrm>
            <a:off x="2494649" y="1631473"/>
            <a:ext cx="205774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PSM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71B0C2-5AE6-6B08-2750-A6151F744D6A}"/>
              </a:ext>
            </a:extLst>
          </p:cNvPr>
          <p:cNvSpPr txBox="1"/>
          <p:nvPr/>
        </p:nvSpPr>
        <p:spPr>
          <a:xfrm>
            <a:off x="2287972" y="2083595"/>
            <a:ext cx="2217578" cy="145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Use X to model T.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Find comparable units.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Compare matched outcomes.</a:t>
            </a: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600A99E6-5A7F-B852-4627-5D5473F7FAD9}"/>
              </a:ext>
            </a:extLst>
          </p:cNvPr>
          <p:cNvSpPr/>
          <p:nvPr/>
        </p:nvSpPr>
        <p:spPr>
          <a:xfrm>
            <a:off x="4476509" y="1574989"/>
            <a:ext cx="2365270" cy="196028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7F9D51-17B9-EF5A-C6B4-A225F7557C90}"/>
              </a:ext>
            </a:extLst>
          </p:cNvPr>
          <p:cNvSpPr txBox="1"/>
          <p:nvPr/>
        </p:nvSpPr>
        <p:spPr>
          <a:xfrm>
            <a:off x="4767839" y="1684718"/>
            <a:ext cx="126333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rPr dirty="0"/>
              <a:t>IPW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E0065E-6171-A6B4-F8F6-6EDA3A7A40BA}"/>
              </a:ext>
            </a:extLst>
          </p:cNvPr>
          <p:cNvSpPr txBox="1"/>
          <p:nvPr/>
        </p:nvSpPr>
        <p:spPr>
          <a:xfrm>
            <a:off x="4578578" y="2099806"/>
            <a:ext cx="2365270" cy="145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Use X to model T.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Create inverse-probability weights.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Compare weighted outcomes.</a:t>
            </a:r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B5B23768-0C74-DA48-690A-38DE3EDD433E}"/>
              </a:ext>
            </a:extLst>
          </p:cNvPr>
          <p:cNvSpPr/>
          <p:nvPr/>
        </p:nvSpPr>
        <p:spPr>
          <a:xfrm>
            <a:off x="6914807" y="1622223"/>
            <a:ext cx="2160448" cy="189905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68C759-2293-DE04-FACF-B2A87E4E4371}"/>
              </a:ext>
            </a:extLst>
          </p:cNvPr>
          <p:cNvSpPr txBox="1"/>
          <p:nvPr/>
        </p:nvSpPr>
        <p:spPr>
          <a:xfrm>
            <a:off x="7079399" y="1731951"/>
            <a:ext cx="188754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AIPW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5D7C14-A4B1-B83E-41C0-6D085EF87BF8}"/>
              </a:ext>
            </a:extLst>
          </p:cNvPr>
          <p:cNvSpPr txBox="1"/>
          <p:nvPr/>
        </p:nvSpPr>
        <p:spPr>
          <a:xfrm>
            <a:off x="6943848" y="2069597"/>
            <a:ext cx="2248796" cy="145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Model both Y and T.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Predict outcomes.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Add weighted residual corrections.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F50566-9F2F-CD30-460D-783C41332E90}"/>
              </a:ext>
            </a:extLst>
          </p:cNvPr>
          <p:cNvSpPr txBox="1"/>
          <p:nvPr/>
        </p:nvSpPr>
        <p:spPr>
          <a:xfrm>
            <a:off x="513013" y="4085148"/>
            <a:ext cx="79138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C7C2"/>
                </a:solidFill>
                <a:latin typeface="Cambria Math"/>
              </a:defRPr>
            </a:pPr>
            <a:r>
              <a:rPr dirty="0"/>
              <a:t>The key distinction: model outcomes, redesign the sample, reweight the sample, or combine models.</a:t>
            </a:r>
          </a:p>
        </p:txBody>
      </p:sp>
    </p:spTree>
    <p:extLst>
      <p:ext uri="{BB962C8B-B14F-4D97-AF65-F5344CB8AC3E}">
        <p14:creationId xmlns:p14="http://schemas.microsoft.com/office/powerpoint/2010/main" val="243346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1AB7-1ACD-C34F-A995-6B5B9506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095A33-6C0C-7FC2-C7C8-5EB7DCB31E9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g-Formula: Identification Comes First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FABCC-6A78-7565-AA2F-934389C66FE9}"/>
                  </a:ext>
                </a:extLst>
              </p:cNvPr>
              <p:cNvSpPr txBox="1"/>
              <p:nvPr/>
            </p:nvSpPr>
            <p:spPr>
              <a:xfrm>
                <a:off x="891096" y="1068437"/>
                <a:ext cx="7832395" cy="569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3100">
                    <a:solidFill>
                      <a:srgbClr val="64AEEB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{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 }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E9FABCC-6A78-7565-AA2F-934389C66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096" y="1068437"/>
                <a:ext cx="7832395" cy="569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36C8EECA-5495-FB9F-9EA9-068DB2EF9720}"/>
              </a:ext>
            </a:extLst>
          </p:cNvPr>
          <p:cNvSpPr/>
          <p:nvPr/>
        </p:nvSpPr>
        <p:spPr>
          <a:xfrm>
            <a:off x="105911" y="2004375"/>
            <a:ext cx="2874112" cy="168068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FB7AD-DB6F-DF10-6E1E-71BCFE890072}"/>
              </a:ext>
            </a:extLst>
          </p:cNvPr>
          <p:cNvSpPr txBox="1"/>
          <p:nvPr/>
        </p:nvSpPr>
        <p:spPr>
          <a:xfrm>
            <a:off x="270503" y="2114103"/>
            <a:ext cx="28254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Within 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EF7DA9-46D2-C46C-C6B0-E3172C2E03D8}"/>
              </a:ext>
            </a:extLst>
          </p:cNvPr>
          <p:cNvSpPr txBox="1"/>
          <p:nvPr/>
        </p:nvSpPr>
        <p:spPr>
          <a:xfrm>
            <a:off x="270503" y="2534728"/>
            <a:ext cx="2574205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Use comparable observed units to estimate the treatment-specific mean.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B22D54F1-55B5-09CA-95DB-00279E194872}"/>
              </a:ext>
            </a:extLst>
          </p:cNvPr>
          <p:cNvSpPr/>
          <p:nvPr/>
        </p:nvSpPr>
        <p:spPr>
          <a:xfrm>
            <a:off x="3096000" y="2039510"/>
            <a:ext cx="2874112" cy="168068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EE2F6F-0CB8-114C-5F11-11C01C0F055D}"/>
              </a:ext>
            </a:extLst>
          </p:cNvPr>
          <p:cNvSpPr txBox="1"/>
          <p:nvPr/>
        </p:nvSpPr>
        <p:spPr>
          <a:xfrm>
            <a:off x="3260591" y="2149237"/>
            <a:ext cx="267124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Intervene conceptually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CDA700-BB49-025C-51C0-C7DC604DBEC2}"/>
                  </a:ext>
                </a:extLst>
              </p:cNvPr>
              <p:cNvSpPr txBox="1"/>
              <p:nvPr/>
            </p:nvSpPr>
            <p:spPr>
              <a:xfrm>
                <a:off x="3236377" y="2600514"/>
                <a:ext cx="2671246" cy="8309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Set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dirty="0"/>
                  <a:t> while keeping each person’s baseline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fixed.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9CDA700-BB49-025C-51C0-C7DC604DB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377" y="2600514"/>
                <a:ext cx="2671246" cy="830997"/>
              </a:xfrm>
              <a:prstGeom prst="rect">
                <a:avLst/>
              </a:prstGeom>
              <a:blipFill>
                <a:blip r:embed="rId3"/>
                <a:stretch>
                  <a:fillRect l="-1370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DBFC2DFC-7DC3-EF5A-99AB-366E17FA0D6C}"/>
              </a:ext>
            </a:extLst>
          </p:cNvPr>
          <p:cNvSpPr/>
          <p:nvPr/>
        </p:nvSpPr>
        <p:spPr>
          <a:xfrm>
            <a:off x="6048000" y="2039510"/>
            <a:ext cx="2990088" cy="168068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8D433E-6BD7-5EFB-064E-CB88BF4D04CE}"/>
              </a:ext>
            </a:extLst>
          </p:cNvPr>
          <p:cNvSpPr txBox="1"/>
          <p:nvPr/>
        </p:nvSpPr>
        <p:spPr>
          <a:xfrm>
            <a:off x="6212592" y="2149238"/>
            <a:ext cx="282549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Standardize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59E5AD-974A-39CB-9625-716307640ED2}"/>
              </a:ext>
            </a:extLst>
          </p:cNvPr>
          <p:cNvSpPr txBox="1"/>
          <p:nvPr/>
        </p:nvSpPr>
        <p:spPr>
          <a:xfrm>
            <a:off x="6212592" y="2675372"/>
            <a:ext cx="2678079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Average over one common target distribution of X.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B817ECFE-824B-A100-D457-41B225203D16}"/>
              </a:ext>
            </a:extLst>
          </p:cNvPr>
          <p:cNvSpPr/>
          <p:nvPr/>
        </p:nvSpPr>
        <p:spPr>
          <a:xfrm>
            <a:off x="137369" y="4246066"/>
            <a:ext cx="8900719" cy="6459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26665E-9DEE-50B6-BD65-90251CFBD7EA}"/>
              </a:ext>
            </a:extLst>
          </p:cNvPr>
          <p:cNvSpPr txBox="1"/>
          <p:nvPr/>
        </p:nvSpPr>
        <p:spPr>
          <a:xfrm>
            <a:off x="164592" y="4413668"/>
            <a:ext cx="899730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The DAG and assumptions justify replacing missing counterfactual means with observed-data quantities.</a:t>
            </a:r>
          </a:p>
        </p:txBody>
      </p:sp>
    </p:spTree>
    <p:extLst>
      <p:ext uri="{BB962C8B-B14F-4D97-AF65-F5344CB8AC3E}">
        <p14:creationId xmlns:p14="http://schemas.microsoft.com/office/powerpoint/2010/main" val="3997501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8EA97-9EF3-BCA8-F94B-41F3DED76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AE1C3-052D-CFE1-05C7-71441B463D5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g-Computation: Predict Two Worlds for Everyone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6AD8A7AF-F132-FFED-427D-7BED9485FE96}"/>
              </a:ext>
            </a:extLst>
          </p:cNvPr>
          <p:cNvSpPr/>
          <p:nvPr/>
        </p:nvSpPr>
        <p:spPr>
          <a:xfrm>
            <a:off x="169187" y="1490538"/>
            <a:ext cx="3389189" cy="208239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F1437-4CEF-729F-1629-47869678CBB5}"/>
              </a:ext>
            </a:extLst>
          </p:cNvPr>
          <p:cNvSpPr txBox="1"/>
          <p:nvPr/>
        </p:nvSpPr>
        <p:spPr>
          <a:xfrm>
            <a:off x="333780" y="1600266"/>
            <a:ext cx="241572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Step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A7B608-597C-DD2E-E5AF-FE259971C33D}"/>
                  </a:ext>
                </a:extLst>
              </p:cNvPr>
              <p:cNvSpPr txBox="1"/>
              <p:nvPr/>
            </p:nvSpPr>
            <p:spPr>
              <a:xfrm>
                <a:off x="262967" y="2247086"/>
                <a:ext cx="3383628" cy="83612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Fit</a:t>
                </a:r>
              </a:p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].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A7B608-597C-DD2E-E5AF-FE259971C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967" y="2247086"/>
                <a:ext cx="3383628" cy="836126"/>
              </a:xfrm>
              <a:prstGeom prst="rect">
                <a:avLst/>
              </a:prstGeom>
              <a:blipFill>
                <a:blip r:embed="rId2"/>
                <a:stretch>
                  <a:fillRect l="-1802" t="-43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26F88C7D-8BD6-EA47-2E83-9E4AD1FF9D2B}"/>
              </a:ext>
            </a:extLst>
          </p:cNvPr>
          <p:cNvSpPr/>
          <p:nvPr/>
        </p:nvSpPr>
        <p:spPr>
          <a:xfrm>
            <a:off x="3646595" y="1530551"/>
            <a:ext cx="2668535" cy="208239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BCBD62-6F1C-18E0-A0E7-41D5FE8447BA}"/>
              </a:ext>
            </a:extLst>
          </p:cNvPr>
          <p:cNvSpPr txBox="1"/>
          <p:nvPr/>
        </p:nvSpPr>
        <p:spPr>
          <a:xfrm>
            <a:off x="3811186" y="1640279"/>
            <a:ext cx="241572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Step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479205-4B52-4076-03B4-C92669779B56}"/>
                  </a:ext>
                </a:extLst>
              </p:cNvPr>
              <p:cNvSpPr txBox="1"/>
              <p:nvPr/>
            </p:nvSpPr>
            <p:spPr>
              <a:xfrm>
                <a:off x="3811186" y="2372761"/>
                <a:ext cx="2415726" cy="71045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Predict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i="1" dirty="0" smtClean="0">
                        <a:latin typeface="Cambria Math" panose="02040503050406030204" pitchFamily="18" charset="0"/>
                      </a:rPr>
                      <m:t>(1,</m:t>
                    </m:r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Predict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(0,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479205-4B52-4076-03B4-C92669779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186" y="2372761"/>
                <a:ext cx="2415726" cy="710451"/>
              </a:xfrm>
              <a:prstGeom prst="rect">
                <a:avLst/>
              </a:prstGeom>
              <a:blipFill>
                <a:blip r:embed="rId3"/>
                <a:stretch>
                  <a:fillRect l="-2020" t="-3419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A3E92C1F-6156-56F7-C1B9-0D792869EAA8}"/>
              </a:ext>
            </a:extLst>
          </p:cNvPr>
          <p:cNvSpPr/>
          <p:nvPr/>
        </p:nvSpPr>
        <p:spPr>
          <a:xfrm>
            <a:off x="6403349" y="1530551"/>
            <a:ext cx="2668535" cy="208239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2FB0B5-36EE-D0AD-93B0-D5D336899181}"/>
              </a:ext>
            </a:extLst>
          </p:cNvPr>
          <p:cNvSpPr txBox="1"/>
          <p:nvPr/>
        </p:nvSpPr>
        <p:spPr>
          <a:xfrm>
            <a:off x="6567941" y="1640279"/>
            <a:ext cx="241572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Step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0D5569-D20A-BCD4-18A2-A46ECF1CBE22}"/>
                  </a:ext>
                </a:extLst>
              </p:cNvPr>
              <p:cNvSpPr txBox="1"/>
              <p:nvPr/>
            </p:nvSpPr>
            <p:spPr>
              <a:xfrm>
                <a:off x="6559087" y="2340700"/>
                <a:ext cx="2415726" cy="77457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Average </a:t>
                </a:r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(1,</m:t>
                      </m:r>
                      <m:sSub>
                        <m:sSub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) −</m:t>
                      </m:r>
                      <m:acc>
                        <m:accPr>
                          <m:chr m:val="̂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ᵢ).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0D5569-D20A-BCD4-18A2-A46ECF1CB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087" y="2340700"/>
                <a:ext cx="2415726" cy="774571"/>
              </a:xfrm>
              <a:prstGeom prst="rect">
                <a:avLst/>
              </a:prstGeom>
              <a:blipFill>
                <a:blip r:embed="rId4"/>
                <a:stretch>
                  <a:fillRect l="-2273" t="-3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71CC05-5488-DFEB-D28A-EE294C449F77}"/>
                  </a:ext>
                </a:extLst>
              </p:cNvPr>
              <p:cNvSpPr txBox="1"/>
              <p:nvPr/>
            </p:nvSpPr>
            <p:spPr>
              <a:xfrm>
                <a:off x="1412320" y="4108522"/>
                <a:ext cx="6319359" cy="549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7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-1</m:t>
                          </m:r>
                        </m:sup>
                      </m:sSup>
                      <m:sSub>
                        <m:sSubPr>
                          <m:ctrlPr>
                            <a:rPr i="0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i="0" dirty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 {</m:t>
                      </m:r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(1,</m:t>
                      </m:r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671CC05-5488-DFEB-D28A-EE294C449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320" y="4108522"/>
                <a:ext cx="6319359" cy="5491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76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0569-AED4-31B5-D021-5B9FDF0FC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52C156-02FA-D707-B6B5-32F9A8DC133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g-Computation in R: The Logic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1A9B64-59ED-6632-B70E-D2711E0F7D6F}"/>
              </a:ext>
            </a:extLst>
          </p:cNvPr>
          <p:cNvSpPr/>
          <p:nvPr/>
        </p:nvSpPr>
        <p:spPr>
          <a:xfrm>
            <a:off x="85520" y="1015934"/>
            <a:ext cx="4585157" cy="289595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58F1C-5A5F-E40A-53DF-70BA224653A9}"/>
              </a:ext>
            </a:extLst>
          </p:cNvPr>
          <p:cNvSpPr txBox="1"/>
          <p:nvPr/>
        </p:nvSpPr>
        <p:spPr>
          <a:xfrm>
            <a:off x="179065" y="1212271"/>
            <a:ext cx="477720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5472A3-544E-AA95-2E53-C5B6E1B9C57E}"/>
              </a:ext>
            </a:extLst>
          </p:cNvPr>
          <p:cNvSpPr txBox="1"/>
          <p:nvPr/>
        </p:nvSpPr>
        <p:spPr>
          <a:xfrm>
            <a:off x="179065" y="1694580"/>
            <a:ext cx="4491612" cy="1797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fit &lt;- lm(re78 ~ treat + age + educ + race + married +</a:t>
            </a:r>
          </a:p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          nodegree + re74 + re75, data = d)</a:t>
            </a:r>
          </a:p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y1 &lt;- predict(fit, transform(d, treat = 1))</a:t>
            </a:r>
          </a:p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y0 &lt;- predict(fit, transform(d, treat = 0))</a:t>
            </a:r>
          </a:p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mean(y1 - y0)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B0BA187F-5D7A-6B63-1B9D-5B6A3E6EC276}"/>
              </a:ext>
            </a:extLst>
          </p:cNvPr>
          <p:cNvSpPr/>
          <p:nvPr/>
        </p:nvSpPr>
        <p:spPr>
          <a:xfrm>
            <a:off x="4764222" y="992816"/>
            <a:ext cx="4294258" cy="29190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A81513-8033-7CDB-4259-958FFA0796E2}"/>
              </a:ext>
            </a:extLst>
          </p:cNvPr>
          <p:cNvSpPr txBox="1"/>
          <p:nvPr/>
        </p:nvSpPr>
        <p:spPr>
          <a:xfrm>
            <a:off x="4956274" y="1231614"/>
            <a:ext cx="43799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What each line means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40BAE-D953-3650-D866-326E2BAAD67A}"/>
              </a:ext>
            </a:extLst>
          </p:cNvPr>
          <p:cNvSpPr txBox="1"/>
          <p:nvPr/>
        </p:nvSpPr>
        <p:spPr>
          <a:xfrm>
            <a:off x="4956274" y="1640057"/>
            <a:ext cx="4102206" cy="21364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Fit an outcome model.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Create the all-treated prediction world.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Create the all-control prediction world.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Average the individual predicted contrasts.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dirty="0"/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Main vulnerability: outcome-model misspecification.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72AB9F84-34EE-B25A-2413-5DBDF37B10AD}"/>
              </a:ext>
            </a:extLst>
          </p:cNvPr>
          <p:cNvSpPr/>
          <p:nvPr/>
        </p:nvSpPr>
        <p:spPr>
          <a:xfrm>
            <a:off x="179065" y="4338606"/>
            <a:ext cx="8778191" cy="55536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685A68-3F2D-A0EC-6DC6-C6313D55B53C}"/>
              </a:ext>
            </a:extLst>
          </p:cNvPr>
          <p:cNvSpPr txBox="1"/>
          <p:nvPr/>
        </p:nvSpPr>
        <p:spPr>
          <a:xfrm>
            <a:off x="343657" y="4503198"/>
            <a:ext cx="8460588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300">
                <a:solidFill>
                  <a:srgbClr val="F6F6F6"/>
                </a:solidFill>
                <a:latin typeface="Aptos"/>
              </a:defRPr>
            </a:pPr>
            <a:r>
              <a:rPr dirty="0"/>
              <a:t>In an additive linear model without T×X interaction, the g-computation ATE equals the treatment coefficient.</a:t>
            </a:r>
          </a:p>
        </p:txBody>
      </p:sp>
    </p:spTree>
    <p:extLst>
      <p:ext uri="{BB962C8B-B14F-4D97-AF65-F5344CB8AC3E}">
        <p14:creationId xmlns:p14="http://schemas.microsoft.com/office/powerpoint/2010/main" val="51444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E59FE-B10E-95F1-222A-347302ED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CF3BF-CBEC-94A7-2E0D-98AD7382848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PSM: Construct Comparison Before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3D182D-C1C7-5BE3-1BF3-6A6983E6D972}"/>
                  </a:ext>
                </a:extLst>
              </p:cNvPr>
              <p:cNvSpPr txBox="1"/>
              <p:nvPr/>
            </p:nvSpPr>
            <p:spPr>
              <a:xfrm>
                <a:off x="1132737" y="1059560"/>
                <a:ext cx="687852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3000">
                    <a:solidFill>
                      <a:srgbClr val="71CC94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63D182D-C1C7-5BE3-1BF3-6A6983E6D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737" y="1059560"/>
                <a:ext cx="6878525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ED8BF32B-03DE-5616-8656-7089BC879D5F}"/>
              </a:ext>
            </a:extLst>
          </p:cNvPr>
          <p:cNvSpPr/>
          <p:nvPr/>
        </p:nvSpPr>
        <p:spPr>
          <a:xfrm>
            <a:off x="80585" y="1988845"/>
            <a:ext cx="2925751" cy="17498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72E24B-7F6C-30B8-1E98-AE20B7001DC6}"/>
                  </a:ext>
                </a:extLst>
              </p:cNvPr>
              <p:cNvSpPr txBox="1"/>
              <p:nvPr/>
            </p:nvSpPr>
            <p:spPr>
              <a:xfrm>
                <a:off x="245177" y="2098573"/>
                <a:ext cx="1513812" cy="34624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:r>
                  <a:rPr dirty="0"/>
                  <a:t>Estimate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072E24B-7F6C-30B8-1E98-AE20B700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77" y="2098573"/>
                <a:ext cx="1513812" cy="346249"/>
              </a:xfrm>
              <a:prstGeom prst="rect">
                <a:avLst/>
              </a:prstGeom>
              <a:blipFill>
                <a:blip r:embed="rId3"/>
                <a:stretch>
                  <a:fillRect l="-2410" t="-3509" b="-24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8553B40-BFA2-0690-072B-9D36437DAA2F}"/>
              </a:ext>
            </a:extLst>
          </p:cNvPr>
          <p:cNvSpPr txBox="1"/>
          <p:nvPr/>
        </p:nvSpPr>
        <p:spPr>
          <a:xfrm>
            <a:off x="245177" y="2519197"/>
            <a:ext cx="3145536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Summarize treatment assignment using baseline covariates.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16831E9F-F1C0-5BE5-C749-8676B7A3B250}"/>
              </a:ext>
            </a:extLst>
          </p:cNvPr>
          <p:cNvSpPr/>
          <p:nvPr/>
        </p:nvSpPr>
        <p:spPr>
          <a:xfrm>
            <a:off x="3107775" y="1988845"/>
            <a:ext cx="3145536" cy="17498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BE1351-522A-6453-7210-B26C0427DEDA}"/>
              </a:ext>
            </a:extLst>
          </p:cNvPr>
          <p:cNvSpPr txBox="1"/>
          <p:nvPr/>
        </p:nvSpPr>
        <p:spPr>
          <a:xfrm>
            <a:off x="3272367" y="2098573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84CF7D-0E15-0974-3249-4BAB1241B0CF}"/>
              </a:ext>
            </a:extLst>
          </p:cNvPr>
          <p:cNvSpPr txBox="1"/>
          <p:nvPr/>
        </p:nvSpPr>
        <p:spPr>
          <a:xfrm>
            <a:off x="3272367" y="2637259"/>
            <a:ext cx="3145536" cy="16550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Find treated and control units with similar scores.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6B95CC71-BB0A-F572-9932-365A56C953D5}"/>
              </a:ext>
            </a:extLst>
          </p:cNvPr>
          <p:cNvSpPr/>
          <p:nvPr/>
        </p:nvSpPr>
        <p:spPr>
          <a:xfrm>
            <a:off x="6354750" y="1997606"/>
            <a:ext cx="2708665" cy="174107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3F2ED5-7A7C-DA18-8F51-69595B4F5DE3}"/>
              </a:ext>
            </a:extLst>
          </p:cNvPr>
          <p:cNvSpPr txBox="1"/>
          <p:nvPr/>
        </p:nvSpPr>
        <p:spPr>
          <a:xfrm>
            <a:off x="6519342" y="2070330"/>
            <a:ext cx="31455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Check balance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58FD4D-BE12-1D80-FF60-660007B01777}"/>
              </a:ext>
            </a:extLst>
          </p:cNvPr>
          <p:cNvSpPr txBox="1"/>
          <p:nvPr/>
        </p:nvSpPr>
        <p:spPr>
          <a:xfrm>
            <a:off x="6519342" y="2614948"/>
            <a:ext cx="2452055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The matched groups should be similar on measured baseline X.</a:t>
            </a:r>
          </a:p>
        </p:txBody>
      </p:sp>
      <p:sp>
        <p:nvSpPr>
          <p:cNvPr id="32" name="Rounded Rectangle 14">
            <a:extLst>
              <a:ext uri="{FF2B5EF4-FFF2-40B4-BE49-F238E27FC236}">
                <a16:creationId xmlns:a16="http://schemas.microsoft.com/office/drawing/2014/main" id="{CF21E866-FA42-1271-705A-BA7284DF0A90}"/>
              </a:ext>
            </a:extLst>
          </p:cNvPr>
          <p:cNvSpPr/>
          <p:nvPr/>
        </p:nvSpPr>
        <p:spPr>
          <a:xfrm>
            <a:off x="102295" y="4131492"/>
            <a:ext cx="8961120" cy="70408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13EA093-F736-8CFD-CDE9-3161A3A2D27B}"/>
              </a:ext>
            </a:extLst>
          </p:cNvPr>
          <p:cNvSpPr txBox="1"/>
          <p:nvPr/>
        </p:nvSpPr>
        <p:spPr>
          <a:xfrm>
            <a:off x="266887" y="4296083"/>
            <a:ext cx="86319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Matching uses observed comparison people to support the missing counterfactual outcome.</a:t>
            </a:r>
          </a:p>
        </p:txBody>
      </p:sp>
    </p:spTree>
    <p:extLst>
      <p:ext uri="{BB962C8B-B14F-4D97-AF65-F5344CB8AC3E}">
        <p14:creationId xmlns:p14="http://schemas.microsoft.com/office/powerpoint/2010/main" val="1372837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93366-E445-6C20-417D-F26352058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12A5F4-91B0-A599-2C94-0E513D45287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Nearest Neighbor, Calipers, and Target Population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E3CA36-F296-423C-F81D-DA6EE1D25329}"/>
              </a:ext>
            </a:extLst>
          </p:cNvPr>
          <p:cNvSpPr/>
          <p:nvPr/>
        </p:nvSpPr>
        <p:spPr>
          <a:xfrm>
            <a:off x="169188" y="1651456"/>
            <a:ext cx="3045276" cy="16075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27803-7771-D004-EB62-C241C2E50BC7}"/>
              </a:ext>
            </a:extLst>
          </p:cNvPr>
          <p:cNvSpPr txBox="1"/>
          <p:nvPr/>
        </p:nvSpPr>
        <p:spPr>
          <a:xfrm>
            <a:off x="333779" y="1761183"/>
            <a:ext cx="279149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Nearest neighbor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3CA3DD-880E-9BE5-5320-D832D7103253}"/>
              </a:ext>
            </a:extLst>
          </p:cNvPr>
          <p:cNvSpPr txBox="1"/>
          <p:nvPr/>
        </p:nvSpPr>
        <p:spPr>
          <a:xfrm>
            <a:off x="244593" y="2297486"/>
            <a:ext cx="2791499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Choose the control with the closest propensity score.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767DB57C-9DDC-2577-3658-47A136A6741F}"/>
              </a:ext>
            </a:extLst>
          </p:cNvPr>
          <p:cNvSpPr/>
          <p:nvPr/>
        </p:nvSpPr>
        <p:spPr>
          <a:xfrm>
            <a:off x="3289870" y="1651457"/>
            <a:ext cx="2728849" cy="160756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4D58F1-DD27-B4E4-F628-91007F666339}"/>
              </a:ext>
            </a:extLst>
          </p:cNvPr>
          <p:cNvSpPr txBox="1"/>
          <p:nvPr/>
        </p:nvSpPr>
        <p:spPr>
          <a:xfrm>
            <a:off x="3454461" y="1761183"/>
            <a:ext cx="279149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rPr dirty="0"/>
              <a:t>Caliper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3494AD-7BB1-1524-1521-839756B14C13}"/>
              </a:ext>
            </a:extLst>
          </p:cNvPr>
          <p:cNvSpPr txBox="1"/>
          <p:nvPr/>
        </p:nvSpPr>
        <p:spPr>
          <a:xfrm>
            <a:off x="3277114" y="2291534"/>
            <a:ext cx="2716093" cy="6274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Reject matches that are still too far apart.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8DAE1C20-1DBA-E525-014F-492D746B2039}"/>
              </a:ext>
            </a:extLst>
          </p:cNvPr>
          <p:cNvSpPr/>
          <p:nvPr/>
        </p:nvSpPr>
        <p:spPr>
          <a:xfrm>
            <a:off x="6170555" y="1651456"/>
            <a:ext cx="2804256" cy="160756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BAAA4E-C24D-787B-70E0-8B51ABE449A2}"/>
              </a:ext>
            </a:extLst>
          </p:cNvPr>
          <p:cNvSpPr txBox="1"/>
          <p:nvPr/>
        </p:nvSpPr>
        <p:spPr>
          <a:xfrm>
            <a:off x="6245960" y="1761182"/>
            <a:ext cx="279149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Estimand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7B7D22-3CC4-429C-72AE-E76E7B04D5E3}"/>
              </a:ext>
            </a:extLst>
          </p:cNvPr>
          <p:cNvSpPr txBox="1"/>
          <p:nvPr/>
        </p:nvSpPr>
        <p:spPr>
          <a:xfrm>
            <a:off x="6245960" y="2116347"/>
            <a:ext cx="2653445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Treated-to-control matching often targets ATT or the effect among retained treated units.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AF90F0-BECA-2568-D3E0-00E333BFBEDB}"/>
              </a:ext>
            </a:extLst>
          </p:cNvPr>
          <p:cNvSpPr txBox="1"/>
          <p:nvPr/>
        </p:nvSpPr>
        <p:spPr>
          <a:xfrm>
            <a:off x="84594" y="4118007"/>
            <a:ext cx="89748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5BC7C2"/>
                </a:solidFill>
                <a:latin typeface="Cambria Math"/>
              </a:defRPr>
            </a:pPr>
            <a:r>
              <a:rPr dirty="0"/>
              <a:t>A better match can mean a smaller</a:t>
            </a:r>
            <a:r>
              <a:rPr lang="en-US" dirty="0"/>
              <a:t>, </a:t>
            </a:r>
            <a:r>
              <a:rPr dirty="0"/>
              <a:t>but more defensible</a:t>
            </a:r>
            <a:r>
              <a:rPr lang="en-US" dirty="0"/>
              <a:t>, t</a:t>
            </a:r>
            <a:r>
              <a:rPr dirty="0"/>
              <a:t>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298377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4F54-661A-B23E-8216-0D306D141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BDDBCE-8536-B70F-8800-23C6DCAE295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Matching Is Not Finished When the Algorithm Stops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0D212E2-3E0D-0F90-ED9F-8E9701DADC9C}"/>
              </a:ext>
            </a:extLst>
          </p:cNvPr>
          <p:cNvSpPr/>
          <p:nvPr/>
        </p:nvSpPr>
        <p:spPr>
          <a:xfrm>
            <a:off x="169188" y="1588117"/>
            <a:ext cx="2853060" cy="160151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32D8D9-5790-3AA3-54C5-B85E27A741C2}"/>
              </a:ext>
            </a:extLst>
          </p:cNvPr>
          <p:cNvSpPr txBox="1"/>
          <p:nvPr/>
        </p:nvSpPr>
        <p:spPr>
          <a:xfrm>
            <a:off x="333779" y="1697844"/>
            <a:ext cx="258970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9020F-9565-7033-8CFA-77D723F80D4E}"/>
              </a:ext>
            </a:extLst>
          </p:cNvPr>
          <p:cNvSpPr txBox="1"/>
          <p:nvPr/>
        </p:nvSpPr>
        <p:spPr>
          <a:xfrm>
            <a:off x="333779" y="2118468"/>
            <a:ext cx="2589701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Check standardized mean differences on baseline covariates.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383C7C0B-2126-9C1C-ED13-DCDA2F77A3C0}"/>
              </a:ext>
            </a:extLst>
          </p:cNvPr>
          <p:cNvSpPr/>
          <p:nvPr/>
        </p:nvSpPr>
        <p:spPr>
          <a:xfrm>
            <a:off x="3186839" y="1588117"/>
            <a:ext cx="2853060" cy="160151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D96FB-9872-9AAD-33AB-B974413C5853}"/>
              </a:ext>
            </a:extLst>
          </p:cNvPr>
          <p:cNvSpPr txBox="1"/>
          <p:nvPr/>
        </p:nvSpPr>
        <p:spPr>
          <a:xfrm>
            <a:off x="3351430" y="1697844"/>
            <a:ext cx="258970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Overlap / retention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79EFA6-89BA-9A6A-A474-0FE5040C25A5}"/>
              </a:ext>
            </a:extLst>
          </p:cNvPr>
          <p:cNvSpPr txBox="1"/>
          <p:nvPr/>
        </p:nvSpPr>
        <p:spPr>
          <a:xfrm>
            <a:off x="3351430" y="2118468"/>
            <a:ext cx="2589701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How many units were discarded? Where is common support?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C20F7C44-E0A2-040E-47F8-87DC1F6691BC}"/>
              </a:ext>
            </a:extLst>
          </p:cNvPr>
          <p:cNvSpPr/>
          <p:nvPr/>
        </p:nvSpPr>
        <p:spPr>
          <a:xfrm>
            <a:off x="6204490" y="1588117"/>
            <a:ext cx="2706494" cy="160151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EB383D-9747-7619-684E-50EAD0F32413}"/>
              </a:ext>
            </a:extLst>
          </p:cNvPr>
          <p:cNvSpPr txBox="1"/>
          <p:nvPr/>
        </p:nvSpPr>
        <p:spPr>
          <a:xfrm>
            <a:off x="6369082" y="1697844"/>
            <a:ext cx="258970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3BE2A7-8702-E432-DCEF-0D41A5F449D0}"/>
              </a:ext>
            </a:extLst>
          </p:cNvPr>
          <p:cNvSpPr txBox="1"/>
          <p:nvPr/>
        </p:nvSpPr>
        <p:spPr>
          <a:xfrm>
            <a:off x="6369082" y="2118468"/>
            <a:ext cx="258970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Respect matched pairs, replacement, and unequal matching weights.</a:t>
            </a:r>
          </a:p>
        </p:txBody>
      </p:sp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76619B9E-7370-615D-6E9A-F53EF58DA767}"/>
              </a:ext>
            </a:extLst>
          </p:cNvPr>
          <p:cNvSpPr/>
          <p:nvPr/>
        </p:nvSpPr>
        <p:spPr>
          <a:xfrm>
            <a:off x="393687" y="3908095"/>
            <a:ext cx="8356625" cy="65102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D04624-54A7-8BD2-E150-DBDDFFFB4800}"/>
              </a:ext>
            </a:extLst>
          </p:cNvPr>
          <p:cNvSpPr txBox="1"/>
          <p:nvPr/>
        </p:nvSpPr>
        <p:spPr>
          <a:xfrm>
            <a:off x="584313" y="4072686"/>
            <a:ext cx="800761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A small propensity-score gap is only a starting point; covariate balance determines usefulness.</a:t>
            </a:r>
          </a:p>
        </p:txBody>
      </p:sp>
    </p:spTree>
    <p:extLst>
      <p:ext uri="{BB962C8B-B14F-4D97-AF65-F5344CB8AC3E}">
        <p14:creationId xmlns:p14="http://schemas.microsoft.com/office/powerpoint/2010/main" val="141973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3504-4568-9A61-D479-BA7AF102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5268A-71A1-BEC0-E326-7F56998CB61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IPW: Keep Units, Change Their Contribution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3D755-B70F-C3D9-65F0-B82F3B09FDC9}"/>
                  </a:ext>
                </a:extLst>
              </p:cNvPr>
              <p:cNvSpPr txBox="1"/>
              <p:nvPr/>
            </p:nvSpPr>
            <p:spPr>
              <a:xfrm>
                <a:off x="487493" y="1087375"/>
                <a:ext cx="7839829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F6B737"/>
                    </a:solidFill>
                    <a:latin typeface="Cambria Math"/>
                  </a:defRPr>
                </a:pPr>
                <a:r>
                  <a:rPr dirty="0"/>
                  <a:t>ATE weights: treated</a:t>
                </a:r>
                <a:r>
                  <a:rPr lang="en-US" dirty="0"/>
                  <a:t> -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  </a:t>
                </a:r>
                <a:r>
                  <a:rPr lang="en-US" dirty="0"/>
                  <a:t>•</a:t>
                </a:r>
                <a:r>
                  <a:rPr dirty="0"/>
                  <a:t>   control</a:t>
                </a:r>
                <a:r>
                  <a:rPr lang="en-US" dirty="0"/>
                  <a:t> -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1/{1−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3D755-B70F-C3D9-65F0-B82F3B09F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493" y="1087375"/>
                <a:ext cx="7839829" cy="477054"/>
              </a:xfrm>
              <a:prstGeom prst="rect">
                <a:avLst/>
              </a:prstGeom>
              <a:blipFill>
                <a:blip r:embed="rId2"/>
                <a:stretch>
                  <a:fillRect l="-1011" t="-8861" b="-29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16336FB-73EE-56FE-DEDC-E8E90E28492C}"/>
              </a:ext>
            </a:extLst>
          </p:cNvPr>
          <p:cNvSpPr/>
          <p:nvPr/>
        </p:nvSpPr>
        <p:spPr>
          <a:xfrm>
            <a:off x="68161" y="2077945"/>
            <a:ext cx="2885030" cy="173420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F09AA4-9E9D-A1BC-0CEE-645B2A26436B}"/>
              </a:ext>
            </a:extLst>
          </p:cNvPr>
          <p:cNvSpPr txBox="1"/>
          <p:nvPr/>
        </p:nvSpPr>
        <p:spPr>
          <a:xfrm>
            <a:off x="284844" y="2211749"/>
            <a:ext cx="245166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Rare observed assignment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589A7-F44C-6FB5-371D-822951694DC1}"/>
              </a:ext>
            </a:extLst>
          </p:cNvPr>
          <p:cNvSpPr txBox="1"/>
          <p:nvPr/>
        </p:nvSpPr>
        <p:spPr>
          <a:xfrm>
            <a:off x="380621" y="2973704"/>
            <a:ext cx="279607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Gets a larger weight.</a:t>
            </a: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84438FD8-32B1-D01D-8EBC-85FB7F378CE3}"/>
              </a:ext>
            </a:extLst>
          </p:cNvPr>
          <p:cNvSpPr/>
          <p:nvPr/>
        </p:nvSpPr>
        <p:spPr>
          <a:xfrm>
            <a:off x="3113173" y="2077945"/>
            <a:ext cx="3018849" cy="173420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A96ABF-CB86-A321-7560-1CE76BC670CC}"/>
              </a:ext>
            </a:extLst>
          </p:cNvPr>
          <p:cNvSpPr txBox="1"/>
          <p:nvPr/>
        </p:nvSpPr>
        <p:spPr>
          <a:xfrm>
            <a:off x="3113172" y="2223002"/>
            <a:ext cx="301884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Common observed assignment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4260C2-416D-2E0C-6B31-CA13E41919C1}"/>
              </a:ext>
            </a:extLst>
          </p:cNvPr>
          <p:cNvSpPr txBox="1"/>
          <p:nvPr/>
        </p:nvSpPr>
        <p:spPr>
          <a:xfrm>
            <a:off x="3436817" y="3004029"/>
            <a:ext cx="279607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Gets a smaller weight.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813DB6F4-93EF-916C-85AB-E5BF132BDA9C}"/>
              </a:ext>
            </a:extLst>
          </p:cNvPr>
          <p:cNvSpPr/>
          <p:nvPr/>
        </p:nvSpPr>
        <p:spPr>
          <a:xfrm>
            <a:off x="6279764" y="2077945"/>
            <a:ext cx="2796075" cy="173420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C286BD-2573-5ADF-59B2-B9B3064AEF23}"/>
              </a:ext>
            </a:extLst>
          </p:cNvPr>
          <p:cNvSpPr txBox="1"/>
          <p:nvPr/>
        </p:nvSpPr>
        <p:spPr>
          <a:xfrm>
            <a:off x="6464999" y="2196976"/>
            <a:ext cx="222879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Goal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C8E1C8-4EA1-4285-04D2-6786472B9122}"/>
              </a:ext>
            </a:extLst>
          </p:cNvPr>
          <p:cNvSpPr txBox="1"/>
          <p:nvPr/>
        </p:nvSpPr>
        <p:spPr>
          <a:xfrm>
            <a:off x="6455665" y="2739104"/>
            <a:ext cx="2477408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Create a weighted pseudo-population with comparable baseline X.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685074F6-FC95-B17C-4D66-1BD74A47AB86}"/>
              </a:ext>
            </a:extLst>
          </p:cNvPr>
          <p:cNvSpPr/>
          <p:nvPr/>
        </p:nvSpPr>
        <p:spPr>
          <a:xfrm>
            <a:off x="410823" y="4262766"/>
            <a:ext cx="8538911" cy="67305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9B5B75-CC2B-576F-8CFA-79923FC02B8C}"/>
              </a:ext>
            </a:extLst>
          </p:cNvPr>
          <p:cNvSpPr txBox="1"/>
          <p:nvPr/>
        </p:nvSpPr>
        <p:spPr>
          <a:xfrm>
            <a:off x="575415" y="4427357"/>
            <a:ext cx="8237537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t>Think survey sampling: low-probability observations represent more of the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246119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8025-D6E9-2393-F522-1CAE2F9A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A72893-0AEA-A5CF-C917-8DAEFE55C69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ATE and ATT Weights Target Different Populations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2B22DA5A-9E86-CF34-CFE4-520FF3D9C2AF}"/>
              </a:ext>
            </a:extLst>
          </p:cNvPr>
          <p:cNvSpPr/>
          <p:nvPr/>
        </p:nvSpPr>
        <p:spPr>
          <a:xfrm>
            <a:off x="266862" y="1220726"/>
            <a:ext cx="4050989" cy="266064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FDE8C-012F-039F-0EC1-FA2A4AAC1CE4}"/>
              </a:ext>
            </a:extLst>
          </p:cNvPr>
          <p:cNvSpPr txBox="1"/>
          <p:nvPr/>
        </p:nvSpPr>
        <p:spPr>
          <a:xfrm>
            <a:off x="431454" y="1330453"/>
            <a:ext cx="378822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ATE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BAC2BF-C36E-E249-6ACE-4692DDFCFD2B}"/>
                  </a:ext>
                </a:extLst>
              </p:cNvPr>
              <p:cNvSpPr txBox="1"/>
              <p:nvPr/>
            </p:nvSpPr>
            <p:spPr>
              <a:xfrm>
                <a:off x="431454" y="1930856"/>
                <a:ext cx="3788222" cy="14542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=1:    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                1/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=0:     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   1/{1−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Target: overall study population.</a:t>
                </a:r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6BAC2BF-C36E-E249-6ACE-4692DDFCF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54" y="1930856"/>
                <a:ext cx="3788222" cy="1454244"/>
              </a:xfrm>
              <a:prstGeom prst="rect">
                <a:avLst/>
              </a:prstGeom>
              <a:blipFill>
                <a:blip r:embed="rId2"/>
                <a:stretch>
                  <a:fillRect l="-1610" b="-63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09A27DF8-443A-DA2E-D336-EDE8ADB9BC93}"/>
              </a:ext>
            </a:extLst>
          </p:cNvPr>
          <p:cNvSpPr/>
          <p:nvPr/>
        </p:nvSpPr>
        <p:spPr>
          <a:xfrm>
            <a:off x="4703898" y="1241428"/>
            <a:ext cx="4050989" cy="266064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883F76-A5EC-1FE0-2951-76D718B01E76}"/>
              </a:ext>
            </a:extLst>
          </p:cNvPr>
          <p:cNvSpPr txBox="1"/>
          <p:nvPr/>
        </p:nvSpPr>
        <p:spPr>
          <a:xfrm>
            <a:off x="4868490" y="1351155"/>
            <a:ext cx="378822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ATT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8D46A8-F021-6FAD-1716-8E6446C75ECC}"/>
                  </a:ext>
                </a:extLst>
              </p:cNvPr>
              <p:cNvSpPr txBox="1"/>
              <p:nvPr/>
            </p:nvSpPr>
            <p:spPr>
              <a:xfrm>
                <a:off x="4868490" y="1951559"/>
                <a:ext cx="3788222" cy="13901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=1:     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1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=0:     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)/{1−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Target: treated population.</a:t>
                </a:r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8D46A8-F021-6FAD-1716-8E6446C75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490" y="1951559"/>
                <a:ext cx="3788222" cy="1390124"/>
              </a:xfrm>
              <a:prstGeom prst="rect">
                <a:avLst/>
              </a:prstGeom>
              <a:blipFill>
                <a:blip r:embed="rId3"/>
                <a:stretch>
                  <a:fillRect l="-1610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28EDF23-E446-7F62-E37D-B56F50D98F12}"/>
              </a:ext>
            </a:extLst>
          </p:cNvPr>
          <p:cNvSpPr txBox="1"/>
          <p:nvPr/>
        </p:nvSpPr>
        <p:spPr>
          <a:xfrm>
            <a:off x="638105" y="4261305"/>
            <a:ext cx="771384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Same data + same propensity model + different weights = different causal question.</a:t>
            </a:r>
          </a:p>
        </p:txBody>
      </p:sp>
    </p:spTree>
    <p:extLst>
      <p:ext uri="{BB962C8B-B14F-4D97-AF65-F5344CB8AC3E}">
        <p14:creationId xmlns:p14="http://schemas.microsoft.com/office/powerpoint/2010/main" val="386167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2069-03AA-EB60-A341-A56BB0F38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E92A47-2473-A74D-391B-57B8AB9CE8D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IPW Diagnostics: Do the Weights Behave?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4AD56C8-7B29-210C-DC94-F581BF40D52E}"/>
              </a:ext>
            </a:extLst>
          </p:cNvPr>
          <p:cNvSpPr/>
          <p:nvPr/>
        </p:nvSpPr>
        <p:spPr>
          <a:xfrm>
            <a:off x="61508" y="1325880"/>
            <a:ext cx="3198169" cy="21738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F61792-18A5-024B-A1E2-5A7B0B7DFFE5}"/>
              </a:ext>
            </a:extLst>
          </p:cNvPr>
          <p:cNvSpPr txBox="1"/>
          <p:nvPr/>
        </p:nvSpPr>
        <p:spPr>
          <a:xfrm>
            <a:off x="61421" y="1461057"/>
            <a:ext cx="316072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Extreme weights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7EF55C-A6BE-4458-D489-9BE4AC9AAD12}"/>
                  </a:ext>
                </a:extLst>
              </p:cNvPr>
              <p:cNvSpPr txBox="1"/>
              <p:nvPr/>
            </p:nvSpPr>
            <p:spPr>
              <a:xfrm>
                <a:off x="143804" y="2001081"/>
                <a:ext cx="3046806" cy="138755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)≈0</m:t>
                    </m:r>
                  </m:oMath>
                </a14:m>
                <a:r>
                  <a:rPr dirty="0"/>
                  <a:t> for treated or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)≈1</m:t>
                    </m:r>
                  </m:oMath>
                </a14:m>
                <a:r>
                  <a:rPr dirty="0"/>
                  <a:t> for controls can create huge weights.</a:t>
                </a:r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Inspect maxima and upper quantiles.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D7EF55C-A6BE-4458-D489-9BE4AC9AA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04" y="2001081"/>
                <a:ext cx="3046806" cy="1387559"/>
              </a:xfrm>
              <a:prstGeom prst="rect">
                <a:avLst/>
              </a:prstGeom>
              <a:blipFill>
                <a:blip r:embed="rId2"/>
                <a:stretch>
                  <a:fillRect l="-802" t="-1316" b="-4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633EF24B-0479-C5E5-F3EF-B55BE563B13C}"/>
              </a:ext>
            </a:extLst>
          </p:cNvPr>
          <p:cNvSpPr/>
          <p:nvPr/>
        </p:nvSpPr>
        <p:spPr>
          <a:xfrm>
            <a:off x="3323577" y="1325880"/>
            <a:ext cx="2815353" cy="21738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D0649B-1612-CA8B-2378-B6D57F52FF28}"/>
              </a:ext>
            </a:extLst>
          </p:cNvPr>
          <p:cNvSpPr txBox="1"/>
          <p:nvPr/>
        </p:nvSpPr>
        <p:spPr>
          <a:xfrm>
            <a:off x="3150889" y="1464496"/>
            <a:ext cx="316072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F6B737"/>
                </a:solidFill>
                <a:latin typeface="Aptos"/>
              </a:defRPr>
            </a:pPr>
            <a:r>
              <a:rPr dirty="0"/>
              <a:t>Effective sample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37AC28-5F82-4A39-5B02-15FCF72E8B0A}"/>
                  </a:ext>
                </a:extLst>
              </p:cNvPr>
              <p:cNvSpPr txBox="1"/>
              <p:nvPr/>
            </p:nvSpPr>
            <p:spPr>
              <a:xfrm>
                <a:off x="3355202" y="2002198"/>
                <a:ext cx="2815353" cy="89511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ESS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b="0" i="1" dirty="0" smtClean="0">
                        <a:latin typeface="Cambria Math" panose="02040503050406030204" pitchFamily="18" charset="0"/>
                      </a:rPr>
                      <m:t>∑</m:t>
                    </m:r>
                    <m:r>
                      <a:rPr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)² / </m:t>
                    </m:r>
                    <m:r>
                      <m:rPr>
                        <m:sty m:val="p"/>
                      </m:rPr>
                      <a:rPr i="0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²</m:t>
                    </m:r>
                  </m:oMath>
                </a14:m>
                <a:endParaRPr lang="en-US" dirty="0"/>
              </a:p>
              <a:p>
                <a:pPr marL="285750" indent="-285750">
                  <a:spcAft>
                    <a:spcPts val="500"/>
                  </a:spcAft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Large weight concentration lowers ESS.</a:t>
                </a:r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F37AC28-5F82-4A39-5B02-15FCF72E8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202" y="2002198"/>
                <a:ext cx="2815353" cy="895117"/>
              </a:xfrm>
              <a:prstGeom prst="rect">
                <a:avLst/>
              </a:prstGeom>
              <a:blipFill>
                <a:blip r:embed="rId3"/>
                <a:stretch>
                  <a:fillRect l="-866" t="-2041" b="-7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13F976E6-3E88-191A-B8AD-30E29C1E1CF4}"/>
              </a:ext>
            </a:extLst>
          </p:cNvPr>
          <p:cNvSpPr/>
          <p:nvPr/>
        </p:nvSpPr>
        <p:spPr>
          <a:xfrm>
            <a:off x="6221227" y="1325880"/>
            <a:ext cx="2861266" cy="21738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1AA1E9-717E-6B11-13C8-3E8891CE242C}"/>
              </a:ext>
            </a:extLst>
          </p:cNvPr>
          <p:cNvSpPr txBox="1"/>
          <p:nvPr/>
        </p:nvSpPr>
        <p:spPr>
          <a:xfrm>
            <a:off x="6139017" y="1419011"/>
            <a:ext cx="300498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Balance after weighting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BC6F71-30FA-3805-68EE-946460C58A40}"/>
              </a:ext>
            </a:extLst>
          </p:cNvPr>
          <p:cNvSpPr txBox="1"/>
          <p:nvPr/>
        </p:nvSpPr>
        <p:spPr>
          <a:xfrm>
            <a:off x="6311616" y="1946851"/>
            <a:ext cx="2600492" cy="11413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Recalculate SMDs using weights.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Good code execution is not enough.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3752C4-066C-3C16-7EEC-C3AC53C67FC3}"/>
              </a:ext>
            </a:extLst>
          </p:cNvPr>
          <p:cNvSpPr txBox="1"/>
          <p:nvPr/>
        </p:nvSpPr>
        <p:spPr>
          <a:xfrm>
            <a:off x="163438" y="4097408"/>
            <a:ext cx="88171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5BC7C2"/>
                </a:solidFill>
                <a:latin typeface="Cambria Math"/>
              </a:defRPr>
            </a:pPr>
            <a:r>
              <a:rPr dirty="0"/>
              <a:t>Stabilization rescales weights; it does not repair poor overlap.</a:t>
            </a:r>
          </a:p>
        </p:txBody>
      </p:sp>
    </p:spTree>
    <p:extLst>
      <p:ext uri="{BB962C8B-B14F-4D97-AF65-F5344CB8AC3E}">
        <p14:creationId xmlns:p14="http://schemas.microsoft.com/office/powerpoint/2010/main" val="1108189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65C6B-9D84-EE4E-2589-74C4BE65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D37EBB-58CC-A34C-94AB-AAB6D9FF9AF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AIPW Formula: Read It in Pieces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B5D53B-7F38-3B13-C173-7B975979908B}"/>
                  </a:ext>
                </a:extLst>
              </p:cNvPr>
              <p:cNvSpPr txBox="1"/>
              <p:nvPr/>
            </p:nvSpPr>
            <p:spPr>
              <a:xfrm>
                <a:off x="353634" y="793954"/>
                <a:ext cx="8436731" cy="2911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400">
                    <a:solidFill>
                      <a:srgbClr val="C093E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𝐴𝐼𝑃𝑊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i="1" dirty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b="0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i="1" dirty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>
                  <a:defRPr sz="2400">
                    <a:solidFill>
                      <a:srgbClr val="C093E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>
                        <m:fPr>
                          <m:ctrlPr>
                            <a:rPr lang="en-US" b="0" i="1" dirty="0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acc>
                            <m:accPr>
                              <m:chr m:val="̂"/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i="1" dirty="0">
                  <a:latin typeface="Cambria Math"/>
                </a:endParaRPr>
              </a:p>
              <a:p>
                <a:pPr algn="ctr">
                  <a:defRPr sz="2400">
                    <a:solidFill>
                      <a:srgbClr val="C093E2"/>
                    </a:solidFill>
                    <a:latin typeface="Cambria Math"/>
                  </a:defRPr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− (1−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){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)}/{1−</m:t>
                    </m:r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ᵢ)} ]</m:t>
                    </m:r>
                  </m:oMath>
                </a14:m>
                <a:endParaRPr lang="en-US" dirty="0"/>
              </a:p>
              <a:p>
                <a:pPr algn="ctr">
                  <a:defRPr sz="2400">
                    <a:solidFill>
                      <a:srgbClr val="C093E2"/>
                    </a:solidFill>
                    <a:latin typeface="Cambria Math"/>
                  </a:defRPr>
                </a:pPr>
                <a:endParaRPr lang="en-US" dirty="0"/>
              </a:p>
              <a:p>
                <a:pPr algn="ctr">
                  <a:defRPr sz="2400">
                    <a:solidFill>
                      <a:srgbClr val="C093E2"/>
                    </a:solidFill>
                    <a:latin typeface="Cambria Math"/>
                  </a:defRPr>
                </a:pPr>
                <a:endParaRPr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B5D53B-7F38-3B13-C173-7B9759799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34" y="793954"/>
                <a:ext cx="8436731" cy="2911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7A0C46AB-E925-D2C9-42F7-3A6529F66E8E}"/>
              </a:ext>
            </a:extLst>
          </p:cNvPr>
          <p:cNvSpPr/>
          <p:nvPr/>
        </p:nvSpPr>
        <p:spPr>
          <a:xfrm>
            <a:off x="169188" y="3275524"/>
            <a:ext cx="2528936" cy="11486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79BCDF-63A9-05BE-6356-4375ACC30ED8}"/>
              </a:ext>
            </a:extLst>
          </p:cNvPr>
          <p:cNvSpPr txBox="1"/>
          <p:nvPr/>
        </p:nvSpPr>
        <p:spPr>
          <a:xfrm>
            <a:off x="333780" y="3385252"/>
            <a:ext cx="228287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Prediction contrast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8A996F-75F5-0F2F-338E-990D2582DB23}"/>
              </a:ext>
            </a:extLst>
          </p:cNvPr>
          <p:cNvSpPr txBox="1"/>
          <p:nvPr/>
        </p:nvSpPr>
        <p:spPr>
          <a:xfrm>
            <a:off x="333780" y="3805876"/>
            <a:ext cx="228287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What the outcome model says.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C6BEDF67-5D76-6994-EC8A-618A351CCAA0}"/>
              </a:ext>
            </a:extLst>
          </p:cNvPr>
          <p:cNvSpPr/>
          <p:nvPr/>
        </p:nvSpPr>
        <p:spPr>
          <a:xfrm>
            <a:off x="3244921" y="3275524"/>
            <a:ext cx="2528936" cy="11486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C057A3-0D1B-0B21-650A-7DFF1A7A983A}"/>
              </a:ext>
            </a:extLst>
          </p:cNvPr>
          <p:cNvSpPr txBox="1"/>
          <p:nvPr/>
        </p:nvSpPr>
        <p:spPr>
          <a:xfrm>
            <a:off x="3409513" y="3385252"/>
            <a:ext cx="228287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Treated correction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7F83B3-CEBC-669F-EB6C-76288C9D915E}"/>
              </a:ext>
            </a:extLst>
          </p:cNvPr>
          <p:cNvSpPr txBox="1"/>
          <p:nvPr/>
        </p:nvSpPr>
        <p:spPr>
          <a:xfrm>
            <a:off x="3409513" y="3805876"/>
            <a:ext cx="228287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Observed treated residuals, reweighted.</a:t>
            </a:r>
          </a:p>
        </p:txBody>
      </p:sp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0470ED16-D17C-F700-0BE7-843D0537A686}"/>
              </a:ext>
            </a:extLst>
          </p:cNvPr>
          <p:cNvSpPr/>
          <p:nvPr/>
        </p:nvSpPr>
        <p:spPr>
          <a:xfrm>
            <a:off x="6329446" y="3275524"/>
            <a:ext cx="2528936" cy="11486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D9992AA-F8FC-D823-5F67-B7988CD456C2}"/>
              </a:ext>
            </a:extLst>
          </p:cNvPr>
          <p:cNvSpPr txBox="1"/>
          <p:nvPr/>
        </p:nvSpPr>
        <p:spPr>
          <a:xfrm>
            <a:off x="6494038" y="3385252"/>
            <a:ext cx="228287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Control correction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FBBEA1-5226-D4A6-0783-39AF8901298C}"/>
              </a:ext>
            </a:extLst>
          </p:cNvPr>
          <p:cNvSpPr txBox="1"/>
          <p:nvPr/>
        </p:nvSpPr>
        <p:spPr>
          <a:xfrm>
            <a:off x="6494038" y="3805876"/>
            <a:ext cx="2282878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Observed control residuals, reweighted.</a:t>
            </a: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36E39054-DF06-E18B-F9A0-D4069BF73A44}"/>
              </a:ext>
            </a:extLst>
          </p:cNvPr>
          <p:cNvSpPr/>
          <p:nvPr/>
        </p:nvSpPr>
        <p:spPr>
          <a:xfrm>
            <a:off x="454623" y="4465026"/>
            <a:ext cx="8141271" cy="58370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4DAB60-E9EF-2802-E6A1-61AEE9496136}"/>
              </a:ext>
            </a:extLst>
          </p:cNvPr>
          <p:cNvSpPr txBox="1"/>
          <p:nvPr/>
        </p:nvSpPr>
        <p:spPr>
          <a:xfrm>
            <a:off x="619216" y="4629618"/>
            <a:ext cx="784220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No need to</a:t>
            </a:r>
            <a:r>
              <a:rPr dirty="0"/>
              <a:t> memorize the entire expression</a:t>
            </a:r>
            <a:r>
              <a:rPr lang="en-US" dirty="0"/>
              <a:t>: </a:t>
            </a:r>
            <a:r>
              <a:rPr dirty="0"/>
              <a:t>remember prediction + two residual corrections.</a:t>
            </a:r>
          </a:p>
        </p:txBody>
      </p:sp>
    </p:spTree>
    <p:extLst>
      <p:ext uri="{BB962C8B-B14F-4D97-AF65-F5344CB8AC3E}">
        <p14:creationId xmlns:p14="http://schemas.microsoft.com/office/powerpoint/2010/main" val="875973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1D94-1AC2-FADE-8FEA-AAFBA67A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F525EA-0815-8C50-A8BE-C5765B6DB2D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Double Robustness: What It Means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4FD6B467-5D0A-CB79-ED6A-C07BC50A56A7}"/>
              </a:ext>
            </a:extLst>
          </p:cNvPr>
          <p:cNvSpPr/>
          <p:nvPr/>
        </p:nvSpPr>
        <p:spPr>
          <a:xfrm>
            <a:off x="142258" y="1307213"/>
            <a:ext cx="4438787" cy="252907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E7F2A-0A81-DFF1-F3FC-6299D498242E}"/>
              </a:ext>
            </a:extLst>
          </p:cNvPr>
          <p:cNvSpPr txBox="1"/>
          <p:nvPr/>
        </p:nvSpPr>
        <p:spPr>
          <a:xfrm>
            <a:off x="306850" y="1416940"/>
            <a:ext cx="415596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What it means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63B24-25B6-5FF1-DAB1-3CED91322610}"/>
              </a:ext>
            </a:extLst>
          </p:cNvPr>
          <p:cNvSpPr txBox="1"/>
          <p:nvPr/>
        </p:nvSpPr>
        <p:spPr>
          <a:xfrm>
            <a:off x="306850" y="1837564"/>
            <a:ext cx="4155961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Under standard conditions, AIPW remains consistent if: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• the outcome model is correct, OR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• the propensity model is correct.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AE9FE796-5B47-F081-0EE6-C02C69FC1199}"/>
              </a:ext>
            </a:extLst>
          </p:cNvPr>
          <p:cNvSpPr/>
          <p:nvPr/>
        </p:nvSpPr>
        <p:spPr>
          <a:xfrm>
            <a:off x="4627403" y="1307213"/>
            <a:ext cx="4438787" cy="252907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17A6F-1C71-32C2-9C81-42B2103441CB}"/>
              </a:ext>
            </a:extLst>
          </p:cNvPr>
          <p:cNvSpPr txBox="1"/>
          <p:nvPr/>
        </p:nvSpPr>
        <p:spPr>
          <a:xfrm>
            <a:off x="4791995" y="1416940"/>
            <a:ext cx="415596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What it does NOT mean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6AB8B7-33EB-711A-170D-91A4E4CF9FE5}"/>
              </a:ext>
            </a:extLst>
          </p:cNvPr>
          <p:cNvSpPr txBox="1"/>
          <p:nvPr/>
        </p:nvSpPr>
        <p:spPr>
          <a:xfrm>
            <a:off x="4791995" y="1837564"/>
            <a:ext cx="4155961" cy="13311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It does not fix: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• unmeasured confounding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• lack of positivity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• two badly misspecified nuisance models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FB9CB-BA7C-EDDF-E683-C5C5FD09FEAF}"/>
              </a:ext>
            </a:extLst>
          </p:cNvPr>
          <p:cNvSpPr txBox="1"/>
          <p:nvPr/>
        </p:nvSpPr>
        <p:spPr>
          <a:xfrm>
            <a:off x="142258" y="4177728"/>
            <a:ext cx="88594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6B737"/>
                </a:solidFill>
                <a:latin typeface="Cambria Math"/>
              </a:defRPr>
            </a:pPr>
            <a:r>
              <a:rPr dirty="0"/>
              <a:t>Double robustness protects against one nuisance-model misspecification—not every causal failure.</a:t>
            </a:r>
          </a:p>
        </p:txBody>
      </p:sp>
    </p:spTree>
    <p:extLst>
      <p:ext uri="{BB962C8B-B14F-4D97-AF65-F5344CB8AC3E}">
        <p14:creationId xmlns:p14="http://schemas.microsoft.com/office/powerpoint/2010/main" val="22108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970F-9DC3-A59A-67A8-7AD12191B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E06D6A-A741-44AF-670C-54673B84917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Same Job-Training Data: Different Answers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9D37FBB0-C661-D87B-4B08-3475F8E23CDB}"/>
              </a:ext>
            </a:extLst>
          </p:cNvPr>
          <p:cNvSpPr/>
          <p:nvPr/>
        </p:nvSpPr>
        <p:spPr>
          <a:xfrm>
            <a:off x="70105" y="1216152"/>
            <a:ext cx="2136648" cy="2154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97AC80-FCA1-60EE-28CC-257BAF4BD8AC}"/>
              </a:ext>
            </a:extLst>
          </p:cNvPr>
          <p:cNvSpPr txBox="1"/>
          <p:nvPr/>
        </p:nvSpPr>
        <p:spPr>
          <a:xfrm>
            <a:off x="234696" y="1325879"/>
            <a:ext cx="188025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g-computation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51FBB0-4903-6205-F692-651FA94DF192}"/>
                  </a:ext>
                </a:extLst>
              </p:cNvPr>
              <p:cNvSpPr txBox="1"/>
              <p:nvPr/>
            </p:nvSpPr>
            <p:spPr>
              <a:xfrm>
                <a:off x="234696" y="1836720"/>
                <a:ext cx="1880250" cy="987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≈ +$1,548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Outcome-model based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51FBB0-4903-6205-F692-651FA94DF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96" y="1836720"/>
                <a:ext cx="1880250" cy="987450"/>
              </a:xfrm>
              <a:prstGeom prst="rect">
                <a:avLst/>
              </a:prstGeom>
              <a:blipFill>
                <a:blip r:embed="rId2"/>
                <a:stretch>
                  <a:fillRect l="-2922" t="-2469" r="-1948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38693BA9-4D0B-1911-C64A-1C736F980266}"/>
              </a:ext>
            </a:extLst>
          </p:cNvPr>
          <p:cNvSpPr/>
          <p:nvPr/>
        </p:nvSpPr>
        <p:spPr>
          <a:xfrm>
            <a:off x="2279537" y="1216152"/>
            <a:ext cx="2292463" cy="2154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643B4-DF9C-E195-0BA7-374EF8366FDD}"/>
              </a:ext>
            </a:extLst>
          </p:cNvPr>
          <p:cNvSpPr txBox="1"/>
          <p:nvPr/>
        </p:nvSpPr>
        <p:spPr>
          <a:xfrm>
            <a:off x="2444129" y="1325879"/>
            <a:ext cx="206349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PSM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7F8344-BD17-F881-5F24-D75169324293}"/>
                  </a:ext>
                </a:extLst>
              </p:cNvPr>
              <p:cNvSpPr txBox="1"/>
              <p:nvPr/>
            </p:nvSpPr>
            <p:spPr>
              <a:xfrm>
                <a:off x="2444129" y="1784902"/>
                <a:ext cx="2076058" cy="126701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0.05-caliper match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≈ +$1,433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113 retained treated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ATT-like target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7F8344-BD17-F881-5F24-D75169324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129" y="1784902"/>
                <a:ext cx="2076058" cy="1267014"/>
              </a:xfrm>
              <a:prstGeom prst="rect">
                <a:avLst/>
              </a:prstGeom>
              <a:blipFill>
                <a:blip r:embed="rId3"/>
                <a:stretch>
                  <a:fillRect l="-2053" t="-1442" r="-880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C82FF382-113B-B3D7-AB81-BBF5D8E43908}"/>
              </a:ext>
            </a:extLst>
          </p:cNvPr>
          <p:cNvSpPr/>
          <p:nvPr/>
        </p:nvSpPr>
        <p:spPr>
          <a:xfrm>
            <a:off x="4644785" y="1216152"/>
            <a:ext cx="2152256" cy="2154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AF14E0-7430-D1D0-88B6-C68BB4C721C7}"/>
              </a:ext>
            </a:extLst>
          </p:cNvPr>
          <p:cNvSpPr txBox="1"/>
          <p:nvPr/>
        </p:nvSpPr>
        <p:spPr>
          <a:xfrm>
            <a:off x="4809375" y="1325879"/>
            <a:ext cx="206349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6B737"/>
                </a:solidFill>
                <a:latin typeface="Aptos"/>
              </a:defRPr>
            </a:pPr>
            <a:r>
              <a:t>Normalized IPW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8FE6BB-CE8D-06F4-A9C7-8009F7B180E0}"/>
                  </a:ext>
                </a:extLst>
              </p:cNvPr>
              <p:cNvSpPr txBox="1"/>
              <p:nvPr/>
            </p:nvSpPr>
            <p:spPr>
              <a:xfrm>
                <a:off x="4809375" y="1904540"/>
                <a:ext cx="2063492" cy="987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≈ +$225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Propensity-model based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C8FE6BB-CE8D-06F4-A9C7-8009F7B18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375" y="1904540"/>
                <a:ext cx="2063492" cy="987450"/>
              </a:xfrm>
              <a:prstGeom prst="rect">
                <a:avLst/>
              </a:prstGeom>
              <a:blipFill>
                <a:blip r:embed="rId4"/>
                <a:stretch>
                  <a:fillRect l="-2663" t="-2469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ounded Rectangle 13">
            <a:extLst>
              <a:ext uri="{FF2B5EF4-FFF2-40B4-BE49-F238E27FC236}">
                <a16:creationId xmlns:a16="http://schemas.microsoft.com/office/drawing/2014/main" id="{C4BB5CB3-4806-53F3-AF06-0C9183ED7221}"/>
              </a:ext>
            </a:extLst>
          </p:cNvPr>
          <p:cNvSpPr/>
          <p:nvPr/>
        </p:nvSpPr>
        <p:spPr>
          <a:xfrm>
            <a:off x="6921640" y="1216152"/>
            <a:ext cx="2152256" cy="2154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393903-EEAE-C9ED-9863-4B592D722E01}"/>
              </a:ext>
            </a:extLst>
          </p:cNvPr>
          <p:cNvSpPr txBox="1"/>
          <p:nvPr/>
        </p:nvSpPr>
        <p:spPr>
          <a:xfrm>
            <a:off x="7096185" y="1382534"/>
            <a:ext cx="180316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AIPW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D24F28-41A4-78D8-7387-B75E97A3C350}"/>
                  </a:ext>
                </a:extLst>
              </p:cNvPr>
              <p:cNvSpPr txBox="1"/>
              <p:nvPr/>
            </p:nvSpPr>
            <p:spPr>
              <a:xfrm>
                <a:off x="7037457" y="1906247"/>
                <a:ext cx="1923663" cy="94128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ATE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≈ +$887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Outcome + propensity models</a:t>
                </a: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CD24F28-41A4-78D8-7387-B75E97A3C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457" y="1906247"/>
                <a:ext cx="1923663" cy="941283"/>
              </a:xfrm>
              <a:prstGeom prst="rect">
                <a:avLst/>
              </a:prstGeom>
              <a:blipFill>
                <a:blip r:embed="rId5"/>
                <a:stretch>
                  <a:fillRect l="-1899" t="-1948" r="-949" b="-8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ounded Rectangle 16">
            <a:extLst>
              <a:ext uri="{FF2B5EF4-FFF2-40B4-BE49-F238E27FC236}">
                <a16:creationId xmlns:a16="http://schemas.microsoft.com/office/drawing/2014/main" id="{95F5B1DB-C437-4F34-92C0-63E759BDF4C9}"/>
              </a:ext>
            </a:extLst>
          </p:cNvPr>
          <p:cNvSpPr/>
          <p:nvPr/>
        </p:nvSpPr>
        <p:spPr>
          <a:xfrm>
            <a:off x="135017" y="3939005"/>
            <a:ext cx="8741630" cy="87133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D43ADE-60C5-56E8-0C34-DB6A046A35A5}"/>
              </a:ext>
            </a:extLst>
          </p:cNvPr>
          <p:cNvSpPr txBox="1"/>
          <p:nvPr/>
        </p:nvSpPr>
        <p:spPr>
          <a:xfrm>
            <a:off x="299609" y="4103597"/>
            <a:ext cx="8451585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500">
                <a:solidFill>
                  <a:srgbClr val="F6F6F6"/>
                </a:solidFill>
                <a:latin typeface="Aptos"/>
              </a:defRPr>
            </a:pPr>
            <a:r>
              <a:rPr dirty="0"/>
              <a:t>Do not compare the numbers blindly: PSM here targets a retained-treated population, whereas the other three shown target the overall study-population ATE.</a:t>
            </a:r>
          </a:p>
        </p:txBody>
      </p:sp>
    </p:spTree>
    <p:extLst>
      <p:ext uri="{BB962C8B-B14F-4D97-AF65-F5344CB8AC3E}">
        <p14:creationId xmlns:p14="http://schemas.microsoft.com/office/powerpoint/2010/main" val="98542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2091F-18A4-2345-A406-2D68D40C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FF5BC-9519-AB17-EE71-F04E81E42F7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One-Slide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F0BCCF-A139-BF2D-AD54-8451A2741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28448"/>
              </p:ext>
            </p:extLst>
          </p:nvPr>
        </p:nvGraphicFramePr>
        <p:xfrm>
          <a:off x="56246" y="780530"/>
          <a:ext cx="8978285" cy="421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9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8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3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923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2777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64AEEB"/>
                          </a:solidFill>
                          <a:latin typeface="Aptos"/>
                        </a:defRPr>
                      </a:pPr>
                      <a:r>
                        <a:t>g-computation</a:t>
                      </a:r>
                    </a:p>
                  </a:txBody>
                  <a:tcP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71CC94"/>
                          </a:solidFill>
                          <a:latin typeface="Aptos"/>
                        </a:defRPr>
                      </a:pPr>
                      <a:r>
                        <a:t>PSM</a:t>
                      </a:r>
                    </a:p>
                  </a:txBody>
                  <a:tcP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6B737"/>
                          </a:solidFill>
                          <a:latin typeface="Aptos"/>
                        </a:defRPr>
                      </a:pPr>
                      <a:r>
                        <a:t>IPW</a:t>
                      </a:r>
                    </a:p>
                  </a:txBody>
                  <a:tcPr>
                    <a:solidFill>
                      <a:srgbClr val="3737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C093E2"/>
                          </a:solidFill>
                          <a:latin typeface="Aptos"/>
                        </a:defRPr>
                      </a:pPr>
                      <a:r>
                        <a:t>AIPW</a:t>
                      </a:r>
                    </a:p>
                  </a:txBody>
                  <a:tcPr>
                    <a:solidFill>
                      <a:srgbClr val="3737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77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Main model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Outcome model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Propensity model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Propensity model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Outcome + propensity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77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How comparison is built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Predict both worlds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Select comparable units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Reweight units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Predict + weighted correction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77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Keeps all units?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Usually yes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Often no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Usually yes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Usually yes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7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Typical target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ATE / ATT by standardization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Often ATT-like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ATE or ATT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ATE or ATT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2777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Main diagnostic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Outcome-model adequacy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Balance + overlap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Weights + ESS + balance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Both model &amp; weight diagnostics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2778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5BC7C2"/>
                          </a:solidFill>
                          <a:latin typeface="Aptos"/>
                        </a:defRPr>
                      </a:pPr>
                      <a:r>
                        <a:t>Main vulnerability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Outcome misspecification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Poor matches / support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Extreme weights / PS misspecification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rPr dirty="0"/>
                        <a:t>Both models wrong; poor overlap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5447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92B8-6589-6A3D-6C4E-D0B5B672E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03370-1490-70B6-EF53-018344D0075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How Should I Choose Among Them?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2E41C0-038B-15F8-49E1-4F1F1E41AA19}"/>
              </a:ext>
            </a:extLst>
          </p:cNvPr>
          <p:cNvSpPr/>
          <p:nvPr/>
        </p:nvSpPr>
        <p:spPr>
          <a:xfrm>
            <a:off x="81243" y="1404729"/>
            <a:ext cx="3132046" cy="222825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DFF93-8B9C-DFD8-EC6C-534483306405}"/>
              </a:ext>
            </a:extLst>
          </p:cNvPr>
          <p:cNvSpPr txBox="1"/>
          <p:nvPr/>
        </p:nvSpPr>
        <p:spPr>
          <a:xfrm>
            <a:off x="245836" y="1514456"/>
            <a:ext cx="325041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Prefer g-computation when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F17B3-1528-B6B1-3086-F7999D4A845E}"/>
              </a:ext>
            </a:extLst>
          </p:cNvPr>
          <p:cNvSpPr txBox="1"/>
          <p:nvPr/>
        </p:nvSpPr>
        <p:spPr>
          <a:xfrm>
            <a:off x="139448" y="1970432"/>
            <a:ext cx="3174989" cy="12054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can model the outcome well.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want flexible standardization.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Interactions / nonlinear response surfaces are scientifically central.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94A13B84-96FE-6F96-79A5-598C3F7BE607}"/>
              </a:ext>
            </a:extLst>
          </p:cNvPr>
          <p:cNvSpPr/>
          <p:nvPr/>
        </p:nvSpPr>
        <p:spPr>
          <a:xfrm>
            <a:off x="3293303" y="1404729"/>
            <a:ext cx="2930671" cy="224115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94FB51-0742-F2BF-4583-13515806C455}"/>
              </a:ext>
            </a:extLst>
          </p:cNvPr>
          <p:cNvSpPr txBox="1"/>
          <p:nvPr/>
        </p:nvSpPr>
        <p:spPr>
          <a:xfrm>
            <a:off x="3457897" y="1514455"/>
            <a:ext cx="295417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Prefer PSM / IPW when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089CA-726F-3555-8655-F6B276AE6A68}"/>
              </a:ext>
            </a:extLst>
          </p:cNvPr>
          <p:cNvSpPr txBox="1"/>
          <p:nvPr/>
        </p:nvSpPr>
        <p:spPr>
          <a:xfrm>
            <a:off x="3344675" y="1947984"/>
            <a:ext cx="2954172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Design-stage comparability is central.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want explicit balance diagnostics.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can defend a useful treatment-assignment model.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6260EC61-EF50-0457-5A4D-EB076D681F17}"/>
              </a:ext>
            </a:extLst>
          </p:cNvPr>
          <p:cNvSpPr/>
          <p:nvPr/>
        </p:nvSpPr>
        <p:spPr>
          <a:xfrm>
            <a:off x="6298847" y="1404729"/>
            <a:ext cx="2763912" cy="224115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2AE23F-BD3F-9D88-2614-7179CC4352CD}"/>
              </a:ext>
            </a:extLst>
          </p:cNvPr>
          <p:cNvSpPr txBox="1"/>
          <p:nvPr/>
        </p:nvSpPr>
        <p:spPr>
          <a:xfrm>
            <a:off x="6350218" y="1514455"/>
            <a:ext cx="243928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Prefer AIPW when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110B5-3B39-D6A2-7D03-F0484F87F19A}"/>
              </a:ext>
            </a:extLst>
          </p:cNvPr>
          <p:cNvSpPr txBox="1"/>
          <p:nvPr/>
        </p:nvSpPr>
        <p:spPr>
          <a:xfrm>
            <a:off x="6350217" y="1935079"/>
            <a:ext cx="2793783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want both nuisance models.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can diagnose both sides.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You may use flexible nuisance estimators with cross-fitting.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28C9B-FB3D-289A-06AE-FDA344647250}"/>
              </a:ext>
            </a:extLst>
          </p:cNvPr>
          <p:cNvSpPr txBox="1"/>
          <p:nvPr/>
        </p:nvSpPr>
        <p:spPr>
          <a:xfrm>
            <a:off x="532771" y="4143922"/>
            <a:ext cx="82805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6B737"/>
                </a:solidFill>
                <a:latin typeface="Cambria Math"/>
              </a:defRPr>
            </a:pPr>
            <a:r>
              <a:rPr dirty="0"/>
              <a:t>There is no automatic winner: estimand, overlap, data structure, and modeling credibility matter.</a:t>
            </a:r>
          </a:p>
        </p:txBody>
      </p:sp>
    </p:spTree>
    <p:extLst>
      <p:ext uri="{BB962C8B-B14F-4D97-AF65-F5344CB8AC3E}">
        <p14:creationId xmlns:p14="http://schemas.microsoft.com/office/powerpoint/2010/main" val="1099142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565C19-9551-BB44-31CE-17DD3B6AA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11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E544-46F1-AE88-1C43-3AB0A946C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5C1EEF-7FFC-D8EA-82D6-6F6CCCE26C3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From ATE to Heterogeneous Treatment Effects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AFC8FFC7-7DBA-359F-8FF6-64660B5FBBBA}"/>
              </a:ext>
            </a:extLst>
          </p:cNvPr>
          <p:cNvSpPr/>
          <p:nvPr/>
        </p:nvSpPr>
        <p:spPr>
          <a:xfrm>
            <a:off x="169189" y="1143740"/>
            <a:ext cx="2916090" cy="2125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4F295D45-0923-9F0F-5668-EABC274E38A5}"/>
              </a:ext>
            </a:extLst>
          </p:cNvPr>
          <p:cNvSpPr txBox="1"/>
          <p:nvPr/>
        </p:nvSpPr>
        <p:spPr>
          <a:xfrm>
            <a:off x="333779" y="1253469"/>
            <a:ext cx="26323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So far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9801B67-7A67-81A4-C68E-D2B4315C53DF}"/>
              </a:ext>
            </a:extLst>
          </p:cNvPr>
          <p:cNvSpPr txBox="1"/>
          <p:nvPr/>
        </p:nvSpPr>
        <p:spPr>
          <a:xfrm>
            <a:off x="333779" y="1692381"/>
            <a:ext cx="2632362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Most of our estimators have targeted one average effect.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BD692CE6-DFEE-F4E5-E435-A9DB7136B486}"/>
              </a:ext>
            </a:extLst>
          </p:cNvPr>
          <p:cNvSpPr/>
          <p:nvPr/>
        </p:nvSpPr>
        <p:spPr>
          <a:xfrm>
            <a:off x="3142633" y="1143740"/>
            <a:ext cx="2916090" cy="2125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6395B-FC04-1C6C-9397-1F3FA2BC81D9}"/>
              </a:ext>
            </a:extLst>
          </p:cNvPr>
          <p:cNvSpPr txBox="1"/>
          <p:nvPr/>
        </p:nvSpPr>
        <p:spPr>
          <a:xfrm>
            <a:off x="3307224" y="1253469"/>
            <a:ext cx="26323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5BC7C2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A629D67-77E6-5FB4-4BE6-BE26281590F8}"/>
              </a:ext>
            </a:extLst>
          </p:cNvPr>
          <p:cNvSpPr txBox="1"/>
          <p:nvPr/>
        </p:nvSpPr>
        <p:spPr>
          <a:xfrm>
            <a:off x="3307224" y="1692381"/>
            <a:ext cx="2632362" cy="126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Ask whether the effect changes across baseline characteristics X.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F50BD0A3-83BB-D643-7D5C-664B7D302DFF}"/>
              </a:ext>
            </a:extLst>
          </p:cNvPr>
          <p:cNvSpPr/>
          <p:nvPr/>
        </p:nvSpPr>
        <p:spPr>
          <a:xfrm>
            <a:off x="6116077" y="1143740"/>
            <a:ext cx="2916090" cy="2125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873ABF2-B757-0432-2E24-03478DAF6D46}"/>
              </a:ext>
            </a:extLst>
          </p:cNvPr>
          <p:cNvSpPr txBox="1"/>
          <p:nvPr/>
        </p:nvSpPr>
        <p:spPr>
          <a:xfrm>
            <a:off x="6280668" y="1253469"/>
            <a:ext cx="263236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41066409-8358-199C-6DB7-217C3E241164}"/>
              </a:ext>
            </a:extLst>
          </p:cNvPr>
          <p:cNvSpPr txBox="1"/>
          <p:nvPr/>
        </p:nvSpPr>
        <p:spPr>
          <a:xfrm>
            <a:off x="6280668" y="1692381"/>
            <a:ext cx="2632362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Move from ATE to conditional average treatment effects.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4BC1EBF9-A010-EEA8-4D32-01EE96F08D43}"/>
                  </a:ext>
                </a:extLst>
              </p:cNvPr>
              <p:cNvSpPr txBox="1"/>
              <p:nvPr/>
            </p:nvSpPr>
            <p:spPr>
              <a:xfrm>
                <a:off x="191167" y="3999760"/>
                <a:ext cx="876166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500">
                    <a:solidFill>
                      <a:srgbClr val="F6B737"/>
                    </a:solidFill>
                    <a:latin typeface="Cambria Math"/>
                  </a:defRPr>
                </a:pPr>
                <a:r>
                  <a:rPr dirty="0"/>
                  <a:t>ATE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 CATE(x)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 treatment-effect heterogeneity</a:t>
                </a:r>
              </a:p>
            </p:txBody>
          </p:sp>
        </mc:Choice>
        <mc:Fallback>
          <p:sp>
            <p:nvSpPr>
              <p:cNvPr id="20" name="TextBox 14">
                <a:extLst>
                  <a:ext uri="{FF2B5EF4-FFF2-40B4-BE49-F238E27FC236}">
                    <a16:creationId xmlns:a16="http://schemas.microsoft.com/office/drawing/2014/main" id="{4BC1EBF9-A010-EEA8-4D32-01EE96F08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67" y="3999760"/>
                <a:ext cx="8761666" cy="477054"/>
              </a:xfrm>
              <a:prstGeom prst="rect">
                <a:avLst/>
              </a:prstGeom>
              <a:blipFill>
                <a:blip r:embed="rId2"/>
                <a:stretch>
                  <a:fillRect t="-8974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9466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F935-DF01-47BC-2B64-9B62B8851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06D08-4720-C517-CB39-88CC6322279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Average Treatment Effect Can Hide the Story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5F79CF-DDC9-4AE0-E51E-710374AA112A}"/>
              </a:ext>
            </a:extLst>
          </p:cNvPr>
          <p:cNvSpPr/>
          <p:nvPr/>
        </p:nvSpPr>
        <p:spPr>
          <a:xfrm>
            <a:off x="78008" y="1526711"/>
            <a:ext cx="2925948" cy="209007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BC3926F-6828-4121-82AB-705D0119B737}"/>
              </a:ext>
            </a:extLst>
          </p:cNvPr>
          <p:cNvSpPr txBox="1"/>
          <p:nvPr/>
        </p:nvSpPr>
        <p:spPr>
          <a:xfrm>
            <a:off x="242601" y="1636437"/>
            <a:ext cx="26558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Group A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16D828CF-F77F-9F3E-D485-DA929DDFB073}"/>
              </a:ext>
            </a:extLst>
          </p:cNvPr>
          <p:cNvSpPr txBox="1"/>
          <p:nvPr/>
        </p:nvSpPr>
        <p:spPr>
          <a:xfrm>
            <a:off x="213052" y="2369360"/>
            <a:ext cx="26558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24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 </a:t>
            </a:r>
            <a:r>
              <a:rPr lang="en-US" dirty="0"/>
              <a:t>  </a:t>
            </a:r>
            <a:r>
              <a:rPr dirty="0"/>
              <a:t>= +10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CC2ED80A-9EED-941C-E61A-98352195C192}"/>
              </a:ext>
            </a:extLst>
          </p:cNvPr>
          <p:cNvSpPr/>
          <p:nvPr/>
        </p:nvSpPr>
        <p:spPr>
          <a:xfrm>
            <a:off x="3100067" y="1526711"/>
            <a:ext cx="2925948" cy="209007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86D5695-D5EF-14AB-534A-D7226BDABBC0}"/>
              </a:ext>
            </a:extLst>
          </p:cNvPr>
          <p:cNvSpPr txBox="1"/>
          <p:nvPr/>
        </p:nvSpPr>
        <p:spPr>
          <a:xfrm>
            <a:off x="3264659" y="1636437"/>
            <a:ext cx="26558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Group B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2629B89-7E15-A3BD-9788-A8FF6084614E}"/>
              </a:ext>
            </a:extLst>
          </p:cNvPr>
          <p:cNvSpPr txBox="1"/>
          <p:nvPr/>
        </p:nvSpPr>
        <p:spPr>
          <a:xfrm>
            <a:off x="3234271" y="2369361"/>
            <a:ext cx="26558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24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 </a:t>
            </a:r>
            <a:r>
              <a:rPr lang="en-US" dirty="0"/>
              <a:t>  </a:t>
            </a:r>
            <a:r>
              <a:rPr dirty="0"/>
              <a:t>= 0</a:t>
            </a:r>
          </a:p>
        </p:txBody>
      </p:sp>
      <p:sp>
        <p:nvSpPr>
          <p:cNvPr id="17" name="Rounded Rectangle 10">
            <a:extLst>
              <a:ext uri="{FF2B5EF4-FFF2-40B4-BE49-F238E27FC236}">
                <a16:creationId xmlns:a16="http://schemas.microsoft.com/office/drawing/2014/main" id="{FC208712-51EF-6D18-7874-4521DA5598ED}"/>
              </a:ext>
            </a:extLst>
          </p:cNvPr>
          <p:cNvSpPr/>
          <p:nvPr/>
        </p:nvSpPr>
        <p:spPr>
          <a:xfrm>
            <a:off x="6172976" y="1526711"/>
            <a:ext cx="2925948" cy="209007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D26F575-ECBB-4454-A376-02C02BDBCCD5}"/>
              </a:ext>
            </a:extLst>
          </p:cNvPr>
          <p:cNvSpPr txBox="1"/>
          <p:nvPr/>
        </p:nvSpPr>
        <p:spPr>
          <a:xfrm>
            <a:off x="6337569" y="1636437"/>
            <a:ext cx="26558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Group C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790AA2C4-DB85-7543-28F5-12B7CD2855A1}"/>
              </a:ext>
            </a:extLst>
          </p:cNvPr>
          <p:cNvSpPr txBox="1"/>
          <p:nvPr/>
        </p:nvSpPr>
        <p:spPr>
          <a:xfrm>
            <a:off x="6227621" y="2369362"/>
            <a:ext cx="26558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24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 </a:t>
            </a:r>
            <a:r>
              <a:rPr lang="en-US" dirty="0"/>
              <a:t>  </a:t>
            </a:r>
            <a:r>
              <a:rPr dirty="0"/>
              <a:t>= −10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F26F1293-10C7-D34A-A01F-3389693D6C06}"/>
              </a:ext>
            </a:extLst>
          </p:cNvPr>
          <p:cNvSpPr txBox="1"/>
          <p:nvPr/>
        </p:nvSpPr>
        <p:spPr>
          <a:xfrm>
            <a:off x="134312" y="3781381"/>
            <a:ext cx="8875376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00">
                <a:solidFill>
                  <a:srgbClr val="F6B737"/>
                </a:solidFill>
                <a:latin typeface="Cambria Math"/>
              </a:defRPr>
            </a:pPr>
            <a:r>
              <a:rPr dirty="0"/>
              <a:t>A single overall average can conceal benefit, no effect, and harm.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73D1EA4C-D9B4-C81F-1E2C-293A6784A559}"/>
              </a:ext>
            </a:extLst>
          </p:cNvPr>
          <p:cNvSpPr/>
          <p:nvPr/>
        </p:nvSpPr>
        <p:spPr>
          <a:xfrm>
            <a:off x="1077566" y="4476748"/>
            <a:ext cx="7411113" cy="44627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728EAF59-0C6B-9953-F3AB-78006C0B2EF8}"/>
              </a:ext>
            </a:extLst>
          </p:cNvPr>
          <p:cNvSpPr txBox="1"/>
          <p:nvPr/>
        </p:nvSpPr>
        <p:spPr>
          <a:xfrm>
            <a:off x="1540982" y="4542281"/>
            <a:ext cx="7082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400">
                <a:solidFill>
                  <a:srgbClr val="F6F6F6"/>
                </a:solidFill>
                <a:latin typeface="Aptos"/>
              </a:defRPr>
            </a:pPr>
            <a:r>
              <a:t>A small or zero ATE does not imply that treatment is unimportant for everyone.</a:t>
            </a:r>
          </a:p>
        </p:txBody>
      </p:sp>
    </p:spTree>
    <p:extLst>
      <p:ext uri="{BB962C8B-B14F-4D97-AF65-F5344CB8AC3E}">
        <p14:creationId xmlns:p14="http://schemas.microsoft.com/office/powerpoint/2010/main" val="3541351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08F1-EB9E-3D0B-758A-42767223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67F7C-A860-BDDF-3076-515344C1525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ATE vs CATE</a:t>
            </a:r>
          </a:p>
        </p:txBody>
      </p:sp>
      <p:sp>
        <p:nvSpPr>
          <p:cNvPr id="23" name="Rounded Rectangle 14">
            <a:extLst>
              <a:ext uri="{FF2B5EF4-FFF2-40B4-BE49-F238E27FC236}">
                <a16:creationId xmlns:a16="http://schemas.microsoft.com/office/drawing/2014/main" id="{281F7585-D7A8-ED41-C46C-3786520CDE70}"/>
              </a:ext>
            </a:extLst>
          </p:cNvPr>
          <p:cNvSpPr/>
          <p:nvPr/>
        </p:nvSpPr>
        <p:spPr>
          <a:xfrm>
            <a:off x="1085900" y="4527022"/>
            <a:ext cx="7352382" cy="30401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4A03E31A-E4DB-A463-9C32-C836C0E796E1}"/>
              </a:ext>
            </a:extLst>
          </p:cNvPr>
          <p:cNvSpPr txBox="1"/>
          <p:nvPr/>
        </p:nvSpPr>
        <p:spPr>
          <a:xfrm>
            <a:off x="1724138" y="4527022"/>
            <a:ext cx="708229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400">
                <a:solidFill>
                  <a:srgbClr val="F6F6F6"/>
                </a:solidFill>
                <a:latin typeface="Aptos"/>
              </a:defRPr>
            </a:pPr>
            <a:r>
              <a:rPr dirty="0"/>
              <a:t>A small or zero ATE does not imply that treatment is unimportant for everyone.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666C2A3-C29E-9C9E-7265-521EB7A34ABA}"/>
                  </a:ext>
                </a:extLst>
              </p:cNvPr>
              <p:cNvSpPr txBox="1"/>
              <p:nvPr/>
            </p:nvSpPr>
            <p:spPr>
              <a:xfrm>
                <a:off x="2550337" y="761238"/>
                <a:ext cx="4223464" cy="53860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9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𝐴𝑇𝐸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(0)]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6666C2A3-C29E-9C9E-7265-521EB7A34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337" y="761238"/>
                <a:ext cx="4223464" cy="5386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8908CC-5EED-3E13-528B-95301D60C852}"/>
                  </a:ext>
                </a:extLst>
              </p:cNvPr>
              <p:cNvSpPr txBox="1"/>
              <p:nvPr/>
            </p:nvSpPr>
            <p:spPr>
              <a:xfrm>
                <a:off x="1488093" y="1323594"/>
                <a:ext cx="6183359" cy="53860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9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𝐶𝐴𝑇𝐸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8908CC-5EED-3E13-528B-95301D60C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093" y="1323594"/>
                <a:ext cx="6183359" cy="538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1AF3C228-E83A-BB03-5149-DDC8B0063C22}"/>
              </a:ext>
            </a:extLst>
          </p:cNvPr>
          <p:cNvSpPr/>
          <p:nvPr/>
        </p:nvSpPr>
        <p:spPr>
          <a:xfrm>
            <a:off x="94421" y="2004280"/>
            <a:ext cx="2948050" cy="17410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217F09B4-D187-979B-49BE-35E988DE8C87}"/>
              </a:ext>
            </a:extLst>
          </p:cNvPr>
          <p:cNvSpPr txBox="1"/>
          <p:nvPr/>
        </p:nvSpPr>
        <p:spPr>
          <a:xfrm>
            <a:off x="259013" y="2114008"/>
            <a:ext cx="246825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ATE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8EFB6FFD-49A3-5175-DCE9-86339BC15D65}"/>
              </a:ext>
            </a:extLst>
          </p:cNvPr>
          <p:cNvSpPr txBox="1"/>
          <p:nvPr/>
        </p:nvSpPr>
        <p:spPr>
          <a:xfrm>
            <a:off x="175766" y="2569985"/>
            <a:ext cx="2783459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How much does treatment help in the target population, on average?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26A40B80-C779-41D7-61DD-BC8A76E37053}"/>
              </a:ext>
            </a:extLst>
          </p:cNvPr>
          <p:cNvSpPr/>
          <p:nvPr/>
        </p:nvSpPr>
        <p:spPr>
          <a:xfrm>
            <a:off x="3157903" y="2004280"/>
            <a:ext cx="2713422" cy="17410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433FC7AA-29C2-9B4C-D8CC-DCAF565FEBFC}"/>
              </a:ext>
            </a:extLst>
          </p:cNvPr>
          <p:cNvSpPr txBox="1"/>
          <p:nvPr/>
        </p:nvSpPr>
        <p:spPr>
          <a:xfrm>
            <a:off x="3157902" y="2105328"/>
            <a:ext cx="259799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CATE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C1B52CA4-A380-A2E1-BC08-7689BDE7B1F9}"/>
              </a:ext>
            </a:extLst>
          </p:cNvPr>
          <p:cNvSpPr txBox="1"/>
          <p:nvPr/>
        </p:nvSpPr>
        <p:spPr>
          <a:xfrm>
            <a:off x="3264031" y="2552625"/>
            <a:ext cx="2597991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How much does treatment help for people with a particular X profile?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E18248E3-5027-D8B6-DDA1-C89858246006}"/>
              </a:ext>
            </a:extLst>
          </p:cNvPr>
          <p:cNvSpPr/>
          <p:nvPr/>
        </p:nvSpPr>
        <p:spPr>
          <a:xfrm>
            <a:off x="6092885" y="2004280"/>
            <a:ext cx="2878014" cy="17410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3">
            <a:extLst>
              <a:ext uri="{FF2B5EF4-FFF2-40B4-BE49-F238E27FC236}">
                <a16:creationId xmlns:a16="http://schemas.microsoft.com/office/drawing/2014/main" id="{AE949226-8CAD-D533-44DF-9359CFF7BC3C}"/>
              </a:ext>
            </a:extLst>
          </p:cNvPr>
          <p:cNvSpPr txBox="1"/>
          <p:nvPr/>
        </p:nvSpPr>
        <p:spPr>
          <a:xfrm>
            <a:off x="6257477" y="2114008"/>
            <a:ext cx="259799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rPr dirty="0"/>
              <a:t>Possible X</a:t>
            </a:r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F7C4814F-50CC-8693-E56C-2C980719FAD8}"/>
              </a:ext>
            </a:extLst>
          </p:cNvPr>
          <p:cNvSpPr txBox="1"/>
          <p:nvPr/>
        </p:nvSpPr>
        <p:spPr>
          <a:xfrm>
            <a:off x="6257477" y="2552920"/>
            <a:ext cx="2597991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Age • severity • biomarker • baseline risk • prior outcome</a:t>
            </a:r>
          </a:p>
        </p:txBody>
      </p:sp>
      <p:sp>
        <p:nvSpPr>
          <p:cNvPr id="27" name="Rounded Rectangle 15">
            <a:extLst>
              <a:ext uri="{FF2B5EF4-FFF2-40B4-BE49-F238E27FC236}">
                <a16:creationId xmlns:a16="http://schemas.microsoft.com/office/drawing/2014/main" id="{6EDA4611-A9CA-812C-238F-2F78499A8FA5}"/>
              </a:ext>
            </a:extLst>
          </p:cNvPr>
          <p:cNvSpPr/>
          <p:nvPr/>
        </p:nvSpPr>
        <p:spPr>
          <a:xfrm>
            <a:off x="175766" y="3879145"/>
            <a:ext cx="8851392" cy="53860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EE320A9B-F180-ED10-EC25-CA8B1AA8AE1F}"/>
              </a:ext>
            </a:extLst>
          </p:cNvPr>
          <p:cNvSpPr txBox="1"/>
          <p:nvPr/>
        </p:nvSpPr>
        <p:spPr>
          <a:xfrm>
            <a:off x="433802" y="3978133"/>
            <a:ext cx="853114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ATE averages over X. CATE conditions on X.</a:t>
            </a:r>
          </a:p>
        </p:txBody>
      </p:sp>
    </p:spTree>
    <p:extLst>
      <p:ext uri="{BB962C8B-B14F-4D97-AF65-F5344CB8AC3E}">
        <p14:creationId xmlns:p14="http://schemas.microsoft.com/office/powerpoint/2010/main" val="4411489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4F4CB-D113-F5EE-7363-7426740D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BC966-A8A3-F752-9D3E-AFA913235C4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CATE Is Still an Average 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010AB0-4D50-392C-58BE-418591DD62FE}"/>
              </a:ext>
            </a:extLst>
          </p:cNvPr>
          <p:cNvSpPr/>
          <p:nvPr/>
        </p:nvSpPr>
        <p:spPr>
          <a:xfrm>
            <a:off x="265629" y="1379220"/>
            <a:ext cx="4198620" cy="23850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535E4D-4E4F-C83D-43F9-D4A2526C5F5A}"/>
              </a:ext>
            </a:extLst>
          </p:cNvPr>
          <p:cNvSpPr txBox="1"/>
          <p:nvPr/>
        </p:nvSpPr>
        <p:spPr>
          <a:xfrm>
            <a:off x="430221" y="1488948"/>
            <a:ext cx="392627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Individual treatment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31A1A5-6DAE-F2C7-6568-6D2A5630B34B}"/>
                  </a:ext>
                </a:extLst>
              </p:cNvPr>
              <p:cNvSpPr txBox="1"/>
              <p:nvPr/>
            </p:nvSpPr>
            <p:spPr>
              <a:xfrm>
                <a:off x="430221" y="1927860"/>
                <a:ext cx="3926277" cy="126701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dirty="0"/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Defined for one specific person.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We never observe both potential outcomes for that person.</a:t>
                </a:r>
                <a:endParaRPr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931A1A5-6DAE-F2C7-6568-6D2A5630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221" y="1927860"/>
                <a:ext cx="3926277" cy="1267014"/>
              </a:xfrm>
              <a:prstGeom prst="rect">
                <a:avLst/>
              </a:prstGeom>
              <a:blipFill>
                <a:blip r:embed="rId2"/>
                <a:stretch>
                  <a:fillRect l="-1087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0FF2AEAD-7390-7DB2-0350-15CBBD0C9D88}"/>
              </a:ext>
            </a:extLst>
          </p:cNvPr>
          <p:cNvSpPr/>
          <p:nvPr/>
        </p:nvSpPr>
        <p:spPr>
          <a:xfrm>
            <a:off x="4572000" y="1333500"/>
            <a:ext cx="4198620" cy="23850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FC9ADBB-01A3-09E0-2879-CC6625259A45}"/>
                  </a:ext>
                </a:extLst>
              </p:cNvPr>
              <p:cNvSpPr txBox="1"/>
              <p:nvPr/>
            </p:nvSpPr>
            <p:spPr>
              <a:xfrm>
                <a:off x="4736592" y="1443228"/>
                <a:ext cx="3926277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𝐶𝐴𝑇𝐸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FC9ADBB-01A3-09E0-2879-CC6625259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92" y="1443228"/>
                <a:ext cx="3926277" cy="346249"/>
              </a:xfrm>
              <a:prstGeom prst="rect">
                <a:avLst/>
              </a:prstGeom>
              <a:blipFill>
                <a:blip r:embed="rId3"/>
                <a:stretch>
                  <a:fillRect b="-1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91B31F8B-C651-800E-4F4B-9E4D6AF46BCC}"/>
              </a:ext>
            </a:extLst>
          </p:cNvPr>
          <p:cNvSpPr txBox="1"/>
          <p:nvPr/>
        </p:nvSpPr>
        <p:spPr>
          <a:xfrm>
            <a:off x="4736592" y="1882140"/>
            <a:ext cx="3926277" cy="12670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Average effect among people with X=x.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Still a population-level quantity.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More local than the ATE, but not a deterministic prediction for one person.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0DB499-E7CE-8BEF-92A5-CC4ABF94A282}"/>
                  </a:ext>
                </a:extLst>
              </p:cNvPr>
              <p:cNvSpPr txBox="1"/>
              <p:nvPr/>
            </p:nvSpPr>
            <p:spPr>
              <a:xfrm>
                <a:off x="318969" y="4092475"/>
                <a:ext cx="8290560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900">
                    <a:solidFill>
                      <a:srgbClr val="F6B737"/>
                    </a:solidFill>
                    <a:latin typeface="Cambria Math"/>
                  </a:defRPr>
                </a:pPr>
                <a:r>
                  <a:rPr dirty="0"/>
                  <a:t>“Patients like this benefit by 8 units on average”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dirty="0"/>
                  <a:t> “this patient will benefit by exactly 8.”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00DB499-E7CE-8BEF-92A5-CC4ABF94A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69" y="4092475"/>
                <a:ext cx="8290560" cy="677108"/>
              </a:xfrm>
              <a:prstGeom prst="rect">
                <a:avLst/>
              </a:prstGeom>
              <a:blipFill>
                <a:blip r:embed="rId4"/>
                <a:stretch>
                  <a:fillRect t="-4505" r="-515" b="-14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26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D3513-5167-F1C0-75C3-1B2025EF8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FBEDA-D95D-509C-D84A-9B37DC62D7A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Effect Modifier vs Confounder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48C8B8-7950-E091-6957-2DA9A8CB6A31}"/>
              </a:ext>
            </a:extLst>
          </p:cNvPr>
          <p:cNvSpPr/>
          <p:nvPr/>
        </p:nvSpPr>
        <p:spPr>
          <a:xfrm>
            <a:off x="106526" y="1343559"/>
            <a:ext cx="4242667" cy="229430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56D7561-27A8-75AD-FB67-CFF8FA070FAB}"/>
              </a:ext>
            </a:extLst>
          </p:cNvPr>
          <p:cNvSpPr txBox="1"/>
          <p:nvPr/>
        </p:nvSpPr>
        <p:spPr>
          <a:xfrm>
            <a:off x="271118" y="1453286"/>
            <a:ext cx="4078075" cy="3430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t>Confounder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27D1A7B7-F917-65D4-76CA-ABCA740D96A5}"/>
              </a:ext>
            </a:extLst>
          </p:cNvPr>
          <p:cNvSpPr txBox="1"/>
          <p:nvPr/>
        </p:nvSpPr>
        <p:spPr>
          <a:xfrm>
            <a:off x="107750" y="2042334"/>
            <a:ext cx="4323739" cy="13311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Affects treatment assignment and outcome.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Creates a backdoor path.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Threatens identification.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Question: what must we adjust for?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6D5FB60-FDA9-6C4D-FA3E-093D477C846B}"/>
              </a:ext>
            </a:extLst>
          </p:cNvPr>
          <p:cNvSpPr/>
          <p:nvPr/>
        </p:nvSpPr>
        <p:spPr>
          <a:xfrm>
            <a:off x="4513785" y="1343558"/>
            <a:ext cx="4514926" cy="229430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93BCA992-1076-F060-664A-CE36AB074EBB}"/>
              </a:ext>
            </a:extLst>
          </p:cNvPr>
          <p:cNvSpPr txBox="1"/>
          <p:nvPr/>
        </p:nvSpPr>
        <p:spPr>
          <a:xfrm>
            <a:off x="4737299" y="1453286"/>
            <a:ext cx="4299964" cy="3430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Effect modifier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8DB1156-1DEE-36A8-A9A8-9595C79B30B0}"/>
              </a:ext>
            </a:extLst>
          </p:cNvPr>
          <p:cNvSpPr txBox="1"/>
          <p:nvPr/>
        </p:nvSpPr>
        <p:spPr>
          <a:xfrm>
            <a:off x="4670763" y="2042334"/>
            <a:ext cx="4299964" cy="12554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Changes the magnitude or direction of the treatment effect.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Does not have to cause treatment.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Question: for whom is the effect different?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B1FFCC31-A1FC-90E4-CBCB-6C93DF78C485}"/>
              </a:ext>
            </a:extLst>
          </p:cNvPr>
          <p:cNvSpPr txBox="1"/>
          <p:nvPr/>
        </p:nvSpPr>
        <p:spPr>
          <a:xfrm>
            <a:off x="870345" y="4052027"/>
            <a:ext cx="74033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>
                <a:solidFill>
                  <a:srgbClr val="F6B737"/>
                </a:solidFill>
                <a:latin typeface="Cambria Math"/>
              </a:defRPr>
            </a:pPr>
            <a:r>
              <a:rPr dirty="0"/>
              <a:t>Confounding is about bias. Effect modification is about genuine variation in the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3458550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E7580-3846-02DD-00BE-DFA92C1AB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AD50BB-421E-EA3A-18E8-6DFEA0D638D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Effect Modifier vs Confounder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CFBFDFA-A7C5-0854-31DF-45AE09BCF671}"/>
              </a:ext>
            </a:extLst>
          </p:cNvPr>
          <p:cNvSpPr/>
          <p:nvPr/>
        </p:nvSpPr>
        <p:spPr>
          <a:xfrm>
            <a:off x="87301" y="1424168"/>
            <a:ext cx="2857950" cy="17752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4798B-8809-08F1-893D-30FBCD92F705}"/>
              </a:ext>
            </a:extLst>
          </p:cNvPr>
          <p:cNvSpPr txBox="1"/>
          <p:nvPr/>
        </p:nvSpPr>
        <p:spPr>
          <a:xfrm>
            <a:off x="251893" y="1533896"/>
            <a:ext cx="256398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Example: Age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FD28397-8930-846D-EADA-96A92B398954}"/>
              </a:ext>
            </a:extLst>
          </p:cNvPr>
          <p:cNvSpPr txBox="1"/>
          <p:nvPr/>
        </p:nvSpPr>
        <p:spPr>
          <a:xfrm>
            <a:off x="251893" y="1972808"/>
            <a:ext cx="2563989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Older patients may be more likely to receive treatment.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0F1FE318-B1FA-E89C-BD4F-8BD39E2303FE}"/>
              </a:ext>
            </a:extLst>
          </p:cNvPr>
          <p:cNvSpPr/>
          <p:nvPr/>
        </p:nvSpPr>
        <p:spPr>
          <a:xfrm>
            <a:off x="3109843" y="1424168"/>
            <a:ext cx="2857950" cy="17752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95C3F78C-4647-550A-4D23-AABF7769E8A7}"/>
              </a:ext>
            </a:extLst>
          </p:cNvPr>
          <p:cNvSpPr txBox="1"/>
          <p:nvPr/>
        </p:nvSpPr>
        <p:spPr>
          <a:xfrm>
            <a:off x="3274435" y="1533896"/>
            <a:ext cx="256398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Confounding role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C0CEA8F-8534-70CB-4008-3B3F6402206B}"/>
              </a:ext>
            </a:extLst>
          </p:cNvPr>
          <p:cNvSpPr txBox="1"/>
          <p:nvPr/>
        </p:nvSpPr>
        <p:spPr>
          <a:xfrm>
            <a:off x="3274435" y="1972808"/>
            <a:ext cx="2563989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Age may also predict the outcome even without treatment.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8A41795E-4355-DE77-454C-895B7ACD24CD}"/>
              </a:ext>
            </a:extLst>
          </p:cNvPr>
          <p:cNvSpPr/>
          <p:nvPr/>
        </p:nvSpPr>
        <p:spPr>
          <a:xfrm>
            <a:off x="6175825" y="1424168"/>
            <a:ext cx="2857950" cy="177526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E96203A1-2243-0E47-6DE6-9BE5D8212AA6}"/>
              </a:ext>
            </a:extLst>
          </p:cNvPr>
          <p:cNvSpPr txBox="1"/>
          <p:nvPr/>
        </p:nvSpPr>
        <p:spPr>
          <a:xfrm>
            <a:off x="6340417" y="1533896"/>
            <a:ext cx="256398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Effect-modification role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CBA2960-7509-6DC1-1981-0DAE9E2D56B1}"/>
              </a:ext>
            </a:extLst>
          </p:cNvPr>
          <p:cNvSpPr txBox="1"/>
          <p:nvPr/>
        </p:nvSpPr>
        <p:spPr>
          <a:xfrm>
            <a:off x="6340417" y="1972808"/>
            <a:ext cx="2563989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The biological treatment response may also differ by age.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920F631B-72F2-4929-6FE6-A7EB30DAC22B}"/>
              </a:ext>
            </a:extLst>
          </p:cNvPr>
          <p:cNvSpPr txBox="1"/>
          <p:nvPr/>
        </p:nvSpPr>
        <p:spPr>
          <a:xfrm>
            <a:off x="227403" y="3431236"/>
            <a:ext cx="8689194" cy="4680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>
                <a:solidFill>
                  <a:srgbClr val="5BC7C2"/>
                </a:solidFill>
                <a:latin typeface="Cambria Math"/>
              </a:defRPr>
            </a:pPr>
            <a:r>
              <a:rPr dirty="0"/>
              <a:t>One X can matter for identification AND for heterogeneity.</a:t>
            </a:r>
          </a:p>
        </p:txBody>
      </p:sp>
      <p:sp>
        <p:nvSpPr>
          <p:cNvPr id="21" name="Rounded Rectangle 14">
            <a:extLst>
              <a:ext uri="{FF2B5EF4-FFF2-40B4-BE49-F238E27FC236}">
                <a16:creationId xmlns:a16="http://schemas.microsoft.com/office/drawing/2014/main" id="{D02A0696-1C02-C8F5-4D9B-2CE1AF767C70}"/>
              </a:ext>
            </a:extLst>
          </p:cNvPr>
          <p:cNvSpPr/>
          <p:nvPr/>
        </p:nvSpPr>
        <p:spPr>
          <a:xfrm>
            <a:off x="371441" y="4131074"/>
            <a:ext cx="8401118" cy="66722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2B219CE1-CB36-9C3B-6489-A1679634D268}"/>
              </a:ext>
            </a:extLst>
          </p:cNvPr>
          <p:cNvSpPr txBox="1"/>
          <p:nvPr/>
        </p:nvSpPr>
        <p:spPr>
          <a:xfrm>
            <a:off x="531462" y="4203077"/>
            <a:ext cx="808107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400">
                <a:solidFill>
                  <a:srgbClr val="F6F6F6"/>
                </a:solidFill>
                <a:latin typeface="Aptos"/>
              </a:defRPr>
            </a:pPr>
            <a:r>
              <a:rPr dirty="0"/>
              <a:t>Adjusting for age removes confounding; an interaction with age investigates whether the effect itself varies.</a:t>
            </a:r>
          </a:p>
        </p:txBody>
      </p:sp>
    </p:spTree>
    <p:extLst>
      <p:ext uri="{BB962C8B-B14F-4D97-AF65-F5344CB8AC3E}">
        <p14:creationId xmlns:p14="http://schemas.microsoft.com/office/powerpoint/2010/main" val="2168213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C537B-551F-9499-6BF2-0CC40FD50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17C29F-5075-50D1-310F-C35D29E4EDC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Real-World Example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2CCF63-628F-8B98-BDD1-5101E8CA9CDE}"/>
              </a:ext>
            </a:extLst>
          </p:cNvPr>
          <p:cNvSpPr/>
          <p:nvPr/>
        </p:nvSpPr>
        <p:spPr>
          <a:xfrm>
            <a:off x="60850" y="1194312"/>
            <a:ext cx="2899437" cy="199622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2BFB36-9566-AE74-ACFF-21D15B5DC5E4}"/>
              </a:ext>
            </a:extLst>
          </p:cNvPr>
          <p:cNvSpPr txBox="1"/>
          <p:nvPr/>
        </p:nvSpPr>
        <p:spPr>
          <a:xfrm>
            <a:off x="225442" y="1304039"/>
            <a:ext cx="262475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Low-risk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511212-E719-B6CD-2280-2EDFE2337C52}"/>
                  </a:ext>
                </a:extLst>
              </p:cNvPr>
              <p:cNvSpPr txBox="1"/>
              <p:nvPr/>
            </p:nvSpPr>
            <p:spPr>
              <a:xfrm>
                <a:off x="225442" y="1742951"/>
                <a:ext cx="2624753" cy="132856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Control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4%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3%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Risk difference: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dirty="0"/>
                  <a:t> percentage point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511212-E719-B6CD-2280-2EDFE2337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42" y="1742951"/>
                <a:ext cx="2624753" cy="1328569"/>
              </a:xfrm>
              <a:prstGeom prst="rect">
                <a:avLst/>
              </a:prstGeom>
              <a:blipFill>
                <a:blip r:embed="rId2"/>
                <a:stretch>
                  <a:fillRect l="-2088" t="-2294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E5EC9A1B-A958-4958-6BBE-FDEB28EA16D1}"/>
              </a:ext>
            </a:extLst>
          </p:cNvPr>
          <p:cNvSpPr/>
          <p:nvPr/>
        </p:nvSpPr>
        <p:spPr>
          <a:xfrm>
            <a:off x="3122281" y="1194312"/>
            <a:ext cx="2899437" cy="199622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AA761-BE63-1800-578B-7581C1E833DC}"/>
              </a:ext>
            </a:extLst>
          </p:cNvPr>
          <p:cNvSpPr txBox="1"/>
          <p:nvPr/>
        </p:nvSpPr>
        <p:spPr>
          <a:xfrm>
            <a:off x="3286873" y="1304039"/>
            <a:ext cx="262475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Medium-risk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4F2D315-2F2F-B12E-BDFF-469F5D8B6683}"/>
                  </a:ext>
                </a:extLst>
              </p:cNvPr>
              <p:cNvSpPr txBox="1"/>
              <p:nvPr/>
            </p:nvSpPr>
            <p:spPr>
              <a:xfrm>
                <a:off x="3286873" y="1742951"/>
                <a:ext cx="2624753" cy="132856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Control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15%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Risk difference: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dirty="0"/>
                  <a:t> percentage points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4F2D315-2F2F-B12E-BDFF-469F5D8B6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873" y="1742951"/>
                <a:ext cx="2624753" cy="1328569"/>
              </a:xfrm>
              <a:prstGeom prst="rect">
                <a:avLst/>
              </a:prstGeom>
              <a:blipFill>
                <a:blip r:embed="rId3"/>
                <a:stretch>
                  <a:fillRect l="-1856" t="-2294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1D8B1BA3-C9FD-FC31-DBE6-7886FD98699A}"/>
              </a:ext>
            </a:extLst>
          </p:cNvPr>
          <p:cNvSpPr/>
          <p:nvPr/>
        </p:nvSpPr>
        <p:spPr>
          <a:xfrm>
            <a:off x="6183712" y="1216119"/>
            <a:ext cx="2899437" cy="199622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B45162-ED78-6077-34BB-BC750984C9A1}"/>
              </a:ext>
            </a:extLst>
          </p:cNvPr>
          <p:cNvSpPr txBox="1"/>
          <p:nvPr/>
        </p:nvSpPr>
        <p:spPr>
          <a:xfrm>
            <a:off x="6348304" y="1325846"/>
            <a:ext cx="262475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High-risk patients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D783CE-86A8-8E5A-19BD-B2D7BCA5EF3A}"/>
                  </a:ext>
                </a:extLst>
              </p:cNvPr>
              <p:cNvSpPr txBox="1"/>
              <p:nvPr/>
            </p:nvSpPr>
            <p:spPr>
              <a:xfrm>
                <a:off x="6348304" y="1764758"/>
                <a:ext cx="2624753" cy="132856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Control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35%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risk: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20%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Risk difference: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−15</m:t>
                    </m:r>
                  </m:oMath>
                </a14:m>
                <a:r>
                  <a:rPr dirty="0"/>
                  <a:t> percentage points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3D783CE-86A8-8E5A-19BD-B2D7BCA5E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304" y="1764758"/>
                <a:ext cx="2624753" cy="1328569"/>
              </a:xfrm>
              <a:prstGeom prst="rect">
                <a:avLst/>
              </a:prstGeom>
              <a:blipFill>
                <a:blip r:embed="rId4"/>
                <a:stretch>
                  <a:fillRect l="-1856" t="-1835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9C92C7A-0FEC-75C7-2D03-EC6FC2C5C7A9}"/>
              </a:ext>
            </a:extLst>
          </p:cNvPr>
          <p:cNvSpPr txBox="1"/>
          <p:nvPr/>
        </p:nvSpPr>
        <p:spPr>
          <a:xfrm>
            <a:off x="202352" y="3949188"/>
            <a:ext cx="8742472" cy="42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rPr dirty="0"/>
              <a:t>Same treatment</a:t>
            </a:r>
            <a:r>
              <a:rPr lang="en-US" dirty="0"/>
              <a:t>, but</a:t>
            </a:r>
            <a:r>
              <a:rPr dirty="0"/>
              <a:t> much larger absolute benefit in higher-risk patients.</a:t>
            </a:r>
          </a:p>
        </p:txBody>
      </p:sp>
    </p:spTree>
    <p:extLst>
      <p:ext uri="{BB962C8B-B14F-4D97-AF65-F5344CB8AC3E}">
        <p14:creationId xmlns:p14="http://schemas.microsoft.com/office/powerpoint/2010/main" val="8496571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44E3-95E9-A386-032D-A35D23FD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E3CDE3-0183-025A-B34A-DE2166B6532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Real-World Heterogeneity Across Fields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18C928E-9764-73F7-5BB7-1B210CDFF3E0}"/>
              </a:ext>
            </a:extLst>
          </p:cNvPr>
          <p:cNvSpPr/>
          <p:nvPr/>
        </p:nvSpPr>
        <p:spPr>
          <a:xfrm>
            <a:off x="72596" y="1186899"/>
            <a:ext cx="2964235" cy="227251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78203-B584-AABC-8455-25E498FFF107}"/>
              </a:ext>
            </a:extLst>
          </p:cNvPr>
          <p:cNvSpPr txBox="1"/>
          <p:nvPr/>
        </p:nvSpPr>
        <p:spPr>
          <a:xfrm>
            <a:off x="237188" y="1296625"/>
            <a:ext cx="26870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Medicine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DAA9D2-BB31-B2AC-A834-670F591A0C7C}"/>
              </a:ext>
            </a:extLst>
          </p:cNvPr>
          <p:cNvSpPr txBox="1"/>
          <p:nvPr/>
        </p:nvSpPr>
        <p:spPr>
          <a:xfrm>
            <a:off x="237188" y="1735537"/>
            <a:ext cx="2687060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Cancer therapy by biomarker status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Drug benefit by baseline cardiovascular risk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Benefit-to-harm balance by frailty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A88E5547-C4FA-A8DF-EF62-975F2004AB4E}"/>
              </a:ext>
            </a:extLst>
          </p:cNvPr>
          <p:cNvSpPr/>
          <p:nvPr/>
        </p:nvSpPr>
        <p:spPr>
          <a:xfrm>
            <a:off x="3088840" y="1186899"/>
            <a:ext cx="2964235" cy="227251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BB95D-A598-0614-E802-112FF1780328}"/>
              </a:ext>
            </a:extLst>
          </p:cNvPr>
          <p:cNvSpPr txBox="1"/>
          <p:nvPr/>
        </p:nvSpPr>
        <p:spPr>
          <a:xfrm>
            <a:off x="3253432" y="1296625"/>
            <a:ext cx="26870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AF1EF3-C7C0-97A0-5608-FEDB84D9D492}"/>
              </a:ext>
            </a:extLst>
          </p:cNvPr>
          <p:cNvSpPr txBox="1"/>
          <p:nvPr/>
        </p:nvSpPr>
        <p:spPr>
          <a:xfrm>
            <a:off x="3253432" y="1735537"/>
            <a:ext cx="2687060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Tutoring by prior achievement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Class-size reduction by baseline performance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Technology interventions by access</a:t>
            </a: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A900A054-1341-66D7-B5BE-676AD3FAB2D5}"/>
              </a:ext>
            </a:extLst>
          </p:cNvPr>
          <p:cNvSpPr/>
          <p:nvPr/>
        </p:nvSpPr>
        <p:spPr>
          <a:xfrm>
            <a:off x="6105084" y="1186899"/>
            <a:ext cx="2964235" cy="227251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28E4C8-C154-5C57-BEA5-AEDECEE2DBBE}"/>
              </a:ext>
            </a:extLst>
          </p:cNvPr>
          <p:cNvSpPr txBox="1"/>
          <p:nvPr/>
        </p:nvSpPr>
        <p:spPr>
          <a:xfrm>
            <a:off x="6269676" y="1296625"/>
            <a:ext cx="268706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Policy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55046-58AF-C71E-E1BE-2CDF720C40A1}"/>
              </a:ext>
            </a:extLst>
          </p:cNvPr>
          <p:cNvSpPr txBox="1"/>
          <p:nvPr/>
        </p:nvSpPr>
        <p:spPr>
          <a:xfrm>
            <a:off x="6269676" y="1735537"/>
            <a:ext cx="2687060" cy="12054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Job training by prior earnings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Cash transfers by baseline income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Policy effects by region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A8FC9D-F3DD-015A-92F8-49A92A39A1F0}"/>
              </a:ext>
            </a:extLst>
          </p:cNvPr>
          <p:cNvSpPr txBox="1"/>
          <p:nvPr/>
        </p:nvSpPr>
        <p:spPr>
          <a:xfrm>
            <a:off x="380125" y="4070497"/>
            <a:ext cx="868919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6B737"/>
                </a:solidFill>
                <a:latin typeface="Cambria Math"/>
              </a:defRPr>
            </a:pPr>
            <a:r>
              <a:rPr dirty="0"/>
              <a:t>HTE turns “Does it work?” into “Where, for whom, and how much?”</a:t>
            </a:r>
          </a:p>
        </p:txBody>
      </p:sp>
    </p:spTree>
    <p:extLst>
      <p:ext uri="{BB962C8B-B14F-4D97-AF65-F5344CB8AC3E}">
        <p14:creationId xmlns:p14="http://schemas.microsoft.com/office/powerpoint/2010/main" val="2517395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03C0-26A2-B5B5-054A-C608399F1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5EFC2-4F61-509B-D78F-705C0FC33A4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Counts as Evidence of Heterogeneity?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4233F64-7C8A-7472-D8BB-5EEDFE1C99C3}"/>
              </a:ext>
            </a:extLst>
          </p:cNvPr>
          <p:cNvSpPr/>
          <p:nvPr/>
        </p:nvSpPr>
        <p:spPr>
          <a:xfrm>
            <a:off x="178933" y="1280804"/>
            <a:ext cx="2714584" cy="22465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B1F08-091E-2ECD-83B0-672B1BC1E45B}"/>
              </a:ext>
            </a:extLst>
          </p:cNvPr>
          <p:cNvSpPr txBox="1"/>
          <p:nvPr/>
        </p:nvSpPr>
        <p:spPr>
          <a:xfrm>
            <a:off x="343525" y="1390531"/>
            <a:ext cx="2467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t>Not enough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60862-B4EE-922D-277F-690BF8D68A72}"/>
              </a:ext>
            </a:extLst>
          </p:cNvPr>
          <p:cNvSpPr txBox="1"/>
          <p:nvPr/>
        </p:nvSpPr>
        <p:spPr>
          <a:xfrm>
            <a:off x="343524" y="1793075"/>
            <a:ext cx="2467179" cy="1633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is significant in one subgroup but not another.</a:t>
            </a:r>
          </a:p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Two subgroup point estimates look visually different.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100CAFD-5888-7DE6-5EAD-62AB07DF8AC8}"/>
              </a:ext>
            </a:extLst>
          </p:cNvPr>
          <p:cNvSpPr/>
          <p:nvPr/>
        </p:nvSpPr>
        <p:spPr>
          <a:xfrm>
            <a:off x="3184941" y="1280804"/>
            <a:ext cx="2774118" cy="22465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1CED2B-124F-F121-4156-8B35FFD7D750}"/>
              </a:ext>
            </a:extLst>
          </p:cNvPr>
          <p:cNvSpPr txBox="1"/>
          <p:nvPr/>
        </p:nvSpPr>
        <p:spPr>
          <a:xfrm>
            <a:off x="3349533" y="1390531"/>
            <a:ext cx="2467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Better evidence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ADE8E6-B699-968B-73F5-1026B2323F21}"/>
              </a:ext>
            </a:extLst>
          </p:cNvPr>
          <p:cNvSpPr txBox="1"/>
          <p:nvPr/>
        </p:nvSpPr>
        <p:spPr>
          <a:xfrm>
            <a:off x="3349533" y="1765323"/>
            <a:ext cx="2467179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Directly test an interaction.</a:t>
            </a:r>
          </a:p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Estimate the difference in treatment effects.</a:t>
            </a:r>
          </a:p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Report uncertainty for that difference.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16E03EC3-0CED-9423-DCA0-ACCEDCDE605E}"/>
              </a:ext>
            </a:extLst>
          </p:cNvPr>
          <p:cNvSpPr/>
          <p:nvPr/>
        </p:nvSpPr>
        <p:spPr>
          <a:xfrm>
            <a:off x="6194294" y="1302191"/>
            <a:ext cx="2714584" cy="22465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0213DA-5606-96D4-9C67-3FB847330F0B}"/>
              </a:ext>
            </a:extLst>
          </p:cNvPr>
          <p:cNvSpPr txBox="1"/>
          <p:nvPr/>
        </p:nvSpPr>
        <p:spPr>
          <a:xfrm>
            <a:off x="6358886" y="1411918"/>
            <a:ext cx="2467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Best practice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60E16B-671E-A71D-FED7-1C0962198A55}"/>
              </a:ext>
            </a:extLst>
          </p:cNvPr>
          <p:cNvSpPr txBox="1"/>
          <p:nvPr/>
        </p:nvSpPr>
        <p:spPr>
          <a:xfrm>
            <a:off x="6358886" y="1804498"/>
            <a:ext cx="2467179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Use pre-specified modifiers when possible.</a:t>
            </a:r>
          </a:p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Avoid data-driven subgroup fishing.</a:t>
            </a:r>
          </a:p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Validate exploratory findings.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83A8BD-A10F-88EF-8B6F-18D188E19540}"/>
              </a:ext>
            </a:extLst>
          </p:cNvPr>
          <p:cNvSpPr txBox="1"/>
          <p:nvPr/>
        </p:nvSpPr>
        <p:spPr>
          <a:xfrm>
            <a:off x="448781" y="4039615"/>
            <a:ext cx="8130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6B737"/>
                </a:solidFill>
                <a:latin typeface="Cambria Math"/>
              </a:defRPr>
            </a:pPr>
            <a:r>
              <a:rPr dirty="0"/>
              <a:t>The question is whether treatment effects differ</a:t>
            </a:r>
            <a:r>
              <a:rPr lang="en-US" dirty="0"/>
              <a:t>,</a:t>
            </a:r>
            <a:r>
              <a:rPr dirty="0"/>
              <a:t> not whether two separate p-values differ.</a:t>
            </a:r>
          </a:p>
        </p:txBody>
      </p:sp>
    </p:spTree>
    <p:extLst>
      <p:ext uri="{BB962C8B-B14F-4D97-AF65-F5344CB8AC3E}">
        <p14:creationId xmlns:p14="http://schemas.microsoft.com/office/powerpoint/2010/main" val="2303135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3982-7279-CC31-D719-E31A3651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29CB40-A21F-7BEB-44F6-6E2915F4B2B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Next: Model the Treatment Effect as a Function of 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07B3B8-F519-0E0F-C99C-0D87A0CAE982}"/>
                  </a:ext>
                </a:extLst>
              </p:cNvPr>
              <p:cNvSpPr txBox="1"/>
              <p:nvPr/>
            </p:nvSpPr>
            <p:spPr>
              <a:xfrm>
                <a:off x="1808271" y="1010116"/>
                <a:ext cx="5809474" cy="56938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>
                  <a:defRPr sz="31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(1) −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07B3B8-F519-0E0F-C99C-0D87A0CA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271" y="1010116"/>
                <a:ext cx="5809474" cy="5693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B17D2090-188F-D3D5-C666-89F64DFD9322}"/>
              </a:ext>
            </a:extLst>
          </p:cNvPr>
          <p:cNvSpPr/>
          <p:nvPr/>
        </p:nvSpPr>
        <p:spPr>
          <a:xfrm>
            <a:off x="126223" y="2037847"/>
            <a:ext cx="2756357" cy="1869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AF4AA8-E9FA-2958-3152-BA9DFFF61F7A}"/>
              </a:ext>
            </a:extLst>
          </p:cNvPr>
          <p:cNvSpPr txBox="1"/>
          <p:nvPr/>
        </p:nvSpPr>
        <p:spPr>
          <a:xfrm>
            <a:off x="290815" y="2147575"/>
            <a:ext cx="2505145" cy="34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64AEEB"/>
                </a:solidFill>
                <a:latin typeface="Aptos"/>
              </a:defRPr>
            </a:pPr>
            <a:r>
              <a:t>Classical approach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F025D-633D-14D6-A3D4-4630218CC5C1}"/>
              </a:ext>
            </a:extLst>
          </p:cNvPr>
          <p:cNvSpPr txBox="1"/>
          <p:nvPr/>
        </p:nvSpPr>
        <p:spPr>
          <a:xfrm>
            <a:off x="290815" y="2586487"/>
            <a:ext cx="2505145" cy="6490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Treatment × covariate interactions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B3B5E408-0EC5-9B16-68EF-95F34A2CF104}"/>
              </a:ext>
            </a:extLst>
          </p:cNvPr>
          <p:cNvSpPr/>
          <p:nvPr/>
        </p:nvSpPr>
        <p:spPr>
          <a:xfrm>
            <a:off x="3179732" y="2037847"/>
            <a:ext cx="2756357" cy="1869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1A35D6-D299-9D33-BBC1-5629BABC55CF}"/>
              </a:ext>
            </a:extLst>
          </p:cNvPr>
          <p:cNvSpPr txBox="1"/>
          <p:nvPr/>
        </p:nvSpPr>
        <p:spPr>
          <a:xfrm>
            <a:off x="3344324" y="2147575"/>
            <a:ext cx="2505145" cy="34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71CC94"/>
                </a:solidFill>
                <a:latin typeface="Aptos"/>
              </a:defRPr>
            </a:pPr>
            <a:r>
              <a:t>Flexible approach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AB9D36-E08B-4284-476A-1710CA25EE01}"/>
              </a:ext>
            </a:extLst>
          </p:cNvPr>
          <p:cNvSpPr txBox="1"/>
          <p:nvPr/>
        </p:nvSpPr>
        <p:spPr>
          <a:xfrm>
            <a:off x="3344324" y="2586486"/>
            <a:ext cx="2505145" cy="3709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S-, T-, and X-learners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EF72E0BE-F016-5085-CFFA-8CB279E6BA8B}"/>
              </a:ext>
            </a:extLst>
          </p:cNvPr>
          <p:cNvSpPr/>
          <p:nvPr/>
        </p:nvSpPr>
        <p:spPr>
          <a:xfrm>
            <a:off x="6233242" y="2024933"/>
            <a:ext cx="2756357" cy="186973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15CDC5-DEAE-2311-D560-DC3A3BAE1F56}"/>
              </a:ext>
            </a:extLst>
          </p:cNvPr>
          <p:cNvSpPr txBox="1"/>
          <p:nvPr/>
        </p:nvSpPr>
        <p:spPr>
          <a:xfrm>
            <a:off x="6397834" y="2134661"/>
            <a:ext cx="2505145" cy="34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C093E2"/>
                </a:solidFill>
                <a:latin typeface="Aptos"/>
              </a:defRPr>
            </a:pPr>
            <a:r>
              <a:t>Modern approach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B20844-FDAE-AD30-7D2F-8166224995F9}"/>
              </a:ext>
            </a:extLst>
          </p:cNvPr>
          <p:cNvSpPr txBox="1"/>
          <p:nvPr/>
        </p:nvSpPr>
        <p:spPr>
          <a:xfrm>
            <a:off x="6397834" y="2573573"/>
            <a:ext cx="2505145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Causal forests and data-adaptive CATE estimation</a:t>
            </a: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277FA7B0-D2AA-0662-621A-D022E5748A79}"/>
              </a:ext>
            </a:extLst>
          </p:cNvPr>
          <p:cNvSpPr/>
          <p:nvPr/>
        </p:nvSpPr>
        <p:spPr>
          <a:xfrm>
            <a:off x="91440" y="4314169"/>
            <a:ext cx="8961120" cy="6858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B206E5-3D01-87E8-61BB-D1C3CB05C1EE}"/>
              </a:ext>
            </a:extLst>
          </p:cNvPr>
          <p:cNvSpPr txBox="1"/>
          <p:nvPr/>
        </p:nvSpPr>
        <p:spPr>
          <a:xfrm>
            <a:off x="256032" y="4478761"/>
            <a:ext cx="86319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Next section: Classical </a:t>
            </a:r>
            <a:r>
              <a:rPr lang="en-US" dirty="0"/>
              <a:t>TH</a:t>
            </a:r>
            <a:r>
              <a:rPr dirty="0"/>
              <a:t>E</a:t>
            </a:r>
            <a:r>
              <a:rPr lang="en-US" dirty="0"/>
              <a:t>,</a:t>
            </a:r>
            <a:r>
              <a:rPr dirty="0"/>
              <a:t> subgroup effects and interaction models.</a:t>
            </a:r>
          </a:p>
        </p:txBody>
      </p:sp>
    </p:spTree>
    <p:extLst>
      <p:ext uri="{BB962C8B-B14F-4D97-AF65-F5344CB8AC3E}">
        <p14:creationId xmlns:p14="http://schemas.microsoft.com/office/powerpoint/2010/main" val="1828433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D378-521D-C4F0-C88D-33C8C24A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4478BB-EF42-636C-61F6-F7568617C4A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Classical HTE: Interaction Models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DB2B21F2-7292-48B3-33C9-71D62B7E1323}"/>
              </a:ext>
            </a:extLst>
          </p:cNvPr>
          <p:cNvSpPr/>
          <p:nvPr/>
        </p:nvSpPr>
        <p:spPr>
          <a:xfrm>
            <a:off x="169188" y="1086212"/>
            <a:ext cx="2679267" cy="233456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F63190C4-F98C-4F52-D9D5-2AED43AA186C}"/>
              </a:ext>
            </a:extLst>
          </p:cNvPr>
          <p:cNvSpPr txBox="1"/>
          <p:nvPr/>
        </p:nvSpPr>
        <p:spPr>
          <a:xfrm>
            <a:off x="333780" y="1195939"/>
            <a:ext cx="241134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t>Average-effect model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E16BC8C5-893D-573F-61C8-A4170A86EC85}"/>
              </a:ext>
            </a:extLst>
          </p:cNvPr>
          <p:cNvSpPr txBox="1"/>
          <p:nvPr/>
        </p:nvSpPr>
        <p:spPr>
          <a:xfrm>
            <a:off x="303150" y="1894642"/>
            <a:ext cx="2411341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One treatment coefficient for everyone.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5185AA59-058E-1E98-3DAC-13058CD65782}"/>
              </a:ext>
            </a:extLst>
          </p:cNvPr>
          <p:cNvSpPr/>
          <p:nvPr/>
        </p:nvSpPr>
        <p:spPr>
          <a:xfrm>
            <a:off x="3121642" y="1086212"/>
            <a:ext cx="2679267" cy="233456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8AB1404-DECF-13A2-D5D3-EF69A081A5D3}"/>
              </a:ext>
            </a:extLst>
          </p:cNvPr>
          <p:cNvSpPr txBox="1"/>
          <p:nvPr/>
        </p:nvSpPr>
        <p:spPr>
          <a:xfrm>
            <a:off x="3286234" y="1195939"/>
            <a:ext cx="241134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Interaction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51295-9671-20E0-F118-5EDAB8C9CC24}"/>
              </a:ext>
            </a:extLst>
          </p:cNvPr>
          <p:cNvSpPr txBox="1"/>
          <p:nvPr/>
        </p:nvSpPr>
        <p:spPr>
          <a:xfrm>
            <a:off x="3182900" y="1894642"/>
            <a:ext cx="2514675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Allow treatment effect to depend on X.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A86A00-F4FC-639C-8DDF-3AABA2C0B9B8}"/>
              </a:ext>
            </a:extLst>
          </p:cNvPr>
          <p:cNvSpPr/>
          <p:nvPr/>
        </p:nvSpPr>
        <p:spPr>
          <a:xfrm>
            <a:off x="6074097" y="1077720"/>
            <a:ext cx="2679267" cy="233456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AFAF7684-08BB-BF81-7C28-858084A78D60}"/>
              </a:ext>
            </a:extLst>
          </p:cNvPr>
          <p:cNvSpPr txBox="1"/>
          <p:nvPr/>
        </p:nvSpPr>
        <p:spPr>
          <a:xfrm>
            <a:off x="6238689" y="1187447"/>
            <a:ext cx="241134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Target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36E06AC4-6E55-8DB0-A0F7-6065F7CB31BE}"/>
                  </a:ext>
                </a:extLst>
              </p:cNvPr>
              <p:cNvSpPr txBox="1"/>
              <p:nvPr/>
            </p:nvSpPr>
            <p:spPr>
              <a:xfrm>
                <a:off x="6208059" y="1894642"/>
                <a:ext cx="2411341" cy="6771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Estimate and interpret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36E06AC4-6E55-8DB0-A0F7-6065F7CB3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059" y="1894642"/>
                <a:ext cx="2411341" cy="677108"/>
              </a:xfrm>
              <a:prstGeom prst="rect">
                <a:avLst/>
              </a:prstGeom>
              <a:blipFill>
                <a:blip r:embed="rId2"/>
                <a:stretch>
                  <a:fillRect t="-4505" b="-14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4">
            <a:extLst>
              <a:ext uri="{FF2B5EF4-FFF2-40B4-BE49-F238E27FC236}">
                <a16:creationId xmlns:a16="http://schemas.microsoft.com/office/drawing/2014/main" id="{3FBCFE98-CB09-B2BF-0DC1-37D955A93BB9}"/>
              </a:ext>
            </a:extLst>
          </p:cNvPr>
          <p:cNvSpPr txBox="1"/>
          <p:nvPr/>
        </p:nvSpPr>
        <p:spPr>
          <a:xfrm>
            <a:off x="169189" y="4190021"/>
            <a:ext cx="88395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>
                <a:solidFill>
                  <a:srgbClr val="F6B737"/>
                </a:solidFill>
                <a:latin typeface="Cambria Math"/>
              </a:defRPr>
            </a:pPr>
            <a:r>
              <a:rPr dirty="0"/>
              <a:t>one effect  →  treatment × covariate interaction  →  effect curve</a:t>
            </a:r>
          </a:p>
        </p:txBody>
      </p:sp>
    </p:spTree>
    <p:extLst>
      <p:ext uri="{BB962C8B-B14F-4D97-AF65-F5344CB8AC3E}">
        <p14:creationId xmlns:p14="http://schemas.microsoft.com/office/powerpoint/2010/main" val="3492433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BD26-E021-D2B1-60D5-FBE4C61C0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23D9F6-B2C2-A444-1AEF-C9EB8850F0D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The Basic Interaction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6AE75-6594-4612-EFDE-2B8BD23A5720}"/>
                  </a:ext>
                </a:extLst>
              </p:cNvPr>
              <p:cNvSpPr txBox="1"/>
              <p:nvPr/>
            </p:nvSpPr>
            <p:spPr>
              <a:xfrm>
                <a:off x="400472" y="1018442"/>
                <a:ext cx="8226625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9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276AE75-6594-4612-EFDE-2B8BD23A5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72" y="1018442"/>
                <a:ext cx="8226625" cy="5386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DD450FB3-6C50-FBDF-58A7-492EFE12D4CD}"/>
              </a:ext>
            </a:extLst>
          </p:cNvPr>
          <p:cNvSpPr/>
          <p:nvPr/>
        </p:nvSpPr>
        <p:spPr>
          <a:xfrm>
            <a:off x="169188" y="1908742"/>
            <a:ext cx="1945899" cy="204507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C7AE38-4EE7-EF84-C65F-BDAACF5C9012}"/>
                  </a:ext>
                </a:extLst>
              </p:cNvPr>
              <p:cNvSpPr txBox="1"/>
              <p:nvPr/>
            </p:nvSpPr>
            <p:spPr>
              <a:xfrm>
                <a:off x="333778" y="2018472"/>
                <a:ext cx="170010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9C7AE38-4EE7-EF84-C65F-BDAACF5C9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78" y="2018472"/>
                <a:ext cx="1700101" cy="346249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A76A19-485B-CA4B-367F-FEE4D45D826D}"/>
                  </a:ext>
                </a:extLst>
              </p:cNvPr>
              <p:cNvSpPr txBox="1"/>
              <p:nvPr/>
            </p:nvSpPr>
            <p:spPr>
              <a:xfrm>
                <a:off x="333778" y="2457382"/>
                <a:ext cx="1700101" cy="8309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Mean outcome when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and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A76A19-485B-CA4B-367F-FEE4D45D8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78" y="2457382"/>
                <a:ext cx="1700101" cy="830997"/>
              </a:xfrm>
              <a:prstGeom prst="rect">
                <a:avLst/>
              </a:prstGeom>
              <a:blipFill>
                <a:blip r:embed="rId4"/>
                <a:stretch>
                  <a:fillRect l="-2151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F784CC68-E27E-D21A-4487-44CD4016EF78}"/>
              </a:ext>
            </a:extLst>
          </p:cNvPr>
          <p:cNvSpPr/>
          <p:nvPr/>
        </p:nvSpPr>
        <p:spPr>
          <a:xfrm>
            <a:off x="2370594" y="1891458"/>
            <a:ext cx="1945899" cy="204507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8906B9-B527-4EC2-BBFA-A336021EF54B}"/>
                  </a:ext>
                </a:extLst>
              </p:cNvPr>
              <p:cNvSpPr txBox="1"/>
              <p:nvPr/>
            </p:nvSpPr>
            <p:spPr>
              <a:xfrm>
                <a:off x="2535185" y="2001188"/>
                <a:ext cx="170010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8906B9-B527-4EC2-BBFA-A336021EF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185" y="2001188"/>
                <a:ext cx="1700101" cy="346249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C3B8C3-1238-E10B-DE51-55D2879A1CE7}"/>
                  </a:ext>
                </a:extLst>
              </p:cNvPr>
              <p:cNvSpPr txBox="1"/>
              <p:nvPr/>
            </p:nvSpPr>
            <p:spPr>
              <a:xfrm>
                <a:off x="2535185" y="2440098"/>
                <a:ext cx="1700101" cy="58477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effect when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1C3B8C3-1238-E10B-DE51-55D2879A1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185" y="2440098"/>
                <a:ext cx="1700101" cy="584775"/>
              </a:xfrm>
              <a:prstGeom prst="rect">
                <a:avLst/>
              </a:prstGeom>
              <a:blipFill>
                <a:blip r:embed="rId6"/>
                <a:stretch>
                  <a:fillRect l="-2151" t="-3125" r="-358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FBADF917-6E51-8826-3CB7-73911A619FD7}"/>
              </a:ext>
            </a:extLst>
          </p:cNvPr>
          <p:cNvSpPr/>
          <p:nvPr/>
        </p:nvSpPr>
        <p:spPr>
          <a:xfrm>
            <a:off x="4572000" y="1908742"/>
            <a:ext cx="1945899" cy="204507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61201B-E619-0438-38F3-B1C40CD4D873}"/>
                  </a:ext>
                </a:extLst>
              </p:cNvPr>
              <p:cNvSpPr txBox="1"/>
              <p:nvPr/>
            </p:nvSpPr>
            <p:spPr>
              <a:xfrm>
                <a:off x="4736591" y="2018472"/>
                <a:ext cx="170010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F6B737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61201B-E619-0438-38F3-B1C40CD4D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91" y="2018472"/>
                <a:ext cx="1700101" cy="346249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3F62B4-72E7-ACAF-CD48-6BF39C93B8ED}"/>
                  </a:ext>
                </a:extLst>
              </p:cNvPr>
              <p:cNvSpPr txBox="1"/>
              <p:nvPr/>
            </p:nvSpPr>
            <p:spPr>
              <a:xfrm>
                <a:off x="4736591" y="2457382"/>
                <a:ext cx="1700101" cy="83099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Association of X with outcome when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3F62B4-72E7-ACAF-CD48-6BF39C93B8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91" y="2457382"/>
                <a:ext cx="1700101" cy="830997"/>
              </a:xfrm>
              <a:prstGeom prst="rect">
                <a:avLst/>
              </a:prstGeom>
              <a:blipFill>
                <a:blip r:embed="rId8"/>
                <a:stretch>
                  <a:fillRect l="-1792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975DBD1C-1D9B-C746-71DD-14E5042C3E1C}"/>
              </a:ext>
            </a:extLst>
          </p:cNvPr>
          <p:cNvSpPr/>
          <p:nvPr/>
        </p:nvSpPr>
        <p:spPr>
          <a:xfrm>
            <a:off x="6909432" y="1908743"/>
            <a:ext cx="1900790" cy="204507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B82029-7808-DC9B-8AF5-5172FEA5D707}"/>
                  </a:ext>
                </a:extLst>
              </p:cNvPr>
              <p:cNvSpPr txBox="1"/>
              <p:nvPr/>
            </p:nvSpPr>
            <p:spPr>
              <a:xfrm>
                <a:off x="7074023" y="2018473"/>
                <a:ext cx="1660690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C093E2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0B82029-7808-DC9B-8AF5-5172FEA5D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023" y="2018473"/>
                <a:ext cx="1660690" cy="346249"/>
              </a:xfrm>
              <a:prstGeom prst="rect">
                <a:avLst/>
              </a:prstGeom>
              <a:blipFill>
                <a:blip r:embed="rId9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F7EC1A6E-FE48-627C-3FA9-D3AE17CFF341}"/>
              </a:ext>
            </a:extLst>
          </p:cNvPr>
          <p:cNvSpPr txBox="1"/>
          <p:nvPr/>
        </p:nvSpPr>
        <p:spPr>
          <a:xfrm>
            <a:off x="7074023" y="2457383"/>
            <a:ext cx="166069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How the treatment effect changes as X changes.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E4E4A3-8150-F640-1323-F6E965B10F01}"/>
                  </a:ext>
                </a:extLst>
              </p:cNvPr>
              <p:cNvSpPr txBox="1"/>
              <p:nvPr/>
            </p:nvSpPr>
            <p:spPr>
              <a:xfrm>
                <a:off x="999392" y="4409082"/>
                <a:ext cx="747439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E66767"/>
                    </a:solidFill>
                    <a:latin typeface="Aptos"/>
                  </a:defRPr>
                </a:pPr>
                <a:r>
                  <a:rPr dirty="0"/>
                  <a:t>The interaction coefficient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dirty="0"/>
                  <a:t> is the key parameter for classical HTE.</a:t>
                </a: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0E4E4A3-8150-F640-1323-F6E965B10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392" y="4409082"/>
                <a:ext cx="7474398" cy="338554"/>
              </a:xfrm>
              <a:prstGeom prst="rect">
                <a:avLst/>
              </a:prstGeom>
              <a:blipFill>
                <a:blip r:embed="rId10"/>
                <a:stretch>
                  <a:fillRect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35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03019-83F5-5BA8-373E-A5CE00B65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98B77E-A98F-1A4A-570A-04F2A344F16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Deriving the Conditional Treatment Effect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0261A6-52FB-5DBA-C09C-B2E604E774A3}"/>
                  </a:ext>
                </a:extLst>
              </p:cNvPr>
              <p:cNvSpPr txBox="1"/>
              <p:nvPr/>
            </p:nvSpPr>
            <p:spPr>
              <a:xfrm>
                <a:off x="374970" y="1062743"/>
                <a:ext cx="8209865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64AEEB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0261A6-52FB-5DBA-C09C-B2E604E77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0" y="1062743"/>
                <a:ext cx="8209865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293471-6152-9A62-3AE1-16B259E5AAD7}"/>
                  </a:ext>
                </a:extLst>
              </p:cNvPr>
              <p:cNvSpPr txBox="1"/>
              <p:nvPr/>
            </p:nvSpPr>
            <p:spPr>
              <a:xfrm>
                <a:off x="374970" y="1749437"/>
                <a:ext cx="8209865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71CC94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D293471-6152-9A62-3AE1-16B259E5A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0" y="1749437"/>
                <a:ext cx="8209865" cy="4770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936787-6E00-E44A-6023-EFE0C3F6CDBB}"/>
                  </a:ext>
                </a:extLst>
              </p:cNvPr>
              <p:cNvSpPr txBox="1"/>
              <p:nvPr/>
            </p:nvSpPr>
            <p:spPr>
              <a:xfrm>
                <a:off x="374970" y="2281550"/>
                <a:ext cx="8209865" cy="569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31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1936787-6E00-E44A-6023-EFE0C3F6C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970" y="2281550"/>
                <a:ext cx="8209865" cy="5693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29BF0DF6-0DAE-1D37-1D2E-D6D0EE456349}"/>
              </a:ext>
            </a:extLst>
          </p:cNvPr>
          <p:cNvSpPr/>
          <p:nvPr/>
        </p:nvSpPr>
        <p:spPr>
          <a:xfrm>
            <a:off x="836922" y="3300179"/>
            <a:ext cx="2934532" cy="156115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34B214-ABA3-B485-31A7-B80553A6DA39}"/>
                  </a:ext>
                </a:extLst>
              </p:cNvPr>
              <p:cNvSpPr txBox="1"/>
              <p:nvPr/>
            </p:nvSpPr>
            <p:spPr>
              <a:xfrm>
                <a:off x="960637" y="3409907"/>
                <a:ext cx="2688850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34B214-ABA3-B485-31A7-B80553A6D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37" y="3409907"/>
                <a:ext cx="2688850" cy="346249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0145E7-3F08-78A1-4EA9-787FCFB9919E}"/>
                  </a:ext>
                </a:extLst>
              </p:cNvPr>
              <p:cNvSpPr txBox="1"/>
              <p:nvPr/>
            </p:nvSpPr>
            <p:spPr>
              <a:xfrm>
                <a:off x="960637" y="3913010"/>
                <a:ext cx="2688850" cy="58477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effect at the reference value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0145E7-3F08-78A1-4EA9-787FCFB99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37" y="3913010"/>
                <a:ext cx="2688850" cy="584775"/>
              </a:xfrm>
              <a:prstGeom prst="rect">
                <a:avLst/>
              </a:prstGeom>
              <a:blipFill>
                <a:blip r:embed="rId6"/>
                <a:stretch>
                  <a:fillRect l="-1361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20D4B874-8B59-B7FB-C3C2-5F032C5A6F35}"/>
              </a:ext>
            </a:extLst>
          </p:cNvPr>
          <p:cNvSpPr/>
          <p:nvPr/>
        </p:nvSpPr>
        <p:spPr>
          <a:xfrm>
            <a:off x="5408922" y="3300179"/>
            <a:ext cx="2934532" cy="156115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468B7D-0A23-ED5F-2206-2CA254C01193}"/>
                  </a:ext>
                </a:extLst>
              </p:cNvPr>
              <p:cNvSpPr txBox="1"/>
              <p:nvPr/>
            </p:nvSpPr>
            <p:spPr>
              <a:xfrm>
                <a:off x="5532637" y="3409907"/>
                <a:ext cx="2688850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C093E2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4468B7D-0A23-ED5F-2206-2CA254C01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637" y="3409907"/>
                <a:ext cx="2688850" cy="346249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40F948C-102F-58F9-35A0-71EFCED07863}"/>
              </a:ext>
            </a:extLst>
          </p:cNvPr>
          <p:cNvSpPr txBox="1"/>
          <p:nvPr/>
        </p:nvSpPr>
        <p:spPr>
          <a:xfrm>
            <a:off x="5618228" y="3913010"/>
            <a:ext cx="268885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Change in treatment effect for a one-unit increase in X.</a:t>
            </a:r>
          </a:p>
        </p:txBody>
      </p:sp>
    </p:spTree>
    <p:extLst>
      <p:ext uri="{BB962C8B-B14F-4D97-AF65-F5344CB8AC3E}">
        <p14:creationId xmlns:p14="http://schemas.microsoft.com/office/powerpoint/2010/main" val="36758643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D056-663F-B891-18A3-4997D0DE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D6E8-9F38-E590-9C8E-84943135020E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sz="2800" dirty="0">
                    <a:solidFill>
                      <a:srgbClr val="F4F1EA"/>
                    </a:solidFill>
                  </a:rPr>
                  <a:t> Mean? The Reference Value Matters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46D6E8-9F38-E590-9C8E-849431350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7C8F3B2-55FF-5F85-2E04-9245BE67F321}"/>
              </a:ext>
            </a:extLst>
          </p:cNvPr>
          <p:cNvSpPr/>
          <p:nvPr/>
        </p:nvSpPr>
        <p:spPr>
          <a:xfrm>
            <a:off x="169188" y="1372393"/>
            <a:ext cx="4212038" cy="223962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29B453-73DE-CCA6-4DDB-040D7BBBB8CE}"/>
                  </a:ext>
                </a:extLst>
              </p:cNvPr>
              <p:cNvSpPr txBox="1"/>
              <p:nvPr/>
            </p:nvSpPr>
            <p:spPr>
              <a:xfrm>
                <a:off x="333780" y="1482119"/>
                <a:ext cx="3938824" cy="3432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50" b="1">
                    <a:solidFill>
                      <a:srgbClr val="E66767"/>
                    </a:solidFill>
                    <a:latin typeface="Aptos"/>
                  </a:defRPr>
                </a:pPr>
                <a:r>
                  <a:rPr dirty="0"/>
                  <a:t>Suppose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𝑎𝑔𝑒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D29B453-73DE-CCA6-4DDB-040D7BBBB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80" y="1482119"/>
                <a:ext cx="3938824" cy="343225"/>
              </a:xfrm>
              <a:prstGeom prst="rect">
                <a:avLst/>
              </a:prstGeom>
              <a:blipFill>
                <a:blip r:embed="rId3"/>
                <a:stretch>
                  <a:fillRect l="-929" t="-3571" b="-26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22048D-1F2E-3350-A5B5-9F0576A7EEF0}"/>
                  </a:ext>
                </a:extLst>
              </p:cNvPr>
              <p:cNvSpPr txBox="1"/>
              <p:nvPr/>
            </p:nvSpPr>
            <p:spPr>
              <a:xfrm>
                <a:off x="333780" y="1921031"/>
                <a:ext cx="3938824" cy="15286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If age is entered directly,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dirty="0"/>
                  <a:t> means age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Then β₁ is the treatment effect at age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That may be mathematically valid but scientifically useless.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C22048D-1F2E-3350-A5B5-9F0576A7E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80" y="1921031"/>
                <a:ext cx="3938824" cy="1528624"/>
              </a:xfrm>
              <a:prstGeom prst="rect">
                <a:avLst/>
              </a:prstGeom>
              <a:blipFill>
                <a:blip r:embed="rId4"/>
                <a:stretch>
                  <a:fillRect l="-1084" t="-797" b="-4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45668B89-8184-EF23-9A34-EF71590C06EA}"/>
              </a:ext>
            </a:extLst>
          </p:cNvPr>
          <p:cNvSpPr/>
          <p:nvPr/>
        </p:nvSpPr>
        <p:spPr>
          <a:xfrm>
            <a:off x="4702325" y="1372393"/>
            <a:ext cx="4212038" cy="223962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6C6755-F56B-6864-00CD-27C1EC11171A}"/>
              </a:ext>
            </a:extLst>
          </p:cNvPr>
          <p:cNvSpPr txBox="1"/>
          <p:nvPr/>
        </p:nvSpPr>
        <p:spPr>
          <a:xfrm>
            <a:off x="4866917" y="1482119"/>
            <a:ext cx="3938824" cy="34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Better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0F2BFD-45AE-485E-7045-5BAE496B4899}"/>
                  </a:ext>
                </a:extLst>
              </p:cNvPr>
              <p:cNvSpPr txBox="1"/>
              <p:nvPr/>
            </p:nvSpPr>
            <p:spPr>
              <a:xfrm>
                <a:off x="4866917" y="1921031"/>
                <a:ext cx="3938824" cy="125594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Center age at a meaningful value.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For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 − 50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dirty="0"/>
                  <a:t> becomes the treatment effect at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B0F2BFD-45AE-485E-7045-5BAE496B4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17" y="1921031"/>
                <a:ext cx="3938824" cy="1255947"/>
              </a:xfrm>
              <a:prstGeom prst="rect">
                <a:avLst/>
              </a:prstGeom>
              <a:blipFill>
                <a:blip r:embed="rId5"/>
                <a:stretch>
                  <a:fillRect l="-927" t="-971" b="-6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C8DFE5B-77E2-A1DD-EC79-8FE40ADC38CE}"/>
              </a:ext>
            </a:extLst>
          </p:cNvPr>
          <p:cNvSpPr txBox="1"/>
          <p:nvPr/>
        </p:nvSpPr>
        <p:spPr>
          <a:xfrm>
            <a:off x="333780" y="3944716"/>
            <a:ext cx="82950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6B737"/>
                </a:solidFill>
                <a:latin typeface="Aptos"/>
              </a:defRPr>
            </a:pPr>
            <a:r>
              <a:rPr sz="2000" dirty="0"/>
              <a:t>Main lesson: with an interaction, the 'treatment coefficient' is conditional on the coding of X.</a:t>
            </a:r>
          </a:p>
        </p:txBody>
      </p:sp>
    </p:spTree>
    <p:extLst>
      <p:ext uri="{BB962C8B-B14F-4D97-AF65-F5344CB8AC3E}">
        <p14:creationId xmlns:p14="http://schemas.microsoft.com/office/powerpoint/2010/main" val="1406637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9C9FA-0046-7A22-EDEC-BAF200C26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875590-25BF-1401-0F5C-3FDDF7EA28AD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el-GR" sz="2800" dirty="0">
                    <a:solidFill>
                      <a:srgbClr val="F4F1EA"/>
                    </a:solidFill>
                  </a:rPr>
                  <a:t> </a:t>
                </a:r>
                <a:r>
                  <a:rPr lang="en-US" sz="2800" dirty="0">
                    <a:solidFill>
                      <a:srgbClr val="F4F1EA"/>
                    </a:solidFill>
                  </a:rPr>
                  <a:t>Mean?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875590-25BF-1401-0F5C-3FDDF7EA2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09EFF54-0ABF-04D6-F2F4-010BB9A9C43B}"/>
              </a:ext>
            </a:extLst>
          </p:cNvPr>
          <p:cNvSpPr txBox="1"/>
          <p:nvPr/>
        </p:nvSpPr>
        <p:spPr>
          <a:xfrm>
            <a:off x="600938" y="964066"/>
            <a:ext cx="7654975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>
                <a:solidFill>
                  <a:srgbClr val="C093E2"/>
                </a:solidFill>
                <a:latin typeface="Cambria Math"/>
              </a:defRPr>
            </a:pPr>
            <a:r>
              <a:rPr dirty="0"/>
              <a:t>τ(x+1) − τ(x) = β₃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DD4BEE4A-BF3C-4917-2C18-8259F12B041F}"/>
              </a:ext>
            </a:extLst>
          </p:cNvPr>
          <p:cNvSpPr/>
          <p:nvPr/>
        </p:nvSpPr>
        <p:spPr>
          <a:xfrm>
            <a:off x="250965" y="1976527"/>
            <a:ext cx="2435854" cy="2056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47A5D6-2BE5-E5C9-D41A-F76A428F0517}"/>
                  </a:ext>
                </a:extLst>
              </p:cNvPr>
              <p:cNvSpPr txBox="1"/>
              <p:nvPr/>
            </p:nvSpPr>
            <p:spPr>
              <a:xfrm>
                <a:off x="415558" y="2086255"/>
                <a:ext cx="2133488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 &gt; 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47A5D6-2BE5-E5C9-D41A-F76A428F0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58" y="2086255"/>
                <a:ext cx="2133488" cy="346249"/>
              </a:xfrm>
              <a:prstGeom prst="rect">
                <a:avLst/>
              </a:prstGeom>
              <a:blipFill>
                <a:blip r:embed="rId3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72B3B5-0488-9AF4-734D-F755A94D6C0B}"/>
              </a:ext>
            </a:extLst>
          </p:cNvPr>
          <p:cNvSpPr txBox="1"/>
          <p:nvPr/>
        </p:nvSpPr>
        <p:spPr>
          <a:xfrm>
            <a:off x="415558" y="2525168"/>
            <a:ext cx="2133488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benefit becomes more positive as X increases.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47E707DC-27D4-5181-B486-345EEFA0A1A6}"/>
              </a:ext>
            </a:extLst>
          </p:cNvPr>
          <p:cNvSpPr/>
          <p:nvPr/>
        </p:nvSpPr>
        <p:spPr>
          <a:xfrm>
            <a:off x="3333781" y="1976527"/>
            <a:ext cx="2435854" cy="20561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F1DDD-0670-4B50-AF48-B57E6D5F41B4}"/>
                  </a:ext>
                </a:extLst>
              </p:cNvPr>
              <p:cNvSpPr txBox="1"/>
              <p:nvPr/>
            </p:nvSpPr>
            <p:spPr>
              <a:xfrm>
                <a:off x="3498374" y="2086255"/>
                <a:ext cx="2133488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 = 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0F1DDD-0670-4B50-AF48-B57E6D5F4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374" y="2086255"/>
                <a:ext cx="2133488" cy="346249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4290C8B0-BD8F-0BE5-5CDA-E1230C3AEDD3}"/>
              </a:ext>
            </a:extLst>
          </p:cNvPr>
          <p:cNvSpPr txBox="1"/>
          <p:nvPr/>
        </p:nvSpPr>
        <p:spPr>
          <a:xfrm>
            <a:off x="3498374" y="2525167"/>
            <a:ext cx="213348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No evidence of linear effect modification by X.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04A4BCA3-2B7E-571B-2088-41CD7093A8FB}"/>
              </a:ext>
            </a:extLst>
          </p:cNvPr>
          <p:cNvSpPr/>
          <p:nvPr/>
        </p:nvSpPr>
        <p:spPr>
          <a:xfrm>
            <a:off x="6364997" y="1940397"/>
            <a:ext cx="2435854" cy="210851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A5A9AC-1462-1AC6-5992-4152B119AD31}"/>
                  </a:ext>
                </a:extLst>
              </p:cNvPr>
              <p:cNvSpPr txBox="1"/>
              <p:nvPr/>
            </p:nvSpPr>
            <p:spPr>
              <a:xfrm>
                <a:off x="6529590" y="2050125"/>
                <a:ext cx="219885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E66767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 &lt; 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A5A9AC-1462-1AC6-5992-4152B119A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9590" y="2050125"/>
                <a:ext cx="2198852" cy="346249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0B262DF-4832-99BB-DDCA-B0A464628F2E}"/>
              </a:ext>
            </a:extLst>
          </p:cNvPr>
          <p:cNvSpPr txBox="1"/>
          <p:nvPr/>
        </p:nvSpPr>
        <p:spPr>
          <a:xfrm>
            <a:off x="6529590" y="2489037"/>
            <a:ext cx="2198852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Treatment effect becomes less positive or more harmful as X increases.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DF14F5-C206-2FBB-4E31-65A890815132}"/>
                  </a:ext>
                </a:extLst>
              </p:cNvPr>
              <p:cNvSpPr txBox="1"/>
              <p:nvPr/>
            </p:nvSpPr>
            <p:spPr>
              <a:xfrm>
                <a:off x="250966" y="4430672"/>
                <a:ext cx="8893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00" b="1">
                    <a:solidFill>
                      <a:srgbClr val="F6B737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sz="20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sz="2000"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sz="2000" dirty="0"/>
                  <a:t> describes a difference in effects, not merely a difference in outcomes.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DF14F5-C206-2FBB-4E31-65A890815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66" y="4430672"/>
                <a:ext cx="8893034" cy="400110"/>
              </a:xfrm>
              <a:prstGeom prst="rect">
                <a:avLst/>
              </a:prstGeom>
              <a:blipFill>
                <a:blip r:embed="rId6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2247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2E8C2-734D-C49A-E529-F739FC4D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C043AE-B1CB-3A9D-16A8-0F443B539BA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Binary Effect Modifier: Diabetes Status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60D010-EE31-BF28-531E-2E8456436B75}"/>
                  </a:ext>
                </a:extLst>
              </p:cNvPr>
              <p:cNvSpPr txBox="1"/>
              <p:nvPr/>
            </p:nvSpPr>
            <p:spPr>
              <a:xfrm>
                <a:off x="542845" y="977179"/>
                <a:ext cx="759799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]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₀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₂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60D010-EE31-BF28-531E-2E8456436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45" y="977179"/>
                <a:ext cx="7597996" cy="4770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53547D2-4BCC-D705-A876-B771E8F8BB6C}"/>
              </a:ext>
            </a:extLst>
          </p:cNvPr>
          <p:cNvSpPr/>
          <p:nvPr/>
        </p:nvSpPr>
        <p:spPr>
          <a:xfrm>
            <a:off x="609814" y="1966604"/>
            <a:ext cx="3505310" cy="215574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D323AF-4C90-00AE-EA15-5A26CC3C92A1}"/>
              </a:ext>
            </a:extLst>
          </p:cNvPr>
          <p:cNvSpPr txBox="1"/>
          <p:nvPr/>
        </p:nvSpPr>
        <p:spPr>
          <a:xfrm>
            <a:off x="774406" y="2076332"/>
            <a:ext cx="327793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D = 0: no diabetes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67F1-29C4-43AA-4612-199B7A269760}"/>
                  </a:ext>
                </a:extLst>
              </p:cNvPr>
              <p:cNvSpPr txBox="1"/>
              <p:nvPr/>
            </p:nvSpPr>
            <p:spPr>
              <a:xfrm>
                <a:off x="774406" y="2515244"/>
                <a:ext cx="3277939" cy="74122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Example: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 = −3</m:t>
                    </m:r>
                  </m:oMath>
                </a14:m>
                <a:r>
                  <a:rPr dirty="0"/>
                  <a:t> mmHg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4E67F1-29C4-43AA-4612-199B7A269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406" y="2515244"/>
                <a:ext cx="3277939" cy="741229"/>
              </a:xfrm>
              <a:prstGeom prst="rect">
                <a:avLst/>
              </a:prstGeom>
              <a:blipFill>
                <a:blip r:embed="rId3"/>
                <a:stretch>
                  <a:fillRect l="-1673" t="-4132" b="-140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65774609-FE27-9C95-F7CE-896B65CD6F85}"/>
              </a:ext>
            </a:extLst>
          </p:cNvPr>
          <p:cNvSpPr/>
          <p:nvPr/>
        </p:nvSpPr>
        <p:spPr>
          <a:xfrm>
            <a:off x="4964161" y="1966851"/>
            <a:ext cx="3505310" cy="215574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3B76C8-A685-0039-82A6-ACB13C8823DF}"/>
                  </a:ext>
                </a:extLst>
              </p:cNvPr>
              <p:cNvSpPr txBox="1"/>
              <p:nvPr/>
            </p:nvSpPr>
            <p:spPr>
              <a:xfrm>
                <a:off x="5128753" y="2076579"/>
                <a:ext cx="3277939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dirty="0"/>
                  <a:t>: diabetes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3B76C8-A685-0039-82A6-ACB13C882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753" y="2076579"/>
                <a:ext cx="3277939" cy="346249"/>
              </a:xfrm>
              <a:prstGeom prst="rect">
                <a:avLst/>
              </a:prstGeom>
              <a:blipFill>
                <a:blip r:embed="rId4"/>
                <a:stretch>
                  <a:fillRect t="-53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E35EAB-0726-E917-032A-F6C2F6A7905F}"/>
                  </a:ext>
                </a:extLst>
              </p:cNvPr>
              <p:cNvSpPr txBox="1"/>
              <p:nvPr/>
            </p:nvSpPr>
            <p:spPr>
              <a:xfrm>
                <a:off x="5128753" y="2515491"/>
                <a:ext cx="3277939" cy="103361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Treatment effect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 +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endParaRPr dirty="0"/>
              </a:p>
              <a:p>
                <a:pPr>
                  <a:spcAft>
                    <a:spcPts val="500"/>
                  </a:spcAft>
                  <a:defRPr sz="19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Example: β₃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−5 →</m:t>
                    </m:r>
                  </m:oMath>
                </a14:m>
                <a:r>
                  <a:rPr dirty="0"/>
                  <a:t> effect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−8</m:t>
                    </m:r>
                  </m:oMath>
                </a14:m>
                <a:r>
                  <a:rPr dirty="0"/>
                  <a:t> mmHg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AE35EAB-0726-E917-032A-F6C2F6A7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753" y="2515491"/>
                <a:ext cx="3277939" cy="1033616"/>
              </a:xfrm>
              <a:prstGeom prst="rect">
                <a:avLst/>
              </a:prstGeom>
              <a:blipFill>
                <a:blip r:embed="rId5"/>
                <a:stretch>
                  <a:fillRect l="-1673" t="-2959" b="-9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9D75CC0-9C53-B07E-3B58-8180B6D64BAA}"/>
              </a:ext>
            </a:extLst>
          </p:cNvPr>
          <p:cNvSpPr txBox="1"/>
          <p:nvPr/>
        </p:nvSpPr>
        <p:spPr>
          <a:xfrm>
            <a:off x="1039326" y="4415194"/>
            <a:ext cx="69032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6B737"/>
                </a:solidFill>
                <a:latin typeface="Aptos"/>
              </a:defRPr>
            </a:pPr>
            <a:r>
              <a:rPr dirty="0"/>
              <a:t>The interaction asks whether the treatment effect differs by diabetes status.</a:t>
            </a:r>
          </a:p>
        </p:txBody>
      </p:sp>
    </p:spTree>
    <p:extLst>
      <p:ext uri="{BB962C8B-B14F-4D97-AF65-F5344CB8AC3E}">
        <p14:creationId xmlns:p14="http://schemas.microsoft.com/office/powerpoint/2010/main" val="10869664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8B0F5-61B6-46F3-A90D-C22EAD4E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24E6E8-FDF9-EC3C-C691-F78D3E73607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Worked Example: Read the Interaction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51FC1A-EF42-A4C0-259B-EA5FC6EB5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797908"/>
              </p:ext>
            </p:extLst>
          </p:nvPr>
        </p:nvGraphicFramePr>
        <p:xfrm>
          <a:off x="922303" y="1359441"/>
          <a:ext cx="7460255" cy="2122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8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7509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Control mean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Treatment mean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6B737"/>
                          </a:solidFill>
                          <a:latin typeface="Aptos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509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No diabetes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rPr dirty="0"/>
                        <a:t>127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−3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7509"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Diabetes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137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rPr dirty="0"/>
                        <a:t>−8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7FC450-570E-C04F-92E9-CDE2835FED86}"/>
                  </a:ext>
                </a:extLst>
              </p:cNvPr>
              <p:cNvSpPr txBox="1"/>
              <p:nvPr/>
            </p:nvSpPr>
            <p:spPr>
              <a:xfrm>
                <a:off x="371233" y="3760404"/>
                <a:ext cx="8401534" cy="507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700">
                    <a:solidFill>
                      <a:srgbClr val="C093E2"/>
                    </a:solidFill>
                    <a:latin typeface="Cambria Math"/>
                  </a:defRPr>
                </a:pPr>
                <a:r>
                  <a:rPr dirty="0"/>
                  <a:t>Difference in treatment effects =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(−8) − (−3) = −5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7FC450-570E-C04F-92E9-CDE2835FE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33" y="3760404"/>
                <a:ext cx="8401534" cy="507831"/>
              </a:xfrm>
              <a:prstGeom prst="rect">
                <a:avLst/>
              </a:prstGeom>
              <a:blipFill>
                <a:blip r:embed="rId2"/>
                <a:stretch>
                  <a:fillRect t="-12048" b="-30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725D2AB-4887-7217-8EB4-911B794AFCFE}"/>
              </a:ext>
            </a:extLst>
          </p:cNvPr>
          <p:cNvSpPr txBox="1"/>
          <p:nvPr/>
        </p:nvSpPr>
        <p:spPr>
          <a:xfrm>
            <a:off x="1296902" y="4392573"/>
            <a:ext cx="72804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6B737"/>
                </a:solidFill>
                <a:latin typeface="Aptos"/>
              </a:defRPr>
            </a:pPr>
            <a:r>
              <a:rPr dirty="0"/>
              <a:t>That difference corresponds to the interaction coefficient β₃.</a:t>
            </a:r>
          </a:p>
        </p:txBody>
      </p:sp>
    </p:spTree>
    <p:extLst>
      <p:ext uri="{BB962C8B-B14F-4D97-AF65-F5344CB8AC3E}">
        <p14:creationId xmlns:p14="http://schemas.microsoft.com/office/powerpoint/2010/main" val="3644425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3C4E7-3D84-52B8-85A3-780CB960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D1AD7-3D31-5D6F-E7DB-F2AF44C0BFA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Continuous Effect Modifier: Baseline Severity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5B2C01-E22F-9F91-BE23-16007D8B586C}"/>
                  </a:ext>
                </a:extLst>
              </p:cNvPr>
              <p:cNvSpPr txBox="1"/>
              <p:nvPr/>
            </p:nvSpPr>
            <p:spPr>
              <a:xfrm>
                <a:off x="344380" y="982685"/>
                <a:ext cx="7563675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9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 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5B2C01-E22F-9F91-BE23-16007D8B5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80" y="982685"/>
                <a:ext cx="7563675" cy="5386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7EBBA36D-1326-F220-E7FD-6C6EF262B92D}"/>
              </a:ext>
            </a:extLst>
          </p:cNvPr>
          <p:cNvSpPr/>
          <p:nvPr/>
        </p:nvSpPr>
        <p:spPr>
          <a:xfrm>
            <a:off x="527260" y="2171405"/>
            <a:ext cx="2294881" cy="16769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742FC-5FD8-8F39-09CE-3AB9A96C2D87}"/>
              </a:ext>
            </a:extLst>
          </p:cNvPr>
          <p:cNvSpPr txBox="1"/>
          <p:nvPr/>
        </p:nvSpPr>
        <p:spPr>
          <a:xfrm>
            <a:off x="691853" y="2281132"/>
            <a:ext cx="20685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Example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D45E14-132C-5017-8537-76510918E9A8}"/>
                  </a:ext>
                </a:extLst>
              </p:cNvPr>
              <p:cNvSpPr txBox="1"/>
              <p:nvPr/>
            </p:nvSpPr>
            <p:spPr>
              <a:xfrm>
                <a:off x="691853" y="2891886"/>
                <a:ext cx="2068536" cy="83612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₁ = −2</m:t>
                      </m:r>
                    </m:oMath>
                  </m:oMathPara>
                </a14:m>
                <a:endParaRPr dirty="0"/>
              </a:p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₃ = −1.5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FD45E14-132C-5017-8537-76510918E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53" y="2891886"/>
                <a:ext cx="2068536" cy="836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6575F1AA-0656-5837-A22F-7832C871C95A}"/>
              </a:ext>
            </a:extLst>
          </p:cNvPr>
          <p:cNvSpPr/>
          <p:nvPr/>
        </p:nvSpPr>
        <p:spPr>
          <a:xfrm>
            <a:off x="3424559" y="2171405"/>
            <a:ext cx="2294881" cy="16769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8246B9-08E5-FDA8-876F-676EC451BC45}"/>
              </a:ext>
            </a:extLst>
          </p:cNvPr>
          <p:cNvSpPr txBox="1"/>
          <p:nvPr/>
        </p:nvSpPr>
        <p:spPr>
          <a:xfrm>
            <a:off x="3589152" y="2281133"/>
            <a:ext cx="206853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At X = 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A4EB8F-2F99-E790-AB95-FBFFBB180545}"/>
                  </a:ext>
                </a:extLst>
              </p:cNvPr>
              <p:cNvSpPr txBox="1"/>
              <p:nvPr/>
            </p:nvSpPr>
            <p:spPr>
              <a:xfrm>
                <a:off x="3589152" y="2720044"/>
                <a:ext cx="2068536" cy="4642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 = −2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1A4EB8F-2F99-E790-AB95-FBFFBB180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152" y="2720044"/>
                <a:ext cx="2068536" cy="464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D0304CF2-970C-B155-C8FC-AAF2F9380019}"/>
              </a:ext>
            </a:extLst>
          </p:cNvPr>
          <p:cNvSpPr/>
          <p:nvPr/>
        </p:nvSpPr>
        <p:spPr>
          <a:xfrm>
            <a:off x="6237938" y="2171405"/>
            <a:ext cx="2294881" cy="16309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BE2798-9C7A-F4F6-8CB3-91980E23FBCB}"/>
              </a:ext>
            </a:extLst>
          </p:cNvPr>
          <p:cNvSpPr txBox="1"/>
          <p:nvPr/>
        </p:nvSpPr>
        <p:spPr>
          <a:xfrm>
            <a:off x="6402531" y="2281133"/>
            <a:ext cx="206853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At X =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AD5494-CC06-D3CE-CEB4-6AFA598E27D4}"/>
                  </a:ext>
                </a:extLst>
              </p:cNvPr>
              <p:cNvSpPr txBox="1"/>
              <p:nvPr/>
            </p:nvSpPr>
            <p:spPr>
              <a:xfrm>
                <a:off x="6402531" y="2720044"/>
                <a:ext cx="2068536" cy="91063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(4) = −2 − 1.5×4 = −8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0AD5494-CC06-D3CE-CEB4-6AFA598E2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531" y="2720044"/>
                <a:ext cx="2068536" cy="9106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7FD989-0420-A265-CC0A-04A2EF64E42C}"/>
                  </a:ext>
                </a:extLst>
              </p:cNvPr>
              <p:cNvSpPr txBox="1"/>
              <p:nvPr/>
            </p:nvSpPr>
            <p:spPr>
              <a:xfrm>
                <a:off x="1035989" y="4221487"/>
                <a:ext cx="6872066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500" b="1">
                    <a:solidFill>
                      <a:srgbClr val="F6B737"/>
                    </a:solidFill>
                    <a:latin typeface="Aptos"/>
                  </a:defRPr>
                </a:pPr>
                <a:r>
                  <a:rPr dirty="0"/>
                  <a:t>A negative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dirty="0"/>
                  <a:t> means the treatment becomes increasingly beneficial as severity increases, when lower Y is better.</a:t>
                </a: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D7FD989-0420-A265-CC0A-04A2EF64E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89" y="4221487"/>
                <a:ext cx="6872066" cy="553998"/>
              </a:xfrm>
              <a:prstGeom prst="rect">
                <a:avLst/>
              </a:prstGeom>
              <a:blipFill>
                <a:blip r:embed="rId6"/>
                <a:stretch>
                  <a:fillRect t="-2222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6377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C1D6-03DF-DA84-AB90-6B2C8F9DE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3C247-1C32-2A54-8E5D-24093830A4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Treatment Effect as a Function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66D9C23-BD2A-B813-7DFE-AD27A87A1B6B}"/>
              </a:ext>
            </a:extLst>
          </p:cNvPr>
          <p:cNvSpPr/>
          <p:nvPr/>
        </p:nvSpPr>
        <p:spPr>
          <a:xfrm>
            <a:off x="60390" y="1342655"/>
            <a:ext cx="1867086" cy="16673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C81283-DAB1-9C6C-8387-15260F827764}"/>
                  </a:ext>
                </a:extLst>
              </p:cNvPr>
              <p:cNvSpPr txBox="1"/>
              <p:nvPr/>
            </p:nvSpPr>
            <p:spPr>
              <a:xfrm>
                <a:off x="224982" y="1452382"/>
                <a:ext cx="162703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C81283-DAB1-9C6C-8387-15260F82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2" y="1452382"/>
                <a:ext cx="1627032" cy="3462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FC9961-30A0-9B6B-14F4-7E2C7C080C15}"/>
                  </a:ext>
                </a:extLst>
              </p:cNvPr>
              <p:cNvSpPr txBox="1"/>
              <p:nvPr/>
            </p:nvSpPr>
            <p:spPr>
              <a:xfrm>
                <a:off x="224982" y="1891294"/>
                <a:ext cx="1627032" cy="4642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(0) = −2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0FC9961-30A0-9B6B-14F4-7E2C7C080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82" y="1891294"/>
                <a:ext cx="1627032" cy="464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7DDB1D0E-79FD-6EEE-D778-F980EC7B13AC}"/>
              </a:ext>
            </a:extLst>
          </p:cNvPr>
          <p:cNvSpPr/>
          <p:nvPr/>
        </p:nvSpPr>
        <p:spPr>
          <a:xfrm>
            <a:off x="2337378" y="1319709"/>
            <a:ext cx="1867086" cy="16673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5BC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F3DE07-39FA-9F17-633C-5F1DB27ECD48}"/>
                  </a:ext>
                </a:extLst>
              </p:cNvPr>
              <p:cNvSpPr txBox="1"/>
              <p:nvPr/>
            </p:nvSpPr>
            <p:spPr>
              <a:xfrm>
                <a:off x="2501970" y="1429436"/>
                <a:ext cx="162703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5BC7C2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2F3DE07-39FA-9F17-633C-5F1DB27EC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970" y="1429436"/>
                <a:ext cx="1627032" cy="346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FE172E-77B2-0791-BEDD-0DE09050DC63}"/>
                  </a:ext>
                </a:extLst>
              </p:cNvPr>
              <p:cNvSpPr txBox="1"/>
              <p:nvPr/>
            </p:nvSpPr>
            <p:spPr>
              <a:xfrm>
                <a:off x="2501970" y="1868348"/>
                <a:ext cx="1627032" cy="4642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(1) = −3.5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FE172E-77B2-0791-BEDD-0DE09050D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970" y="1868348"/>
                <a:ext cx="1627032" cy="4642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0">
            <a:extLst>
              <a:ext uri="{FF2B5EF4-FFF2-40B4-BE49-F238E27FC236}">
                <a16:creationId xmlns:a16="http://schemas.microsoft.com/office/drawing/2014/main" id="{9478A89E-1709-A9F4-C0D9-890D57F4690F}"/>
              </a:ext>
            </a:extLst>
          </p:cNvPr>
          <p:cNvSpPr/>
          <p:nvPr/>
        </p:nvSpPr>
        <p:spPr>
          <a:xfrm>
            <a:off x="4614366" y="1312893"/>
            <a:ext cx="1867086" cy="1697061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2F55EC-8165-CFDD-14A6-32977D100ADA}"/>
                  </a:ext>
                </a:extLst>
              </p:cNvPr>
              <p:cNvSpPr txBox="1"/>
              <p:nvPr/>
            </p:nvSpPr>
            <p:spPr>
              <a:xfrm>
                <a:off x="4778957" y="1422621"/>
                <a:ext cx="162703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2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12F55EC-8165-CFDD-14A6-32977D100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957" y="1422621"/>
                <a:ext cx="1627032" cy="34624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1F9149-2AC6-20F3-9F3E-1C301F0E0B12}"/>
                  </a:ext>
                </a:extLst>
              </p:cNvPr>
              <p:cNvSpPr txBox="1"/>
              <p:nvPr/>
            </p:nvSpPr>
            <p:spPr>
              <a:xfrm>
                <a:off x="4778957" y="1861533"/>
                <a:ext cx="1627032" cy="4642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(2) = −5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1F9149-2AC6-20F3-9F3E-1C301F0E0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957" y="1861533"/>
                <a:ext cx="1627032" cy="4642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ounded Rectangle 13">
            <a:extLst>
              <a:ext uri="{FF2B5EF4-FFF2-40B4-BE49-F238E27FC236}">
                <a16:creationId xmlns:a16="http://schemas.microsoft.com/office/drawing/2014/main" id="{9FB24288-FB6D-4108-9FCE-F478850B956D}"/>
              </a:ext>
            </a:extLst>
          </p:cNvPr>
          <p:cNvSpPr/>
          <p:nvPr/>
        </p:nvSpPr>
        <p:spPr>
          <a:xfrm>
            <a:off x="6806622" y="1312893"/>
            <a:ext cx="1809540" cy="167411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2362341-4033-55A5-122F-5406752B5AD8}"/>
                  </a:ext>
                </a:extLst>
              </p:cNvPr>
              <p:cNvSpPr txBox="1"/>
              <p:nvPr/>
            </p:nvSpPr>
            <p:spPr>
              <a:xfrm>
                <a:off x="6971214" y="1422620"/>
                <a:ext cx="1627032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650" b="1">
                    <a:solidFill>
                      <a:srgbClr val="C093E2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 = 4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2362341-4033-55A5-122F-5406752B5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214" y="1422620"/>
                <a:ext cx="1627032" cy="3462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CD3D2C-43FD-C836-0B0D-78E27A6C0A78}"/>
                  </a:ext>
                </a:extLst>
              </p:cNvPr>
              <p:cNvSpPr txBox="1"/>
              <p:nvPr/>
            </p:nvSpPr>
            <p:spPr>
              <a:xfrm>
                <a:off x="6971214" y="1861532"/>
                <a:ext cx="1627032" cy="4642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20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(4) = −8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CD3D2C-43FD-C836-0B0D-78E27A6C0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214" y="1861532"/>
                <a:ext cx="1627032" cy="4642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CA86930C-7E1F-C965-4778-50C64A55520E}"/>
              </a:ext>
            </a:extLst>
          </p:cNvPr>
          <p:cNvSpPr txBox="1"/>
          <p:nvPr/>
        </p:nvSpPr>
        <p:spPr>
          <a:xfrm>
            <a:off x="1038498" y="4045183"/>
            <a:ext cx="72883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6767"/>
                </a:solidFill>
                <a:latin typeface="Aptos"/>
              </a:defRPr>
            </a:pPr>
            <a:r>
              <a:rPr sz="2000" dirty="0"/>
              <a:t>For a continuous modifier, avoid forcing everyone into arbitrary 'low' and 'high' groups.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1EEEBC-6CED-CD54-7D65-D51B51E555A8}"/>
              </a:ext>
            </a:extLst>
          </p:cNvPr>
          <p:cNvSpPr txBox="1"/>
          <p:nvPr/>
        </p:nvSpPr>
        <p:spPr>
          <a:xfrm>
            <a:off x="594360" y="5532120"/>
            <a:ext cx="802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t>Better: estimate and plot τ(x) across the clinically relevant range of X.</a:t>
            </a:r>
          </a:p>
        </p:txBody>
      </p:sp>
    </p:spTree>
    <p:extLst>
      <p:ext uri="{BB962C8B-B14F-4D97-AF65-F5344CB8AC3E}">
        <p14:creationId xmlns:p14="http://schemas.microsoft.com/office/powerpoint/2010/main" val="2857791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F259-1D9C-3A16-96F9-01BB3532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B03997-A8E2-869C-0353-785724A4F8F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Centering a Continuous Modifier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4D3F08-19CD-A81A-4FF3-5791B5C5E9FC}"/>
              </a:ext>
            </a:extLst>
          </p:cNvPr>
          <p:cNvSpPr txBox="1"/>
          <p:nvPr/>
        </p:nvSpPr>
        <p:spPr>
          <a:xfrm>
            <a:off x="594360" y="5532120"/>
            <a:ext cx="80218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t>Better: estimate and plot τ(x) across the clinically relevant range of X.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AC1F6-E584-4B27-6ACC-D62EDD0C8DAE}"/>
                  </a:ext>
                </a:extLst>
              </p:cNvPr>
              <p:cNvSpPr txBox="1"/>
              <p:nvPr/>
            </p:nvSpPr>
            <p:spPr>
              <a:xfrm>
                <a:off x="786746" y="1079658"/>
                <a:ext cx="7168172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30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 − 50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4AC1F6-E584-4B27-6ACC-D62EDD0C8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46" y="1079658"/>
                <a:ext cx="7168172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55688129-DC39-A271-997C-FAC78AB1295E}"/>
              </a:ext>
            </a:extLst>
          </p:cNvPr>
          <p:cNvSpPr/>
          <p:nvPr/>
        </p:nvSpPr>
        <p:spPr>
          <a:xfrm>
            <a:off x="237775" y="1904166"/>
            <a:ext cx="2605954" cy="17517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392FD8-2E5B-AAB4-4682-C8CF49516D51}"/>
              </a:ext>
            </a:extLst>
          </p:cNvPr>
          <p:cNvSpPr txBox="1"/>
          <p:nvPr/>
        </p:nvSpPr>
        <p:spPr>
          <a:xfrm>
            <a:off x="402368" y="2013895"/>
            <a:ext cx="235907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At age 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EB120F-1077-198D-3431-E92DECC72DF6}"/>
                  </a:ext>
                </a:extLst>
              </p:cNvPr>
              <p:cNvSpPr txBox="1"/>
              <p:nvPr/>
            </p:nvSpPr>
            <p:spPr>
              <a:xfrm>
                <a:off x="402368" y="2452807"/>
                <a:ext cx="2359074" cy="87716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₁</m:t>
                    </m:r>
                  </m:oMath>
                </a14:m>
                <a:r>
                  <a:rPr lang="en-US" dirty="0"/>
                  <a:t> is the treatment effect at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EB120F-1077-198D-3431-E92DECC72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68" y="2452807"/>
                <a:ext cx="2359074" cy="877163"/>
              </a:xfrm>
              <a:prstGeom prst="rect">
                <a:avLst/>
              </a:prstGeom>
              <a:blipFill>
                <a:blip r:embed="rId3"/>
                <a:stretch>
                  <a:fillRect l="-1550" t="-1389" r="-1292"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D2D6FF2C-F036-5BB9-0EF4-C27F3E046F5A}"/>
              </a:ext>
            </a:extLst>
          </p:cNvPr>
          <p:cNvSpPr/>
          <p:nvPr/>
        </p:nvSpPr>
        <p:spPr>
          <a:xfrm>
            <a:off x="3269023" y="1893337"/>
            <a:ext cx="2605954" cy="17517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C013D5-DF6B-71DE-2A20-67FE33D2DB99}"/>
              </a:ext>
            </a:extLst>
          </p:cNvPr>
          <p:cNvSpPr txBox="1"/>
          <p:nvPr/>
        </p:nvSpPr>
        <p:spPr>
          <a:xfrm>
            <a:off x="3433616" y="2003066"/>
            <a:ext cx="235907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At age 60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A98B41-C1DD-2880-FB08-4173D420D785}"/>
                  </a:ext>
                </a:extLst>
              </p:cNvPr>
              <p:cNvSpPr txBox="1"/>
              <p:nvPr/>
            </p:nvSpPr>
            <p:spPr>
              <a:xfrm>
                <a:off x="3433616" y="2441978"/>
                <a:ext cx="2359074" cy="679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i="1" dirty="0">
                        <a:latin typeface="Cambria Math" panose="02040503050406030204" pitchFamily="18" charset="0"/>
                      </a:rPr>
                      <m:t> = 10</m:t>
                    </m:r>
                  </m:oMath>
                </a14:m>
                <a:r>
                  <a:rPr lang="de-DE" dirty="0"/>
                  <a:t>, so 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r>
                      <a:rPr lang="de-DE"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(60)=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₁+10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de-DE" i="1" dirty="0" smtClean="0">
                        <a:latin typeface="Cambria Math" panose="02040503050406030204" pitchFamily="18" charset="0"/>
                      </a:rPr>
                      <m:t>₃</m:t>
                    </m:r>
                  </m:oMath>
                </a14:m>
                <a:r>
                  <a:rPr lang="de-DE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A98B41-C1DD-2880-FB08-4173D420D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616" y="2441978"/>
                <a:ext cx="2359074" cy="679673"/>
              </a:xfrm>
              <a:prstGeom prst="rect">
                <a:avLst/>
              </a:prstGeom>
              <a:blipFill>
                <a:blip r:embed="rId4"/>
                <a:stretch>
                  <a:fillRect t="-2703" b="-12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8D58C89D-B43A-442F-1AE9-7E14D48F9DF7}"/>
              </a:ext>
            </a:extLst>
          </p:cNvPr>
          <p:cNvSpPr/>
          <p:nvPr/>
        </p:nvSpPr>
        <p:spPr>
          <a:xfrm>
            <a:off x="6252428" y="1904166"/>
            <a:ext cx="2605954" cy="17517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C59357-7CF0-B1AC-AF80-1747F1084906}"/>
              </a:ext>
            </a:extLst>
          </p:cNvPr>
          <p:cNvSpPr txBox="1"/>
          <p:nvPr/>
        </p:nvSpPr>
        <p:spPr>
          <a:xfrm>
            <a:off x="6417021" y="2013895"/>
            <a:ext cx="235907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Why this helps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835675-31B7-4ED1-674B-9B6F7CEB25DA}"/>
              </a:ext>
            </a:extLst>
          </p:cNvPr>
          <p:cNvSpPr txBox="1"/>
          <p:nvPr/>
        </p:nvSpPr>
        <p:spPr>
          <a:xfrm>
            <a:off x="6417021" y="2452806"/>
            <a:ext cx="2359074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Main-effect coefficients become interpretable at a meaningful reference point.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0A643E-C7C5-66A4-2F47-2934FCB3A718}"/>
              </a:ext>
            </a:extLst>
          </p:cNvPr>
          <p:cNvSpPr txBox="1"/>
          <p:nvPr/>
        </p:nvSpPr>
        <p:spPr>
          <a:xfrm>
            <a:off x="1089639" y="4122385"/>
            <a:ext cx="65127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C7C2"/>
                </a:solidFill>
                <a:latin typeface="Aptos"/>
              </a:defRPr>
            </a:pPr>
            <a:r>
              <a:rPr dirty="0"/>
              <a:t>Centering changes interpretation</a:t>
            </a:r>
            <a:r>
              <a:rPr lang="en-US" dirty="0"/>
              <a:t>, </a:t>
            </a:r>
            <a:r>
              <a:rPr dirty="0"/>
              <a:t>not the fitted values or evidence for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6920070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A886-C312-032A-CCE0-CCDE8361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737BB-D52B-D424-C15D-FCB6FA22ECB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Fit and Read an Interaction Model</a:t>
            </a:r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E017CC48-47A7-30E8-24B1-61A609916AF9}"/>
              </a:ext>
            </a:extLst>
          </p:cNvPr>
          <p:cNvSpPr/>
          <p:nvPr/>
        </p:nvSpPr>
        <p:spPr>
          <a:xfrm>
            <a:off x="197681" y="1133463"/>
            <a:ext cx="4485954" cy="299548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5E5DCB-0B5D-1748-1E3F-AFB306599DF2}"/>
              </a:ext>
            </a:extLst>
          </p:cNvPr>
          <p:cNvSpPr txBox="1"/>
          <p:nvPr/>
        </p:nvSpPr>
        <p:spPr>
          <a:xfrm>
            <a:off x="362272" y="1243191"/>
            <a:ext cx="42254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1840FD-6583-52EB-E402-1B0C65E1CC24}"/>
              </a:ext>
            </a:extLst>
          </p:cNvPr>
          <p:cNvSpPr txBox="1"/>
          <p:nvPr/>
        </p:nvSpPr>
        <p:spPr>
          <a:xfrm>
            <a:off x="362272" y="1682104"/>
            <a:ext cx="4225479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d$age50 &lt;- d$age - 50</a:t>
            </a:r>
          </a:p>
          <a:p>
            <a:pPr>
              <a:spcAft>
                <a:spcPts val="500"/>
              </a:spcAft>
              <a:defRPr sz="15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fit &lt;- lm(Y ~ treat * age50 + sex + </a:t>
            </a:r>
            <a:r>
              <a:rPr dirty="0" err="1">
                <a:latin typeface="Consolas" panose="020B0609020204030204" pitchFamily="49" charset="0"/>
              </a:rPr>
              <a:t>baseline_risk</a:t>
            </a:r>
            <a:r>
              <a:rPr dirty="0">
                <a:latin typeface="Consolas" panose="020B0609020204030204" pitchFamily="49" charset="0"/>
              </a:rPr>
              <a:t>, data = d)</a:t>
            </a:r>
          </a:p>
          <a:p>
            <a:pPr>
              <a:spcAft>
                <a:spcPts val="500"/>
              </a:spcAft>
              <a:defRPr sz="15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summary(fit)</a:t>
            </a:r>
          </a:p>
          <a:p>
            <a:pPr>
              <a:spcAft>
                <a:spcPts val="500"/>
              </a:spcAft>
              <a:defRPr sz="15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coef(fit)[c("treat", "treat:age50")]</a:t>
            </a:r>
          </a:p>
        </p:txBody>
      </p:sp>
      <p:sp>
        <p:nvSpPr>
          <p:cNvPr id="35" name="Rounded Rectangle 7">
            <a:extLst>
              <a:ext uri="{FF2B5EF4-FFF2-40B4-BE49-F238E27FC236}">
                <a16:creationId xmlns:a16="http://schemas.microsoft.com/office/drawing/2014/main" id="{89934BEB-F96C-72B7-68AB-D974625AF446}"/>
              </a:ext>
            </a:extLst>
          </p:cNvPr>
          <p:cNvSpPr/>
          <p:nvPr/>
        </p:nvSpPr>
        <p:spPr>
          <a:xfrm>
            <a:off x="4874607" y="1133463"/>
            <a:ext cx="3907121" cy="299548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25146C-F61E-BC7D-B7C6-14368557F39F}"/>
              </a:ext>
            </a:extLst>
          </p:cNvPr>
          <p:cNvSpPr txBox="1"/>
          <p:nvPr/>
        </p:nvSpPr>
        <p:spPr>
          <a:xfrm>
            <a:off x="5039198" y="1243191"/>
            <a:ext cx="364664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F9B4A4-6C13-80B5-B1A7-75D6480CE6CE}"/>
              </a:ext>
            </a:extLst>
          </p:cNvPr>
          <p:cNvSpPr txBox="1"/>
          <p:nvPr/>
        </p:nvSpPr>
        <p:spPr>
          <a:xfrm>
            <a:off x="5039198" y="1682104"/>
            <a:ext cx="3646646" cy="16979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treat = estimated effect at age 50.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treat:</a:t>
            </a:r>
            <a:r>
              <a:rPr lang="en-US" dirty="0"/>
              <a:t> </a:t>
            </a:r>
            <a:r>
              <a:rPr dirty="0"/>
              <a:t>age50 = change in treatment effect per one-year increase in age.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Other baseline covariates can still be included for confounding adjustment / precision.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6321BE-24CA-FEFB-DE39-50FCCAFAD0DD}"/>
              </a:ext>
            </a:extLst>
          </p:cNvPr>
          <p:cNvSpPr txBox="1"/>
          <p:nvPr/>
        </p:nvSpPr>
        <p:spPr>
          <a:xfrm>
            <a:off x="1" y="4459813"/>
            <a:ext cx="9143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6767"/>
                </a:solidFill>
                <a:latin typeface="Aptos"/>
              </a:defRPr>
            </a:pPr>
            <a:r>
              <a:rPr sz="2000" dirty="0"/>
              <a:t>Do not interpret the interaction model by looking only at the p-value for treat.</a:t>
            </a:r>
          </a:p>
        </p:txBody>
      </p:sp>
    </p:spTree>
    <p:extLst>
      <p:ext uri="{BB962C8B-B14F-4D97-AF65-F5344CB8AC3E}">
        <p14:creationId xmlns:p14="http://schemas.microsoft.com/office/powerpoint/2010/main" val="31927806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F005-6A93-F1A6-D0F4-C9DA7DAF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9CD8F9-AF34-1EFC-7791-B5F597221DFE}"/>
                  </a:ext>
                </a:extLst>
              </p:cNvPr>
              <p:cNvSpPr txBox="1"/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 sz="2700" b="0">
                    <a:solidFill>
                      <a:srgbClr val="F4F1EA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 sz="2800" dirty="0">
                    <a:solidFill>
                      <a:srgbClr val="F4F1EA"/>
                    </a:solidFill>
                  </a:rPr>
                  <a:t>Uncertainty for </a:t>
                </a:r>
                <a14:m>
                  <m:oMath xmlns:m="http://schemas.openxmlformats.org/officeDocument/2006/math">
                    <m:r>
                      <a:rPr lang="el-GR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l-GR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F4F1E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rgbClr val="F4F1EA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49CD8F9-AF34-1EFC-7791-B5F59722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143531"/>
                <a:ext cx="868919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BCD56B-E0F3-7B15-E857-DFD14D2DF9E9}"/>
                  </a:ext>
                </a:extLst>
              </p:cNvPr>
              <p:cNvSpPr txBox="1"/>
              <p:nvPr/>
            </p:nvSpPr>
            <p:spPr>
              <a:xfrm>
                <a:off x="594360" y="956995"/>
                <a:ext cx="7772400" cy="547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8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acc>
                      <m:d>
                        <m:d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 dirty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BCD56B-E0F3-7B15-E857-DFD14D2DF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956995"/>
                <a:ext cx="7772400" cy="547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B86724-B2DE-076E-3ADB-D02387E4F065}"/>
                  </a:ext>
                </a:extLst>
              </p:cNvPr>
              <p:cNvSpPr txBox="1"/>
              <p:nvPr/>
            </p:nvSpPr>
            <p:spPr>
              <a:xfrm>
                <a:off x="594360" y="1779955"/>
                <a:ext cx="7772400" cy="4939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300">
                    <a:solidFill>
                      <a:srgbClr val="F6B737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  <m:d>
                            <m:dPr>
                              <m:ctrlPr>
                                <a:rPr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i="1" dirty="0" smtClean="0">
                          <a:latin typeface="Cambria Math" panose="02040503050406030204" pitchFamily="18" charset="0"/>
                        </a:rPr>
                        <m:t> + </m:t>
                      </m:r>
                      <m:sSup>
                        <m:sSupPr>
                          <m:ctrlPr>
                            <a:rPr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i="1" dirty="0" smtClean="0">
                          <a:latin typeface="Cambria Math" panose="02040503050406030204" pitchFamily="18" charset="0"/>
                        </a:rPr>
                        <m:t> + 2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𝑥𝐶𝑜𝑣</m:t>
                      </m:r>
                      <m:d>
                        <m:d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b="0" i="1" dirty="0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B86724-B2DE-076E-3ADB-D02387E4F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779955"/>
                <a:ext cx="7772400" cy="4939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BF3E4F1F-31E6-89A0-70EB-64350ACFCA3E}"/>
              </a:ext>
            </a:extLst>
          </p:cNvPr>
          <p:cNvSpPr/>
          <p:nvPr/>
        </p:nvSpPr>
        <p:spPr>
          <a:xfrm>
            <a:off x="216408" y="2584596"/>
            <a:ext cx="2887980" cy="187833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252438-0CAD-0445-1FD1-F95148C78D29}"/>
              </a:ext>
            </a:extLst>
          </p:cNvPr>
          <p:cNvSpPr txBox="1"/>
          <p:nvPr/>
        </p:nvSpPr>
        <p:spPr>
          <a:xfrm>
            <a:off x="381000" y="2694324"/>
            <a:ext cx="215792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Why covariance matters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9C1FF-A2A4-D20F-80A0-67EA0007B81A}"/>
                  </a:ext>
                </a:extLst>
              </p:cNvPr>
              <p:cNvSpPr txBox="1"/>
              <p:nvPr/>
            </p:nvSpPr>
            <p:spPr>
              <a:xfrm>
                <a:off x="381000" y="3354401"/>
                <a:ext cx="2563368" cy="85605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are estimated together; their uncertainty is not independent.</a:t>
                </a:r>
                <a:endParaRPr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EA9C1FF-A2A4-D20F-80A0-67EA0007B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354401"/>
                <a:ext cx="2563368" cy="856053"/>
              </a:xfrm>
              <a:prstGeom prst="rect">
                <a:avLst/>
              </a:prstGeom>
              <a:blipFill>
                <a:blip r:embed="rId5"/>
                <a:stretch>
                  <a:fillRect t="-709" r="-952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E5390905-E027-575B-0FD9-6459B5ED76FE}"/>
              </a:ext>
            </a:extLst>
          </p:cNvPr>
          <p:cNvSpPr/>
          <p:nvPr/>
        </p:nvSpPr>
        <p:spPr>
          <a:xfrm>
            <a:off x="3558386" y="2570334"/>
            <a:ext cx="2390514" cy="176763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33DCB2-AAE9-6DC6-EF99-2958D2925B25}"/>
              </a:ext>
            </a:extLst>
          </p:cNvPr>
          <p:cNvSpPr txBox="1"/>
          <p:nvPr/>
        </p:nvSpPr>
        <p:spPr>
          <a:xfrm>
            <a:off x="3722978" y="2680062"/>
            <a:ext cx="21579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What to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662F55-0205-DA76-6ADB-0069B2490563}"/>
                  </a:ext>
                </a:extLst>
              </p:cNvPr>
              <p:cNvSpPr txBox="1"/>
              <p:nvPr/>
            </p:nvSpPr>
            <p:spPr>
              <a:xfrm>
                <a:off x="3722978" y="3118974"/>
                <a:ext cx="2157923" cy="110729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a confidence interval at scientifically relevant X values.</a:t>
                </a:r>
                <a:endParaRPr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662F55-0205-DA76-6ADB-0069B2490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2978" y="3118974"/>
                <a:ext cx="2157923" cy="1107291"/>
              </a:xfrm>
              <a:prstGeom prst="rect">
                <a:avLst/>
              </a:prstGeom>
              <a:blipFill>
                <a:blip r:embed="rId6"/>
                <a:stretch>
                  <a:fillRect t="-1657" r="-3672" b="-3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F22D4196-329E-742B-2163-E76D5A053DB4}"/>
              </a:ext>
            </a:extLst>
          </p:cNvPr>
          <p:cNvSpPr/>
          <p:nvPr/>
        </p:nvSpPr>
        <p:spPr>
          <a:xfrm>
            <a:off x="6402898" y="2558796"/>
            <a:ext cx="2390514" cy="176763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98D24-F3BD-4821-EAE0-8EB2485A58CD}"/>
              </a:ext>
            </a:extLst>
          </p:cNvPr>
          <p:cNvSpPr txBox="1"/>
          <p:nvPr/>
        </p:nvSpPr>
        <p:spPr>
          <a:xfrm>
            <a:off x="6567490" y="2668524"/>
            <a:ext cx="21579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What to plot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040CCE-5D44-C3B3-369E-FF25FDB14724}"/>
              </a:ext>
            </a:extLst>
          </p:cNvPr>
          <p:cNvSpPr txBox="1"/>
          <p:nvPr/>
        </p:nvSpPr>
        <p:spPr>
          <a:xfrm>
            <a:off x="6567490" y="3107436"/>
            <a:ext cx="2157923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Effect curve plus uncertainty band across the supported range of X.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F254B-3339-4B9B-2A5D-56293A1239B9}"/>
              </a:ext>
            </a:extLst>
          </p:cNvPr>
          <p:cNvSpPr txBox="1"/>
          <p:nvPr/>
        </p:nvSpPr>
        <p:spPr>
          <a:xfrm>
            <a:off x="1150620" y="4608742"/>
            <a:ext cx="70617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6767"/>
                </a:solidFill>
                <a:latin typeface="Aptos"/>
              </a:defRPr>
            </a:pPr>
            <a:r>
              <a:rPr dirty="0"/>
              <a:t>Do not extrapolate the interaction effect far beyond the observed range of X.</a:t>
            </a:r>
          </a:p>
        </p:txBody>
      </p:sp>
    </p:spTree>
    <p:extLst>
      <p:ext uri="{BB962C8B-B14F-4D97-AF65-F5344CB8AC3E}">
        <p14:creationId xmlns:p14="http://schemas.microsoft.com/office/powerpoint/2010/main" val="1260265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5999-B726-DC8A-17E3-96FA0051B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11F5BB-6FE6-EF1F-5860-730ED5BB35E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A Mistake: 'Significant Here, Not Significant There'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CFA618-A6B1-86E6-1A16-AD2EBCAA9F7E}"/>
              </a:ext>
            </a:extLst>
          </p:cNvPr>
          <p:cNvSpPr/>
          <p:nvPr/>
        </p:nvSpPr>
        <p:spPr>
          <a:xfrm>
            <a:off x="233196" y="1264920"/>
            <a:ext cx="3957804" cy="16053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D03FD-6EF3-47EF-4BE1-77F9A40C2F61}"/>
              </a:ext>
            </a:extLst>
          </p:cNvPr>
          <p:cNvSpPr txBox="1"/>
          <p:nvPr/>
        </p:nvSpPr>
        <p:spPr>
          <a:xfrm>
            <a:off x="397787" y="1374648"/>
            <a:ext cx="3564613" cy="34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Subgroup 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B7E92F-9CE8-A17D-8DC4-168712B63751}"/>
              </a:ext>
            </a:extLst>
          </p:cNvPr>
          <p:cNvSpPr txBox="1"/>
          <p:nvPr/>
        </p:nvSpPr>
        <p:spPr>
          <a:xfrm>
            <a:off x="397787" y="1813560"/>
            <a:ext cx="3511273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 = −6</a:t>
            </a:r>
            <a:br>
              <a:rPr dirty="0"/>
            </a:br>
            <a:r>
              <a:rPr dirty="0"/>
              <a:t>95% CI: [−10, −2]</a:t>
            </a:r>
            <a:br>
              <a:rPr dirty="0"/>
            </a:br>
            <a:r>
              <a:rPr dirty="0"/>
              <a:t>p = 0.01</a:t>
            </a:r>
          </a:p>
        </p:txBody>
      </p: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BF2B7F94-467D-230F-67C2-07C182AD4AE3}"/>
              </a:ext>
            </a:extLst>
          </p:cNvPr>
          <p:cNvSpPr/>
          <p:nvPr/>
        </p:nvSpPr>
        <p:spPr>
          <a:xfrm>
            <a:off x="4643652" y="1234440"/>
            <a:ext cx="4293384" cy="1605303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48FFDE-C65B-ECFA-76AC-186A0E0BBD63}"/>
              </a:ext>
            </a:extLst>
          </p:cNvPr>
          <p:cNvSpPr txBox="1"/>
          <p:nvPr/>
        </p:nvSpPr>
        <p:spPr>
          <a:xfrm>
            <a:off x="4808244" y="1344169"/>
            <a:ext cx="402458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t>Subgroup 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2607AB-9B9E-AD30-213A-272DC8B579EA}"/>
              </a:ext>
            </a:extLst>
          </p:cNvPr>
          <p:cNvSpPr txBox="1"/>
          <p:nvPr/>
        </p:nvSpPr>
        <p:spPr>
          <a:xfrm>
            <a:off x="4808244" y="1783080"/>
            <a:ext cx="4024581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900">
                <a:solidFill>
                  <a:srgbClr val="F6F6F6"/>
                </a:solidFill>
                <a:latin typeface="Aptos"/>
              </a:defRPr>
            </a:pPr>
            <a:r>
              <a:t>Treatment effect = −4</a:t>
            </a:r>
            <a:br/>
            <a:r>
              <a:t>95% CI: [−9, 1]</a:t>
            </a:r>
            <a:br/>
            <a:r>
              <a:t>p = 0.11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BC55B6-FAD6-C1CF-E355-6304B262813A}"/>
              </a:ext>
            </a:extLst>
          </p:cNvPr>
          <p:cNvSpPr txBox="1"/>
          <p:nvPr/>
        </p:nvSpPr>
        <p:spPr>
          <a:xfrm>
            <a:off x="38100" y="3407432"/>
            <a:ext cx="90967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>
                <a:solidFill>
                  <a:srgbClr val="E66767"/>
                </a:solidFill>
                <a:latin typeface="Cambria Math"/>
              </a:defRPr>
            </a:pPr>
            <a:r>
              <a:rPr dirty="0"/>
              <a:t>Can we conclude the effects differ?  NO.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A6A8DA-84DE-1CCE-A206-B7F993F6829C}"/>
              </a:ext>
            </a:extLst>
          </p:cNvPr>
          <p:cNvSpPr txBox="1"/>
          <p:nvPr/>
        </p:nvSpPr>
        <p:spPr>
          <a:xfrm>
            <a:off x="541020" y="4010936"/>
            <a:ext cx="82649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6B737"/>
                </a:solidFill>
                <a:latin typeface="Aptos"/>
              </a:defRPr>
            </a:pPr>
            <a:r>
              <a:rPr dirty="0"/>
              <a:t>The correct question is whether (effect A − effect B) differs from zero.</a:t>
            </a:r>
          </a:p>
        </p:txBody>
      </p:sp>
    </p:spTree>
    <p:extLst>
      <p:ext uri="{BB962C8B-B14F-4D97-AF65-F5344CB8AC3E}">
        <p14:creationId xmlns:p14="http://schemas.microsoft.com/office/powerpoint/2010/main" val="26176154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431E1-6D76-F9B3-4514-D6718E1E6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B0770-A3D6-8C7C-EAA4-818519D0C08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Correct HTE Test, and the Limit of One Interaction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3ED53DBB-B5FD-CCD2-7A79-BFF159F77B60}"/>
              </a:ext>
            </a:extLst>
          </p:cNvPr>
          <p:cNvSpPr/>
          <p:nvPr/>
        </p:nvSpPr>
        <p:spPr>
          <a:xfrm>
            <a:off x="102108" y="1207770"/>
            <a:ext cx="4469892" cy="27279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DA0512-37F5-8AE2-5363-AC13C0AC1703}"/>
              </a:ext>
            </a:extLst>
          </p:cNvPr>
          <p:cNvSpPr txBox="1"/>
          <p:nvPr/>
        </p:nvSpPr>
        <p:spPr>
          <a:xfrm>
            <a:off x="266699" y="1317498"/>
            <a:ext cx="419245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Correct classical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ECEA4F-5FB3-2048-CBE0-BD96FD84E309}"/>
                  </a:ext>
                </a:extLst>
              </p:cNvPr>
              <p:cNvSpPr txBox="1"/>
              <p:nvPr/>
            </p:nvSpPr>
            <p:spPr>
              <a:xfrm>
                <a:off x="184403" y="2003366"/>
                <a:ext cx="4357041" cy="1592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Fit one model containing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Test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₀: </m:t>
                    </m:r>
                    <m:sSub>
                      <m:sSubPr>
                        <m:ctrlPr>
                          <a:rPr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Estimate the difference in treatment effects directly.</a:t>
                </a:r>
              </a:p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Report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not only the interaction p-value.</a:t>
                </a:r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ECEA4F-5FB3-2048-CBE0-BD96FD84E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03" y="2003366"/>
                <a:ext cx="4357041" cy="1592744"/>
              </a:xfrm>
              <a:prstGeom prst="rect">
                <a:avLst/>
              </a:prstGeom>
              <a:blipFill>
                <a:blip r:embed="rId2"/>
                <a:stretch>
                  <a:fillRect l="-839" t="-1149" b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C3F9697D-0B02-CE44-488E-80CF9833CBD9}"/>
              </a:ext>
            </a:extLst>
          </p:cNvPr>
          <p:cNvSpPr/>
          <p:nvPr/>
        </p:nvSpPr>
        <p:spPr>
          <a:xfrm>
            <a:off x="4623740" y="1207770"/>
            <a:ext cx="4469892" cy="27279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05F660-A1D7-03AA-E2D3-8FCC3B41F08C}"/>
              </a:ext>
            </a:extLst>
          </p:cNvPr>
          <p:cNvSpPr txBox="1"/>
          <p:nvPr/>
        </p:nvSpPr>
        <p:spPr>
          <a:xfrm>
            <a:off x="4788332" y="1317498"/>
            <a:ext cx="419245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Where this becomes difficult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CA243-AB99-DD22-8D0B-CB2078A1E077}"/>
              </a:ext>
            </a:extLst>
          </p:cNvPr>
          <p:cNvSpPr txBox="1"/>
          <p:nvPr/>
        </p:nvSpPr>
        <p:spPr>
          <a:xfrm>
            <a:off x="4767147" y="2082085"/>
            <a:ext cx="4192450" cy="1592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Many possible modifiers.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Nonlinear treatment-effect patterns.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Higher-order interactions.</a:t>
            </a:r>
          </a:p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Data-driven discovery without massive subgroup fishing.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118DC8-06F4-2F7B-7CBE-9A46D9061671}"/>
              </a:ext>
            </a:extLst>
          </p:cNvPr>
          <p:cNvSpPr txBox="1"/>
          <p:nvPr/>
        </p:nvSpPr>
        <p:spPr>
          <a:xfrm>
            <a:off x="291587" y="4354068"/>
            <a:ext cx="86891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rPr dirty="0"/>
              <a:t>Next: flexible CATE estimation with S-, T-, X-learners and causal forests.</a:t>
            </a:r>
          </a:p>
        </p:txBody>
      </p:sp>
    </p:spTree>
    <p:extLst>
      <p:ext uri="{BB962C8B-B14F-4D97-AF65-F5344CB8AC3E}">
        <p14:creationId xmlns:p14="http://schemas.microsoft.com/office/powerpoint/2010/main" val="5152531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B0DB-CCA0-2EA5-EB89-4EECEE39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A7435B-A814-BD6B-719F-0CCA179FAAD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Modern CATE Estimation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1B9A1306-64D4-15FC-AF06-2275A0076EB5}"/>
              </a:ext>
            </a:extLst>
          </p:cNvPr>
          <p:cNvSpPr/>
          <p:nvPr/>
        </p:nvSpPr>
        <p:spPr>
          <a:xfrm>
            <a:off x="169188" y="1728978"/>
            <a:ext cx="2706624" cy="168554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FF7186-E17E-6612-B393-F5ADC48AA02E}"/>
              </a:ext>
            </a:extLst>
          </p:cNvPr>
          <p:cNvSpPr txBox="1"/>
          <p:nvPr/>
        </p:nvSpPr>
        <p:spPr>
          <a:xfrm>
            <a:off x="333780" y="1838706"/>
            <a:ext cx="244678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t>Classical HTE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A74C7B-9A61-FD74-B203-1E5574E35D9A}"/>
                  </a:ext>
                </a:extLst>
              </p:cNvPr>
              <p:cNvSpPr txBox="1"/>
              <p:nvPr/>
            </p:nvSpPr>
            <p:spPr>
              <a:xfrm>
                <a:off x="333780" y="2277619"/>
                <a:ext cx="2446788" cy="92333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18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Choose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first, then specify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interactions.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A74C7B-9A61-FD74-B203-1E5574E35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80" y="2277619"/>
                <a:ext cx="2446788" cy="923330"/>
              </a:xfrm>
              <a:prstGeom prst="rect">
                <a:avLst/>
              </a:prstGeom>
              <a:blipFill>
                <a:blip r:embed="rId3"/>
                <a:stretch>
                  <a:fillRect t="-3311" b="-105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23E5C2C-AADD-924C-5FA1-42A2FF65075B}"/>
              </a:ext>
            </a:extLst>
          </p:cNvPr>
          <p:cNvSpPr/>
          <p:nvPr/>
        </p:nvSpPr>
        <p:spPr>
          <a:xfrm>
            <a:off x="3166122" y="1728978"/>
            <a:ext cx="2706624" cy="168554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7C5627-17D7-B488-B115-5BB8DD787E86}"/>
              </a:ext>
            </a:extLst>
          </p:cNvPr>
          <p:cNvSpPr txBox="1"/>
          <p:nvPr/>
        </p:nvSpPr>
        <p:spPr>
          <a:xfrm>
            <a:off x="3330715" y="1838706"/>
            <a:ext cx="244678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Modern HTE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43C9A-487B-2ECF-4FAA-0A924EB17AE2}"/>
              </a:ext>
            </a:extLst>
          </p:cNvPr>
          <p:cNvSpPr txBox="1"/>
          <p:nvPr/>
        </p:nvSpPr>
        <p:spPr>
          <a:xfrm>
            <a:off x="3330715" y="2277618"/>
            <a:ext cx="244678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Let flexible prediction models learn complex response surfaces.</a:t>
            </a:r>
          </a:p>
        </p:txBody>
      </p:sp>
      <p:sp>
        <p:nvSpPr>
          <p:cNvPr id="23" name="Rounded Rectangle 11">
            <a:extLst>
              <a:ext uri="{FF2B5EF4-FFF2-40B4-BE49-F238E27FC236}">
                <a16:creationId xmlns:a16="http://schemas.microsoft.com/office/drawing/2014/main" id="{1B686941-D6EA-52C0-F4E9-AE1351658E81}"/>
              </a:ext>
            </a:extLst>
          </p:cNvPr>
          <p:cNvSpPr/>
          <p:nvPr/>
        </p:nvSpPr>
        <p:spPr>
          <a:xfrm>
            <a:off x="6163056" y="1728978"/>
            <a:ext cx="2706624" cy="168554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4E40BD-A795-A899-7AF2-29F80A40A3C5}"/>
              </a:ext>
            </a:extLst>
          </p:cNvPr>
          <p:cNvSpPr txBox="1"/>
          <p:nvPr/>
        </p:nvSpPr>
        <p:spPr>
          <a:xfrm>
            <a:off x="6327649" y="1838706"/>
            <a:ext cx="244678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717F6F-33E4-0E19-AE36-3486120CFEC3}"/>
              </a:ext>
            </a:extLst>
          </p:cNvPr>
          <p:cNvSpPr txBox="1"/>
          <p:nvPr/>
        </p:nvSpPr>
        <p:spPr>
          <a:xfrm>
            <a:off x="6327649" y="2277618"/>
            <a:ext cx="2446788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Estimate τ(x) without assuming a simple linear interaction.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D7B821-D25A-982A-34CB-628A547B41AF}"/>
                  </a:ext>
                </a:extLst>
              </p:cNvPr>
              <p:cNvSpPr txBox="1"/>
              <p:nvPr/>
            </p:nvSpPr>
            <p:spPr>
              <a:xfrm>
                <a:off x="212684" y="4066032"/>
                <a:ext cx="8682850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300">
                    <a:solidFill>
                      <a:srgbClr val="F6B737"/>
                    </a:solidFill>
                    <a:latin typeface="Cambria Math"/>
                  </a:defRPr>
                </a:pPr>
                <a:r>
                  <a:rPr dirty="0"/>
                  <a:t>Outcome learning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 counterfactual prediction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dirty="0"/>
                  <a:t>  CATE estimation</a:t>
                </a: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0D7B821-D25A-982A-34CB-628A547B41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84" y="4066032"/>
                <a:ext cx="8682850" cy="446276"/>
              </a:xfrm>
              <a:prstGeom prst="rect">
                <a:avLst/>
              </a:prstGeom>
              <a:blipFill>
                <a:blip r:embed="rId4"/>
                <a:stretch>
                  <a:fillRect l="-983" t="-9589" r="-913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8118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B2BE-4773-A623-6972-2BDB80B6C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750BEF-BDE4-DF75-4F58-31DFCA9B3BA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Not Just Add More Interactions?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57C4AA01-A08F-AE52-4126-A133D01BBE2F}"/>
              </a:ext>
            </a:extLst>
          </p:cNvPr>
          <p:cNvSpPr/>
          <p:nvPr/>
        </p:nvSpPr>
        <p:spPr>
          <a:xfrm>
            <a:off x="138050" y="1314451"/>
            <a:ext cx="2688336" cy="22646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21AEC-1BE9-53CA-56A4-D72E2E53E3C4}"/>
              </a:ext>
            </a:extLst>
          </p:cNvPr>
          <p:cNvSpPr txBox="1"/>
          <p:nvPr/>
        </p:nvSpPr>
        <p:spPr>
          <a:xfrm>
            <a:off x="302641" y="1424178"/>
            <a:ext cx="244018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Many modifiers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E57F4-EF59-D7EF-B20E-F6AA7A10084A}"/>
              </a:ext>
            </a:extLst>
          </p:cNvPr>
          <p:cNvSpPr txBox="1"/>
          <p:nvPr/>
        </p:nvSpPr>
        <p:spPr>
          <a:xfrm>
            <a:off x="302641" y="1863090"/>
            <a:ext cx="2440182" cy="1579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Age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Biomarkers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Baseline risk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Comorbidities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Prior outcomes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21B0F885-6B97-5CCD-18AF-177727211DA3}"/>
              </a:ext>
            </a:extLst>
          </p:cNvPr>
          <p:cNvSpPr/>
          <p:nvPr/>
        </p:nvSpPr>
        <p:spPr>
          <a:xfrm>
            <a:off x="3186050" y="1341120"/>
            <a:ext cx="2688336" cy="22646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8E47E4-A98D-C57F-BE4D-B76BCF3D1729}"/>
              </a:ext>
            </a:extLst>
          </p:cNvPr>
          <p:cNvSpPr txBox="1"/>
          <p:nvPr/>
        </p:nvSpPr>
        <p:spPr>
          <a:xfrm>
            <a:off x="3350641" y="1450847"/>
            <a:ext cx="244018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Complex shapes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79297-62D7-BB13-BDA0-4A809D1CAF97}"/>
              </a:ext>
            </a:extLst>
          </p:cNvPr>
          <p:cNvSpPr txBox="1"/>
          <p:nvPr/>
        </p:nvSpPr>
        <p:spPr>
          <a:xfrm>
            <a:off x="3350641" y="1889759"/>
            <a:ext cx="2440182" cy="12695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Nonlinear effects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Thresholds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Higher-order interactions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Unknown functional form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5CE95DEA-4B8A-7CF2-55A7-E3C2D04BA587}"/>
              </a:ext>
            </a:extLst>
          </p:cNvPr>
          <p:cNvSpPr/>
          <p:nvPr/>
        </p:nvSpPr>
        <p:spPr>
          <a:xfrm>
            <a:off x="6234051" y="1338072"/>
            <a:ext cx="2688336" cy="2264664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1AF890-7460-3506-2C6D-BAE68882A8BE}"/>
              </a:ext>
            </a:extLst>
          </p:cNvPr>
          <p:cNvSpPr txBox="1"/>
          <p:nvPr/>
        </p:nvSpPr>
        <p:spPr>
          <a:xfrm>
            <a:off x="6398643" y="1447799"/>
            <a:ext cx="244018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E66767"/>
                </a:solidFill>
                <a:latin typeface="Aptos"/>
              </a:defRPr>
            </a:pPr>
            <a:r>
              <a:t>Statistical cost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EC5A90-D193-F128-6EB2-486A4419FA08}"/>
              </a:ext>
            </a:extLst>
          </p:cNvPr>
          <p:cNvSpPr txBox="1"/>
          <p:nvPr/>
        </p:nvSpPr>
        <p:spPr>
          <a:xfrm>
            <a:off x="6398643" y="1886711"/>
            <a:ext cx="2440182" cy="12695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Many parameters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Low power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Overfitting</a:t>
            </a:r>
          </a:p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t>Multiplicity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D8C170-0735-5C69-ABD2-09F7D9BB9D5F}"/>
              </a:ext>
            </a:extLst>
          </p:cNvPr>
          <p:cNvSpPr txBox="1"/>
          <p:nvPr/>
        </p:nvSpPr>
        <p:spPr>
          <a:xfrm>
            <a:off x="670043" y="4053840"/>
            <a:ext cx="7720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6B737"/>
                </a:solidFill>
                <a:latin typeface="Aptos"/>
              </a:defRPr>
            </a:pPr>
            <a:r>
              <a:rPr sz="2400" dirty="0"/>
              <a:t>Modern HTE methods trade rigid parametric structure for flexible nuisance and CATE estimation.</a:t>
            </a:r>
          </a:p>
        </p:txBody>
      </p:sp>
    </p:spTree>
    <p:extLst>
      <p:ext uri="{BB962C8B-B14F-4D97-AF65-F5344CB8AC3E}">
        <p14:creationId xmlns:p14="http://schemas.microsoft.com/office/powerpoint/2010/main" val="29385242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CBEF-E242-3AE8-0C7C-AFCAE219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F6741E-A715-8671-2FB3-0E02AD536B79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Meta-Learners: Use Prediction Algorithms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B493FC-0816-B74A-E3CE-62D66DBE724C}"/>
              </a:ext>
            </a:extLst>
          </p:cNvPr>
          <p:cNvSpPr/>
          <p:nvPr/>
        </p:nvSpPr>
        <p:spPr>
          <a:xfrm>
            <a:off x="222504" y="1325880"/>
            <a:ext cx="2697480" cy="206349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34B693-9708-3729-28CD-DFB1EC8D7EC1}"/>
              </a:ext>
            </a:extLst>
          </p:cNvPr>
          <p:cNvSpPr txBox="1"/>
          <p:nvPr/>
        </p:nvSpPr>
        <p:spPr>
          <a:xfrm>
            <a:off x="387097" y="1435607"/>
            <a:ext cx="2451634" cy="34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Base learner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8A2035-5AEC-3975-39FD-524C8ECEEC06}"/>
              </a:ext>
            </a:extLst>
          </p:cNvPr>
          <p:cNvSpPr txBox="1"/>
          <p:nvPr/>
        </p:nvSpPr>
        <p:spPr>
          <a:xfrm>
            <a:off x="387097" y="1874519"/>
            <a:ext cx="2451634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Regression, random forest, boosting, neural network, etc.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ACE0B9F7-272A-5936-E8B2-96CBB246D075}"/>
              </a:ext>
            </a:extLst>
          </p:cNvPr>
          <p:cNvSpPr/>
          <p:nvPr/>
        </p:nvSpPr>
        <p:spPr>
          <a:xfrm>
            <a:off x="3246120" y="1325880"/>
            <a:ext cx="2697480" cy="206349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98044E-C964-6EF6-95A9-85FF61B971CF}"/>
              </a:ext>
            </a:extLst>
          </p:cNvPr>
          <p:cNvSpPr txBox="1"/>
          <p:nvPr/>
        </p:nvSpPr>
        <p:spPr>
          <a:xfrm>
            <a:off x="3410713" y="1435607"/>
            <a:ext cx="2451634" cy="34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Meta-learner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D2EB2A-ADD8-9CDD-25FF-387B78B25335}"/>
              </a:ext>
            </a:extLst>
          </p:cNvPr>
          <p:cNvSpPr txBox="1"/>
          <p:nvPr/>
        </p:nvSpPr>
        <p:spPr>
          <a:xfrm>
            <a:off x="3410713" y="1874519"/>
            <a:ext cx="2451634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 recipe for organizing one or more prediction models around treatment and outcome.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BD6E532E-EF2C-7D2F-F93F-28D9C6C89CCA}"/>
              </a:ext>
            </a:extLst>
          </p:cNvPr>
          <p:cNvSpPr/>
          <p:nvPr/>
        </p:nvSpPr>
        <p:spPr>
          <a:xfrm>
            <a:off x="6269737" y="1325880"/>
            <a:ext cx="2697480" cy="2063496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A52431-9860-CF33-2B74-8B2CC432486C}"/>
              </a:ext>
            </a:extLst>
          </p:cNvPr>
          <p:cNvSpPr txBox="1"/>
          <p:nvPr/>
        </p:nvSpPr>
        <p:spPr>
          <a:xfrm>
            <a:off x="6434330" y="1435607"/>
            <a:ext cx="2451634" cy="34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Causal target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50AB4D-DA99-54F8-4226-4BA6903E2243}"/>
              </a:ext>
            </a:extLst>
          </p:cNvPr>
          <p:cNvSpPr txBox="1"/>
          <p:nvPr/>
        </p:nvSpPr>
        <p:spPr>
          <a:xfrm>
            <a:off x="6434330" y="1874519"/>
            <a:ext cx="2451634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Convert those predictions into an estimate of τ(x).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D44B39-768A-100F-1FD8-FFDA06996F6E}"/>
              </a:ext>
            </a:extLst>
          </p:cNvPr>
          <p:cNvSpPr txBox="1"/>
          <p:nvPr/>
        </p:nvSpPr>
        <p:spPr>
          <a:xfrm>
            <a:off x="332232" y="3986784"/>
            <a:ext cx="8215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5BC7C2"/>
                </a:solidFill>
                <a:latin typeface="Cambria Math"/>
              </a:defRPr>
            </a:pPr>
            <a:r>
              <a:rPr sz="2800" dirty="0"/>
              <a:t>The S-, T-, and X-learners are strategies, not specific machine-learning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32213468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110EA-EDC7-B459-0E87-BFDC6856B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AEA86-4E0D-DE69-70D7-3027B563E96F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S-Learner: One Outcome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A6A243-B29A-315F-E60F-F261668A06D9}"/>
                  </a:ext>
                </a:extLst>
              </p:cNvPr>
              <p:cNvSpPr txBox="1"/>
              <p:nvPr/>
            </p:nvSpPr>
            <p:spPr>
              <a:xfrm>
                <a:off x="594360" y="1243584"/>
                <a:ext cx="74706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800">
                    <a:solidFill>
                      <a:srgbClr val="64AEEB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A6A243-B29A-315F-E60F-F261668A0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243584"/>
                <a:ext cx="747064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362A3270-EAFA-D007-03D9-BE50207200E0}"/>
              </a:ext>
            </a:extLst>
          </p:cNvPr>
          <p:cNvSpPr/>
          <p:nvPr/>
        </p:nvSpPr>
        <p:spPr>
          <a:xfrm>
            <a:off x="198120" y="2272118"/>
            <a:ext cx="2481072" cy="18320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54E85-9EF6-DCF8-0A27-5DEDF4BDA8DF}"/>
              </a:ext>
            </a:extLst>
          </p:cNvPr>
          <p:cNvSpPr txBox="1"/>
          <p:nvPr/>
        </p:nvSpPr>
        <p:spPr>
          <a:xfrm>
            <a:off x="362712" y="2381847"/>
            <a:ext cx="198099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t>Fit once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E09CC-B156-004B-465C-7EB1CDDC805F}"/>
              </a:ext>
            </a:extLst>
          </p:cNvPr>
          <p:cNvSpPr txBox="1"/>
          <p:nvPr/>
        </p:nvSpPr>
        <p:spPr>
          <a:xfrm>
            <a:off x="362712" y="2820759"/>
            <a:ext cx="1980995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Use T and X together in one flexible prediction model.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6E708E52-2ED4-B7E1-67D4-B8B6956A941E}"/>
              </a:ext>
            </a:extLst>
          </p:cNvPr>
          <p:cNvSpPr/>
          <p:nvPr/>
        </p:nvSpPr>
        <p:spPr>
          <a:xfrm>
            <a:off x="3227832" y="2282703"/>
            <a:ext cx="2481072" cy="18320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9CC551-79A4-3FC7-3D0E-988B6B39B984}"/>
              </a:ext>
            </a:extLst>
          </p:cNvPr>
          <p:cNvSpPr txBox="1"/>
          <p:nvPr/>
        </p:nvSpPr>
        <p:spPr>
          <a:xfrm>
            <a:off x="3392424" y="2392432"/>
            <a:ext cx="198099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Predict twice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0DEBDF-9835-E0D7-0BC2-09EEDEB33EED}"/>
                  </a:ext>
                </a:extLst>
              </p:cNvPr>
              <p:cNvSpPr txBox="1"/>
              <p:nvPr/>
            </p:nvSpPr>
            <p:spPr>
              <a:xfrm>
                <a:off x="3392424" y="2831344"/>
                <a:ext cx="2191512" cy="679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Set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 →</m:t>
                    </m:r>
                    <m:acc>
                      <m:accPr>
                        <m:chr m:val="̂"/>
                        <m:ctrlPr>
                          <a:rPr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i="1" dirty="0" smtClean="0">
                        <a:latin typeface="Cambria Math" panose="02040503050406030204" pitchFamily="18" charset="0"/>
                      </a:rPr>
                      <m:t>(1,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algn="ctr"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:r>
                  <a:rPr dirty="0"/>
                  <a:t>Set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 →</m:t>
                    </m:r>
                    <m:acc>
                      <m:accPr>
                        <m:chr m:val="̂"/>
                        <m:ctrlPr>
                          <a:rPr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a:rPr i="1" dirty="0" smtClean="0">
                        <a:latin typeface="Cambria Math" panose="02040503050406030204" pitchFamily="18" charset="0"/>
                      </a:rPr>
                      <m:t>(0,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70DEBDF-9835-E0D7-0BC2-09EEDEB3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424" y="2831344"/>
                <a:ext cx="2191512" cy="679673"/>
              </a:xfrm>
              <a:prstGeom prst="rect">
                <a:avLst/>
              </a:prstGeom>
              <a:blipFill>
                <a:blip r:embed="rId4"/>
                <a:stretch>
                  <a:fillRect t="-1786" b="-11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D26C8238-3A2C-907A-6F45-02920FEFBF79}"/>
              </a:ext>
            </a:extLst>
          </p:cNvPr>
          <p:cNvSpPr/>
          <p:nvPr/>
        </p:nvSpPr>
        <p:spPr>
          <a:xfrm>
            <a:off x="6377310" y="2272118"/>
            <a:ext cx="2481072" cy="1832035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CA0AA8-C3BA-D0E8-8D3F-9129F2EAC26E}"/>
              </a:ext>
            </a:extLst>
          </p:cNvPr>
          <p:cNvSpPr txBox="1"/>
          <p:nvPr/>
        </p:nvSpPr>
        <p:spPr>
          <a:xfrm>
            <a:off x="6541902" y="2381847"/>
            <a:ext cx="198099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Subtract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FBF187-317F-980C-FE4D-66BEA883A721}"/>
                  </a:ext>
                </a:extLst>
              </p:cNvPr>
              <p:cNvSpPr txBox="1"/>
              <p:nvPr/>
            </p:nvSpPr>
            <p:spPr>
              <a:xfrm>
                <a:off x="6541902" y="2820759"/>
                <a:ext cx="2316480" cy="67364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)=</m:t>
                      </m:r>
                      <m:acc>
                        <m:accPr>
                          <m:chr m:val="̂"/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(1,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)−</m:t>
                      </m:r>
                      <m:acc>
                        <m:accPr>
                          <m:chr m:val="̂"/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i="1" dirty="0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FBF187-317F-980C-FE4D-66BEA883A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902" y="2820759"/>
                <a:ext cx="2316480" cy="673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198E9BCC-2F6B-D5BF-D460-33AF986AF2C9}"/>
              </a:ext>
            </a:extLst>
          </p:cNvPr>
          <p:cNvSpPr txBox="1"/>
          <p:nvPr/>
        </p:nvSpPr>
        <p:spPr>
          <a:xfrm>
            <a:off x="853440" y="4468128"/>
            <a:ext cx="6955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6B737"/>
                </a:solidFill>
                <a:latin typeface="Aptos"/>
              </a:defRPr>
            </a:pPr>
            <a:r>
              <a:rPr dirty="0"/>
              <a:t>S = single model.</a:t>
            </a:r>
          </a:p>
        </p:txBody>
      </p:sp>
    </p:spTree>
    <p:extLst>
      <p:ext uri="{BB962C8B-B14F-4D97-AF65-F5344CB8AC3E}">
        <p14:creationId xmlns:p14="http://schemas.microsoft.com/office/powerpoint/2010/main" val="29200811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17F7D-3E77-DC2D-D532-092EFFE69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546458-021F-E2D1-7E63-56D34874D5C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S-Learner: Strengths and Weaknesses</a:t>
            </a:r>
          </a:p>
        </p:txBody>
      </p:sp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61EEB66D-563E-F166-5708-0AAA7959C037}"/>
              </a:ext>
            </a:extLst>
          </p:cNvPr>
          <p:cNvSpPr/>
          <p:nvPr/>
        </p:nvSpPr>
        <p:spPr>
          <a:xfrm>
            <a:off x="164660" y="1336547"/>
            <a:ext cx="4282440" cy="25374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61EDA-3992-EA75-444E-3075F339C418}"/>
              </a:ext>
            </a:extLst>
          </p:cNvPr>
          <p:cNvSpPr txBox="1"/>
          <p:nvPr/>
        </p:nvSpPr>
        <p:spPr>
          <a:xfrm>
            <a:off x="329252" y="1446274"/>
            <a:ext cx="400957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226685-5E3A-F8B9-3633-0138CDC1DA4B}"/>
              </a:ext>
            </a:extLst>
          </p:cNvPr>
          <p:cNvSpPr txBox="1"/>
          <p:nvPr/>
        </p:nvSpPr>
        <p:spPr>
          <a:xfrm>
            <a:off x="329252" y="1885186"/>
            <a:ext cx="4009577" cy="1592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Simple workflow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Shares information across treatment arms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Can use powerful nonlinear learners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Works naturally with many X</a:t>
            </a: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7C3A9731-A600-D770-61D2-F78F7F21A7D6}"/>
              </a:ext>
            </a:extLst>
          </p:cNvPr>
          <p:cNvSpPr/>
          <p:nvPr/>
        </p:nvSpPr>
        <p:spPr>
          <a:xfrm>
            <a:off x="4696901" y="1336547"/>
            <a:ext cx="4282440" cy="253746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4BCC78C-56EC-7B04-999C-D02D363F3D75}"/>
              </a:ext>
            </a:extLst>
          </p:cNvPr>
          <p:cNvSpPr txBox="1"/>
          <p:nvPr/>
        </p:nvSpPr>
        <p:spPr>
          <a:xfrm>
            <a:off x="4861493" y="1446274"/>
            <a:ext cx="4009577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E66767"/>
                </a:solidFill>
                <a:latin typeface="Aptos"/>
              </a:defRPr>
            </a:pPr>
            <a:r>
              <a:t>Weaknesses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A8ECF1-048E-565B-332E-5A65959BE557}"/>
              </a:ext>
            </a:extLst>
          </p:cNvPr>
          <p:cNvSpPr txBox="1"/>
          <p:nvPr/>
        </p:nvSpPr>
        <p:spPr>
          <a:xfrm>
            <a:off x="4861493" y="1885186"/>
            <a:ext cx="4009577" cy="17902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may be ignored if X predicts Y strongly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Regularization can shrink treatment interactions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One model may underrepresent true arm-specific structure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FFD79AF-8C02-C8B7-9FE4-6A34874C5B8E}"/>
              </a:ext>
            </a:extLst>
          </p:cNvPr>
          <p:cNvSpPr txBox="1"/>
          <p:nvPr/>
        </p:nvSpPr>
        <p:spPr>
          <a:xfrm>
            <a:off x="369297" y="4266094"/>
            <a:ext cx="8489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6B737"/>
                </a:solidFill>
                <a:latin typeface="Aptos"/>
              </a:defRPr>
            </a:pPr>
            <a:r>
              <a:rPr sz="1800" dirty="0"/>
              <a:t>Good outcome prediction does not automatically imply good CATE estimation.</a:t>
            </a:r>
          </a:p>
        </p:txBody>
      </p:sp>
    </p:spTree>
    <p:extLst>
      <p:ext uri="{BB962C8B-B14F-4D97-AF65-F5344CB8AC3E}">
        <p14:creationId xmlns:p14="http://schemas.microsoft.com/office/powerpoint/2010/main" val="13124228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B152-7103-6DCD-52E1-C97C97E8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EC68D-D81B-3071-61B3-06ECA67FF27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 Logic for an S-Learner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5A08940D-3B89-A66F-835D-536CFAA8EECA}"/>
              </a:ext>
            </a:extLst>
          </p:cNvPr>
          <p:cNvSpPr/>
          <p:nvPr/>
        </p:nvSpPr>
        <p:spPr>
          <a:xfrm>
            <a:off x="169188" y="1092205"/>
            <a:ext cx="4582234" cy="284935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8F6C2D-CD31-8CA4-32F9-A1C908D3B8F0}"/>
              </a:ext>
            </a:extLst>
          </p:cNvPr>
          <p:cNvSpPr txBox="1"/>
          <p:nvPr/>
        </p:nvSpPr>
        <p:spPr>
          <a:xfrm>
            <a:off x="333778" y="1201935"/>
            <a:ext cx="42799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Conceptual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036B9-82D9-CED7-2D51-9796E146C849}"/>
              </a:ext>
            </a:extLst>
          </p:cNvPr>
          <p:cNvSpPr txBox="1"/>
          <p:nvPr/>
        </p:nvSpPr>
        <p:spPr>
          <a:xfrm>
            <a:off x="333778" y="1640846"/>
            <a:ext cx="4279979" cy="21980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r>
              <a:rPr dirty="0" err="1">
                <a:latin typeface="Consolas" panose="020B0609020204030204" pitchFamily="49" charset="0"/>
              </a:rPr>
              <a:t>fit_s</a:t>
            </a:r>
            <a:r>
              <a:rPr dirty="0">
                <a:latin typeface="Consolas" panose="020B0609020204030204" pitchFamily="49" charset="0"/>
              </a:rPr>
              <a:t> &lt;- learner(Y ~ treat + X1 + X2 + ..., data=d)</a:t>
            </a:r>
          </a:p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endParaRPr dirty="0">
              <a:latin typeface="Consolas" panose="020B0609020204030204" pitchFamily="49" charset="0"/>
            </a:endParaRPr>
          </a:p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d1 &lt;- transform(d, treat=1)</a:t>
            </a:r>
          </a:p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d0 &lt;- transform(d, treat=0)</a:t>
            </a:r>
          </a:p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endParaRPr dirty="0">
              <a:latin typeface="Consolas" panose="020B0609020204030204" pitchFamily="49" charset="0"/>
            </a:endParaRPr>
          </a:p>
          <a:p>
            <a:pPr>
              <a:spcAft>
                <a:spcPts val="500"/>
              </a:spcAft>
              <a:defRPr sz="1450">
                <a:solidFill>
                  <a:srgbClr val="F6F6F6"/>
                </a:solidFill>
                <a:latin typeface="Aptos"/>
              </a:defRPr>
            </a:pPr>
            <a:r>
              <a:rPr dirty="0" err="1">
                <a:latin typeface="Consolas" panose="020B0609020204030204" pitchFamily="49" charset="0"/>
              </a:rPr>
              <a:t>tau_s</a:t>
            </a:r>
            <a:r>
              <a:rPr dirty="0">
                <a:latin typeface="Consolas" panose="020B0609020204030204" pitchFamily="49" charset="0"/>
              </a:rPr>
              <a:t> &lt;- predict(</a:t>
            </a:r>
            <a:r>
              <a:rPr dirty="0" err="1">
                <a:latin typeface="Consolas" panose="020B0609020204030204" pitchFamily="49" charset="0"/>
              </a:rPr>
              <a:t>fit_s</a:t>
            </a:r>
            <a:r>
              <a:rPr dirty="0">
                <a:latin typeface="Consolas" panose="020B0609020204030204" pitchFamily="49" charset="0"/>
              </a:rPr>
              <a:t>, d1) - predict(</a:t>
            </a:r>
            <a:r>
              <a:rPr dirty="0" err="1">
                <a:latin typeface="Consolas" panose="020B0609020204030204" pitchFamily="49" charset="0"/>
              </a:rPr>
              <a:t>fit_s</a:t>
            </a:r>
            <a:r>
              <a:rPr dirty="0">
                <a:latin typeface="Consolas" panose="020B0609020204030204" pitchFamily="49" charset="0"/>
              </a:rPr>
              <a:t>, d0)</a:t>
            </a: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E401C09F-0A6C-90E7-318C-8EEBA79FE5B3}"/>
              </a:ext>
            </a:extLst>
          </p:cNvPr>
          <p:cNvSpPr/>
          <p:nvPr/>
        </p:nvSpPr>
        <p:spPr>
          <a:xfrm>
            <a:off x="4946162" y="1092205"/>
            <a:ext cx="4060678" cy="2849359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D4FD9E-2833-19B9-43A7-1B2F9FA418BC}"/>
              </a:ext>
            </a:extLst>
          </p:cNvPr>
          <p:cNvSpPr txBox="1"/>
          <p:nvPr/>
        </p:nvSpPr>
        <p:spPr>
          <a:xfrm>
            <a:off x="5110753" y="1201935"/>
            <a:ext cx="37625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What matters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D21312-D753-C816-33CF-9F94148D26F9}"/>
              </a:ext>
            </a:extLst>
          </p:cNvPr>
          <p:cNvSpPr txBox="1"/>
          <p:nvPr/>
        </p:nvSpPr>
        <p:spPr>
          <a:xfrm>
            <a:off x="5110753" y="1640845"/>
            <a:ext cx="3762538" cy="19441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The learner must allow treatment to interact with X somehow.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A plain additive linear model produces no heterogeneity unless interactions are included.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Flexible learners can learn interactions implicitly.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C9ACD6-2C05-B9F6-FFD4-A702A6E638BA}"/>
              </a:ext>
            </a:extLst>
          </p:cNvPr>
          <p:cNvSpPr txBox="1"/>
          <p:nvPr/>
        </p:nvSpPr>
        <p:spPr>
          <a:xfrm>
            <a:off x="432469" y="4225809"/>
            <a:ext cx="82790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6B737"/>
                </a:solidFill>
                <a:latin typeface="Aptos"/>
              </a:defRPr>
            </a:pPr>
            <a:r>
              <a:rPr sz="2000" dirty="0"/>
              <a:t>Prediction under two treatment worlds is the same g-computation idea, now used locally for τ(x).</a:t>
            </a:r>
          </a:p>
        </p:txBody>
      </p:sp>
    </p:spTree>
    <p:extLst>
      <p:ext uri="{BB962C8B-B14F-4D97-AF65-F5344CB8AC3E}">
        <p14:creationId xmlns:p14="http://schemas.microsoft.com/office/powerpoint/2010/main" val="2814889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E349-1AF0-760C-CC6D-57D9FE07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E524DB-28BC-E623-0439-1986ACF21A2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T-Learner: Two Outcome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9FFBBB-7AFF-2B8C-3FC2-513E4FD7FDD8}"/>
                  </a:ext>
                </a:extLst>
              </p:cNvPr>
              <p:cNvSpPr txBox="1"/>
              <p:nvPr/>
            </p:nvSpPr>
            <p:spPr>
              <a:xfrm>
                <a:off x="149751" y="977605"/>
                <a:ext cx="8876011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500">
                    <a:solidFill>
                      <a:srgbClr val="5BC7C2"/>
                    </a:solidFill>
                    <a:latin typeface="Cambria Math"/>
                  </a:defRPr>
                </a:pP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₁(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dirty="0"/>
                  <a:t>     and   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₀(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=0,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9FFBBB-7AFF-2B8C-3FC2-513E4FD7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51" y="977605"/>
                <a:ext cx="8876011" cy="477054"/>
              </a:xfrm>
              <a:prstGeom prst="rect">
                <a:avLst/>
              </a:prstGeom>
              <a:blipFill>
                <a:blip r:embed="rId3"/>
                <a:stretch>
                  <a:fillRect t="-8861" b="-29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B314F61F-CCE9-A18F-0733-3CB900EB25F1}"/>
              </a:ext>
            </a:extLst>
          </p:cNvPr>
          <p:cNvSpPr/>
          <p:nvPr/>
        </p:nvSpPr>
        <p:spPr>
          <a:xfrm>
            <a:off x="379476" y="2115773"/>
            <a:ext cx="2667000" cy="20650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474E3B-4F2B-2CDA-95CF-61AAE3810B18}"/>
              </a:ext>
            </a:extLst>
          </p:cNvPr>
          <p:cNvSpPr txBox="1"/>
          <p:nvPr/>
        </p:nvSpPr>
        <p:spPr>
          <a:xfrm>
            <a:off x="544068" y="2225501"/>
            <a:ext cx="239654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Treated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62D28B-449F-EC95-8CCB-0C20AF27AC81}"/>
              </a:ext>
            </a:extLst>
          </p:cNvPr>
          <p:cNvSpPr txBox="1"/>
          <p:nvPr/>
        </p:nvSpPr>
        <p:spPr>
          <a:xfrm>
            <a:off x="544068" y="2901345"/>
            <a:ext cx="2396544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Fit a model using only treated units.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AFA5AE01-8F55-B174-79D0-E688FDE32074}"/>
              </a:ext>
            </a:extLst>
          </p:cNvPr>
          <p:cNvSpPr/>
          <p:nvPr/>
        </p:nvSpPr>
        <p:spPr>
          <a:xfrm>
            <a:off x="3345942" y="2115773"/>
            <a:ext cx="2667000" cy="20650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9B0F0D-9E56-719C-DB85-8EA83F594429}"/>
              </a:ext>
            </a:extLst>
          </p:cNvPr>
          <p:cNvSpPr txBox="1"/>
          <p:nvPr/>
        </p:nvSpPr>
        <p:spPr>
          <a:xfrm>
            <a:off x="3510534" y="2225501"/>
            <a:ext cx="239654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Control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78E55-AC00-04B3-BFE3-D74E654EC9F2}"/>
              </a:ext>
            </a:extLst>
          </p:cNvPr>
          <p:cNvSpPr txBox="1"/>
          <p:nvPr/>
        </p:nvSpPr>
        <p:spPr>
          <a:xfrm>
            <a:off x="3510534" y="2901345"/>
            <a:ext cx="2396544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Fit a separate model using only control units.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94D14A9E-9716-5D57-B6E4-D7765BDF8890}"/>
              </a:ext>
            </a:extLst>
          </p:cNvPr>
          <p:cNvSpPr/>
          <p:nvPr/>
        </p:nvSpPr>
        <p:spPr>
          <a:xfrm>
            <a:off x="6312408" y="2100875"/>
            <a:ext cx="2452116" cy="2050122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32B117-CB8C-8890-B6C9-59D86A8912D4}"/>
              </a:ext>
            </a:extLst>
          </p:cNvPr>
          <p:cNvSpPr txBox="1"/>
          <p:nvPr/>
        </p:nvSpPr>
        <p:spPr>
          <a:xfrm>
            <a:off x="6477000" y="2210603"/>
            <a:ext cx="2203451" cy="34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Subtract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4F804B-DCA3-8518-74C2-614EC217960D}"/>
                  </a:ext>
                </a:extLst>
              </p:cNvPr>
              <p:cNvSpPr txBox="1"/>
              <p:nvPr/>
            </p:nvSpPr>
            <p:spPr>
              <a:xfrm>
                <a:off x="6392927" y="2863747"/>
                <a:ext cx="2287524" cy="67364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7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)−</m:t>
                      </m:r>
                      <m:sSub>
                        <m:sSub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e>
                        <m:sub>
                          <m:r>
                            <a:rPr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4F804B-DCA3-8518-74C2-614EC2179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27" y="2863747"/>
                <a:ext cx="2287524" cy="6736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08805AE9-02BF-3E80-3AD6-CA400AC59170}"/>
              </a:ext>
            </a:extLst>
          </p:cNvPr>
          <p:cNvSpPr txBox="1"/>
          <p:nvPr/>
        </p:nvSpPr>
        <p:spPr>
          <a:xfrm>
            <a:off x="379476" y="4510388"/>
            <a:ext cx="8414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6B737"/>
                </a:solidFill>
                <a:latin typeface="Aptos"/>
              </a:defRPr>
            </a:pPr>
            <a:r>
              <a:rPr dirty="0"/>
              <a:t>T = two models.</a:t>
            </a:r>
          </a:p>
        </p:txBody>
      </p:sp>
    </p:spTree>
    <p:extLst>
      <p:ext uri="{BB962C8B-B14F-4D97-AF65-F5344CB8AC3E}">
        <p14:creationId xmlns:p14="http://schemas.microsoft.com/office/powerpoint/2010/main" val="2422586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2BFF-35C0-A767-ABA2-3D8B5FD8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2D2B46-4A65-1267-B98C-E12AFFE2D7F2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T-Learner: When Separate Models Help, and Hurt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B83A345-9902-C319-1473-9AC77284F897}"/>
              </a:ext>
            </a:extLst>
          </p:cNvPr>
          <p:cNvSpPr/>
          <p:nvPr/>
        </p:nvSpPr>
        <p:spPr>
          <a:xfrm>
            <a:off x="411480" y="1097280"/>
            <a:ext cx="3886200" cy="29489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80CF0-5676-0ED4-AE64-9515F66CE0F0}"/>
              </a:ext>
            </a:extLst>
          </p:cNvPr>
          <p:cNvSpPr txBox="1"/>
          <p:nvPr/>
        </p:nvSpPr>
        <p:spPr>
          <a:xfrm>
            <a:off x="576072" y="1207007"/>
            <a:ext cx="363858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Why it can 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BC9C9D-AAC3-8489-7414-01D8A9DDF609}"/>
              </a:ext>
            </a:extLst>
          </p:cNvPr>
          <p:cNvSpPr txBox="1"/>
          <p:nvPr/>
        </p:nvSpPr>
        <p:spPr>
          <a:xfrm>
            <a:off x="495300" y="1904621"/>
            <a:ext cx="3638584" cy="17902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and control response surfaces may be very different.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Each arm can learn its own nonlinearities.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No need to encode treatment interactions explicitly.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D2FBECB5-7C5C-81F0-7C0D-5B13129BEC99}"/>
              </a:ext>
            </a:extLst>
          </p:cNvPr>
          <p:cNvSpPr/>
          <p:nvPr/>
        </p:nvSpPr>
        <p:spPr>
          <a:xfrm>
            <a:off x="4762500" y="1097280"/>
            <a:ext cx="3886200" cy="29489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FD1282-D10F-CED9-9351-532A53AE08D8}"/>
              </a:ext>
            </a:extLst>
          </p:cNvPr>
          <p:cNvSpPr txBox="1"/>
          <p:nvPr/>
        </p:nvSpPr>
        <p:spPr>
          <a:xfrm>
            <a:off x="4927092" y="1207007"/>
            <a:ext cx="363858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E66767"/>
                </a:solidFill>
                <a:latin typeface="Aptos"/>
              </a:defRPr>
            </a:pPr>
            <a:r>
              <a:t>Why it can hurt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74C403-8FB9-C1F5-4662-F5F0D7A59DFB}"/>
              </a:ext>
            </a:extLst>
          </p:cNvPr>
          <p:cNvSpPr txBox="1"/>
          <p:nvPr/>
        </p:nvSpPr>
        <p:spPr>
          <a:xfrm>
            <a:off x="4927092" y="1904621"/>
            <a:ext cx="3638584" cy="17902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Each model sees fewer observations.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Severe treatment imbalance can make one model unstable.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Errors from two separate models accumulate in τ̂(x).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5AFF05-EFEB-EB2C-EBB7-B0B7B2F64024}"/>
              </a:ext>
            </a:extLst>
          </p:cNvPr>
          <p:cNvSpPr txBox="1"/>
          <p:nvPr/>
        </p:nvSpPr>
        <p:spPr>
          <a:xfrm>
            <a:off x="781151" y="4292083"/>
            <a:ext cx="77036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6B737"/>
                </a:solidFill>
                <a:latin typeface="Aptos"/>
              </a:defRPr>
            </a:pPr>
            <a:r>
              <a:rPr sz="2000"/>
              <a:t>The T-learner favors flexibility across arms but sacrifices information sharing.</a:t>
            </a:r>
          </a:p>
        </p:txBody>
      </p:sp>
    </p:spTree>
    <p:extLst>
      <p:ext uri="{BB962C8B-B14F-4D97-AF65-F5344CB8AC3E}">
        <p14:creationId xmlns:p14="http://schemas.microsoft.com/office/powerpoint/2010/main" val="2696123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5803-448C-A90B-5435-9A257171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432DA1-2E94-08DC-6589-564C0CA9FFD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S-Learner vs T-Learner: The Key Tradeoff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7C863E8-8423-2563-5B53-B05BFCE964FD}"/>
              </a:ext>
            </a:extLst>
          </p:cNvPr>
          <p:cNvSpPr/>
          <p:nvPr/>
        </p:nvSpPr>
        <p:spPr>
          <a:xfrm>
            <a:off x="236220" y="1112520"/>
            <a:ext cx="4335780" cy="27813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8FCB7-51C7-708E-8141-DFBE5592181A}"/>
              </a:ext>
            </a:extLst>
          </p:cNvPr>
          <p:cNvSpPr txBox="1"/>
          <p:nvPr/>
        </p:nvSpPr>
        <p:spPr>
          <a:xfrm>
            <a:off x="400812" y="1222247"/>
            <a:ext cx="405951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S-Learner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AD35C3-9E4E-8566-B913-913BEA6D47FB}"/>
              </a:ext>
            </a:extLst>
          </p:cNvPr>
          <p:cNvSpPr txBox="1"/>
          <p:nvPr/>
        </p:nvSpPr>
        <p:spPr>
          <a:xfrm>
            <a:off x="400812" y="1858213"/>
            <a:ext cx="4059518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1 model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More information sharing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Potentially smoother / more stable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May shrink heterogeneity toward zero</a:t>
            </a:r>
          </a:p>
        </p:txBody>
      </p:sp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42025002-BF6A-1A64-A8FE-EABA259457EA}"/>
              </a:ext>
            </a:extLst>
          </p:cNvPr>
          <p:cNvSpPr/>
          <p:nvPr/>
        </p:nvSpPr>
        <p:spPr>
          <a:xfrm>
            <a:off x="4624922" y="1112520"/>
            <a:ext cx="4335780" cy="27813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AA8AF4-F2F2-D0F8-0F2B-600DB16D6592}"/>
              </a:ext>
            </a:extLst>
          </p:cNvPr>
          <p:cNvSpPr txBox="1"/>
          <p:nvPr/>
        </p:nvSpPr>
        <p:spPr>
          <a:xfrm>
            <a:off x="4789514" y="1222247"/>
            <a:ext cx="405951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T-Learner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B68B38-00D8-DDAD-D0B2-8024245A80E1}"/>
              </a:ext>
            </a:extLst>
          </p:cNvPr>
          <p:cNvSpPr txBox="1"/>
          <p:nvPr/>
        </p:nvSpPr>
        <p:spPr>
          <a:xfrm>
            <a:off x="4848262" y="1858213"/>
            <a:ext cx="4059518" cy="1946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2 models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Less information sharing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Allows very different response surfaces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Can be unstable in small treatment arms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58E65B-4272-965D-F530-D105FCEBA073}"/>
              </a:ext>
            </a:extLst>
          </p:cNvPr>
          <p:cNvSpPr txBox="1"/>
          <p:nvPr/>
        </p:nvSpPr>
        <p:spPr>
          <a:xfrm>
            <a:off x="337121" y="4270248"/>
            <a:ext cx="8469758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>
                <a:solidFill>
                  <a:srgbClr val="F6B737"/>
                </a:solidFill>
                <a:latin typeface="Cambria Math"/>
              </a:defRPr>
            </a:pPr>
            <a:r>
              <a:rPr dirty="0"/>
              <a:t>Bias–variance tradeoff appears in CATE estimation too.</a:t>
            </a:r>
          </a:p>
        </p:txBody>
      </p:sp>
    </p:spTree>
    <p:extLst>
      <p:ext uri="{BB962C8B-B14F-4D97-AF65-F5344CB8AC3E}">
        <p14:creationId xmlns:p14="http://schemas.microsoft.com/office/powerpoint/2010/main" val="6030345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9276-6FF3-5169-4915-87386A0AD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1EBD10-CC58-D4CF-60CA-6CB3D8F1173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X-Learner: Imputed Treatment Contrasts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E759A4F8-472F-931D-3358-1621EF36AFE4}"/>
              </a:ext>
            </a:extLst>
          </p:cNvPr>
          <p:cNvSpPr/>
          <p:nvPr/>
        </p:nvSpPr>
        <p:spPr>
          <a:xfrm>
            <a:off x="100608" y="1524000"/>
            <a:ext cx="2069592" cy="19431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E60A7-4C33-B6D3-1D63-F3EEF027D1E2}"/>
              </a:ext>
            </a:extLst>
          </p:cNvPr>
          <p:cNvSpPr txBox="1"/>
          <p:nvPr/>
        </p:nvSpPr>
        <p:spPr>
          <a:xfrm>
            <a:off x="265200" y="1633728"/>
            <a:ext cx="180817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t>1. Fit outcomes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BE5A48-AFF2-5A43-6763-0DB53F1C65C4}"/>
              </a:ext>
            </a:extLst>
          </p:cNvPr>
          <p:cNvSpPr txBox="1"/>
          <p:nvPr/>
        </p:nvSpPr>
        <p:spPr>
          <a:xfrm>
            <a:off x="265200" y="2072639"/>
            <a:ext cx="180817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Estimate m̂₁(x) and m̂₀(x).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2347B979-8F64-DD02-1747-8BCE567890BB}"/>
              </a:ext>
            </a:extLst>
          </p:cNvPr>
          <p:cNvSpPr/>
          <p:nvPr/>
        </p:nvSpPr>
        <p:spPr>
          <a:xfrm>
            <a:off x="2418612" y="1524000"/>
            <a:ext cx="2069592" cy="19431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3C2640-2303-F0C9-0DD2-2D20B96A1F9A}"/>
              </a:ext>
            </a:extLst>
          </p:cNvPr>
          <p:cNvSpPr txBox="1"/>
          <p:nvPr/>
        </p:nvSpPr>
        <p:spPr>
          <a:xfrm>
            <a:off x="2583204" y="1633728"/>
            <a:ext cx="180817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2. Impute effects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497EF3-748A-546E-0206-27BC9B0F7D1D}"/>
              </a:ext>
            </a:extLst>
          </p:cNvPr>
          <p:cNvSpPr txBox="1"/>
          <p:nvPr/>
        </p:nvSpPr>
        <p:spPr>
          <a:xfrm>
            <a:off x="2583204" y="2072639"/>
            <a:ext cx="180817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Construct a pseudo-effect for each observed unit.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0ADAD2D5-6B18-1A98-345A-577587322943}"/>
              </a:ext>
            </a:extLst>
          </p:cNvPr>
          <p:cNvSpPr/>
          <p:nvPr/>
        </p:nvSpPr>
        <p:spPr>
          <a:xfrm>
            <a:off x="4770850" y="1524000"/>
            <a:ext cx="2069592" cy="19431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B4690A-53EB-B99D-669C-9297E539F2A9}"/>
              </a:ext>
            </a:extLst>
          </p:cNvPr>
          <p:cNvSpPr txBox="1"/>
          <p:nvPr/>
        </p:nvSpPr>
        <p:spPr>
          <a:xfrm>
            <a:off x="4935442" y="1633728"/>
            <a:ext cx="180817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C093E2"/>
                </a:solidFill>
                <a:latin typeface="Aptos"/>
              </a:defRPr>
            </a:pPr>
            <a:r>
              <a:t>3. Model effects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2BC3D-B0E0-E376-C317-B5B1B4846777}"/>
              </a:ext>
            </a:extLst>
          </p:cNvPr>
          <p:cNvSpPr txBox="1"/>
          <p:nvPr/>
        </p:nvSpPr>
        <p:spPr>
          <a:xfrm>
            <a:off x="4935442" y="2072639"/>
            <a:ext cx="180817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Learn treatment-effect patterns as functions of X.</a:t>
            </a:r>
          </a:p>
        </p:txBody>
      </p:sp>
      <p:sp>
        <p:nvSpPr>
          <p:cNvPr id="29" name="Rounded Rectangle 13">
            <a:extLst>
              <a:ext uri="{FF2B5EF4-FFF2-40B4-BE49-F238E27FC236}">
                <a16:creationId xmlns:a16="http://schemas.microsoft.com/office/drawing/2014/main" id="{02F7BB98-0CFE-61F5-F367-A98F6629E630}"/>
              </a:ext>
            </a:extLst>
          </p:cNvPr>
          <p:cNvSpPr/>
          <p:nvPr/>
        </p:nvSpPr>
        <p:spPr>
          <a:xfrm>
            <a:off x="6986144" y="1524000"/>
            <a:ext cx="2069592" cy="194310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F6B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2790C6-E35D-9DB9-0778-F1B3656FD872}"/>
              </a:ext>
            </a:extLst>
          </p:cNvPr>
          <p:cNvSpPr txBox="1"/>
          <p:nvPr/>
        </p:nvSpPr>
        <p:spPr>
          <a:xfrm>
            <a:off x="7150736" y="1633728"/>
            <a:ext cx="180817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F6B737"/>
                </a:solidFill>
                <a:latin typeface="Aptos"/>
              </a:defRPr>
            </a:pPr>
            <a:r>
              <a:t>4. Combine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21EBE8-FFD8-AA58-A087-EBBF172E3396}"/>
              </a:ext>
            </a:extLst>
          </p:cNvPr>
          <p:cNvSpPr txBox="1"/>
          <p:nvPr/>
        </p:nvSpPr>
        <p:spPr>
          <a:xfrm>
            <a:off x="7150736" y="2072639"/>
            <a:ext cx="180817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t>Blend arm-specific effect models.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46AFDB-82C7-769C-122B-E91B21BA93FD}"/>
              </a:ext>
            </a:extLst>
          </p:cNvPr>
          <p:cNvSpPr txBox="1"/>
          <p:nvPr/>
        </p:nvSpPr>
        <p:spPr>
          <a:xfrm>
            <a:off x="169188" y="3977640"/>
            <a:ext cx="873585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>
                <a:solidFill>
                  <a:srgbClr val="5BC7C2"/>
                </a:solidFill>
                <a:latin typeface="Cambria Math"/>
              </a:defRPr>
            </a:pPr>
            <a:r>
              <a:rPr dirty="0"/>
              <a:t>The X-learner explicitly creates proxy outcomes for the missing treatment effect.</a:t>
            </a:r>
          </a:p>
        </p:txBody>
      </p:sp>
    </p:spTree>
    <p:extLst>
      <p:ext uri="{BB962C8B-B14F-4D97-AF65-F5344CB8AC3E}">
        <p14:creationId xmlns:p14="http://schemas.microsoft.com/office/powerpoint/2010/main" val="11206727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BE401-37A0-8174-156F-E1CB779B1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46B13-8214-1618-F4E6-721BA5129B3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X-Learner: The Four Steps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790476-19D2-E3F8-201D-2F496A41CF75}"/>
                  </a:ext>
                </a:extLst>
              </p:cNvPr>
              <p:cNvSpPr txBox="1"/>
              <p:nvPr/>
            </p:nvSpPr>
            <p:spPr>
              <a:xfrm>
                <a:off x="397924" y="1305760"/>
                <a:ext cx="824484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400">
                    <a:solidFill>
                      <a:srgbClr val="64AEEB"/>
                    </a:solidFill>
                    <a:latin typeface="Cambria Math"/>
                  </a:defRPr>
                </a:pPr>
                <a:r>
                  <a:rPr lang="en-US" dirty="0"/>
                  <a:t>For controls: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⁰ =</m:t>
                    </m:r>
                    <m:sSub>
                      <m:sSubPr>
                        <m:ctrlPr>
                          <a:rPr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 −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790476-19D2-E3F8-201D-2F496A41C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24" y="1305760"/>
                <a:ext cx="8244840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A66A57DE-FFF7-1580-902F-E745E5ED628A}"/>
              </a:ext>
            </a:extLst>
          </p:cNvPr>
          <p:cNvSpPr/>
          <p:nvPr/>
        </p:nvSpPr>
        <p:spPr>
          <a:xfrm>
            <a:off x="480060" y="1893403"/>
            <a:ext cx="2535819" cy="219251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46A104-C21C-20B8-8C1C-3FEA6BD318CF}"/>
                  </a:ext>
                </a:extLst>
              </p:cNvPr>
              <p:cNvSpPr txBox="1"/>
              <p:nvPr/>
            </p:nvSpPr>
            <p:spPr>
              <a:xfrm>
                <a:off x="644652" y="2003130"/>
                <a:ext cx="228909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50" b="1">
                    <a:solidFill>
                      <a:srgbClr val="71CC94"/>
                    </a:solidFill>
                    <a:latin typeface="Aptos"/>
                  </a:defRPr>
                </a:pPr>
                <a:r>
                  <a:rPr dirty="0"/>
                  <a:t>Then model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¹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846A104-C21C-20B8-8C1C-3FEA6BD31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" y="2003130"/>
                <a:ext cx="2289091" cy="346249"/>
              </a:xfrm>
              <a:prstGeom prst="rect">
                <a:avLst/>
              </a:prstGeom>
              <a:blipFill>
                <a:blip r:embed="rId4"/>
                <a:stretch>
                  <a:fillRect l="-1600" t="-53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C9C28-CB97-958B-E77C-2B1C18170677}"/>
                  </a:ext>
                </a:extLst>
              </p:cNvPr>
              <p:cNvSpPr txBox="1"/>
              <p:nvPr/>
            </p:nvSpPr>
            <p:spPr>
              <a:xfrm>
                <a:off x="562356" y="2479197"/>
                <a:ext cx="2453522" cy="151015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among treated units.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7C9C28-CB97-958B-E77C-2B1C18170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356" y="2479197"/>
                <a:ext cx="2453522" cy="1510157"/>
              </a:xfrm>
              <a:prstGeom prst="rect">
                <a:avLst/>
              </a:prstGeom>
              <a:blipFill>
                <a:blip r:embed="rId5"/>
                <a:stretch>
                  <a:fillRect l="-1241" t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0F806C70-5C71-390B-1C5F-CCB23ABAB3E6}"/>
              </a:ext>
            </a:extLst>
          </p:cNvPr>
          <p:cNvSpPr/>
          <p:nvPr/>
        </p:nvSpPr>
        <p:spPr>
          <a:xfrm>
            <a:off x="3304090" y="1930558"/>
            <a:ext cx="2535819" cy="219251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7E3288-4844-763F-3BE6-51C4CCF11200}"/>
                  </a:ext>
                </a:extLst>
              </p:cNvPr>
              <p:cNvSpPr txBox="1"/>
              <p:nvPr/>
            </p:nvSpPr>
            <p:spPr>
              <a:xfrm>
                <a:off x="3468682" y="2040285"/>
                <a:ext cx="2289091" cy="3462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 sz="1650" b="1">
                    <a:solidFill>
                      <a:srgbClr val="64AEEB"/>
                    </a:solidFill>
                    <a:latin typeface="Aptos"/>
                  </a:defRPr>
                </a:pPr>
                <a:r>
                  <a:rPr dirty="0"/>
                  <a:t>Model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⁰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7E3288-4844-763F-3BE6-51C4CCF11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82" y="2040285"/>
                <a:ext cx="2289091" cy="346249"/>
              </a:xfrm>
              <a:prstGeom prst="rect">
                <a:avLst/>
              </a:prstGeom>
              <a:blipFill>
                <a:blip r:embed="rId6"/>
                <a:stretch>
                  <a:fillRect l="-1596" t="-535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E8D688-EECE-FC30-723E-9F3A532ED626}"/>
                  </a:ext>
                </a:extLst>
              </p:cNvPr>
              <p:cNvSpPr txBox="1"/>
              <p:nvPr/>
            </p:nvSpPr>
            <p:spPr>
              <a:xfrm>
                <a:off x="3468682" y="2479197"/>
                <a:ext cx="2289091" cy="155100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among control units.</a:t>
                </a:r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5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E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E8D688-EECE-FC30-723E-9F3A532ED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682" y="2479197"/>
                <a:ext cx="2289091" cy="1551002"/>
              </a:xfrm>
              <a:prstGeom prst="rect">
                <a:avLst/>
              </a:prstGeom>
              <a:blipFill>
                <a:blip r:embed="rId7"/>
                <a:stretch>
                  <a:fillRect l="-1330" t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AA14FE03-E4B8-7642-2E6F-D97DDABCBB66}"/>
              </a:ext>
            </a:extLst>
          </p:cNvPr>
          <p:cNvSpPr/>
          <p:nvPr/>
        </p:nvSpPr>
        <p:spPr>
          <a:xfrm>
            <a:off x="6128121" y="1930558"/>
            <a:ext cx="2535819" cy="219251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00CDBC-D698-9B7D-2112-6FB8AED74513}"/>
              </a:ext>
            </a:extLst>
          </p:cNvPr>
          <p:cNvSpPr txBox="1"/>
          <p:nvPr/>
        </p:nvSpPr>
        <p:spPr>
          <a:xfrm>
            <a:off x="6292713" y="2040285"/>
            <a:ext cx="228909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Combine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47BD467-307C-55E5-80BB-9CE5DA58E8D2}"/>
                  </a:ext>
                </a:extLst>
              </p:cNvPr>
              <p:cNvSpPr txBox="1"/>
              <p:nvPr/>
            </p:nvSpPr>
            <p:spPr>
              <a:xfrm>
                <a:off x="5818733" y="2771584"/>
                <a:ext cx="2824031" cy="633507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>
                  <a:spcAft>
                    <a:spcPts val="500"/>
                  </a:spcAft>
                  <a:defRPr sz="1550">
                    <a:solidFill>
                      <a:srgbClr val="F6F6F6"/>
                    </a:solidFill>
                    <a:latin typeface="Aptos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500"/>
                  </a:spcAft>
                  <a:defRPr sz="155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                           </a:t>
                </a:r>
                <a14:m>
                  <m:oMath xmlns:m="http://schemas.openxmlformats.org/officeDocument/2006/math">
                    <m:r>
                      <a:rPr i="1" dirty="0">
                        <a:latin typeface="Cambria Math" panose="02040503050406030204" pitchFamily="18" charset="0"/>
                      </a:rPr>
                      <m:t>+{1−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)}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47BD467-307C-55E5-80BB-9CE5DA58E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33" y="2771584"/>
                <a:ext cx="2824031" cy="633507"/>
              </a:xfrm>
              <a:prstGeom prst="rect">
                <a:avLst/>
              </a:prstGeom>
              <a:blipFill>
                <a:blip r:embed="rId8"/>
                <a:stretch>
                  <a:fillRect b="-48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EEF54D-DB96-A2D6-6B79-BBD959C7FEB9}"/>
                  </a:ext>
                </a:extLst>
              </p:cNvPr>
              <p:cNvSpPr txBox="1"/>
              <p:nvPr/>
            </p:nvSpPr>
            <p:spPr>
              <a:xfrm>
                <a:off x="675788" y="4246117"/>
                <a:ext cx="767599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1500" b="1">
                    <a:solidFill>
                      <a:srgbClr val="F6B737"/>
                    </a:solidFill>
                    <a:latin typeface="Aptos"/>
                  </a:defRPr>
                </a:pPr>
                <a:r>
                  <a:rPr sz="2400" dirty="0"/>
                  <a:t>The weighting function </a:t>
                </a:r>
                <a14:m>
                  <m:oMath xmlns:m="http://schemas.openxmlformats.org/officeDocument/2006/math">
                    <m:r>
                      <a:rPr sz="24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dirty="0"/>
                  <a:t> often uses treatment propensity information.</a:t>
                </a: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FEEF54D-DB96-A2D6-6B79-BBD959C7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88" y="4246117"/>
                <a:ext cx="7675994" cy="830997"/>
              </a:xfrm>
              <a:prstGeom prst="rect">
                <a:avLst/>
              </a:prstGeom>
              <a:blipFill>
                <a:blip r:embed="rId9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3F5554-4615-BC1F-F913-D48A7056E377}"/>
                  </a:ext>
                </a:extLst>
              </p:cNvPr>
              <p:cNvSpPr txBox="1"/>
              <p:nvPr/>
            </p:nvSpPr>
            <p:spPr>
              <a:xfrm>
                <a:off x="-38100" y="815558"/>
                <a:ext cx="91821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400">
                    <a:solidFill>
                      <a:srgbClr val="71CC94"/>
                    </a:solidFill>
                    <a:latin typeface="Cambria Math"/>
                  </a:defRPr>
                </a:pPr>
                <a:r>
                  <a:rPr lang="en-US" dirty="0"/>
                  <a:t>For treated: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¹ =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33F5554-4615-BC1F-F913-D48A7056E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0" y="815558"/>
                <a:ext cx="9182100" cy="461665"/>
              </a:xfrm>
              <a:prstGeom prst="rect">
                <a:avLst/>
              </a:prstGeom>
              <a:blipFill>
                <a:blip r:embed="rId10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22481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5591-3316-EDA7-8E1B-B09EF408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01E68-BC12-F85D-17B5-079A21A064C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When Is the X-Learner Attractive?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8BABB599-5868-EC3E-FA00-1C93ACF17587}"/>
              </a:ext>
            </a:extLst>
          </p:cNvPr>
          <p:cNvSpPr/>
          <p:nvPr/>
        </p:nvSpPr>
        <p:spPr>
          <a:xfrm>
            <a:off x="432054" y="1325881"/>
            <a:ext cx="2705100" cy="22250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3580D6-C340-AEDD-5CBC-FCF806CB5C7C}"/>
              </a:ext>
            </a:extLst>
          </p:cNvPr>
          <p:cNvSpPr txBox="1"/>
          <p:nvPr/>
        </p:nvSpPr>
        <p:spPr>
          <a:xfrm>
            <a:off x="596646" y="1435607"/>
            <a:ext cx="244190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Treatment imbalance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6E9B4-17F6-BC6D-B3F1-65A0A6D3A742}"/>
              </a:ext>
            </a:extLst>
          </p:cNvPr>
          <p:cNvSpPr txBox="1"/>
          <p:nvPr/>
        </p:nvSpPr>
        <p:spPr>
          <a:xfrm>
            <a:off x="596646" y="1874519"/>
            <a:ext cx="2441901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t>One arm may be much larger than the other.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7689A5E2-F7C7-FECE-CECE-53FBD3F3DBB3}"/>
              </a:ext>
            </a:extLst>
          </p:cNvPr>
          <p:cNvSpPr/>
          <p:nvPr/>
        </p:nvSpPr>
        <p:spPr>
          <a:xfrm>
            <a:off x="3301748" y="1332736"/>
            <a:ext cx="2705100" cy="22250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E7B951-E9E0-9EAA-65B6-6740593EA91C}"/>
              </a:ext>
            </a:extLst>
          </p:cNvPr>
          <p:cNvSpPr txBox="1"/>
          <p:nvPr/>
        </p:nvSpPr>
        <p:spPr>
          <a:xfrm>
            <a:off x="3466340" y="1442462"/>
            <a:ext cx="244190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Structured heterogeneity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5855-A57F-4DB3-0019-6A625AEAC0A3}"/>
              </a:ext>
            </a:extLst>
          </p:cNvPr>
          <p:cNvSpPr txBox="1"/>
          <p:nvPr/>
        </p:nvSpPr>
        <p:spPr>
          <a:xfrm>
            <a:off x="3466340" y="2240091"/>
            <a:ext cx="2441901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effects may be simpler than outcome surfaces.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78C054AC-86E8-2F7E-4236-2995EBB25736}"/>
              </a:ext>
            </a:extLst>
          </p:cNvPr>
          <p:cNvSpPr/>
          <p:nvPr/>
        </p:nvSpPr>
        <p:spPr>
          <a:xfrm>
            <a:off x="6141984" y="1332736"/>
            <a:ext cx="2705100" cy="22250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E66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902858-3859-4F40-47A8-61055BF38D01}"/>
              </a:ext>
            </a:extLst>
          </p:cNvPr>
          <p:cNvSpPr txBox="1"/>
          <p:nvPr/>
        </p:nvSpPr>
        <p:spPr>
          <a:xfrm>
            <a:off x="6306576" y="1442462"/>
            <a:ext cx="2441901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E66767"/>
                </a:solidFill>
                <a:latin typeface="Aptos"/>
              </a:defRPr>
            </a:pPr>
            <a:r>
              <a:rPr dirty="0"/>
              <a:t>Caution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944F18-27B6-7299-E999-2E7E6B271772}"/>
              </a:ext>
            </a:extLst>
          </p:cNvPr>
          <p:cNvSpPr txBox="1"/>
          <p:nvPr/>
        </p:nvSpPr>
        <p:spPr>
          <a:xfrm>
            <a:off x="6306576" y="2088616"/>
            <a:ext cx="2441901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Still depends on accurate nuisance learning and adequate local overlap.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4C01BA-2BBE-87F2-EEC9-D2AF6140CF10}"/>
              </a:ext>
            </a:extLst>
          </p:cNvPr>
          <p:cNvSpPr txBox="1"/>
          <p:nvPr/>
        </p:nvSpPr>
        <p:spPr>
          <a:xfrm>
            <a:off x="174384" y="4152900"/>
            <a:ext cx="87952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6B737"/>
                </a:solidFill>
                <a:latin typeface="Cambria Math"/>
              </a:defRPr>
            </a:pPr>
            <a:r>
              <a:rPr dirty="0"/>
              <a:t>X-learning can borrow strength strategically; it cannot manufacture missing support.</a:t>
            </a:r>
          </a:p>
        </p:txBody>
      </p:sp>
    </p:spTree>
    <p:extLst>
      <p:ext uri="{BB962C8B-B14F-4D97-AF65-F5344CB8AC3E}">
        <p14:creationId xmlns:p14="http://schemas.microsoft.com/office/powerpoint/2010/main" val="7916041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06E3F-90C0-6594-A510-6F84A13F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002C9-4776-8180-81F7-2AE198756D9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Comparison: S-, T-, and X-Learners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D4D0D3-0812-E712-F091-3428ED810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550752"/>
              </p:ext>
            </p:extLst>
          </p:nvPr>
        </p:nvGraphicFramePr>
        <p:xfrm>
          <a:off x="169188" y="886694"/>
          <a:ext cx="8689194" cy="3708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5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5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6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028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64AEEB"/>
                          </a:solidFill>
                          <a:latin typeface="Aptos"/>
                        </a:defRPr>
                      </a:pPr>
                      <a:r>
                        <a:t>S-Learner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71CC94"/>
                          </a:solidFill>
                          <a:latin typeface="Aptos"/>
                        </a:defRPr>
                      </a:pPr>
                      <a:r>
                        <a:t>T-Learner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C093E2"/>
                          </a:solidFill>
                          <a:latin typeface="Aptos"/>
                        </a:defRPr>
                      </a:pPr>
                      <a:r>
                        <a:t>X-Learner</a:t>
                      </a:r>
                    </a:p>
                  </a:txBody>
                  <a:tcPr>
                    <a:solidFill>
                      <a:srgbClr val="363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Outcome models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2 initial + effect models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Information sharing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Intermediate / adaptive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Treatment imbalance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Can be stable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Can struggle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Often attractive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Main idea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Predict both worlds from one model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Separate response surfaces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Impute and learn treatment effects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0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Main risk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Treatment signal shrunk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t>Small-arm instability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6F6F6"/>
                          </a:solidFill>
                          <a:latin typeface="Aptos"/>
                        </a:defRPr>
                      </a:pPr>
                      <a:r>
                        <a:rPr dirty="0"/>
                        <a:t>More modeling stages</a:t>
                      </a:r>
                    </a:p>
                  </a:txBody>
                  <a:tcPr>
                    <a:solidFill>
                      <a:srgbClr val="2A2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F966B99-3325-1613-6E7F-67114D68582F}"/>
              </a:ext>
            </a:extLst>
          </p:cNvPr>
          <p:cNvSpPr txBox="1"/>
          <p:nvPr/>
        </p:nvSpPr>
        <p:spPr>
          <a:xfrm>
            <a:off x="518753" y="4611496"/>
            <a:ext cx="7990063" cy="532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6B737"/>
                </a:solidFill>
                <a:latin typeface="Aptos"/>
              </a:defRPr>
            </a:pPr>
            <a:r>
              <a:rPr dirty="0"/>
              <a:t>None is uniformly best; performance depends on sample size, imbalance, smoothness, and the base learner.</a:t>
            </a:r>
          </a:p>
        </p:txBody>
      </p:sp>
    </p:spTree>
    <p:extLst>
      <p:ext uri="{BB962C8B-B14F-4D97-AF65-F5344CB8AC3E}">
        <p14:creationId xmlns:p14="http://schemas.microsoft.com/office/powerpoint/2010/main" val="34946753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57209-DD82-2FA5-B643-3C16876D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9B4661-0B4A-B127-07A8-03041C32CF53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 Code: S-Learner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1EBF3692-5E01-14DB-335A-2219B84C31B5}"/>
              </a:ext>
            </a:extLst>
          </p:cNvPr>
          <p:cNvSpPr/>
          <p:nvPr/>
        </p:nvSpPr>
        <p:spPr>
          <a:xfrm>
            <a:off x="169188" y="937522"/>
            <a:ext cx="4274341" cy="393165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D8401EB-B0FE-020D-DA2D-866777E5ABA6}"/>
              </a:ext>
            </a:extLst>
          </p:cNvPr>
          <p:cNvSpPr txBox="1"/>
          <p:nvPr/>
        </p:nvSpPr>
        <p:spPr>
          <a:xfrm>
            <a:off x="333781" y="1028964"/>
            <a:ext cx="4680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Code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6429FF2-36A0-4995-4F64-FA19554C4635}"/>
              </a:ext>
            </a:extLst>
          </p:cNvPr>
          <p:cNvSpPr txBox="1"/>
          <p:nvPr/>
        </p:nvSpPr>
        <p:spPr>
          <a:xfrm>
            <a:off x="333781" y="1746799"/>
            <a:ext cx="4109748" cy="2974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fit_s &lt;- lm(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  re78 ~ treat * (age + educ + re74 + re75),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  data = d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d1 &lt;- transform(d, treat = 1)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d0 &lt;- transform(d, treat = 0)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mu1_s &lt;- predict(fit_s, newdata = d1)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mu0_s &lt;- predict(fit_s, newdata = d0)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tau_s &lt;- mu1_s - mu0_s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dirty="0">
                <a:latin typeface="Consolas" panose="020B0609020204030204" pitchFamily="49" charset="0"/>
              </a:rPr>
              <a:t>summary(tau_s)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C7CB316-3C00-99BF-0C75-54EB9ABA934A}"/>
              </a:ext>
            </a:extLst>
          </p:cNvPr>
          <p:cNvSpPr/>
          <p:nvPr/>
        </p:nvSpPr>
        <p:spPr>
          <a:xfrm>
            <a:off x="4557887" y="948154"/>
            <a:ext cx="4300495" cy="384948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112EB0-A97A-60C0-3DE4-493D0D0F4D64}"/>
              </a:ext>
            </a:extLst>
          </p:cNvPr>
          <p:cNvSpPr txBox="1"/>
          <p:nvPr/>
        </p:nvSpPr>
        <p:spPr>
          <a:xfrm>
            <a:off x="4722479" y="1039595"/>
            <a:ext cx="40215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How to read it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8DB915-D01A-A0E2-D850-28FBBE9C3F09}"/>
                  </a:ext>
                </a:extLst>
              </p:cNvPr>
              <p:cNvSpPr txBox="1"/>
              <p:nvPr/>
            </p:nvSpPr>
            <p:spPr>
              <a:xfrm>
                <a:off x="4722479" y="1853413"/>
                <a:ext cx="4021545" cy="2513509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4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1. Fit one outcome model using T and X together.</a:t>
                </a:r>
              </a:p>
              <a:p>
                <a:pPr>
                  <a:spcAft>
                    <a:spcPts val="4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2. Create the all-treated and all-control prediction worlds.</a:t>
                </a:r>
              </a:p>
              <a:p>
                <a:pPr>
                  <a:spcAft>
                    <a:spcPts val="4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3. For each person, subtract the two predicted outcomes.</a:t>
                </a:r>
              </a:p>
              <a:p>
                <a:pPr>
                  <a:spcAft>
                    <a:spcPts val="4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endParaRPr lang="en-US" dirty="0"/>
              </a:p>
              <a:p>
                <a:pPr>
                  <a:spcAft>
                    <a:spcPts val="400"/>
                  </a:spcAft>
                  <a:defRPr sz="1600">
                    <a:solidFill>
                      <a:srgbClr val="F6F6F6"/>
                    </a:solidFill>
                    <a:latin typeface="Aptos"/>
                  </a:defRPr>
                </a:pPr>
                <a:r>
                  <a:rPr lang="en-US" dirty="0"/>
                  <a:t>Important: with a linear model, include </a:t>
                </a:r>
                <a14:m>
                  <m:oMath xmlns:m="http://schemas.openxmlformats.org/officeDocument/2006/math">
                    <m:r>
                      <a:rPr i="1" dirty="0">
                        <a:latin typeface="Cambria Math" panose="02040503050406030204" pitchFamily="18" charset="0"/>
                      </a:rPr>
                      <m:t>𝑡𝑟𝑒𝑎𝑡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if you want heterogeneity.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28DB915-D01A-A0E2-D850-28FBBE9C3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479" y="1853413"/>
                <a:ext cx="4021545" cy="2513509"/>
              </a:xfrm>
              <a:prstGeom prst="rect">
                <a:avLst/>
              </a:prstGeom>
              <a:blipFill>
                <a:blip r:embed="rId3"/>
                <a:stretch>
                  <a:fillRect l="-910" t="-728" b="-21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3759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05619-4903-8786-FE2F-4E1CAF1B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A95AE-8131-0CA2-2CC2-2C374D0589DA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 Code: T-Learner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8F410F32-65A7-CE24-60F3-0AFCEB08CAC2}"/>
              </a:ext>
            </a:extLst>
          </p:cNvPr>
          <p:cNvSpPr/>
          <p:nvPr/>
        </p:nvSpPr>
        <p:spPr>
          <a:xfrm>
            <a:off x="169188" y="937522"/>
            <a:ext cx="4274341" cy="393165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F2F2398A-CC3C-495A-5C28-A139B73AB2F1}"/>
              </a:ext>
            </a:extLst>
          </p:cNvPr>
          <p:cNvSpPr txBox="1"/>
          <p:nvPr/>
        </p:nvSpPr>
        <p:spPr>
          <a:xfrm>
            <a:off x="333781" y="1028964"/>
            <a:ext cx="4680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Code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98FE59-0B1F-43B7-DD61-F1D7884E1638}"/>
              </a:ext>
            </a:extLst>
          </p:cNvPr>
          <p:cNvSpPr txBox="1"/>
          <p:nvPr/>
        </p:nvSpPr>
        <p:spPr>
          <a:xfrm>
            <a:off x="387121" y="1537262"/>
            <a:ext cx="4626839" cy="3260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fit1 &lt;- lm(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  re78 ~ age + educ + re74 + re75,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  data = d[d$treat == 1, ]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fit0 &lt;- lm(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  re78 ~ age + educ + re74 + re75,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  data = d[d$treat == 0, ]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mu1_t &lt;- predict(fit1, newdata = d)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mu0_t &lt;- predict(fit0, newdata = d)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tau_t &lt;- mu1_t - mu0_t</a:t>
            </a:r>
          </a:p>
          <a:p>
            <a:pPr>
              <a:spcAft>
                <a:spcPts val="400"/>
              </a:spcAft>
              <a:defRPr sz="1410">
                <a:solidFill>
                  <a:srgbClr val="F6F6F6"/>
                </a:solidFill>
                <a:latin typeface="Aptos"/>
              </a:defRPr>
            </a:pPr>
            <a:r>
              <a:rPr lang="en-US" dirty="0">
                <a:latin typeface="Consolas" panose="020B0609020204030204" pitchFamily="49" charset="0"/>
              </a:rPr>
              <a:t>summary(tau_t)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BB052AE2-7355-E568-1B7E-ACC2890F8839}"/>
              </a:ext>
            </a:extLst>
          </p:cNvPr>
          <p:cNvSpPr/>
          <p:nvPr/>
        </p:nvSpPr>
        <p:spPr>
          <a:xfrm>
            <a:off x="4557887" y="948154"/>
            <a:ext cx="4300495" cy="384948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21E2E8-8E51-EC67-21B0-3598B899C1FA}"/>
              </a:ext>
            </a:extLst>
          </p:cNvPr>
          <p:cNvSpPr txBox="1"/>
          <p:nvPr/>
        </p:nvSpPr>
        <p:spPr>
          <a:xfrm>
            <a:off x="4722479" y="1039595"/>
            <a:ext cx="40215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957DF8-ABA9-30B3-757D-BB87021BF469}"/>
              </a:ext>
            </a:extLst>
          </p:cNvPr>
          <p:cNvSpPr txBox="1"/>
          <p:nvPr/>
        </p:nvSpPr>
        <p:spPr>
          <a:xfrm>
            <a:off x="4735334" y="1976721"/>
            <a:ext cx="4021545" cy="251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1. Fit a treated-outcome model only among treated units.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2. Fit a control-outcome model only among control units.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3. Use both models to predict for the same person.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4. Subtract the two predicted outcomes.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This allows the treated and control response surfaces to differ.</a:t>
            </a:r>
          </a:p>
        </p:txBody>
      </p:sp>
    </p:spTree>
    <p:extLst>
      <p:ext uri="{BB962C8B-B14F-4D97-AF65-F5344CB8AC3E}">
        <p14:creationId xmlns:p14="http://schemas.microsoft.com/office/powerpoint/2010/main" val="34785878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F1FB4-3598-469B-8286-51B27A3F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496E48-4F08-337B-EFF2-E7605A74FD6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 Code: X-Learner (Steps 1–2)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1F99A4D2-2C09-2060-B9BC-01C907AE72F2}"/>
              </a:ext>
            </a:extLst>
          </p:cNvPr>
          <p:cNvSpPr/>
          <p:nvPr/>
        </p:nvSpPr>
        <p:spPr>
          <a:xfrm>
            <a:off x="169188" y="937522"/>
            <a:ext cx="4274341" cy="393165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5643BA73-2ACB-6DFD-6E1D-3E6F459FE823}"/>
              </a:ext>
            </a:extLst>
          </p:cNvPr>
          <p:cNvSpPr txBox="1"/>
          <p:nvPr/>
        </p:nvSpPr>
        <p:spPr>
          <a:xfrm>
            <a:off x="333781" y="1028964"/>
            <a:ext cx="4680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Code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41B9E30-08BF-0CBD-989E-6884CA07F8B9}"/>
              </a:ext>
            </a:extLst>
          </p:cNvPr>
          <p:cNvSpPr txBox="1"/>
          <p:nvPr/>
        </p:nvSpPr>
        <p:spPr>
          <a:xfrm>
            <a:off x="333781" y="1746799"/>
            <a:ext cx="4055339" cy="2872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# Step 1: initial outcome models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fit1 &lt;- lm(re78 ~ age + educ + re74 + re75,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data = d[d$treat == 1, ])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fit0 &lt;- lm(re78 ~ age + educ + re74 + re75,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data = d[d$treat == 0, ])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endParaRPr lang="en-US" sz="1200" dirty="0"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m1 &lt;- predict(fit1, newdata = d)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m0 &lt;- predict(fit0, newdata = d)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endParaRPr lang="en-US" sz="1200" dirty="0"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# Step 2: imputed treatment effects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D1 &lt;- d$re78[d$treat == 1] - m0[d$treat == 1]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D0 &lt;- m1[d$treat == 0] - d$re78[d$treat == 0]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37D6195B-0FC8-88B2-E888-47BB5AC16B3F}"/>
              </a:ext>
            </a:extLst>
          </p:cNvPr>
          <p:cNvSpPr/>
          <p:nvPr/>
        </p:nvSpPr>
        <p:spPr>
          <a:xfrm>
            <a:off x="4557887" y="948154"/>
            <a:ext cx="4300495" cy="3849488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82B95-2CC1-4991-06E3-A805489FD269}"/>
              </a:ext>
            </a:extLst>
          </p:cNvPr>
          <p:cNvSpPr txBox="1"/>
          <p:nvPr/>
        </p:nvSpPr>
        <p:spPr>
          <a:xfrm>
            <a:off x="4722479" y="1039595"/>
            <a:ext cx="40215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8E87A-FDE1-2B77-8278-55962D28ED97}"/>
              </a:ext>
            </a:extLst>
          </p:cNvPr>
          <p:cNvSpPr txBox="1"/>
          <p:nvPr/>
        </p:nvSpPr>
        <p:spPr>
          <a:xfrm>
            <a:off x="4722479" y="1853413"/>
            <a:ext cx="4021545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For treated units: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D1 = observed Y(1) − predicted Y(0)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For control units: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D0 = predicted Y(1) − observed Y(0)</a:t>
            </a:r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These are pseudo-treatment effects.</a:t>
            </a:r>
          </a:p>
        </p:txBody>
      </p:sp>
    </p:spTree>
    <p:extLst>
      <p:ext uri="{BB962C8B-B14F-4D97-AF65-F5344CB8AC3E}">
        <p14:creationId xmlns:p14="http://schemas.microsoft.com/office/powerpoint/2010/main" val="185179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CFF4-ACF4-B994-A242-F26415BEE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2295E-1843-6E15-0DA4-B34AC39D172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 Code: X-Learner (Steps 3–4)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4A6B2087-F898-442F-313E-5BB063B34962}"/>
              </a:ext>
            </a:extLst>
          </p:cNvPr>
          <p:cNvSpPr/>
          <p:nvPr/>
        </p:nvSpPr>
        <p:spPr>
          <a:xfrm>
            <a:off x="169188" y="937522"/>
            <a:ext cx="4274341" cy="4062447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33742CCB-C941-30C0-AADA-178F7FEF63C5}"/>
              </a:ext>
            </a:extLst>
          </p:cNvPr>
          <p:cNvSpPr txBox="1"/>
          <p:nvPr/>
        </p:nvSpPr>
        <p:spPr>
          <a:xfrm>
            <a:off x="333781" y="1028964"/>
            <a:ext cx="468017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Code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4823D6-E0B5-188F-3C0F-629E00C9BE4B}"/>
              </a:ext>
            </a:extLst>
          </p:cNvPr>
          <p:cNvSpPr txBox="1"/>
          <p:nvPr/>
        </p:nvSpPr>
        <p:spPr>
          <a:xfrm>
            <a:off x="404037" y="1456023"/>
            <a:ext cx="4109748" cy="35291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# Step 3: model the pseudo-effects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fit_tau1 &lt;- lm(D1 ~ age + educ + re74 + re75,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    data = d[d$treat == 1, ])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fit_tau0 &lt;- lm(D0 ~ age + educ + re74 + re75,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    data = d[d$treat == 0, ])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tau1 &lt;- predict(fit_tau1, newdata = d)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tau0 &lt;- predict(fit_tau0, newdata = d)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endParaRPr lang="en-US" sz="1200" dirty="0">
              <a:latin typeface="Consolas" panose="020B0609020204030204" pitchFamily="49" charset="0"/>
            </a:endParaRP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# Step 4: combine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ps_fit &lt;- glm(treat ~ age + educ + re74 + re75,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              family = binomial(), data = d)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e &lt;- predict(ps_fit, type = 'response')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tau_x &lt;- e * tau0 + (1 - e) * tau1</a:t>
            </a:r>
          </a:p>
          <a:p>
            <a:pPr>
              <a:spcAft>
                <a:spcPts val="400"/>
              </a:spcAft>
              <a:defRPr sz="1430">
                <a:solidFill>
                  <a:srgbClr val="F6F6F6"/>
                </a:solidFill>
                <a:latin typeface="Aptos"/>
              </a:defRPr>
            </a:pPr>
            <a:r>
              <a:rPr lang="en-US" sz="1200" dirty="0">
                <a:latin typeface="Consolas" panose="020B0609020204030204" pitchFamily="49" charset="0"/>
              </a:rPr>
              <a:t>summary(tau_x)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13B802CC-471A-7FE9-5395-6D6522699168}"/>
              </a:ext>
            </a:extLst>
          </p:cNvPr>
          <p:cNvSpPr/>
          <p:nvPr/>
        </p:nvSpPr>
        <p:spPr>
          <a:xfrm>
            <a:off x="4557887" y="948154"/>
            <a:ext cx="4300495" cy="403704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7BB8F7-0047-B7B0-B8F8-56DE125F059F}"/>
              </a:ext>
            </a:extLst>
          </p:cNvPr>
          <p:cNvSpPr txBox="1"/>
          <p:nvPr/>
        </p:nvSpPr>
        <p:spPr>
          <a:xfrm>
            <a:off x="4722479" y="1039595"/>
            <a:ext cx="40215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B3B4F-56E8-A4EC-59D2-30CEE33BFD7E}"/>
              </a:ext>
            </a:extLst>
          </p:cNvPr>
          <p:cNvSpPr txBox="1"/>
          <p:nvPr/>
        </p:nvSpPr>
        <p:spPr>
          <a:xfrm>
            <a:off x="4722479" y="1853413"/>
            <a:ext cx="4021545" cy="1988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57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1. Learn how the pseudo-effects vary with X.</a:t>
            </a:r>
          </a:p>
          <a:p>
            <a:pPr>
              <a:spcAft>
                <a:spcPts val="400"/>
              </a:spcAft>
              <a:defRPr sz="157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2. Predict those effect models for everyone.</a:t>
            </a:r>
          </a:p>
          <a:p>
            <a:pPr>
              <a:spcAft>
                <a:spcPts val="400"/>
              </a:spcAft>
              <a:defRPr sz="157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3. Combine the two effect-model predictions.</a:t>
            </a:r>
          </a:p>
          <a:p>
            <a:pPr>
              <a:spcAft>
                <a:spcPts val="400"/>
              </a:spcAft>
              <a:defRPr sz="1570">
                <a:solidFill>
                  <a:srgbClr val="F6F6F6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400"/>
              </a:spcAft>
              <a:defRPr sz="1570">
                <a:solidFill>
                  <a:srgbClr val="F6F6F6"/>
                </a:solidFill>
                <a:latin typeface="Aptos"/>
              </a:defRPr>
            </a:pPr>
            <a:r>
              <a:rPr lang="en-US" dirty="0"/>
              <a:t>The propensity score helps decide how much weight to give each side.</a:t>
            </a:r>
          </a:p>
        </p:txBody>
      </p:sp>
    </p:spTree>
    <p:extLst>
      <p:ext uri="{BB962C8B-B14F-4D97-AF65-F5344CB8AC3E}">
        <p14:creationId xmlns:p14="http://schemas.microsoft.com/office/powerpoint/2010/main" val="16420693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91B5-A807-8FE0-18F3-514DFA35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062F4-7227-BEAB-EEE5-8566880F0F54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Do We Need Another HTE Method?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083FD47D-0746-2821-1087-41690C184564}"/>
              </a:ext>
            </a:extLst>
          </p:cNvPr>
          <p:cNvSpPr/>
          <p:nvPr/>
        </p:nvSpPr>
        <p:spPr>
          <a:xfrm>
            <a:off x="77752" y="1085850"/>
            <a:ext cx="2977872" cy="307848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E62DDC-0ED6-1772-4EBF-866DF5B69EC5}"/>
              </a:ext>
            </a:extLst>
          </p:cNvPr>
          <p:cNvSpPr txBox="1"/>
          <p:nvPr/>
        </p:nvSpPr>
        <p:spPr>
          <a:xfrm>
            <a:off x="260632" y="1223010"/>
            <a:ext cx="2669284" cy="37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S / T / X learners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727380-B497-38AC-F6DC-9AB475FBBCBF}"/>
              </a:ext>
            </a:extLst>
          </p:cNvPr>
          <p:cNvSpPr txBox="1"/>
          <p:nvPr/>
        </p:nvSpPr>
        <p:spPr>
          <a:xfrm>
            <a:off x="278920" y="1716785"/>
            <a:ext cx="2638425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Learn outcome models and/or imputed effects.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Result depends on the choice and quality of base learners.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5960A34F-B9D0-4978-775C-ABC3479997DC}"/>
              </a:ext>
            </a:extLst>
          </p:cNvPr>
          <p:cNvSpPr/>
          <p:nvPr/>
        </p:nvSpPr>
        <p:spPr>
          <a:xfrm>
            <a:off x="3131084" y="1085850"/>
            <a:ext cx="2977872" cy="307848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FAAB21-7188-7F60-966B-7678EB748CDC}"/>
              </a:ext>
            </a:extLst>
          </p:cNvPr>
          <p:cNvSpPr txBox="1"/>
          <p:nvPr/>
        </p:nvSpPr>
        <p:spPr>
          <a:xfrm>
            <a:off x="3313964" y="1223010"/>
            <a:ext cx="2669284" cy="37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What is still difficult?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A79820-9573-1DF8-78A2-08570F103895}"/>
              </a:ext>
            </a:extLst>
          </p:cNvPr>
          <p:cNvSpPr txBox="1"/>
          <p:nvPr/>
        </p:nvSpPr>
        <p:spPr>
          <a:xfrm>
            <a:off x="3332252" y="1716785"/>
            <a:ext cx="26384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Many modifiers, nonlinear interactions, sparse subgroups, and data-driven searches for where effects differ.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5CC6252A-5128-BCEE-CFEB-D1CC22BF769C}"/>
              </a:ext>
            </a:extLst>
          </p:cNvPr>
          <p:cNvSpPr/>
          <p:nvPr/>
        </p:nvSpPr>
        <p:spPr>
          <a:xfrm>
            <a:off x="6166128" y="1085850"/>
            <a:ext cx="2852164" cy="307848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647FA-0EB1-5124-BED5-F92AF0B8B40E}"/>
              </a:ext>
            </a:extLst>
          </p:cNvPr>
          <p:cNvSpPr txBox="1"/>
          <p:nvPr/>
        </p:nvSpPr>
        <p:spPr>
          <a:xfrm>
            <a:off x="6349008" y="1223010"/>
            <a:ext cx="2669284" cy="370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A different idea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6EC72C-B64D-B2F0-22B2-287F4B49B17B}"/>
              </a:ext>
            </a:extLst>
          </p:cNvPr>
          <p:cNvSpPr txBox="1"/>
          <p:nvPr/>
        </p:nvSpPr>
        <p:spPr>
          <a:xfrm>
            <a:off x="6367296" y="1716785"/>
            <a:ext cx="26384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Build local treatment–control comparisons around people with similar X, using trees designed for HTE.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D5A690-E587-DBFE-9B80-9766DC5F91F5}"/>
              </a:ext>
            </a:extLst>
          </p:cNvPr>
          <p:cNvSpPr txBox="1"/>
          <p:nvPr/>
        </p:nvSpPr>
        <p:spPr>
          <a:xfrm>
            <a:off x="278920" y="4471834"/>
            <a:ext cx="8717605" cy="355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BBA39"/>
                </a:solidFill>
                <a:latin typeface="Aptos"/>
              </a:defRPr>
            </a:pPr>
            <a:r>
              <a:rPr dirty="0"/>
              <a:t>Causal forest is an alternative CATE estimator</a:t>
            </a:r>
            <a:r>
              <a:rPr lang="en-US" dirty="0"/>
              <a:t>, </a:t>
            </a:r>
            <a:r>
              <a:rPr dirty="0"/>
              <a:t>not a required successor to S/T/X.</a:t>
            </a:r>
          </a:p>
        </p:txBody>
      </p:sp>
    </p:spTree>
    <p:extLst>
      <p:ext uri="{BB962C8B-B14F-4D97-AF65-F5344CB8AC3E}">
        <p14:creationId xmlns:p14="http://schemas.microsoft.com/office/powerpoint/2010/main" val="20037416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F20C4-48B6-AD3B-0DCE-C1F681972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A1499B-638C-2F71-C7C8-2CDDEE05E92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Ordinary vs Causal Trees: What Should a Split Find?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5FFD772E-6C47-0CCD-59FA-EE7A22699E6B}"/>
              </a:ext>
            </a:extLst>
          </p:cNvPr>
          <p:cNvSpPr/>
          <p:nvPr/>
        </p:nvSpPr>
        <p:spPr>
          <a:xfrm>
            <a:off x="114300" y="964692"/>
            <a:ext cx="4220945" cy="3076956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33D83-DCD5-5E96-1D1B-4F03575F44FD}"/>
              </a:ext>
            </a:extLst>
          </p:cNvPr>
          <p:cNvSpPr txBox="1"/>
          <p:nvPr/>
        </p:nvSpPr>
        <p:spPr>
          <a:xfrm>
            <a:off x="297180" y="1101852"/>
            <a:ext cx="426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rPr dirty="0"/>
              <a:t>Ordinary prediction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0823D-F644-26C3-35C9-3291D07C95FC}"/>
              </a:ext>
            </a:extLst>
          </p:cNvPr>
          <p:cNvSpPr txBox="1"/>
          <p:nvPr/>
        </p:nvSpPr>
        <p:spPr>
          <a:xfrm>
            <a:off x="297180" y="1702353"/>
            <a:ext cx="4036247" cy="196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Split on X to make outcomes Y easier to predict.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Example: baseline severity predicts risk well, even when treatment effect is constant.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CAD8E1BA-256A-FB7A-7237-3F5AC575E2A9}"/>
              </a:ext>
            </a:extLst>
          </p:cNvPr>
          <p:cNvSpPr/>
          <p:nvPr/>
        </p:nvSpPr>
        <p:spPr>
          <a:xfrm>
            <a:off x="4488180" y="1021080"/>
            <a:ext cx="4587240" cy="3020568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44331-99CC-DB12-5A4A-46F8EC810D38}"/>
              </a:ext>
            </a:extLst>
          </p:cNvPr>
          <p:cNvSpPr txBox="1"/>
          <p:nvPr/>
        </p:nvSpPr>
        <p:spPr>
          <a:xfrm>
            <a:off x="4671060" y="1158240"/>
            <a:ext cx="4265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rPr dirty="0"/>
              <a:t>Causal tree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636E89-34B4-1161-318B-39B8F7D75A82}"/>
              </a:ext>
            </a:extLst>
          </p:cNvPr>
          <p:cNvSpPr txBox="1"/>
          <p:nvPr/>
        </p:nvSpPr>
        <p:spPr>
          <a:xfrm>
            <a:off x="4689348" y="1652016"/>
            <a:ext cx="4233137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Split on X when there is evidence that treatment effects differ across the resulting groups.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Example: biomarker status changes the treated–control contrast.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68D4BE-4E84-67AA-7B96-38F5317159A0}"/>
                  </a:ext>
                </a:extLst>
              </p:cNvPr>
              <p:cNvSpPr txBox="1"/>
              <p:nvPr/>
            </p:nvSpPr>
            <p:spPr>
              <a:xfrm>
                <a:off x="43749" y="4339589"/>
                <a:ext cx="893458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700"/>
                  </a:spcAft>
                  <a:defRPr sz="2400" b="0">
                    <a:solidFill>
                      <a:srgbClr val="FBBA39"/>
                    </a:solidFill>
                    <a:latin typeface="Cambria Math"/>
                  </a:defRPr>
                </a:pPr>
                <a:r>
                  <a:rPr dirty="0"/>
                  <a:t>Strong predictor of Y 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dirty="0"/>
                  <a:t>  strong modifier of treatment effect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68D4BE-4E84-67AA-7B96-38F531715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9" y="4339589"/>
                <a:ext cx="8934582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95691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5BE2-6BD0-30C3-7665-F79EB5C3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571F3-A602-A6CE-5EB9-019D64F78AE5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Ordinary Random Forest Is Not a Causal Forest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0539539-D8C2-28F2-C0D2-CD481B6C762F}"/>
              </a:ext>
            </a:extLst>
          </p:cNvPr>
          <p:cNvSpPr/>
          <p:nvPr/>
        </p:nvSpPr>
        <p:spPr>
          <a:xfrm>
            <a:off x="243840" y="1356360"/>
            <a:ext cx="4404360" cy="250317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B2E24-68C4-B36E-F710-F6FFA7E7F2F2}"/>
              </a:ext>
            </a:extLst>
          </p:cNvPr>
          <p:cNvSpPr txBox="1"/>
          <p:nvPr/>
        </p:nvSpPr>
        <p:spPr>
          <a:xfrm>
            <a:off x="408432" y="1466087"/>
            <a:ext cx="4644545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64AEEB"/>
                </a:solidFill>
                <a:latin typeface="Aptos"/>
              </a:defRPr>
            </a:pPr>
            <a:r>
              <a:rPr dirty="0"/>
              <a:t>Ordinary random forest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6C6AC1-B62B-515D-B80C-6273394619DC}"/>
              </a:ext>
            </a:extLst>
          </p:cNvPr>
          <p:cNvSpPr txBox="1"/>
          <p:nvPr/>
        </p:nvSpPr>
        <p:spPr>
          <a:xfrm>
            <a:off x="408433" y="1904999"/>
            <a:ext cx="4123728" cy="1528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Goal: predict Y accurately.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Splits reduce outcome prediction error.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A strong prognostic variable may dominate even if it does not modify treatment effect.</a:t>
            </a:r>
          </a:p>
        </p:txBody>
      </p:sp>
      <p:sp>
        <p:nvSpPr>
          <p:cNvPr id="12" name="Rounded Rectangle 7">
            <a:extLst>
              <a:ext uri="{FF2B5EF4-FFF2-40B4-BE49-F238E27FC236}">
                <a16:creationId xmlns:a16="http://schemas.microsoft.com/office/drawing/2014/main" id="{DB6BEDA5-7B39-7BB0-7C1C-AC8D4ACF7CF1}"/>
              </a:ext>
            </a:extLst>
          </p:cNvPr>
          <p:cNvSpPr/>
          <p:nvPr/>
        </p:nvSpPr>
        <p:spPr>
          <a:xfrm>
            <a:off x="4754882" y="1356360"/>
            <a:ext cx="4233040" cy="243078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4EEC74-9EAB-62BC-0406-D9175A81366B}"/>
              </a:ext>
            </a:extLst>
          </p:cNvPr>
          <p:cNvSpPr txBox="1"/>
          <p:nvPr/>
        </p:nvSpPr>
        <p:spPr>
          <a:xfrm>
            <a:off x="4919475" y="1466087"/>
            <a:ext cx="3963324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71CC94"/>
                </a:solidFill>
                <a:latin typeface="Aptos"/>
              </a:defRPr>
            </a:pPr>
            <a:r>
              <a:rPr dirty="0"/>
              <a:t>Causal forest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E3766C-318E-5CA8-01B6-E82CEC0A2E74}"/>
              </a:ext>
            </a:extLst>
          </p:cNvPr>
          <p:cNvSpPr txBox="1"/>
          <p:nvPr/>
        </p:nvSpPr>
        <p:spPr>
          <a:xfrm>
            <a:off x="4919475" y="1904999"/>
            <a:ext cx="3963324" cy="17902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Goal: estimate heterogeneity in treatment effects.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Splits seek regions with different treatment effects.</a:t>
            </a:r>
          </a:p>
          <a:p>
            <a:pPr marL="285750" indent="-285750">
              <a:spcAft>
                <a:spcPts val="5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Treatment and control information are compared within leaves.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609F1D-8516-E2FD-531F-09D95CD7128C}"/>
                  </a:ext>
                </a:extLst>
              </p:cNvPr>
              <p:cNvSpPr txBox="1"/>
              <p:nvPr/>
            </p:nvSpPr>
            <p:spPr>
              <a:xfrm>
                <a:off x="586740" y="4326001"/>
                <a:ext cx="8401182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 sz="2300">
                    <a:solidFill>
                      <a:srgbClr val="E66767"/>
                    </a:solidFill>
                    <a:latin typeface="Cambria Math"/>
                  </a:defRPr>
                </a:pPr>
                <a:r>
                  <a:rPr dirty="0"/>
                  <a:t>Prediction heterogeneity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dirty="0"/>
                  <a:t>treatment-effect heterogeneity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7609F1D-8516-E2FD-531F-09D95CD7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" y="4326001"/>
                <a:ext cx="8401182" cy="446276"/>
              </a:xfrm>
              <a:prstGeom prst="rect">
                <a:avLst/>
              </a:prstGeom>
              <a:blipFill>
                <a:blip r:embed="rId3"/>
                <a:stretch>
                  <a:fillRect t="-10959" b="-30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30860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53F5-A941-D9E9-6697-FC97C08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41C7A-058A-6664-2E13-ED19BD5BA558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Causal Forest: Intuition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164072-CE36-8CB2-96CE-1010EBBB83B9}"/>
              </a:ext>
            </a:extLst>
          </p:cNvPr>
          <p:cNvSpPr/>
          <p:nvPr/>
        </p:nvSpPr>
        <p:spPr>
          <a:xfrm>
            <a:off x="169188" y="1325880"/>
            <a:ext cx="2842260" cy="20650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64A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219B4-735B-BF96-FE72-0D29E689406F}"/>
              </a:ext>
            </a:extLst>
          </p:cNvPr>
          <p:cNvSpPr txBox="1"/>
          <p:nvPr/>
        </p:nvSpPr>
        <p:spPr>
          <a:xfrm>
            <a:off x="333780" y="1435607"/>
            <a:ext cx="257649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64AEEB"/>
                </a:solidFill>
                <a:latin typeface="Aptos"/>
              </a:defRPr>
            </a:pPr>
            <a:r>
              <a:t>Grow many trees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3210B-AAA9-27CB-16C0-FFD5B42C953A}"/>
              </a:ext>
            </a:extLst>
          </p:cNvPr>
          <p:cNvSpPr txBox="1"/>
          <p:nvPr/>
        </p:nvSpPr>
        <p:spPr>
          <a:xfrm>
            <a:off x="302073" y="2308728"/>
            <a:ext cx="257649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Repeatedly partition covariate space into local neighborhoods.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209707C5-B160-935F-6548-B30BDCDE3E91}"/>
              </a:ext>
            </a:extLst>
          </p:cNvPr>
          <p:cNvSpPr/>
          <p:nvPr/>
        </p:nvSpPr>
        <p:spPr>
          <a:xfrm>
            <a:off x="3182578" y="1325880"/>
            <a:ext cx="2842260" cy="20650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71C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B36748-6899-2C15-D4CA-9234C869DFCE}"/>
              </a:ext>
            </a:extLst>
          </p:cNvPr>
          <p:cNvSpPr txBox="1"/>
          <p:nvPr/>
        </p:nvSpPr>
        <p:spPr>
          <a:xfrm>
            <a:off x="3347170" y="1435607"/>
            <a:ext cx="257649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71CC94"/>
                </a:solidFill>
                <a:latin typeface="Aptos"/>
              </a:defRPr>
            </a:pPr>
            <a:r>
              <a:t>Look for effect differences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324F0A-722A-C45C-54F2-4D0F6AD0FCFF}"/>
              </a:ext>
            </a:extLst>
          </p:cNvPr>
          <p:cNvSpPr txBox="1"/>
          <p:nvPr/>
        </p:nvSpPr>
        <p:spPr>
          <a:xfrm>
            <a:off x="3315463" y="2156291"/>
            <a:ext cx="257649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6F6F6"/>
                </a:solidFill>
                <a:latin typeface="Aptos"/>
              </a:defRPr>
            </a:pPr>
            <a:r>
              <a:rPr dirty="0"/>
              <a:t>Prefer splits that reveal treatment-effect heterogeneity rather than outcome levels alone.</a:t>
            </a:r>
          </a:p>
        </p:txBody>
      </p:sp>
      <p:sp>
        <p:nvSpPr>
          <p:cNvPr id="23" name="Rounded Rectangle 10">
            <a:extLst>
              <a:ext uri="{FF2B5EF4-FFF2-40B4-BE49-F238E27FC236}">
                <a16:creationId xmlns:a16="http://schemas.microsoft.com/office/drawing/2014/main" id="{4B058F84-9D14-1BBB-CA78-5CBBCDD15189}"/>
              </a:ext>
            </a:extLst>
          </p:cNvPr>
          <p:cNvSpPr/>
          <p:nvPr/>
        </p:nvSpPr>
        <p:spPr>
          <a:xfrm>
            <a:off x="6195968" y="1325880"/>
            <a:ext cx="2842260" cy="2065020"/>
          </a:xfrm>
          <a:prstGeom prst="roundRect">
            <a:avLst/>
          </a:prstGeom>
          <a:solidFill>
            <a:srgbClr val="303030"/>
          </a:solidFill>
          <a:ln w="19050">
            <a:solidFill>
              <a:srgbClr val="C093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A42160-30F2-56FB-D69C-7D2939EE2966}"/>
              </a:ext>
            </a:extLst>
          </p:cNvPr>
          <p:cNvSpPr txBox="1"/>
          <p:nvPr/>
        </p:nvSpPr>
        <p:spPr>
          <a:xfrm>
            <a:off x="6360560" y="1435607"/>
            <a:ext cx="257649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50" b="1">
                <a:solidFill>
                  <a:srgbClr val="C093E2"/>
                </a:solidFill>
                <a:latin typeface="Aptos"/>
              </a:defRPr>
            </a:pPr>
            <a:r>
              <a:t>Average locally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0BD15-3194-AE5B-B894-EB2589025DB8}"/>
              </a:ext>
            </a:extLst>
          </p:cNvPr>
          <p:cNvSpPr txBox="1"/>
          <p:nvPr/>
        </p:nvSpPr>
        <p:spPr>
          <a:xfrm>
            <a:off x="6328853" y="2159077"/>
            <a:ext cx="2576490" cy="8771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F6F6F6"/>
                </a:solidFill>
                <a:latin typeface="Aptos"/>
              </a:defRPr>
            </a:pPr>
            <a:r>
              <a:rPr dirty="0"/>
              <a:t>Combine many trees to estimate τ(x) for each covariate profile.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B207D0-82AC-C45F-1C11-5F0916E7851E}"/>
              </a:ext>
            </a:extLst>
          </p:cNvPr>
          <p:cNvSpPr txBox="1"/>
          <p:nvPr/>
        </p:nvSpPr>
        <p:spPr>
          <a:xfrm>
            <a:off x="169188" y="3869437"/>
            <a:ext cx="8881140" cy="418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>
                <a:solidFill>
                  <a:srgbClr val="F6B737"/>
                </a:solidFill>
                <a:latin typeface="Cambria Math"/>
              </a:defRPr>
            </a:pPr>
            <a:r>
              <a:t>Forest = adaptive local comparison + aggregation across many trees</a:t>
            </a:r>
          </a:p>
        </p:txBody>
      </p:sp>
    </p:spTree>
    <p:extLst>
      <p:ext uri="{BB962C8B-B14F-4D97-AF65-F5344CB8AC3E}">
        <p14:creationId xmlns:p14="http://schemas.microsoft.com/office/powerpoint/2010/main" val="16482472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348D9-E710-8A51-E538-E8DC7772A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0159F-60A1-9A0B-E5F8-BC7AFA278B4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Causal Forest: The Main Idea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CE04F3FE-91D9-98CC-1DBC-8D829BA08196}"/>
              </a:ext>
            </a:extLst>
          </p:cNvPr>
          <p:cNvSpPr/>
          <p:nvPr/>
        </p:nvSpPr>
        <p:spPr>
          <a:xfrm>
            <a:off x="169188" y="1013460"/>
            <a:ext cx="2947392" cy="252222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EE9E2E3-F9F8-999B-3D19-3BE4233A573D}"/>
              </a:ext>
            </a:extLst>
          </p:cNvPr>
          <p:cNvSpPr txBox="1"/>
          <p:nvPr/>
        </p:nvSpPr>
        <p:spPr>
          <a:xfrm>
            <a:off x="347647" y="1157992"/>
            <a:ext cx="26419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rPr dirty="0"/>
              <a:t>1. Local groups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BF8C58EA-770D-C43F-5602-611383E686CC}"/>
              </a:ext>
            </a:extLst>
          </p:cNvPr>
          <p:cNvSpPr txBox="1"/>
          <p:nvPr/>
        </p:nvSpPr>
        <p:spPr>
          <a:xfrm>
            <a:off x="378190" y="1900560"/>
            <a:ext cx="261141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rPr dirty="0"/>
              <a:t>Trees partition covariate space into neighborhoods of similar X.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98B7C7F-0BB4-A618-F9D6-3A540B29B5D4}"/>
              </a:ext>
            </a:extLst>
          </p:cNvPr>
          <p:cNvSpPr/>
          <p:nvPr/>
        </p:nvSpPr>
        <p:spPr>
          <a:xfrm>
            <a:off x="3305265" y="1013460"/>
            <a:ext cx="2820884" cy="252222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64C8FDB-57F8-5BB0-C068-2CB9E0B491E7}"/>
              </a:ext>
            </a:extLst>
          </p:cNvPr>
          <p:cNvSpPr txBox="1"/>
          <p:nvPr/>
        </p:nvSpPr>
        <p:spPr>
          <a:xfrm>
            <a:off x="3483724" y="1157992"/>
            <a:ext cx="26419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rPr dirty="0"/>
              <a:t>2. Local causal contrasts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17CD212-CD45-EC7B-4E93-D7F1A276858A}"/>
              </a:ext>
            </a:extLst>
          </p:cNvPr>
          <p:cNvSpPr txBox="1"/>
          <p:nvPr/>
        </p:nvSpPr>
        <p:spPr>
          <a:xfrm>
            <a:off x="3466041" y="1861850"/>
            <a:ext cx="24993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Within neighborhoods, use observed treatment and outcome information to estimate effects.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6595A8-7FE5-C885-7FFB-D3C940DDA028}"/>
              </a:ext>
            </a:extLst>
          </p:cNvPr>
          <p:cNvSpPr/>
          <p:nvPr/>
        </p:nvSpPr>
        <p:spPr>
          <a:xfrm>
            <a:off x="6370143" y="1013460"/>
            <a:ext cx="2611419" cy="252222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30FA90-2D64-9469-7574-A75DAAF9171A}"/>
              </a:ext>
            </a:extLst>
          </p:cNvPr>
          <p:cNvSpPr txBox="1"/>
          <p:nvPr/>
        </p:nvSpPr>
        <p:spPr>
          <a:xfrm>
            <a:off x="6548603" y="1157992"/>
            <a:ext cx="23408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rPr dirty="0"/>
              <a:t>3. Ensemble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9A2882-F1E9-9807-765A-2DF10C58006A}"/>
              </a:ext>
            </a:extLst>
          </p:cNvPr>
          <p:cNvSpPr txBox="1"/>
          <p:nvPr/>
        </p:nvSpPr>
        <p:spPr>
          <a:xfrm>
            <a:off x="6575665" y="1862002"/>
            <a:ext cx="2313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Average information across many trees to produce a CATE estimate at x.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77A65A43-AFCD-B3F2-38C2-1DDE832DEF14}"/>
              </a:ext>
            </a:extLst>
          </p:cNvPr>
          <p:cNvSpPr txBox="1"/>
          <p:nvPr/>
        </p:nvSpPr>
        <p:spPr>
          <a:xfrm>
            <a:off x="67407" y="3968571"/>
            <a:ext cx="88927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sz="2400" dirty="0"/>
              <a:t>Unlike an ordinary forest, splitting is designed for treatment-effect heterogeneity.</a:t>
            </a:r>
          </a:p>
        </p:txBody>
      </p:sp>
    </p:spTree>
    <p:extLst>
      <p:ext uri="{BB962C8B-B14F-4D97-AF65-F5344CB8AC3E}">
        <p14:creationId xmlns:p14="http://schemas.microsoft.com/office/powerpoint/2010/main" val="219946464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7895-4F40-7DD1-1BD9-80877229E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9EEFE9-E3BC-F5CF-6B28-98970C1A531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Honest Trees: Choosing Splits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71AA65-484E-E178-E0E5-691A812F187E}"/>
              </a:ext>
            </a:extLst>
          </p:cNvPr>
          <p:cNvSpPr/>
          <p:nvPr/>
        </p:nvSpPr>
        <p:spPr>
          <a:xfrm>
            <a:off x="336595" y="1219009"/>
            <a:ext cx="4227552" cy="270548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C0F7DD1-7046-DE50-C1FB-46F33ABBE6B3}"/>
              </a:ext>
            </a:extLst>
          </p:cNvPr>
          <p:cNvSpPr txBox="1"/>
          <p:nvPr/>
        </p:nvSpPr>
        <p:spPr>
          <a:xfrm>
            <a:off x="519475" y="1356169"/>
            <a:ext cx="3934988" cy="3756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Without sample separation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90A1A8B-BB11-FACD-7953-B3E1F926CAAD}"/>
              </a:ext>
            </a:extLst>
          </p:cNvPr>
          <p:cNvSpPr txBox="1"/>
          <p:nvPr/>
        </p:nvSpPr>
        <p:spPr>
          <a:xfrm>
            <a:off x="537763" y="1849946"/>
            <a:ext cx="3905731" cy="19668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The same unusual outcomes can influence both the tree partition and the effect estimate.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This can exaggerate apparent heterogeneity.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D56DE357-DADA-1860-E375-528C8885AFD0}"/>
              </a:ext>
            </a:extLst>
          </p:cNvPr>
          <p:cNvSpPr/>
          <p:nvPr/>
        </p:nvSpPr>
        <p:spPr>
          <a:xfrm>
            <a:off x="4684800" y="1219009"/>
            <a:ext cx="4227552" cy="270548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A1A44AF-182B-7C26-A3B8-77128AED66F2}"/>
              </a:ext>
            </a:extLst>
          </p:cNvPr>
          <p:cNvSpPr txBox="1"/>
          <p:nvPr/>
        </p:nvSpPr>
        <p:spPr>
          <a:xfrm>
            <a:off x="4867680" y="1356169"/>
            <a:ext cx="3934988" cy="3756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Honest estimation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4AE6D708-B7AE-2B20-E25B-6689C9F99B11}"/>
              </a:ext>
            </a:extLst>
          </p:cNvPr>
          <p:cNvSpPr txBox="1"/>
          <p:nvPr/>
        </p:nvSpPr>
        <p:spPr>
          <a:xfrm>
            <a:off x="4885968" y="1849945"/>
            <a:ext cx="3905731" cy="1685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Use one subsample to choose splits and another to estimate treatment effects in the selected leaves.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Reduces adaptive estimation bias.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679AC30B-BC3E-538F-B9DB-2E6F2AAD76FE}"/>
              </a:ext>
            </a:extLst>
          </p:cNvPr>
          <p:cNvSpPr txBox="1"/>
          <p:nvPr/>
        </p:nvSpPr>
        <p:spPr>
          <a:xfrm>
            <a:off x="439531" y="4476748"/>
            <a:ext cx="8264938" cy="3286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500" b="1">
                <a:solidFill>
                  <a:srgbClr val="FBBA39"/>
                </a:solidFill>
                <a:latin typeface="Aptos"/>
              </a:defRPr>
            </a:pPr>
            <a:r>
              <a:rPr dirty="0"/>
              <a:t>Honesty helps with adaptive bias; it does not remove confounding or lack of overlap.</a:t>
            </a:r>
          </a:p>
        </p:txBody>
      </p:sp>
    </p:spTree>
    <p:extLst>
      <p:ext uri="{BB962C8B-B14F-4D97-AF65-F5344CB8AC3E}">
        <p14:creationId xmlns:p14="http://schemas.microsoft.com/office/powerpoint/2010/main" val="11063833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81EB-5029-3167-5585-4AA07E2F8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A21BE-9A1B-AB0B-B734-1A3A8A35714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Causal Forests Do and Do Not Guarantee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60101F40-EE15-676D-9792-2D8D16A3471D}"/>
              </a:ext>
            </a:extLst>
          </p:cNvPr>
          <p:cNvSpPr/>
          <p:nvPr/>
        </p:nvSpPr>
        <p:spPr>
          <a:xfrm>
            <a:off x="82296" y="980694"/>
            <a:ext cx="4377612" cy="2920745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1184E12-0687-EFCE-B10C-2B3C91727C06}"/>
              </a:ext>
            </a:extLst>
          </p:cNvPr>
          <p:cNvSpPr txBox="1"/>
          <p:nvPr/>
        </p:nvSpPr>
        <p:spPr>
          <a:xfrm>
            <a:off x="265177" y="1117854"/>
            <a:ext cx="4180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Useful features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25B0C22-00DC-3CF3-1C7E-560A1888C538}"/>
                  </a:ext>
                </a:extLst>
              </p:cNvPr>
              <p:cNvSpPr txBox="1"/>
              <p:nvPr/>
            </p:nvSpPr>
            <p:spPr>
              <a:xfrm>
                <a:off x="283465" y="1611631"/>
                <a:ext cx="4149105" cy="20851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Aft>
                    <a:spcPts val="700"/>
                  </a:spcAft>
                  <a:defRPr sz="16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Learns complex interactions without listing every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term</a:t>
                </a:r>
              </a:p>
              <a:p>
                <a:pPr algn="l">
                  <a:spcAft>
                    <a:spcPts val="700"/>
                  </a:spcAft>
                  <a:defRPr sz="16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Pools information through many trees</a:t>
                </a:r>
              </a:p>
              <a:p>
                <a:pPr algn="l">
                  <a:spcAft>
                    <a:spcPts val="700"/>
                  </a:spcAft>
                  <a:defRPr sz="16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Produces a CATE prediction for a covariate profile</a:t>
                </a:r>
              </a:p>
              <a:p>
                <a:pPr algn="l">
                  <a:spcAft>
                    <a:spcPts val="700"/>
                  </a:spcAft>
                  <a:defRPr sz="16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Some implementations support statistical inference</a:t>
                </a:r>
              </a:p>
            </p:txBody>
          </p:sp>
        </mc:Choice>
        <mc:Fallback>
          <p:sp>
            <p:nvSpPr>
              <p:cNvPr id="6" name="TextBox 6">
                <a:extLst>
                  <a:ext uri="{FF2B5EF4-FFF2-40B4-BE49-F238E27FC236}">
                    <a16:creationId xmlns:a16="http://schemas.microsoft.com/office/drawing/2014/main" id="{525B0C22-00DC-3CF3-1C7E-560A1888C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5" y="1611631"/>
                <a:ext cx="4149105" cy="2085186"/>
              </a:xfrm>
              <a:prstGeom prst="rect">
                <a:avLst/>
              </a:prstGeom>
              <a:blipFill>
                <a:blip r:embed="rId3"/>
                <a:stretch>
                  <a:fillRect l="-882" t="-877" b="-2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E5C0DBD8-34EA-9BBB-E643-A83B853F8AB7}"/>
              </a:ext>
            </a:extLst>
          </p:cNvPr>
          <p:cNvSpPr/>
          <p:nvPr/>
        </p:nvSpPr>
        <p:spPr>
          <a:xfrm>
            <a:off x="4586663" y="980694"/>
            <a:ext cx="4489704" cy="2920745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6E3E3-5DF3-8046-7C42-6FECACFCB7F1}"/>
              </a:ext>
            </a:extLst>
          </p:cNvPr>
          <p:cNvSpPr txBox="1"/>
          <p:nvPr/>
        </p:nvSpPr>
        <p:spPr>
          <a:xfrm>
            <a:off x="4769544" y="1117854"/>
            <a:ext cx="4180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Still required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2859C9-4F27-5D66-E2E3-8E48AB85F86D}"/>
              </a:ext>
            </a:extLst>
          </p:cNvPr>
          <p:cNvSpPr txBox="1"/>
          <p:nvPr/>
        </p:nvSpPr>
        <p:spPr>
          <a:xfrm>
            <a:off x="4646414" y="1886297"/>
            <a:ext cx="441529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• A defensible causal design and adjustment set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• Adequate overlap and sample size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• Valid outcome and treatment coding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• Diagnostics and honest uncertainty reporting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6BC0B6DB-76D0-A6CC-0ACE-15E458499925}"/>
              </a:ext>
            </a:extLst>
          </p:cNvPr>
          <p:cNvSpPr txBox="1"/>
          <p:nvPr/>
        </p:nvSpPr>
        <p:spPr>
          <a:xfrm>
            <a:off x="189755" y="4452366"/>
            <a:ext cx="87471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sz="2000" dirty="0"/>
              <a:t>A sophisticated algorithm does not identify a causal effect by itself.</a:t>
            </a:r>
          </a:p>
        </p:txBody>
      </p:sp>
    </p:spTree>
    <p:extLst>
      <p:ext uri="{BB962C8B-B14F-4D97-AF65-F5344CB8AC3E}">
        <p14:creationId xmlns:p14="http://schemas.microsoft.com/office/powerpoint/2010/main" val="21272020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321A8-A4A5-FF1E-8475-686FB513E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57408-7BCE-4582-F73F-977F2BE5FC1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Fit a Causal Forest with the LaLonde Data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AA527479-26B3-DB4A-9B88-6CDDAA68065A}"/>
              </a:ext>
            </a:extLst>
          </p:cNvPr>
          <p:cNvSpPr/>
          <p:nvPr/>
        </p:nvSpPr>
        <p:spPr>
          <a:xfrm>
            <a:off x="169189" y="847459"/>
            <a:ext cx="6392956" cy="4178807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25FFE331-4367-F3CB-D7DA-818A6A4CF00A}"/>
              </a:ext>
            </a:extLst>
          </p:cNvPr>
          <p:cNvSpPr txBox="1"/>
          <p:nvPr/>
        </p:nvSpPr>
        <p:spPr>
          <a:xfrm>
            <a:off x="352069" y="984618"/>
            <a:ext cx="6077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rPr dirty="0"/>
              <a:t>R code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79704E2D-671F-1920-9979-0B20E03C1FF5}"/>
              </a:ext>
            </a:extLst>
          </p:cNvPr>
          <p:cNvSpPr txBox="1"/>
          <p:nvPr/>
        </p:nvSpPr>
        <p:spPr>
          <a:xfrm>
            <a:off x="-838047" y="1035557"/>
            <a:ext cx="7004303" cy="41788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endParaRPr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A999882-B48F-2824-F12C-EAD19971C4B6}"/>
              </a:ext>
            </a:extLst>
          </p:cNvPr>
          <p:cNvSpPr txBox="1"/>
          <p:nvPr/>
        </p:nvSpPr>
        <p:spPr>
          <a:xfrm>
            <a:off x="318517" y="1396832"/>
            <a:ext cx="6110806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library(MatchIt)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library(grf)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data("lalonde", package = "MatchIt")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d &lt;- lalonde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X &lt;- </a:t>
            </a:r>
            <a:r>
              <a:rPr dirty="0" err="1"/>
              <a:t>model.matrix</a:t>
            </a:r>
            <a:r>
              <a:rPr dirty="0"/>
              <a:t>(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  ~ age + educ + race + married + nodegree + re74 + re75,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  data = d)[, -1, drop = FALSE]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cf &lt;- </a:t>
            </a:r>
            <a:r>
              <a:rPr dirty="0" err="1"/>
              <a:t>causal_forest</a:t>
            </a:r>
            <a:r>
              <a:rPr dirty="0"/>
              <a:t>(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  X, Y = d$re78, W = d$treat, seed = 123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F5F5F5"/>
                </a:solidFill>
                <a:latin typeface="Consolas"/>
              </a:defRPr>
            </a:pPr>
            <a:r>
              <a:rPr dirty="0"/>
              <a:t>)</a:t>
            </a: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6EEB1C11-A602-98EC-EE07-54EFBACD2EB8}"/>
              </a:ext>
            </a:extLst>
          </p:cNvPr>
          <p:cNvSpPr/>
          <p:nvPr/>
        </p:nvSpPr>
        <p:spPr>
          <a:xfrm>
            <a:off x="6612203" y="938459"/>
            <a:ext cx="2455893" cy="3994678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BA9795D6-A390-A65C-2EFD-2F45502ED0A8}"/>
              </a:ext>
            </a:extLst>
          </p:cNvPr>
          <p:cNvSpPr txBox="1"/>
          <p:nvPr/>
        </p:nvSpPr>
        <p:spPr>
          <a:xfrm>
            <a:off x="6727451" y="1075617"/>
            <a:ext cx="2207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rPr dirty="0"/>
              <a:t>Explain in class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F67F9FAC-95D2-920C-BD36-BD8B2D5E1388}"/>
              </a:ext>
            </a:extLst>
          </p:cNvPr>
          <p:cNvSpPr txBox="1"/>
          <p:nvPr/>
        </p:nvSpPr>
        <p:spPr>
          <a:xfrm>
            <a:off x="6738975" y="1569393"/>
            <a:ext cx="2183017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X: baseline covariate matrix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Y: 1978 earnings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W: training indicator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The forest estimates effects conditionally on X.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Requires package grf.</a:t>
            </a:r>
          </a:p>
        </p:txBody>
      </p:sp>
    </p:spTree>
    <p:extLst>
      <p:ext uri="{BB962C8B-B14F-4D97-AF65-F5344CB8AC3E}">
        <p14:creationId xmlns:p14="http://schemas.microsoft.com/office/powerpoint/2010/main" val="11401868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01722-0DAA-5A46-E6B7-96BD6055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C4677F-4BA2-93A1-4A8A-5A3C57908F7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Does Variation in Predicted CATEs Mean?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B7D78D9A-1077-C9C8-F55B-6692207C953D}"/>
              </a:ext>
            </a:extLst>
          </p:cNvPr>
          <p:cNvSpPr/>
          <p:nvPr/>
        </p:nvSpPr>
        <p:spPr>
          <a:xfrm>
            <a:off x="169188" y="1236264"/>
            <a:ext cx="2586891" cy="2318305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DCBBD50-0854-80E4-A7DD-A1AF087F652B}"/>
              </a:ext>
            </a:extLst>
          </p:cNvPr>
          <p:cNvSpPr txBox="1"/>
          <p:nvPr/>
        </p:nvSpPr>
        <p:spPr>
          <a:xfrm>
            <a:off x="352068" y="1373423"/>
            <a:ext cx="224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Possible signal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D4F4A5D-3DC6-C798-C6B9-1223244652C0}"/>
              </a:ext>
            </a:extLst>
          </p:cNvPr>
          <p:cNvSpPr txBox="1"/>
          <p:nvPr/>
        </p:nvSpPr>
        <p:spPr>
          <a:xfrm>
            <a:off x="370356" y="1867198"/>
            <a:ext cx="221802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t>The causal effect really differs across baseline covariate profiles.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2D5D423D-8F14-D880-2C8F-3A33B3CFCC22}"/>
              </a:ext>
            </a:extLst>
          </p:cNvPr>
          <p:cNvSpPr/>
          <p:nvPr/>
        </p:nvSpPr>
        <p:spPr>
          <a:xfrm>
            <a:off x="3212751" y="1236264"/>
            <a:ext cx="2812550" cy="2376628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7FA338-0B13-2376-9298-C8C0F7B47F30}"/>
              </a:ext>
            </a:extLst>
          </p:cNvPr>
          <p:cNvSpPr txBox="1"/>
          <p:nvPr/>
        </p:nvSpPr>
        <p:spPr>
          <a:xfrm>
            <a:off x="3395630" y="1373422"/>
            <a:ext cx="2526285" cy="3769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Possible noise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0EC9ED-DA70-E3E5-51F4-651AF5649C63}"/>
              </a:ext>
            </a:extLst>
          </p:cNvPr>
          <p:cNvSpPr txBox="1"/>
          <p:nvPr/>
        </p:nvSpPr>
        <p:spPr>
          <a:xfrm>
            <a:off x="3413919" y="1867198"/>
            <a:ext cx="24976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Small subgroups, model instability, or finite-sample variability create apparent differences.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F01847F9-6238-86CD-5D37-89D6EE7CC872}"/>
              </a:ext>
            </a:extLst>
          </p:cNvPr>
          <p:cNvSpPr/>
          <p:nvPr/>
        </p:nvSpPr>
        <p:spPr>
          <a:xfrm>
            <a:off x="6360723" y="1284152"/>
            <a:ext cx="2497659" cy="232874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D671C4F2-3E77-AD5A-B338-9EC36BEEAFB7}"/>
              </a:ext>
            </a:extLst>
          </p:cNvPr>
          <p:cNvSpPr txBox="1"/>
          <p:nvPr/>
        </p:nvSpPr>
        <p:spPr>
          <a:xfrm>
            <a:off x="6543602" y="1421311"/>
            <a:ext cx="224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Needed next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73EAEEB8-0A15-0944-96A5-5736D537A7D9}"/>
              </a:ext>
            </a:extLst>
          </p:cNvPr>
          <p:cNvSpPr txBox="1"/>
          <p:nvPr/>
        </p:nvSpPr>
        <p:spPr>
          <a:xfrm>
            <a:off x="6561891" y="1915086"/>
            <a:ext cx="221802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t>Calibration, uncertainty, external or honest validation, and overlap checks.</a:t>
            </a:r>
          </a:p>
        </p:txBody>
      </p:sp>
      <p:sp>
        <p:nvSpPr>
          <p:cNvPr id="20" name="TextBox 13">
            <a:extLst>
              <a:ext uri="{FF2B5EF4-FFF2-40B4-BE49-F238E27FC236}">
                <a16:creationId xmlns:a16="http://schemas.microsoft.com/office/drawing/2014/main" id="{F42410A6-BF34-72D3-EDD8-BF4955831B07}"/>
              </a:ext>
            </a:extLst>
          </p:cNvPr>
          <p:cNvSpPr txBox="1"/>
          <p:nvPr/>
        </p:nvSpPr>
        <p:spPr>
          <a:xfrm>
            <a:off x="344936" y="4195808"/>
            <a:ext cx="84349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sz="2000" dirty="0"/>
              <a:t>Prediction variability is a hypothesis about </a:t>
            </a:r>
            <a:r>
              <a:rPr lang="en-US" sz="2000" dirty="0"/>
              <a:t>HT</a:t>
            </a:r>
            <a:r>
              <a:rPr sz="2000" dirty="0"/>
              <a:t>E</a:t>
            </a:r>
            <a:r>
              <a:rPr lang="en-US" sz="2000" dirty="0"/>
              <a:t>, </a:t>
            </a:r>
            <a:r>
              <a:rPr sz="2000" dirty="0"/>
              <a:t>not a completed validation.</a:t>
            </a:r>
          </a:p>
        </p:txBody>
      </p:sp>
    </p:spTree>
    <p:extLst>
      <p:ext uri="{BB962C8B-B14F-4D97-AF65-F5344CB8AC3E}">
        <p14:creationId xmlns:p14="http://schemas.microsoft.com/office/powerpoint/2010/main" val="4870612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3C8BF-9A70-1E71-8DC7-24469B91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A050CF-7419-B6B7-B4D8-BD8C63FF0BCB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Can We Trust the Heterogeneity?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B8B4D10-4879-783B-5A6F-2E42481FA25F}"/>
              </a:ext>
            </a:extLst>
          </p:cNvPr>
          <p:cNvSpPr/>
          <p:nvPr/>
        </p:nvSpPr>
        <p:spPr>
          <a:xfrm>
            <a:off x="52319" y="1396552"/>
            <a:ext cx="2888127" cy="207570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5B2D251-E2C5-98FA-1D1E-4225129B837B}"/>
              </a:ext>
            </a:extLst>
          </p:cNvPr>
          <p:cNvSpPr txBox="1"/>
          <p:nvPr/>
        </p:nvSpPr>
        <p:spPr>
          <a:xfrm>
            <a:off x="235199" y="1533712"/>
            <a:ext cx="2591908" cy="3691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A3E90CC1-2FD4-290C-1BF7-536791E78569}"/>
              </a:ext>
            </a:extLst>
          </p:cNvPr>
          <p:cNvSpPr txBox="1"/>
          <p:nvPr/>
        </p:nvSpPr>
        <p:spPr>
          <a:xfrm>
            <a:off x="253486" y="2027488"/>
            <a:ext cx="2562287" cy="9690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900" b="0">
                <a:solidFill>
                  <a:srgbClr val="F5F5F5"/>
                </a:solidFill>
                <a:latin typeface="Aptos"/>
              </a:defRPr>
            </a:pPr>
            <a:r>
              <a:t>Are estimated effects systematically too small or too large?</a:t>
            </a:r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EC188C71-1437-3F06-95B7-7956E7E96C03}"/>
              </a:ext>
            </a:extLst>
          </p:cNvPr>
          <p:cNvSpPr/>
          <p:nvPr/>
        </p:nvSpPr>
        <p:spPr>
          <a:xfrm>
            <a:off x="3009987" y="1396553"/>
            <a:ext cx="2960847" cy="207570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73104CC3-9954-1338-385E-E40EF753EC19}"/>
              </a:ext>
            </a:extLst>
          </p:cNvPr>
          <p:cNvSpPr txBox="1"/>
          <p:nvPr/>
        </p:nvSpPr>
        <p:spPr>
          <a:xfrm>
            <a:off x="3192867" y="1533712"/>
            <a:ext cx="272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F73DA7EC-0CCE-BA71-BED0-0A0D6369D4EA}"/>
              </a:ext>
            </a:extLst>
          </p:cNvPr>
          <p:cNvSpPr txBox="1"/>
          <p:nvPr/>
        </p:nvSpPr>
        <p:spPr>
          <a:xfrm>
            <a:off x="3211156" y="2027488"/>
            <a:ext cx="269013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Do high-predicted-benefit groups show larger treatment effects in independent data?</a:t>
            </a:r>
          </a:p>
        </p:txBody>
      </p:sp>
      <p:sp>
        <p:nvSpPr>
          <p:cNvPr id="17" name="Rounded Rectangle 11">
            <a:extLst>
              <a:ext uri="{FF2B5EF4-FFF2-40B4-BE49-F238E27FC236}">
                <a16:creationId xmlns:a16="http://schemas.microsoft.com/office/drawing/2014/main" id="{08C1F651-9AF5-9402-A793-1BD16FB56A0D}"/>
              </a:ext>
            </a:extLst>
          </p:cNvPr>
          <p:cNvSpPr/>
          <p:nvPr/>
        </p:nvSpPr>
        <p:spPr>
          <a:xfrm>
            <a:off x="6040375" y="1396551"/>
            <a:ext cx="3032236" cy="207570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FA243457-045B-E2A3-86BA-92FCA924535B}"/>
              </a:ext>
            </a:extLst>
          </p:cNvPr>
          <p:cNvSpPr txBox="1"/>
          <p:nvPr/>
        </p:nvSpPr>
        <p:spPr>
          <a:xfrm>
            <a:off x="6223255" y="1533712"/>
            <a:ext cx="272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t>Support + uncertainty</a:t>
            </a:r>
          </a:p>
        </p:txBody>
      </p:sp>
      <p:sp>
        <p:nvSpPr>
          <p:cNvPr id="22" name="TextBox 13">
            <a:extLst>
              <a:ext uri="{FF2B5EF4-FFF2-40B4-BE49-F238E27FC236}">
                <a16:creationId xmlns:a16="http://schemas.microsoft.com/office/drawing/2014/main" id="{E874C21B-0077-E138-6B15-0F10EFD951C9}"/>
              </a:ext>
            </a:extLst>
          </p:cNvPr>
          <p:cNvSpPr txBox="1"/>
          <p:nvPr/>
        </p:nvSpPr>
        <p:spPr>
          <a:xfrm>
            <a:off x="6241543" y="2027488"/>
            <a:ext cx="269013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Are estimates based on adequate treatment overlap and enough information?</a:t>
            </a:r>
          </a:p>
        </p:txBody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0E4745A1-5A7B-98DA-4BD2-035F7B144BD1}"/>
              </a:ext>
            </a:extLst>
          </p:cNvPr>
          <p:cNvSpPr txBox="1"/>
          <p:nvPr/>
        </p:nvSpPr>
        <p:spPr>
          <a:xfrm>
            <a:off x="331267" y="4202054"/>
            <a:ext cx="83259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dirty="0"/>
              <a:t>Evaluate the CATE model</a:t>
            </a:r>
            <a:r>
              <a:rPr lang="en-US" dirty="0"/>
              <a:t>, </a:t>
            </a:r>
            <a:r>
              <a:rPr dirty="0"/>
              <a:t>not only its ability to predict the observed outcome.</a:t>
            </a:r>
          </a:p>
        </p:txBody>
      </p:sp>
    </p:spTree>
    <p:extLst>
      <p:ext uri="{BB962C8B-B14F-4D97-AF65-F5344CB8AC3E}">
        <p14:creationId xmlns:p14="http://schemas.microsoft.com/office/powerpoint/2010/main" val="29900534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72E8E-06DA-7C68-4335-5D730ADC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40A50E-4BBE-6595-02D8-31F2EA8FCB3C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Why In-Sample HTE Patterns Can Mislead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5479DE1D-0F05-1AFD-A00A-1F0B1464372C}"/>
              </a:ext>
            </a:extLst>
          </p:cNvPr>
          <p:cNvSpPr/>
          <p:nvPr/>
        </p:nvSpPr>
        <p:spPr>
          <a:xfrm>
            <a:off x="77306" y="1246772"/>
            <a:ext cx="4395523" cy="276939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85E9280-3347-084A-FB15-B052C8713312}"/>
              </a:ext>
            </a:extLst>
          </p:cNvPr>
          <p:cNvSpPr txBox="1"/>
          <p:nvPr/>
        </p:nvSpPr>
        <p:spPr>
          <a:xfrm>
            <a:off x="260186" y="1383932"/>
            <a:ext cx="4093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Discover + evaluate on the same data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197DCEA-D982-C5B0-C6EA-AEA7F10BED61}"/>
              </a:ext>
            </a:extLst>
          </p:cNvPr>
          <p:cNvSpPr txBox="1"/>
          <p:nvPr/>
        </p:nvSpPr>
        <p:spPr>
          <a:xfrm>
            <a:off x="278474" y="1877708"/>
            <a:ext cx="4063215" cy="19338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The model can search for spurious groups.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Examining the same observations again may make those groups look more convincing.</a:t>
            </a: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3636DD4F-E8D7-7245-7EAA-1A269F1915A7}"/>
              </a:ext>
            </a:extLst>
          </p:cNvPr>
          <p:cNvSpPr/>
          <p:nvPr/>
        </p:nvSpPr>
        <p:spPr>
          <a:xfrm>
            <a:off x="4594901" y="1246772"/>
            <a:ext cx="4395523" cy="276939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5CFC62-8365-8357-2451-F8FDBD1D9A7F}"/>
              </a:ext>
            </a:extLst>
          </p:cNvPr>
          <p:cNvSpPr txBox="1"/>
          <p:nvPr/>
        </p:nvSpPr>
        <p:spPr>
          <a:xfrm>
            <a:off x="4777781" y="1383932"/>
            <a:ext cx="40934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Use independent evidence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83CB6-4ADE-DFFB-D915-5390A2C5F988}"/>
              </a:ext>
            </a:extLst>
          </p:cNvPr>
          <p:cNvSpPr txBox="1"/>
          <p:nvPr/>
        </p:nvSpPr>
        <p:spPr>
          <a:xfrm>
            <a:off x="4796069" y="1877708"/>
            <a:ext cx="4063215" cy="18415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Train on one set and evaluate HTE on held-out data.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Cross-fitting can use each observation for evaluation without fitting its prediction on itself.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074B34-BF1D-0087-2715-150A62EBBEBD}"/>
              </a:ext>
            </a:extLst>
          </p:cNvPr>
          <p:cNvSpPr txBox="1"/>
          <p:nvPr/>
        </p:nvSpPr>
        <p:spPr>
          <a:xfrm>
            <a:off x="77306" y="4482573"/>
            <a:ext cx="8974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500" b="1">
                <a:solidFill>
                  <a:srgbClr val="FBBA39"/>
                </a:solidFill>
                <a:latin typeface="Aptos"/>
              </a:defRPr>
            </a:pPr>
            <a:r>
              <a:rPr sz="2000" dirty="0"/>
              <a:t>Exploratory subgroup discovery should be distinguished from confirmatory evidence.</a:t>
            </a:r>
          </a:p>
        </p:txBody>
      </p:sp>
    </p:spTree>
    <p:extLst>
      <p:ext uri="{BB962C8B-B14F-4D97-AF65-F5344CB8AC3E}">
        <p14:creationId xmlns:p14="http://schemas.microsoft.com/office/powerpoint/2010/main" val="276746391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25A9-0020-2ADC-86EB-177D68BFF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C88AE9-D080-FBAC-1967-E710474B67E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Cross-Fitting: The Basic Workflow</a:t>
            </a:r>
          </a:p>
        </p:txBody>
      </p:sp>
      <p:sp>
        <p:nvSpPr>
          <p:cNvPr id="3" name="Rounded Rectangle 4">
            <a:extLst>
              <a:ext uri="{FF2B5EF4-FFF2-40B4-BE49-F238E27FC236}">
                <a16:creationId xmlns:a16="http://schemas.microsoft.com/office/drawing/2014/main" id="{7DE21681-CCEC-4372-3443-AA04F544F6D2}"/>
              </a:ext>
            </a:extLst>
          </p:cNvPr>
          <p:cNvSpPr/>
          <p:nvPr/>
        </p:nvSpPr>
        <p:spPr>
          <a:xfrm>
            <a:off x="105862" y="1282154"/>
            <a:ext cx="2929247" cy="2307593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97E125AB-F021-346B-2FEB-263F6A6D51D6}"/>
              </a:ext>
            </a:extLst>
          </p:cNvPr>
          <p:cNvSpPr txBox="1"/>
          <p:nvPr/>
        </p:nvSpPr>
        <p:spPr>
          <a:xfrm>
            <a:off x="288742" y="1419314"/>
            <a:ext cx="2630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Fold A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D6BF6C6-2D6C-447B-DAE7-E1159B5DC1F0}"/>
              </a:ext>
            </a:extLst>
          </p:cNvPr>
          <p:cNvSpPr txBox="1"/>
          <p:nvPr/>
        </p:nvSpPr>
        <p:spPr>
          <a:xfrm>
            <a:off x="307030" y="1913091"/>
            <a:ext cx="2600454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Fit models using data outside Fold A.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Predict CATE for Fold A.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C5AA4052-2DB6-2540-76E5-7C89C7C81B03}"/>
              </a:ext>
            </a:extLst>
          </p:cNvPr>
          <p:cNvSpPr/>
          <p:nvPr/>
        </p:nvSpPr>
        <p:spPr>
          <a:xfrm>
            <a:off x="3120255" y="1282154"/>
            <a:ext cx="2929247" cy="2307593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5D142D4D-4640-34E4-AEBC-8C551E08C454}"/>
              </a:ext>
            </a:extLst>
          </p:cNvPr>
          <p:cNvSpPr txBox="1"/>
          <p:nvPr/>
        </p:nvSpPr>
        <p:spPr>
          <a:xfrm>
            <a:off x="3303135" y="1419314"/>
            <a:ext cx="2630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Fold B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209CE3EB-E9DB-E8E7-556D-A544F4ECFF6E}"/>
              </a:ext>
            </a:extLst>
          </p:cNvPr>
          <p:cNvSpPr txBox="1"/>
          <p:nvPr/>
        </p:nvSpPr>
        <p:spPr>
          <a:xfrm>
            <a:off x="3321423" y="1913091"/>
            <a:ext cx="2600454" cy="13798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Fit models using data outside Fold B.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Predict CATE for Fold B.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0DA801DE-5D6C-0FEB-9326-8FCA21E96261}"/>
              </a:ext>
            </a:extLst>
          </p:cNvPr>
          <p:cNvSpPr/>
          <p:nvPr/>
        </p:nvSpPr>
        <p:spPr>
          <a:xfrm>
            <a:off x="6116360" y="1328203"/>
            <a:ext cx="2929247" cy="2307593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0C0F60D6-CA9C-7932-14B2-61A12B9E6F74}"/>
              </a:ext>
            </a:extLst>
          </p:cNvPr>
          <p:cNvSpPr txBox="1"/>
          <p:nvPr/>
        </p:nvSpPr>
        <p:spPr>
          <a:xfrm>
            <a:off x="6299239" y="1465363"/>
            <a:ext cx="2630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t>Repeat</a:t>
            </a: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F3C09579-3CFE-CD06-B688-FB1DBFE6DEAC}"/>
              </a:ext>
            </a:extLst>
          </p:cNvPr>
          <p:cNvSpPr txBox="1"/>
          <p:nvPr/>
        </p:nvSpPr>
        <p:spPr>
          <a:xfrm>
            <a:off x="6317528" y="1959139"/>
            <a:ext cx="260045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Every evaluated person receives a prediction from a model that did not train on their outcome.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DCA793A2-7299-1E81-6CC6-E1BBAF6F0BFB}"/>
              </a:ext>
            </a:extLst>
          </p:cNvPr>
          <p:cNvSpPr txBox="1"/>
          <p:nvPr/>
        </p:nvSpPr>
        <p:spPr>
          <a:xfrm>
            <a:off x="169188" y="4251199"/>
            <a:ext cx="84440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dirty="0"/>
              <a:t>Cross-fitting limits overfitting; it does not fix unmeasured confounding.</a:t>
            </a:r>
          </a:p>
        </p:txBody>
      </p:sp>
    </p:spTree>
    <p:extLst>
      <p:ext uri="{BB962C8B-B14F-4D97-AF65-F5344CB8AC3E}">
        <p14:creationId xmlns:p14="http://schemas.microsoft.com/office/powerpoint/2010/main" val="22005460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488A-0565-5FF2-C73F-64B89234D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29595-707E-B8C0-30B4-539EEB9F8DC6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CATE Calibration: Does the Magnitude Make Sense?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380241-D893-9F1D-34BF-62117E47F1CA}"/>
              </a:ext>
            </a:extLst>
          </p:cNvPr>
          <p:cNvSpPr/>
          <p:nvPr/>
        </p:nvSpPr>
        <p:spPr>
          <a:xfrm>
            <a:off x="135359" y="1087232"/>
            <a:ext cx="4399539" cy="3155848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0737F1-943D-6AB0-EC72-F89672B7091D}"/>
              </a:ext>
            </a:extLst>
          </p:cNvPr>
          <p:cNvSpPr txBox="1"/>
          <p:nvPr/>
        </p:nvSpPr>
        <p:spPr>
          <a:xfrm>
            <a:off x="318239" y="1224390"/>
            <a:ext cx="4216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B557DC-9A29-9C16-653D-FD1B3B32A905}"/>
              </a:ext>
            </a:extLst>
          </p:cNvPr>
          <p:cNvSpPr txBox="1"/>
          <p:nvPr/>
        </p:nvSpPr>
        <p:spPr>
          <a:xfrm>
            <a:off x="336526" y="1718165"/>
            <a:ext cx="4184835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Model predicts effects near −2 for low-risk patients and −10 for high-risk patients.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In independent evaluation data, do estimated treatment contrasts align with those magnitudes?</a:t>
            </a: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1A2D21D4-20EC-6C64-20AD-81E22A698F80}"/>
              </a:ext>
            </a:extLst>
          </p:cNvPr>
          <p:cNvSpPr/>
          <p:nvPr/>
        </p:nvSpPr>
        <p:spPr>
          <a:xfrm>
            <a:off x="4572000" y="1087232"/>
            <a:ext cx="4534898" cy="3155848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7D971A-624B-AB74-26BB-D89CFF97F8D7}"/>
              </a:ext>
            </a:extLst>
          </p:cNvPr>
          <p:cNvSpPr txBox="1"/>
          <p:nvPr/>
        </p:nvSpPr>
        <p:spPr>
          <a:xfrm>
            <a:off x="4754880" y="1224390"/>
            <a:ext cx="42166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What calibration checks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9DFCBB-8954-C805-B4EC-CEC7BC31D72D}"/>
              </a:ext>
            </a:extLst>
          </p:cNvPr>
          <p:cNvSpPr txBox="1"/>
          <p:nvPr/>
        </p:nvSpPr>
        <p:spPr>
          <a:xfrm>
            <a:off x="4773167" y="1718165"/>
            <a:ext cx="4184835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Whether stronger predicted effects correspond to stronger causal contrasts.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Needs an appropriate causal estimator and uncertainty</a:t>
            </a:r>
            <a:r>
              <a:rPr lang="en-US" dirty="0"/>
              <a:t>, </a:t>
            </a:r>
            <a:r>
              <a:rPr dirty="0"/>
              <a:t>not raw outcome comparisons.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80EC6F-0259-1B38-F764-9F2715BF0DA9}"/>
                  </a:ext>
                </a:extLst>
              </p:cNvPr>
              <p:cNvSpPr txBox="1"/>
              <p:nvPr/>
            </p:nvSpPr>
            <p:spPr>
              <a:xfrm>
                <a:off x="169188" y="4451632"/>
                <a:ext cx="8547215" cy="353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700"/>
                  </a:spcAft>
                  <a:defRPr sz="1700" b="1">
                    <a:solidFill>
                      <a:srgbClr val="FBBA39"/>
                    </a:solidFill>
                    <a:latin typeface="Aptos"/>
                  </a:defRPr>
                </a:pPr>
                <a:r>
                  <a:rPr dirty="0"/>
                  <a:t>CATE calibration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dirty="0"/>
                  <a:t> ordinary outcome-prediction calibration.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80EC6F-0259-1B38-F764-9F2715BF0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88" y="4451632"/>
                <a:ext cx="8547215" cy="353943"/>
              </a:xfrm>
              <a:prstGeom prst="rect">
                <a:avLst/>
              </a:prstGeom>
              <a:blipFill>
                <a:blip r:embed="rId3"/>
                <a:stretch>
                  <a:fillRect t="-3448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336043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5609-4234-97F0-F5C7-DB08FDD94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DD22A-741E-9516-BCD1-CD772E74F0CD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Ranking by Predicted Benefit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FAF79DA2-8C9F-5EBB-71D7-F87391AB973A}"/>
              </a:ext>
            </a:extLst>
          </p:cNvPr>
          <p:cNvSpPr/>
          <p:nvPr/>
        </p:nvSpPr>
        <p:spPr>
          <a:xfrm>
            <a:off x="79586" y="1127422"/>
            <a:ext cx="2595880" cy="210345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467BFA-7976-53A2-7207-82A018ACA44D}"/>
              </a:ext>
            </a:extLst>
          </p:cNvPr>
          <p:cNvSpPr txBox="1"/>
          <p:nvPr/>
        </p:nvSpPr>
        <p:spPr>
          <a:xfrm>
            <a:off x="262466" y="1264582"/>
            <a:ext cx="2330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First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FD8AAC-3C64-E5FE-8CB6-8D9F58E8FB4F}"/>
                  </a:ext>
                </a:extLst>
              </p:cNvPr>
              <p:cNvSpPr txBox="1"/>
              <p:nvPr/>
            </p:nvSpPr>
            <p:spPr>
              <a:xfrm>
                <a:off x="280754" y="1758358"/>
                <a:ext cx="2304506" cy="677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700"/>
                  </a:spcAft>
                  <a:defRPr sz="1900" b="0">
                    <a:solidFill>
                      <a:srgbClr val="F5F5F5"/>
                    </a:solidFill>
                    <a:latin typeface="Aptos"/>
                  </a:defRPr>
                </a:pPr>
                <a:r>
                  <a:rPr lang="en-US" dirty="0"/>
                  <a:t>From training data, learn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acc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FD8AAC-3C64-E5FE-8CB6-8D9F58E8F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54" y="1758358"/>
                <a:ext cx="2304506" cy="677108"/>
              </a:xfrm>
              <a:prstGeom prst="rect">
                <a:avLst/>
              </a:prstGeom>
              <a:blipFill>
                <a:blip r:embed="rId3"/>
                <a:stretch>
                  <a:fillRect l="-2381" t="-4464" b="-13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3EBA490-900B-49FC-525F-60C9096D75FC}"/>
              </a:ext>
            </a:extLst>
          </p:cNvPr>
          <p:cNvSpPr/>
          <p:nvPr/>
        </p:nvSpPr>
        <p:spPr>
          <a:xfrm>
            <a:off x="2876634" y="1157563"/>
            <a:ext cx="2595880" cy="210345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07486-DB21-80D5-64C3-6F45D5F0E2A0}"/>
              </a:ext>
            </a:extLst>
          </p:cNvPr>
          <p:cNvSpPr txBox="1"/>
          <p:nvPr/>
        </p:nvSpPr>
        <p:spPr>
          <a:xfrm>
            <a:off x="3059514" y="1294723"/>
            <a:ext cx="2330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Second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10BA9B-287B-FB05-2C79-7C53ABA35A5A}"/>
              </a:ext>
            </a:extLst>
          </p:cNvPr>
          <p:cNvSpPr txBox="1"/>
          <p:nvPr/>
        </p:nvSpPr>
        <p:spPr>
          <a:xfrm>
            <a:off x="3077802" y="1788499"/>
            <a:ext cx="2304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In held-out data, group units into low, medium, and high predicted benefit.</a:t>
            </a: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85B879E3-D5D2-C85D-4638-8ECF9D7E5049}"/>
              </a:ext>
            </a:extLst>
          </p:cNvPr>
          <p:cNvSpPr/>
          <p:nvPr/>
        </p:nvSpPr>
        <p:spPr>
          <a:xfrm>
            <a:off x="5752880" y="1127422"/>
            <a:ext cx="3128653" cy="2177965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3F6170-ABB8-59B9-B7C5-45D06408FF62}"/>
              </a:ext>
            </a:extLst>
          </p:cNvPr>
          <p:cNvSpPr txBox="1"/>
          <p:nvPr/>
        </p:nvSpPr>
        <p:spPr>
          <a:xfrm>
            <a:off x="5935760" y="1264582"/>
            <a:ext cx="2809402" cy="382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t>Third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2C2D5-032A-4218-B538-70D66E2EBB9A}"/>
              </a:ext>
            </a:extLst>
          </p:cNvPr>
          <p:cNvSpPr txBox="1"/>
          <p:nvPr/>
        </p:nvSpPr>
        <p:spPr>
          <a:xfrm>
            <a:off x="5954049" y="1758357"/>
            <a:ext cx="27774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Estimate each group’s causal effect, with adjustment appropriate to the design.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30D374-B40B-CCD2-F573-AD32536696A2}"/>
              </a:ext>
            </a:extLst>
          </p:cNvPr>
          <p:cNvSpPr txBox="1"/>
          <p:nvPr/>
        </p:nvSpPr>
        <p:spPr>
          <a:xfrm>
            <a:off x="765386" y="3878918"/>
            <a:ext cx="74830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BBA39"/>
                </a:solidFill>
                <a:latin typeface="Aptos"/>
              </a:defRPr>
            </a:pPr>
            <a:r>
              <a:rPr sz="2000"/>
              <a:t>Do not compare untreated outcomes with treated outcomes without a credible design.</a:t>
            </a:r>
          </a:p>
        </p:txBody>
      </p:sp>
    </p:spTree>
    <p:extLst>
      <p:ext uri="{BB962C8B-B14F-4D97-AF65-F5344CB8AC3E}">
        <p14:creationId xmlns:p14="http://schemas.microsoft.com/office/powerpoint/2010/main" val="20521192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18189-7A34-7CBB-7EB8-B7AE49BD0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648DAD-1921-ACA8-FA2A-0437F8DE9907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Local Overlap: Some CATEs Are Harder to Learn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8F3CC-98F8-C1F5-A5D1-97184658019F}"/>
                  </a:ext>
                </a:extLst>
              </p:cNvPr>
              <p:cNvSpPr txBox="1"/>
              <p:nvPr/>
            </p:nvSpPr>
            <p:spPr>
              <a:xfrm>
                <a:off x="535093" y="977553"/>
                <a:ext cx="8073813" cy="6283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700"/>
                  </a:spcAft>
                  <a:defRPr sz="2900" b="0">
                    <a:solidFill>
                      <a:srgbClr val="FBBA39"/>
                    </a:solidFill>
                    <a:latin typeface="Cambria Math"/>
                  </a:defRPr>
                </a:pPr>
                <a14:m>
                  <m:oMathPara xmlns:m="http://schemas.openxmlformats.org/officeDocument/2006/math">
                    <m:oMath>
                      <m:r>
                        <a:rPr i="1" dirty="0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=1 | 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F8F3CC-98F8-C1F5-A5D1-971846580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93" y="977553"/>
                <a:ext cx="8073813" cy="628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C7AAD11-0EF1-C8BB-7A98-274D3FE51C85}"/>
              </a:ext>
            </a:extLst>
          </p:cNvPr>
          <p:cNvSpPr/>
          <p:nvPr/>
        </p:nvSpPr>
        <p:spPr>
          <a:xfrm>
            <a:off x="535093" y="1916732"/>
            <a:ext cx="3747844" cy="252436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1EFF5F-773D-F8DF-C0D3-8C4C9EC862F3}"/>
                  </a:ext>
                </a:extLst>
              </p:cNvPr>
              <p:cNvSpPr txBox="1"/>
              <p:nvPr/>
            </p:nvSpPr>
            <p:spPr>
              <a:xfrm>
                <a:off x="717973" y="2053893"/>
                <a:ext cx="34820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700"/>
                  </a:spcAft>
                  <a:defRPr sz="1800" b="1">
                    <a:solidFill>
                      <a:srgbClr val="73CF9B"/>
                    </a:solidFill>
                    <a:latin typeface="Aptos"/>
                  </a:defRPr>
                </a:pPr>
                <a:r>
                  <a:rPr dirty="0"/>
                  <a:t>At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 ≈ 0.5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1EFF5F-773D-F8DF-C0D3-8C4C9EC86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73" y="2053893"/>
                <a:ext cx="3482039" cy="369332"/>
              </a:xfrm>
              <a:prstGeom prst="rect">
                <a:avLst/>
              </a:prstGeom>
              <a:blipFill>
                <a:blip r:embed="rId4"/>
                <a:stretch>
                  <a:fillRect l="-1576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AF3FB18-4CFD-901F-B111-63F803FB9056}"/>
              </a:ext>
            </a:extLst>
          </p:cNvPr>
          <p:cNvSpPr txBox="1"/>
          <p:nvPr/>
        </p:nvSpPr>
        <p:spPr>
          <a:xfrm>
            <a:off x="736262" y="2547669"/>
            <a:ext cx="3455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Treated and control observations are both reasonably represented nearby.</a:t>
            </a:r>
          </a:p>
        </p:txBody>
      </p: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8AF1A14F-0AB2-5A8F-4C76-38084A6485D2}"/>
              </a:ext>
            </a:extLst>
          </p:cNvPr>
          <p:cNvSpPr/>
          <p:nvPr/>
        </p:nvSpPr>
        <p:spPr>
          <a:xfrm>
            <a:off x="4572000" y="1916732"/>
            <a:ext cx="3747844" cy="2524369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85EBB6-6BAD-B0BB-A0B5-9FEDFA7780CF}"/>
                  </a:ext>
                </a:extLst>
              </p:cNvPr>
              <p:cNvSpPr txBox="1"/>
              <p:nvPr/>
            </p:nvSpPr>
            <p:spPr>
              <a:xfrm>
                <a:off x="4754880" y="2053893"/>
                <a:ext cx="34820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700"/>
                  </a:spcAft>
                  <a:defRPr sz="1800" b="1">
                    <a:solidFill>
                      <a:srgbClr val="E86967"/>
                    </a:solidFill>
                    <a:latin typeface="Aptos"/>
                  </a:defRPr>
                </a:pPr>
                <a:r>
                  <a:rPr dirty="0"/>
                  <a:t>At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 ≈ 0.01</m:t>
                    </m:r>
                  </m:oMath>
                </a14:m>
                <a:r>
                  <a:rPr dirty="0"/>
                  <a:t> or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0.99</m:t>
                    </m:r>
                  </m:oMath>
                </a14:m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185EBB6-6BAD-B0BB-A0B5-9FEDFA778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4880" y="2053893"/>
                <a:ext cx="3482039" cy="369332"/>
              </a:xfrm>
              <a:prstGeom prst="rect">
                <a:avLst/>
              </a:prstGeom>
              <a:blipFill>
                <a:blip r:embed="rId5"/>
                <a:stretch>
                  <a:fillRect l="-1401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66094D47-C57E-C012-D251-1892A484C9CC}"/>
              </a:ext>
            </a:extLst>
          </p:cNvPr>
          <p:cNvSpPr txBox="1"/>
          <p:nvPr/>
        </p:nvSpPr>
        <p:spPr>
          <a:xfrm>
            <a:off x="4773169" y="2547669"/>
            <a:ext cx="34554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t>One treatment arm is rare; local counterfactual comparisons are weakly supported.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768CC5-30F0-BD50-4570-24C4711077A7}"/>
              </a:ext>
            </a:extLst>
          </p:cNvPr>
          <p:cNvSpPr txBox="1"/>
          <p:nvPr/>
        </p:nvSpPr>
        <p:spPr>
          <a:xfrm>
            <a:off x="927166" y="4661415"/>
            <a:ext cx="75089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BBA39"/>
                </a:solidFill>
                <a:latin typeface="Aptos"/>
              </a:defRPr>
            </a:pPr>
            <a:r>
              <a:rPr dirty="0"/>
              <a:t>A forest cannot recover an unobserved treatment arm from modeling alone.</a:t>
            </a:r>
          </a:p>
        </p:txBody>
      </p:sp>
    </p:spTree>
    <p:extLst>
      <p:ext uri="{BB962C8B-B14F-4D97-AF65-F5344CB8AC3E}">
        <p14:creationId xmlns:p14="http://schemas.microsoft.com/office/powerpoint/2010/main" val="106510576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036CC-6172-2E2F-0BA7-C2C60F79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F59504-F44C-20BE-2D67-9F2845540241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Uncertainty: Estimated CATE Not an Individual Truth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9D07324C-E8D3-D75C-F665-1C153F426B5E}"/>
              </a:ext>
            </a:extLst>
          </p:cNvPr>
          <p:cNvSpPr/>
          <p:nvPr/>
        </p:nvSpPr>
        <p:spPr>
          <a:xfrm>
            <a:off x="410125" y="956056"/>
            <a:ext cx="4016587" cy="348725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CA3C0D-CA93-70A1-9533-6CC377BDB92A}"/>
              </a:ext>
            </a:extLst>
          </p:cNvPr>
          <p:cNvSpPr txBox="1"/>
          <p:nvPr/>
        </p:nvSpPr>
        <p:spPr>
          <a:xfrm>
            <a:off x="593007" y="1093216"/>
            <a:ext cx="373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15DCDB-0848-37A1-266C-2452C0B389B3}"/>
              </a:ext>
            </a:extLst>
          </p:cNvPr>
          <p:cNvSpPr txBox="1"/>
          <p:nvPr/>
        </p:nvSpPr>
        <p:spPr>
          <a:xfrm>
            <a:off x="611295" y="1586992"/>
            <a:ext cx="371188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• Predicted treatment effects at relevant X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• Appropriate standard errors / intervals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• Uncertainty in subgroup differences</a:t>
            </a:r>
          </a:p>
          <a:p>
            <a:pPr algn="l">
              <a:spcAft>
                <a:spcPts val="700"/>
              </a:spcAft>
              <a:defRPr sz="1700" b="0">
                <a:solidFill>
                  <a:srgbClr val="F5F5F5"/>
                </a:solidFill>
                <a:latin typeface="Aptos"/>
              </a:defRPr>
            </a:pPr>
            <a:r>
              <a:t>• Sample size and overlap diagnostics</a:t>
            </a:r>
          </a:p>
        </p:txBody>
      </p:sp>
      <p:sp>
        <p:nvSpPr>
          <p:cNvPr id="16" name="Rounded Rectangle 7">
            <a:extLst>
              <a:ext uri="{FF2B5EF4-FFF2-40B4-BE49-F238E27FC236}">
                <a16:creationId xmlns:a16="http://schemas.microsoft.com/office/drawing/2014/main" id="{D5FE6DA3-F72B-E417-A7F0-138ED95D11AA}"/>
              </a:ext>
            </a:extLst>
          </p:cNvPr>
          <p:cNvSpPr/>
          <p:nvPr/>
        </p:nvSpPr>
        <p:spPr>
          <a:xfrm>
            <a:off x="4609594" y="956056"/>
            <a:ext cx="4016587" cy="348725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F9DE0-7FA8-6F16-735B-6426976A4959}"/>
              </a:ext>
            </a:extLst>
          </p:cNvPr>
          <p:cNvSpPr txBox="1"/>
          <p:nvPr/>
        </p:nvSpPr>
        <p:spPr>
          <a:xfrm>
            <a:off x="4792476" y="1093216"/>
            <a:ext cx="373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Avoid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FA2862-4BA1-0FC2-BE93-3C744E8D4ABD}"/>
                  </a:ext>
                </a:extLst>
              </p:cNvPr>
              <p:cNvSpPr txBox="1"/>
              <p:nvPr/>
            </p:nvSpPr>
            <p:spPr>
              <a:xfrm>
                <a:off x="4810764" y="1586992"/>
                <a:ext cx="3711880" cy="248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Treating each τ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 ̂(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as a known individual effect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Calling a visually large difference significant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Extrapolating to unsupported X regions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Treating noisy rankings as clinical fact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FA2862-4BA1-0FC2-BE93-3C744E8D4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0764" y="1586992"/>
                <a:ext cx="3711880" cy="2486450"/>
              </a:xfrm>
              <a:prstGeom prst="rect">
                <a:avLst/>
              </a:prstGeom>
              <a:blipFill>
                <a:blip r:embed="rId3"/>
                <a:stretch>
                  <a:fillRect l="-985" b="-2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29BACF0-03E4-3467-20CB-04087E272976}"/>
              </a:ext>
            </a:extLst>
          </p:cNvPr>
          <p:cNvSpPr txBox="1"/>
          <p:nvPr/>
        </p:nvSpPr>
        <p:spPr>
          <a:xfrm>
            <a:off x="659290" y="4623647"/>
            <a:ext cx="78254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BBA39"/>
                </a:solidFill>
                <a:latin typeface="Aptos"/>
              </a:defRPr>
            </a:pPr>
            <a:r>
              <a:rPr dirty="0"/>
              <a:t>If intervals are wide, say the data are not informative enough about heterogeneity.</a:t>
            </a:r>
          </a:p>
        </p:txBody>
      </p:sp>
    </p:spTree>
    <p:extLst>
      <p:ext uri="{BB962C8B-B14F-4D97-AF65-F5344CB8AC3E}">
        <p14:creationId xmlns:p14="http://schemas.microsoft.com/office/powerpoint/2010/main" val="556014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05B58-5387-1D3E-9847-AB8A0DA6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E1154B-A661-8858-B830-6A69E8EEEDC0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R: Useful Causal-Forest Diagnostics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E144557-0BA6-1007-3784-92F3968811E6}"/>
              </a:ext>
            </a:extLst>
          </p:cNvPr>
          <p:cNvSpPr/>
          <p:nvPr/>
        </p:nvSpPr>
        <p:spPr>
          <a:xfrm>
            <a:off x="78232" y="801285"/>
            <a:ext cx="5049182" cy="4109381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AC0A9-462F-FDB7-78BF-4B2745124603}"/>
              </a:ext>
            </a:extLst>
          </p:cNvPr>
          <p:cNvSpPr txBox="1"/>
          <p:nvPr/>
        </p:nvSpPr>
        <p:spPr>
          <a:xfrm>
            <a:off x="261113" y="938444"/>
            <a:ext cx="5978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R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BBE08C-CF60-1035-67E1-145435A09C0F}"/>
              </a:ext>
            </a:extLst>
          </p:cNvPr>
          <p:cNvSpPr txBox="1"/>
          <p:nvPr/>
        </p:nvSpPr>
        <p:spPr>
          <a:xfrm>
            <a:off x="325120" y="1432222"/>
            <a:ext cx="5902254" cy="3295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# Calibration diagnostic within grf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test_calibration(cf)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endParaRPr sz="1200" dirty="0"/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# Forest’s estimated average treatment effect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average_treatment_effect(cf)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endParaRPr sz="1200" dirty="0"/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# Treatment propensity estimated by forest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summary(</a:t>
            </a:r>
            <a:r>
              <a:rPr sz="1200" dirty="0" err="1"/>
              <a:t>cf$W.hat</a:t>
            </a:r>
            <a:r>
              <a:rPr sz="1200" dirty="0"/>
              <a:t>)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endParaRPr sz="1200" dirty="0"/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# Inspect CATE predictions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quantile(predict(cf)$predictions,</a:t>
            </a:r>
          </a:p>
          <a:p>
            <a:pPr algn="l">
              <a:spcAft>
                <a:spcPts val="700"/>
              </a:spcAft>
              <a:defRPr sz="1450" b="0">
                <a:solidFill>
                  <a:srgbClr val="F5F5F5"/>
                </a:solidFill>
                <a:latin typeface="Consolas"/>
              </a:defRPr>
            </a:pPr>
            <a:r>
              <a:rPr sz="1200" dirty="0"/>
              <a:t>         probs = c(.05, .25, .5, .75, .95))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AB63DC66-D985-F9E6-EFCD-9391E4C44B6E}"/>
              </a:ext>
            </a:extLst>
          </p:cNvPr>
          <p:cNvSpPr/>
          <p:nvPr/>
        </p:nvSpPr>
        <p:spPr>
          <a:xfrm>
            <a:off x="5818433" y="818770"/>
            <a:ext cx="3128214" cy="4036560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E06646-08A1-A308-FBA0-C87BF89502DD}"/>
              </a:ext>
            </a:extLst>
          </p:cNvPr>
          <p:cNvSpPr txBox="1"/>
          <p:nvPr/>
        </p:nvSpPr>
        <p:spPr>
          <a:xfrm>
            <a:off x="6001313" y="955928"/>
            <a:ext cx="2812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t>Important qualification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7EFB9F-4FC4-35EC-D810-A4A69A42CD43}"/>
              </a:ext>
            </a:extLst>
          </p:cNvPr>
          <p:cNvSpPr txBox="1"/>
          <p:nvPr/>
        </p:nvSpPr>
        <p:spPr>
          <a:xfrm>
            <a:off x="6019602" y="1449706"/>
            <a:ext cx="2780634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test_calibration() is a model diagnostic—not external validation.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600" b="0">
                <a:solidFill>
                  <a:srgbClr val="F5F5F5"/>
                </a:solidFill>
                <a:latin typeface="Aptos"/>
              </a:defRPr>
            </a:pPr>
            <a:r>
              <a:rPr dirty="0"/>
              <a:t>For a real HTE validation exercise, use independent/held-out comparisons and appropriate inference.</a:t>
            </a:r>
          </a:p>
        </p:txBody>
      </p:sp>
    </p:spTree>
    <p:extLst>
      <p:ext uri="{BB962C8B-B14F-4D97-AF65-F5344CB8AC3E}">
        <p14:creationId xmlns:p14="http://schemas.microsoft.com/office/powerpoint/2010/main" val="26210669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03C6C-B307-FE1B-9A3C-C186EBE9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3EFB37-0CE6-ACB6-1B9E-8BD0A6ADCA2E}"/>
              </a:ext>
            </a:extLst>
          </p:cNvPr>
          <p:cNvSpPr txBox="1"/>
          <p:nvPr/>
        </p:nvSpPr>
        <p:spPr>
          <a:xfrm>
            <a:off x="169188" y="143531"/>
            <a:ext cx="86891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What Should Responsible HTE Results Include?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F1BDB5-3776-EBF6-A73B-C107DA57CE9F}"/>
              </a:ext>
            </a:extLst>
          </p:cNvPr>
          <p:cNvSpPr/>
          <p:nvPr/>
        </p:nvSpPr>
        <p:spPr>
          <a:xfrm>
            <a:off x="40395" y="956635"/>
            <a:ext cx="2958902" cy="3717113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65A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A526D-C34D-481D-8BC2-7CE624FFCE26}"/>
              </a:ext>
            </a:extLst>
          </p:cNvPr>
          <p:cNvSpPr txBox="1"/>
          <p:nvPr/>
        </p:nvSpPr>
        <p:spPr>
          <a:xfrm>
            <a:off x="223275" y="1093794"/>
            <a:ext cx="2664124" cy="37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65AEEE"/>
                </a:solidFill>
                <a:latin typeface="Aptos"/>
              </a:defRPr>
            </a:pPr>
            <a:r>
              <a:t>Design first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EA0B5-CB06-8846-5763-0455348CADA0}"/>
              </a:ext>
            </a:extLst>
          </p:cNvPr>
          <p:cNvSpPr txBox="1"/>
          <p:nvPr/>
        </p:nvSpPr>
        <p:spPr>
          <a:xfrm>
            <a:off x="241562" y="1587570"/>
            <a:ext cx="263385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Population and estimand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Treatment/outcome definitions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Measured confounders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Overlap assumptions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B3563B25-EF6F-6BAD-F573-A8513E4A43FB}"/>
              </a:ext>
            </a:extLst>
          </p:cNvPr>
          <p:cNvSpPr/>
          <p:nvPr/>
        </p:nvSpPr>
        <p:spPr>
          <a:xfrm>
            <a:off x="3088567" y="968445"/>
            <a:ext cx="2910026" cy="3705304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2ACD6A-AE4A-CF6E-B2F5-58A4A462DB51}"/>
              </a:ext>
            </a:extLst>
          </p:cNvPr>
          <p:cNvSpPr txBox="1"/>
          <p:nvPr/>
        </p:nvSpPr>
        <p:spPr>
          <a:xfrm>
            <a:off x="3271448" y="1105603"/>
            <a:ext cx="2664124" cy="37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Method + diagnostics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840039-DF0B-E437-E049-FCDB6ED2521F}"/>
              </a:ext>
            </a:extLst>
          </p:cNvPr>
          <p:cNvSpPr txBox="1"/>
          <p:nvPr/>
        </p:nvSpPr>
        <p:spPr>
          <a:xfrm>
            <a:off x="3134865" y="1696011"/>
            <a:ext cx="307719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Model specification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Sample splitting / honesty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CATE plots and intervals</a:t>
            </a:r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Calibration and stability</a:t>
            </a: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83312D96-AA09-C190-772C-979983F13D98}"/>
              </a:ext>
            </a:extLst>
          </p:cNvPr>
          <p:cNvSpPr/>
          <p:nvPr/>
        </p:nvSpPr>
        <p:spPr>
          <a:xfrm>
            <a:off x="6118453" y="968444"/>
            <a:ext cx="2982574" cy="3717113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CA9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3A3259-5FAE-E795-7B88-7E3A78606050}"/>
              </a:ext>
            </a:extLst>
          </p:cNvPr>
          <p:cNvSpPr txBox="1"/>
          <p:nvPr/>
        </p:nvSpPr>
        <p:spPr>
          <a:xfrm>
            <a:off x="6301334" y="1105603"/>
            <a:ext cx="2664124" cy="373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CA97ED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6FB1CB-AF2B-D6B3-D61C-72DE9BD7F395}"/>
              </a:ext>
            </a:extLst>
          </p:cNvPr>
          <p:cNvSpPr txBox="1"/>
          <p:nvPr/>
        </p:nvSpPr>
        <p:spPr>
          <a:xfrm>
            <a:off x="6258361" y="1696011"/>
            <a:ext cx="2842666" cy="2977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Magnitude and direction</a:t>
            </a:r>
            <a:br>
              <a:rPr lang="en-US" dirty="0"/>
            </a:b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Clinically/policy meaningful strata</a:t>
            </a:r>
            <a:br>
              <a:rPr lang="en-US" dirty="0"/>
            </a:b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Exploratory vs confirmatory</a:t>
            </a:r>
            <a:br>
              <a:rPr lang="en-US" dirty="0"/>
            </a:br>
            <a:endParaRPr dirty="0"/>
          </a:p>
          <a:p>
            <a:pPr marL="285750" indent="-285750" algn="l">
              <a:spcAft>
                <a:spcPts val="7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700" b="0">
                <a:solidFill>
                  <a:srgbClr val="F5F5F5"/>
                </a:solidFill>
                <a:latin typeface="Aptos"/>
              </a:defRPr>
            </a:pPr>
            <a:r>
              <a:rPr dirty="0"/>
              <a:t>Unmeasured confounding caveat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9F5513-8C05-803D-E815-BC89E762F1DD}"/>
              </a:ext>
            </a:extLst>
          </p:cNvPr>
          <p:cNvSpPr txBox="1"/>
          <p:nvPr/>
        </p:nvSpPr>
        <p:spPr>
          <a:xfrm>
            <a:off x="397243" y="4742587"/>
            <a:ext cx="8552442" cy="32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FBBA39"/>
                </a:solidFill>
                <a:latin typeface="Aptos"/>
              </a:defRPr>
            </a:pPr>
            <a:r>
              <a:rPr dirty="0"/>
              <a:t>Explain who benefits, how much, and how confidently—not just which algorithm won.</a:t>
            </a:r>
          </a:p>
        </p:txBody>
      </p:sp>
    </p:spTree>
    <p:extLst>
      <p:ext uri="{BB962C8B-B14F-4D97-AF65-F5344CB8AC3E}">
        <p14:creationId xmlns:p14="http://schemas.microsoft.com/office/powerpoint/2010/main" val="9059043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7E4DF-C241-1B3C-2334-B54619B89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7B4F30-DAE8-4A12-2C3A-D06E493C8A9D}"/>
              </a:ext>
            </a:extLst>
          </p:cNvPr>
          <p:cNvSpPr txBox="1"/>
          <p:nvPr/>
        </p:nvSpPr>
        <p:spPr>
          <a:xfrm>
            <a:off x="116728" y="171815"/>
            <a:ext cx="89105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700" b="0">
                <a:solidFill>
                  <a:srgbClr val="F4F1EA"/>
                </a:solidFill>
                <a:latin typeface="Arial"/>
                <a:ea typeface="Arial"/>
                <a:cs typeface="Arial"/>
              </a:defRPr>
            </a:pPr>
            <a:r>
              <a:rPr lang="en-US" sz="2800" dirty="0">
                <a:solidFill>
                  <a:srgbClr val="F4F1EA"/>
                </a:solidFill>
              </a:rPr>
              <a:t>Final HTE Takeaways and the Next Causal Challenge</a:t>
            </a: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BA0E807-22DD-8BB8-8443-5E21EA31539D}"/>
              </a:ext>
            </a:extLst>
          </p:cNvPr>
          <p:cNvSpPr/>
          <p:nvPr/>
        </p:nvSpPr>
        <p:spPr>
          <a:xfrm>
            <a:off x="221996" y="1222163"/>
            <a:ext cx="4140031" cy="2936664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73CF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E60694-81F8-E77D-5ADF-C32DA2019136}"/>
              </a:ext>
            </a:extLst>
          </p:cNvPr>
          <p:cNvSpPr txBox="1"/>
          <p:nvPr/>
        </p:nvSpPr>
        <p:spPr>
          <a:xfrm>
            <a:off x="404876" y="1359323"/>
            <a:ext cx="3850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73CF9B"/>
                </a:solidFill>
                <a:latin typeface="Aptos"/>
              </a:defRPr>
            </a:pPr>
            <a:r>
              <a:t>What we can now 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1112BA-26EB-ED0D-746C-3B8EE179C3F2}"/>
                  </a:ext>
                </a:extLst>
              </p:cNvPr>
              <p:cNvSpPr txBox="1"/>
              <p:nvPr/>
            </p:nvSpPr>
            <p:spPr>
              <a:xfrm>
                <a:off x="423164" y="1853099"/>
                <a:ext cx="3820901" cy="193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Model treatment </a:t>
                </a:r>
                <a14:m>
                  <m:oMath xmlns:m="http://schemas.openxmlformats.org/officeDocument/2006/math">
                    <m:r>
                      <a:rPr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interactions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Estimate CATE with S/T/X learners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Estimate flexible CATE with causal forests</a:t>
                </a:r>
              </a:p>
              <a:p>
                <a:pPr algn="l">
                  <a:spcAft>
                    <a:spcPts val="700"/>
                  </a:spcAft>
                  <a:defRPr sz="1700" b="0">
                    <a:solidFill>
                      <a:srgbClr val="F5F5F5"/>
                    </a:solidFill>
                    <a:latin typeface="Aptos"/>
                  </a:defRPr>
                </a:pPr>
                <a:r>
                  <a:rPr dirty="0"/>
                  <a:t>• Evaluate heterogeneity rather than assuming it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1112BA-26EB-ED0D-746C-3B8EE179C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64" y="1853099"/>
                <a:ext cx="3820901" cy="1931298"/>
              </a:xfrm>
              <a:prstGeom prst="rect">
                <a:avLst/>
              </a:prstGeom>
              <a:blipFill>
                <a:blip r:embed="rId3"/>
                <a:stretch>
                  <a:fillRect l="-957" t="-946" b="-3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7">
            <a:extLst>
              <a:ext uri="{FF2B5EF4-FFF2-40B4-BE49-F238E27FC236}">
                <a16:creationId xmlns:a16="http://schemas.microsoft.com/office/drawing/2014/main" id="{D22BFC58-0180-4301-97C8-0EA8F27151F9}"/>
              </a:ext>
            </a:extLst>
          </p:cNvPr>
          <p:cNvSpPr/>
          <p:nvPr/>
        </p:nvSpPr>
        <p:spPr>
          <a:xfrm>
            <a:off x="4595539" y="1222163"/>
            <a:ext cx="4203021" cy="2984077"/>
          </a:xfrm>
          <a:prstGeom prst="roundRect">
            <a:avLst/>
          </a:prstGeom>
          <a:solidFill>
            <a:srgbClr val="2A2A2A"/>
          </a:solidFill>
          <a:ln w="20320">
            <a:solidFill>
              <a:srgbClr val="E86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01ED60-4BAF-975A-B6D8-C5EAC2048462}"/>
              </a:ext>
            </a:extLst>
          </p:cNvPr>
          <p:cNvSpPr txBox="1"/>
          <p:nvPr/>
        </p:nvSpPr>
        <p:spPr>
          <a:xfrm>
            <a:off x="4778419" y="1359323"/>
            <a:ext cx="3850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E86967"/>
                </a:solidFill>
                <a:latin typeface="Aptos"/>
              </a:defRPr>
            </a:pPr>
            <a:r>
              <a:t>What remains unresolved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EBB760-F9BC-8348-A5D9-7F173D4B2FDC}"/>
              </a:ext>
            </a:extLst>
          </p:cNvPr>
          <p:cNvSpPr txBox="1"/>
          <p:nvPr/>
        </p:nvSpPr>
        <p:spPr>
          <a:xfrm>
            <a:off x="4796707" y="1853099"/>
            <a:ext cx="3820901" cy="220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All of these approaches require a defensible identification strategy.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700"/>
              </a:spcAft>
              <a:defRPr sz="1800" b="0">
                <a:solidFill>
                  <a:srgbClr val="F5F5F5"/>
                </a:solidFill>
                <a:latin typeface="Aptos"/>
              </a:defRPr>
            </a:pPr>
            <a:r>
              <a:rPr dirty="0"/>
              <a:t>What if treatment assignment depends on an </a:t>
            </a:r>
            <a:r>
              <a:rPr u="sng" dirty="0"/>
              <a:t>important confounder U that was never measured</a:t>
            </a:r>
            <a:r>
              <a:rPr dirty="0"/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73E00F-3822-3069-77BC-D5125EE2B50F}"/>
              </a:ext>
            </a:extLst>
          </p:cNvPr>
          <p:cNvSpPr txBox="1"/>
          <p:nvPr/>
        </p:nvSpPr>
        <p:spPr>
          <a:xfrm>
            <a:off x="116728" y="4449270"/>
            <a:ext cx="8910545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0">
                <a:solidFill>
                  <a:srgbClr val="FBBA39"/>
                </a:solidFill>
                <a:latin typeface="Cambria Math"/>
              </a:defRPr>
            </a:pPr>
            <a:r>
              <a:rPr dirty="0"/>
              <a:t>Next: Unobserved Confounding and Sensitivity Analysis</a:t>
            </a:r>
          </a:p>
        </p:txBody>
      </p:sp>
    </p:spTree>
    <p:extLst>
      <p:ext uri="{BB962C8B-B14F-4D97-AF65-F5344CB8AC3E}">
        <p14:creationId xmlns:p14="http://schemas.microsoft.com/office/powerpoint/2010/main" val="86992395"/>
      </p:ext>
    </p:extLst>
  </p:cSld>
  <p:clrMapOvr>
    <a:masterClrMapping/>
  </p:clrMapOvr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71AEF0"/>
      </a:accent1>
      <a:accent2>
        <a:srgbClr val="88E6DC"/>
      </a:accent2>
      <a:accent3>
        <a:srgbClr val="A6D145"/>
      </a:accent3>
      <a:accent4>
        <a:srgbClr val="FFE000"/>
      </a:accent4>
      <a:accent5>
        <a:srgbClr val="FC765C"/>
      </a:accent5>
      <a:accent6>
        <a:srgbClr val="A693C9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6254</TotalTime>
  <Words>6276</Words>
  <Application>Microsoft Office PowerPoint</Application>
  <PresentationFormat>On-screen Show (16:9)</PresentationFormat>
  <Paragraphs>939</Paragraphs>
  <Slides>80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6" baseType="lpstr">
      <vt:lpstr>Cambria Math</vt:lpstr>
      <vt:lpstr>Arial</vt:lpstr>
      <vt:lpstr>Walter Turncoat</vt:lpstr>
      <vt:lpstr>Consolas</vt:lpstr>
      <vt:lpstr>Sniglet</vt:lpstr>
      <vt:lpstr>Ursula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Samhita Pal</dc:creator>
  <cp:lastModifiedBy>Dhrubajyoti Ghosh</cp:lastModifiedBy>
  <cp:revision>199</cp:revision>
  <dcterms:modified xsi:type="dcterms:W3CDTF">2026-10-26T16:46:45Z</dcterms:modified>
</cp:coreProperties>
</file>