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64"/>
  </p:notesMasterIdLst>
  <p:sldIdLst>
    <p:sldId id="297" r:id="rId2"/>
    <p:sldId id="461" r:id="rId3"/>
    <p:sldId id="462" r:id="rId4"/>
    <p:sldId id="463" r:id="rId5"/>
    <p:sldId id="464" r:id="rId6"/>
    <p:sldId id="465" r:id="rId7"/>
    <p:sldId id="466" r:id="rId8"/>
    <p:sldId id="467" r:id="rId9"/>
    <p:sldId id="468" r:id="rId10"/>
    <p:sldId id="469" r:id="rId11"/>
    <p:sldId id="470" r:id="rId12"/>
    <p:sldId id="471" r:id="rId13"/>
    <p:sldId id="472" r:id="rId14"/>
    <p:sldId id="473" r:id="rId15"/>
    <p:sldId id="474" r:id="rId16"/>
    <p:sldId id="475" r:id="rId17"/>
    <p:sldId id="476" r:id="rId18"/>
    <p:sldId id="477" r:id="rId19"/>
    <p:sldId id="478" r:id="rId20"/>
    <p:sldId id="479" r:id="rId21"/>
    <p:sldId id="480" r:id="rId22"/>
    <p:sldId id="482" r:id="rId23"/>
    <p:sldId id="481" r:id="rId24"/>
    <p:sldId id="483" r:id="rId25"/>
    <p:sldId id="484" r:id="rId26"/>
    <p:sldId id="485" r:id="rId27"/>
    <p:sldId id="486" r:id="rId28"/>
    <p:sldId id="487" r:id="rId29"/>
    <p:sldId id="488" r:id="rId30"/>
    <p:sldId id="489" r:id="rId31"/>
    <p:sldId id="490" r:id="rId32"/>
    <p:sldId id="491" r:id="rId33"/>
    <p:sldId id="492" r:id="rId34"/>
    <p:sldId id="493" r:id="rId35"/>
    <p:sldId id="494" r:id="rId36"/>
    <p:sldId id="495" r:id="rId37"/>
    <p:sldId id="496" r:id="rId38"/>
    <p:sldId id="497" r:id="rId39"/>
    <p:sldId id="498" r:id="rId40"/>
    <p:sldId id="499" r:id="rId41"/>
    <p:sldId id="500" r:id="rId42"/>
    <p:sldId id="501" r:id="rId43"/>
    <p:sldId id="502" r:id="rId44"/>
    <p:sldId id="503" r:id="rId45"/>
    <p:sldId id="504" r:id="rId46"/>
    <p:sldId id="505" r:id="rId47"/>
    <p:sldId id="506" r:id="rId48"/>
    <p:sldId id="507" r:id="rId49"/>
    <p:sldId id="508" r:id="rId50"/>
    <p:sldId id="509" r:id="rId51"/>
    <p:sldId id="510" r:id="rId52"/>
    <p:sldId id="511" r:id="rId53"/>
    <p:sldId id="512" r:id="rId54"/>
    <p:sldId id="513" r:id="rId55"/>
    <p:sldId id="514" r:id="rId56"/>
    <p:sldId id="515" r:id="rId57"/>
    <p:sldId id="516" r:id="rId58"/>
    <p:sldId id="517" r:id="rId59"/>
    <p:sldId id="518" r:id="rId60"/>
    <p:sldId id="519" r:id="rId61"/>
    <p:sldId id="520" r:id="rId62"/>
    <p:sldId id="521" r:id="rId6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65"/>
    </p:embeddedFont>
    <p:embeddedFont>
      <p:font typeface="Consolas" panose="020B0609020204030204" pitchFamily="49" charset="0"/>
      <p:regular r:id="rId66"/>
      <p:bold r:id="rId67"/>
      <p:italic r:id="rId68"/>
      <p:boldItalic r:id="rId69"/>
    </p:embeddedFont>
    <p:embeddedFont>
      <p:font typeface="Sniglet" panose="020B0604020202020204" charset="0"/>
      <p:regular r:id="rId70"/>
    </p:embeddedFont>
    <p:embeddedFont>
      <p:font typeface="Walter Turncoat" panose="020B0604020202020204" charset="0"/>
      <p:regular r:id="rId7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0B942B-5FDC-419F-A31C-88048C057ADA}">
  <a:tblStyle styleId="{3D0B942B-5FDC-419F-A31C-88048C057A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F752B63-FEDA-48D4-B3B7-9A5BAED3138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3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2.fntdata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6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1.fntdata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563400"/>
            <a:ext cx="8229600" cy="25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✘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A9790-8FD3-3CFF-298C-8576CD7777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134EF000-1360-AEF0-B6CC-E38FC7950DC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69955" y="294994"/>
            <a:ext cx="8229600" cy="19050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Walter Turncoat" panose="020B0604020202020204" charset="0"/>
              </a:rPr>
              <a:t>STAT 7900: Special Topic: </a:t>
            </a:r>
          </a:p>
          <a:p>
            <a:r>
              <a:rPr lang="en-US" dirty="0">
                <a:solidFill>
                  <a:schemeClr val="bg1"/>
                </a:solidFill>
                <a:latin typeface="Walter Turncoat" panose="020B0604020202020204" charset="0"/>
              </a:rPr>
              <a:t>Causal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6FDCB5-F084-8EE3-64F9-3FEEE886EC0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738512" y="2356682"/>
            <a:ext cx="4013200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None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Walter Turncoat" panose="020B0604020202020204" charset="0"/>
              </a:rPr>
              <a:t>KENNESAW STATE UNIVERSITY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Walter Turncoat" panose="020B0604020202020204" charset="0"/>
              </a:rPr>
              <a:t>STAT 7900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58E625-98C4-4A42-C24D-4A91B5CF561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-51800" y="2297602"/>
            <a:ext cx="4013200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None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Walter Turncoat" panose="020B0604020202020204" charset="0"/>
              </a:rPr>
              <a:t>Instructor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Walter Turncoat" panose="020B0604020202020204" charset="0"/>
              </a:rPr>
              <a:t> Dhrubajyoti Ghosh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93739B6-31BF-A8C0-52D4-A784612214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8895" y="2171700"/>
            <a:ext cx="84772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12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DAC7D-CE69-4797-9141-D38D8467B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AF0F5C-1CEF-DB34-D54C-C9135694EC2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Recap: the causal question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2B8A142-26C5-E3E7-B6E5-E3B6F00E6D0B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EDC84A5-4C86-DA30-E11E-E72BFB4DC930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Descriptive: how do outcomes differ across observed groups?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51CE94E-740A-22F8-D78C-A97D518573F5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E846E9E-6CE3-E7EF-AA8B-45C164077260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Predictive: who is likely to have the outcome?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7E7EC72-5BD3-EDC4-595B-C205BF1FD505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2CF692F-031C-99E6-F936-5C4BBB3AFBC9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Causal: what would happen if we assigned an intervention?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93D1697-5F9F-7318-0867-75975DE107D9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2622021-38FC-0CB6-99EC-0067128A17C1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Specify population, treatment, comparator, outcome, and time horizon.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53A6C86-024F-1B93-0FA9-B17D8941CC2E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Example: does Drug A lower four-week blood pressure in eligible adults?</a:t>
            </a:r>
          </a:p>
        </p:txBody>
      </p:sp>
    </p:spTree>
    <p:extLst>
      <p:ext uri="{BB962C8B-B14F-4D97-AF65-F5344CB8AC3E}">
        <p14:creationId xmlns:p14="http://schemas.microsoft.com/office/powerpoint/2010/main" val="830160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30982-937E-7CD4-F53F-F9DC23851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655D6A-0DB9-8C6F-5A9D-C604F3F60BC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Potential outcomes and the target effect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B35DC68-F273-81CB-0600-F52F6BBBC6D0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8693F7B-2B1D-CAD0-D145-5E3B6297A95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1209675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endParaRPr lang="en-US" sz="1800" b="0" i="1" dirty="0">
                  <a:solidFill>
                    <a:srgbClr val="F4F1EA"/>
                  </a:solidFill>
                  <a:latin typeface="Cambria Math" panose="02040503050406030204" pitchFamily="18" charset="0"/>
                  <a:ea typeface="Arial"/>
                  <a:cs typeface="Arial"/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𝑌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(1)</m:t>
                    </m:r>
                  </m:oMath>
                </a14:m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𝑌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(0)</m:t>
                    </m:r>
                  </m:oMath>
                </a14:m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describe the same person under two treatments.</a:t>
                </a:r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8693F7B-2B1D-CAD0-D145-5E3B6297A9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1209675"/>
                <a:ext cx="3600450" cy="962025"/>
              </a:xfrm>
              <a:prstGeom prst="rect">
                <a:avLst/>
              </a:prstGeom>
              <a:blipFill>
                <a:blip r:embed="rId2"/>
                <a:stretch>
                  <a:fillRect l="-4068" r="-847" b="-63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233FEB-A832-CB38-D73E-2B93FF886379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5A3FD91-E7F3-4A5B-A3FB-FC4B7334BC9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57775" y="1295400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We observe only </a:t>
                </a: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endParaRPr lang="en-US" sz="1800" i="1" dirty="0">
                  <a:solidFill>
                    <a:srgbClr val="F4F1EA"/>
                  </a:solidFill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𝑌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sSub>
                        <m:sSubPr>
                          <m:ctrlPr>
                            <a:rPr lang="en-US" sz="180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𝑇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80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𝑌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(1) + </m:t>
                      </m:r>
                      <m:d>
                        <m:dPr>
                          <m:ctrlPr>
                            <a:rPr lang="en-US" sz="180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1 − </m:t>
                          </m:r>
                          <m:sSub>
                            <m:sSubPr>
                              <m:ctrlPr>
                                <a:rPr lang="en-US" sz="180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sz="180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80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𝑌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𝑖</m:t>
                          </m:r>
                        </m:sub>
                      </m:sSub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(0).</m:t>
                      </m:r>
                    </m:oMath>
                  </m:oMathPara>
                </a14:m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5A3FD91-E7F3-4A5B-A3FB-FC4B7334BC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775" y="1295400"/>
                <a:ext cx="3600450" cy="962025"/>
              </a:xfrm>
              <a:prstGeom prst="rect">
                <a:avLst/>
              </a:prstGeom>
              <a:blipFill>
                <a:blip r:embed="rId3"/>
                <a:stretch>
                  <a:fillRect l="-4068" t="-82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0271AFA-3E8C-23AA-3334-D2625FE02911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7D52468-55EB-D310-AE3D-525067493C3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2790825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𝐴𝑇𝐸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𝐸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[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𝑌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(1) − 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𝑌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(0)] </m:t>
                      </m:r>
                    </m:oMath>
                  </m:oMathPara>
                </a14:m>
                <a:endParaRPr lang="en-US"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endParaRPr lang="en-US" sz="1800" dirty="0">
                  <a:solidFill>
                    <a:srgbClr val="F4F1EA"/>
                  </a:solidFill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in the target population.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7D52468-55EB-D310-AE3D-525067493C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2790825"/>
                <a:ext cx="3600450" cy="962025"/>
              </a:xfrm>
              <a:prstGeom prst="rect">
                <a:avLst/>
              </a:prstGeom>
              <a:blipFill>
                <a:blip r:embed="rId4"/>
                <a:stretch>
                  <a:fillRect l="-4068" t="-63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7178F10-5EA7-B9A8-381F-D19FD068A021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B47DF3E-BECF-05A9-BA59-D91E82364ED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57775" y="2790825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𝐴𝑇𝑇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𝐸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[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𝑌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(1) − 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𝑌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(0) | 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𝑇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1] </m:t>
                      </m:r>
                    </m:oMath>
                  </m:oMathPara>
                </a14:m>
                <a:endParaRPr lang="en-US"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endParaRPr lang="en-US" sz="1800" dirty="0">
                  <a:solidFill>
                    <a:srgbClr val="F4F1EA"/>
                  </a:solidFill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among treated people.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B47DF3E-BECF-05A9-BA59-D91E82364E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775" y="2790825"/>
                <a:ext cx="3600450" cy="962025"/>
              </a:xfrm>
              <a:prstGeom prst="rect">
                <a:avLst/>
              </a:prstGeom>
              <a:blipFill>
                <a:blip r:embed="rId5"/>
                <a:stretch>
                  <a:fillRect l="-4068" t="-63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AA40659-C63D-C1AE-D2A0-433DE67AC4D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57200" y="4400550"/>
                <a:ext cx="82296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725" b="1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725" b="1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𝑬</m:t>
                    </m:r>
                    <m:r>
                      <a:rPr lang="en-US" sz="20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𝒀</m:t>
                    </m:r>
                    <m:r>
                      <a:rPr lang="en-US" sz="20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| </m:t>
                    </m:r>
                    <m:r>
                      <a:rPr lang="en-US" sz="20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𝑻</m:t>
                    </m:r>
                    <m:r>
                      <a:rPr lang="en-US" sz="20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] − </m:t>
                    </m:r>
                    <m:r>
                      <a:rPr lang="en-US" sz="20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𝑬</m:t>
                    </m:r>
                    <m:r>
                      <a:rPr lang="en-US" sz="20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𝒀</m:t>
                    </m:r>
                    <m:r>
                      <a:rPr lang="en-US" sz="20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| </m:t>
                    </m:r>
                    <m:r>
                      <a:rPr lang="en-US" sz="20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𝑻</m:t>
                    </m:r>
                    <m:r>
                      <a:rPr lang="en-US" sz="20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</m:t>
                    </m:r>
                    <m:r>
                      <a:rPr lang="en-US" sz="20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𝟎</m:t>
                    </m:r>
                    <m:r>
                      <a:rPr lang="en-US" sz="20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]</m:t>
                    </m:r>
                  </m:oMath>
                </a14:m>
                <a:r>
                  <a:rPr sz="2000" b="1" dirty="0">
                    <a:solidFill>
                      <a:srgbClr val="F5B62D"/>
                    </a:solidFill>
                    <a:ea typeface="Arial"/>
                    <a:cs typeface="Arial"/>
                  </a:rPr>
                  <a:t> can differ from the ATE.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AA40659-C63D-C1AE-D2A0-433DE67AC4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400550"/>
                <a:ext cx="8229600" cy="495300"/>
              </a:xfrm>
              <a:prstGeom prst="rect">
                <a:avLst/>
              </a:prstGeom>
              <a:blipFill>
                <a:blip r:embed="rId6"/>
                <a:stretch>
                  <a:fillRect t="-1481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8749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2992C-7C20-14DC-B0BD-F035BADED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516985-449D-9859-37B0-E3AC254A094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Four assumptions for causal interpretation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779984-5E98-59BC-2E69-F45BDC3924FB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FC8C401-F31D-FE14-D68E-CA0A1BD444B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Consistency: treatment received matches the intervention defining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𝑌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𝑡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).</m:t>
                    </m:r>
                  </m:oMath>
                </a14:m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FC8C401-F31D-FE14-D68E-CA0A1BD444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blipFill>
                <a:blip r:embed="rId2"/>
                <a:stretch>
                  <a:fillRect l="-4068" t="-82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E7539A4-1E75-9A85-7A73-CF5386873466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8D4B2A5-FDFA-AD6D-032D-A980524C316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57775" y="1295400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Exchangeability: </a:t>
                </a:r>
                <a:endParaRPr lang="en-US"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endParaRPr lang="en-US" sz="1800" dirty="0">
                  <a:solidFill>
                    <a:srgbClr val="F4F1EA"/>
                  </a:solidFill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{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𝑌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(1), 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𝑌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(0)} ⟂ 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𝑇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| 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𝑋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.</m:t>
                      </m:r>
                    </m:oMath>
                  </m:oMathPara>
                </a14:m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8D4B2A5-FDFA-AD6D-032D-A980524C31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775" y="1295400"/>
                <a:ext cx="3600450" cy="962025"/>
              </a:xfrm>
              <a:prstGeom prst="rect">
                <a:avLst/>
              </a:prstGeom>
              <a:blipFill>
                <a:blip r:embed="rId3"/>
                <a:stretch>
                  <a:fillRect l="-4068" t="-82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487647B-FAD2-CA4E-8B5D-DB2E85F33F61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9904017-BD38-7C9A-4FC1-B0A81962F3C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2790825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Positivity: both treatments occur within relevant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</m:oMath>
                </a14:m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profiles.</a:t>
                </a: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9904017-BD38-7C9A-4FC1-B0A81962F3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2790825"/>
                <a:ext cx="3600450" cy="962025"/>
              </a:xfrm>
              <a:prstGeom prst="rect">
                <a:avLst/>
              </a:prstGeom>
              <a:blipFill>
                <a:blip r:embed="rId4"/>
                <a:stretch>
                  <a:fillRect l="-4068" t="-822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3D6B36B-54D4-D051-2B4E-4A37B6F1707A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C1E4742-3DFA-C9D3-FE2B-06099B00A1C4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No interference: another person’s treatment does not change my outcome.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ED60BC-9B2A-A2D5-9D89-4C94448AE544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Measured covariate balance alone cannot verify all four assumptions.</a:t>
            </a:r>
          </a:p>
        </p:txBody>
      </p:sp>
    </p:spTree>
    <p:extLst>
      <p:ext uri="{BB962C8B-B14F-4D97-AF65-F5344CB8AC3E}">
        <p14:creationId xmlns:p14="http://schemas.microsoft.com/office/powerpoint/2010/main" val="2064409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FA798-4307-B0AE-B4AD-90C81B423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0E73E5-E1BF-E8A0-C836-73DDF258A4B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Adjustment depends on the causal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2707AE0-31D8-918F-CC17-3D4F620706E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79340632"/>
                  </p:ext>
                </p:extLst>
              </p:nvPr>
            </p:nvGraphicFramePr>
            <p:xfrm>
              <a:off x="457200" y="1219200"/>
              <a:ext cx="8229600" cy="2514600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1" dirty="0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Role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Example path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 dirty="0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For the total effect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Confounder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𝑇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 ← 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𝐶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 → 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Block the backdoor path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Mediator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𝑇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 → 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𝑀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 → 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Preserve this causal pathway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Collider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𝑇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 → 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𝑀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 ← 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𝑈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 → 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 dirty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Avoid opening the closed path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2707AE0-31D8-918F-CC17-3D4F620706E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79340632"/>
                  </p:ext>
                </p:extLst>
              </p:nvPr>
            </p:nvGraphicFramePr>
            <p:xfrm>
              <a:off x="457200" y="1219200"/>
              <a:ext cx="8229600" cy="2514600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1" dirty="0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Role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Example path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 dirty="0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For the total effect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Confounder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44" t="-101923" r="-100667" b="-205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Block the backdoor path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Mediator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44" t="-203883" r="-100667" b="-1077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Preserve this causal pathway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Collider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44" t="-303883" r="-100667" b="-77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 dirty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Avoid opening the closed path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7F98AE1A-3EEB-A27A-D470-F23C0076C5BF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A variable’s role depends on the path and the estimand.</a:t>
            </a:r>
          </a:p>
        </p:txBody>
      </p:sp>
    </p:spTree>
    <p:extLst>
      <p:ext uri="{BB962C8B-B14F-4D97-AF65-F5344CB8AC3E}">
        <p14:creationId xmlns:p14="http://schemas.microsoft.com/office/powerpoint/2010/main" val="3405034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DE851-908F-9D9D-D936-AEF03C40A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DA1908-6E21-F138-3362-C5617A831C4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Identification through the g-formula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8DDC34C-7040-A76D-B274-773A56B33E3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147293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𝐸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[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𝑌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𝑡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)] =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𝐸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ₓ{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𝐸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[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𝑌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|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𝑇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𝑡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,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𝑋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]}.</m:t>
                      </m:r>
                    </m:oMath>
                  </m:oMathPara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8DDC34C-7040-A76D-B274-773A56B33E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147293"/>
                <a:ext cx="8001000" cy="6286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285F9150-7C1D-8084-49BE-30841C2B1B02}"/>
              </a:ext>
            </a:extLst>
          </p:cNvPr>
          <p:cNvSpPr>
            <a:spLocks noGrp="1"/>
          </p:cNvSpPr>
          <p:nvPr/>
        </p:nvSpPr>
        <p:spPr>
          <a:xfrm>
            <a:off x="571500" y="1775943"/>
            <a:ext cx="8001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Within each X stratum, use comparable observed units to estimate the treatment-specific mean.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BE3D20-8813-C6CF-FE08-09A42266E942}"/>
              </a:ext>
            </a:extLst>
          </p:cNvPr>
          <p:cNvSpPr>
            <a:spLocks noGrp="1"/>
          </p:cNvSpPr>
          <p:nvPr/>
        </p:nvSpPr>
        <p:spPr>
          <a:xfrm>
            <a:off x="571500" y="2509368"/>
            <a:ext cx="8001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Average those means over one common target distribution of X.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B201E8-D771-79D5-511E-6B0F88B45737}"/>
              </a:ext>
            </a:extLst>
          </p:cNvPr>
          <p:cNvSpPr>
            <a:spLocks noGrp="1"/>
          </p:cNvSpPr>
          <p:nvPr/>
        </p:nvSpPr>
        <p:spPr>
          <a:xfrm>
            <a:off x="571500" y="3242793"/>
            <a:ext cx="8001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The DAG and assumptions justify this replacement of missing counterfactual means.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37835A-924F-30FD-E752-15EB5B375369}"/>
              </a:ext>
            </a:extLst>
          </p:cNvPr>
          <p:cNvSpPr>
            <a:spLocks noGrp="1"/>
          </p:cNvSpPr>
          <p:nvPr/>
        </p:nvSpPr>
        <p:spPr>
          <a:xfrm>
            <a:off x="457200" y="4252443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Identification gives an observed-data formula. Estimation computes it.</a:t>
            </a:r>
          </a:p>
        </p:txBody>
      </p:sp>
    </p:spTree>
    <p:extLst>
      <p:ext uri="{BB962C8B-B14F-4D97-AF65-F5344CB8AC3E}">
        <p14:creationId xmlns:p14="http://schemas.microsoft.com/office/powerpoint/2010/main" val="309725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6E5B9-E201-4E04-AF5B-199EFB016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68FE56-0F8D-BA49-EEBF-F71B6EFD8D7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g-computation and the treatment coefficient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E19FD7F-23ED-2061-516D-2E739215A7A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190625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Fit </a:t>
                </a: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𝑚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𝑡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,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𝑥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 = 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𝐸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[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𝑌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| 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𝑇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𝑡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, 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𝑥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].</m:t>
                    </m:r>
                  </m:oMath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E19FD7F-23ED-2061-516D-2E739215A7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190625"/>
                <a:ext cx="8001000" cy="628650"/>
              </a:xfrm>
              <a:prstGeom prst="rect">
                <a:avLst/>
              </a:prstGeom>
              <a:blipFill>
                <a:blip r:embed="rId2"/>
                <a:stretch>
                  <a:fillRect l="-1905" t="-106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7C6A15F-418F-B0C3-A39A-651EF2F71CF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92405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Predict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𝑚</m:t>
                        </m:r>
                      </m:e>
                    </m:acc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(1,</m:t>
                    </m:r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𝑋</m:t>
                        </m:r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</m:t>
                    </m:r>
                  </m:oMath>
                </a14:m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𝑚</m:t>
                        </m:r>
                      </m:e>
                    </m:acc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(0,</m:t>
                    </m:r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𝑋</m:t>
                        </m:r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</m:t>
                    </m:r>
                  </m:oMath>
                </a14:m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for each person.</a:t>
                </a:r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7C6A15F-418F-B0C3-A39A-651EF2F71C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924050"/>
                <a:ext cx="8001000" cy="628650"/>
              </a:xfrm>
              <a:prstGeom prst="rect">
                <a:avLst/>
              </a:prstGeom>
              <a:blipFill>
                <a:blip r:embed="rId3"/>
                <a:stretch>
                  <a:fillRect l="-1905" t="-1165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5554C71-D276-3381-3332-99E2AF7EF75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2657475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Average: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𝑔</m:t>
                        </m:r>
                      </m:sub>
                    </m:sSub>
                    <m:r>
                      <a:rPr lang="en-US" sz="1950" b="0" i="1" dirty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</m:t>
                    </m:r>
                    <m:sSup>
                      <m:sSupPr>
                        <m:ctrlPr>
                          <a:rPr lang="en-US" sz="1950" b="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pPr>
                      <m:e>
                        <m:r>
                          <a:rPr lang="en-US" sz="1950" b="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𝑛</m:t>
                        </m:r>
                      </m:e>
                      <m:sup>
                        <m:r>
                          <a:rPr lang="en-US" sz="1950" b="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−1</m:t>
                        </m:r>
                      </m:sup>
                    </m:sSup>
                    <m:nary>
                      <m:naryPr>
                        <m:chr m:val="∑"/>
                        <m:supHide m:val="on"/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naryPr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19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9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1950" i="1" dirty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950" i="1" dirty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sz="1950" i="1" dirty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950" i="1" dirty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</a:rPr>
                                  <m:t>ᵢ</m:t>
                                </m:r>
                              </m:e>
                            </m:d>
                            <m:r>
                              <a:rPr lang="en-US" sz="1950" i="1" dirty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acc>
                              <m:accPr>
                                <m:chr m:val="̂"/>
                                <m:ctrlPr>
                                  <a:rPr lang="en-US" sz="19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9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1950" i="1" dirty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950" i="1" dirty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</a:rPr>
                                  <m:t>0,</m:t>
                                </m:r>
                                <m:r>
                                  <a:rPr lang="en-US" sz="1950" i="1" dirty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950" i="1" dirty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</a:rPr>
                                  <m:t>ᵢ</m:t>
                                </m:r>
                              </m:e>
                            </m:d>
                          </m:e>
                        </m:d>
                      </m:e>
                    </m:nary>
                    <m:r>
                      <a:rPr lang="en-US" sz="1950" b="0" i="1" dirty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.</m:t>
                    </m:r>
                  </m:oMath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5554C71-D276-3381-3332-99E2AF7EF7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2657475"/>
                <a:ext cx="8001000" cy="628650"/>
              </a:xfrm>
              <a:prstGeom prst="rect">
                <a:avLst/>
              </a:prstGeom>
              <a:blipFill>
                <a:blip r:embed="rId4"/>
                <a:stretch>
                  <a:fillRect l="-1905" t="-85437" b="-7378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8723E26-B2A7-30A8-95C3-1B692AE4E35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3390900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𝑇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× 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</m:oMath>
                </a14:m>
                <a:r>
                  <a:rPr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interaction, the contrast varies with X.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8723E26-B2A7-30A8-95C3-1B692AE4E3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390900"/>
                <a:ext cx="8001000" cy="628650"/>
              </a:xfrm>
              <a:prstGeom prst="rect">
                <a:avLst/>
              </a:prstGeom>
              <a:blipFill>
                <a:blip r:embed="rId5"/>
                <a:stretch>
                  <a:fillRect l="-1905" t="-106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34AACEE-85B8-85F5-2E94-9F8ABB4E917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57200" y="4400550"/>
                <a:ext cx="82296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725" b="1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725" b="1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725" b="1" dirty="0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𝒎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𝒕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,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𝒙</m:t>
                    </m:r>
                    <m:r>
                      <a:rPr lang="en-US" sz="1725" b="1" i="1" dirty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 =</m:t>
                    </m:r>
                    <m:sSub>
                      <m:sSubPr>
                        <m:ctrlPr>
                          <a:rPr lang="en-US" sz="1725" b="1" i="1" dirty="0" smtClean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725" b="1" i="1" dirty="0" smtClean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𝜷</m:t>
                        </m:r>
                      </m:e>
                      <m:sub>
                        <m:r>
                          <a:rPr lang="en-US" sz="1725" b="1" i="1" dirty="0" smtClean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𝟎</m:t>
                        </m:r>
                      </m:sub>
                    </m:sSub>
                    <m:r>
                      <a:rPr lang="en-US" sz="1725" b="1" i="1" dirty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+ </m:t>
                    </m:r>
                    <m:sSub>
                      <m:sSubPr>
                        <m:ctrlPr>
                          <a:rPr lang="en-US" sz="1725" b="1" i="1" dirty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725" b="1" i="1" dirty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𝜷</m:t>
                        </m:r>
                      </m:e>
                      <m:sub>
                        <m:r>
                          <a:rPr lang="en-US" sz="1725" b="1" i="1" dirty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𝑻</m:t>
                        </m:r>
                      </m:sub>
                    </m:sSub>
                    <m:r>
                      <a:rPr lang="en-US" sz="1725" b="1" i="1" dirty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𝒕</m:t>
                    </m:r>
                    <m:r>
                      <a:rPr lang="en-US" sz="1725" b="1" i="1" dirty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+ </m:t>
                    </m:r>
                    <m:sSub>
                      <m:sSubPr>
                        <m:ctrlPr>
                          <a:rPr lang="en-US" sz="1725" b="1" i="1" dirty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725" b="1" i="1" dirty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𝜷</m:t>
                        </m:r>
                      </m:e>
                      <m:sub>
                        <m:r>
                          <a:rPr lang="en-US" sz="1725" b="1" i="1" dirty="0" smtClean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𝑿</m:t>
                        </m:r>
                      </m:sub>
                    </m:sSub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𝒙</m:t>
                    </m:r>
                    <m:r>
                      <a:rPr lang="en-US" sz="1725" b="1" i="1" dirty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+ </m:t>
                    </m:r>
                    <m:sSub>
                      <m:sSubPr>
                        <m:ctrlPr>
                          <a:rPr lang="en-US" sz="1725" b="1" i="1" dirty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725" b="1" i="1" dirty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𝜷</m:t>
                        </m:r>
                      </m:e>
                      <m:sub>
                        <m:r>
                          <a:rPr lang="en-US" sz="1725" b="1" i="1" dirty="0" smtClean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𝑻𝑿</m:t>
                        </m:r>
                      </m:sub>
                    </m:sSub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𝒕𝒙</m:t>
                    </m:r>
                    <m:r>
                      <a:rPr lang="en-US" sz="1725" b="1" i="1" dirty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, 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 </m:t>
                    </m:r>
                    <m:r>
                      <a:rPr lang="en-US" sz="1725" b="1" i="1" dirty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𝑨𝑻𝑬</m:t>
                    </m:r>
                    <m:r>
                      <a:rPr lang="en-US" sz="1725" b="1" i="1" dirty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</m:t>
                    </m:r>
                    <m:sSub>
                      <m:sSubPr>
                        <m:ctrlPr>
                          <a:rPr lang="en-US" sz="1725" b="1" i="1" dirty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725" b="1" i="1" dirty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𝜷</m:t>
                        </m:r>
                      </m:e>
                      <m:sub>
                        <m:r>
                          <a:rPr lang="en-US" sz="1725" b="1" i="1" dirty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𝑻</m:t>
                        </m:r>
                      </m:sub>
                    </m:sSub>
                    <m:r>
                      <a:rPr lang="en-US" sz="1725" b="1" i="1" dirty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+ </m:t>
                    </m:r>
                    <m:sSub>
                      <m:sSubPr>
                        <m:ctrlPr>
                          <a:rPr lang="en-US" sz="1725" b="1" i="1" dirty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725" b="1" i="1" dirty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𝜷</m:t>
                        </m:r>
                      </m:e>
                      <m:sub>
                        <m:r>
                          <a:rPr lang="en-US" sz="1725" b="1" i="1" dirty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𝑻𝑿</m:t>
                        </m:r>
                      </m:sub>
                    </m:sSub>
                    <m:r>
                      <a:rPr lang="en-US" sz="1725" b="1" i="1" dirty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𝑬</m:t>
                    </m:r>
                    <m:r>
                      <a:rPr lang="en-US" sz="1725" b="1" i="1" dirty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[</m:t>
                    </m:r>
                    <m:r>
                      <a:rPr lang="en-US" sz="1725" b="1" i="1" dirty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𝑿</m:t>
                    </m:r>
                    <m:r>
                      <a:rPr lang="en-US" sz="1725" b="1" i="1" dirty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].</m:t>
                    </m:r>
                  </m:oMath>
                </a14:m>
                <a:endParaRPr sz="1725" b="1" dirty="0">
                  <a:solidFill>
                    <a:srgbClr val="F5B62D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34AACEE-85B8-85F5-2E94-9F8ABB4E91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400550"/>
                <a:ext cx="8229600" cy="495300"/>
              </a:xfrm>
              <a:prstGeom prst="rect">
                <a:avLst/>
              </a:prstGeom>
              <a:blipFill>
                <a:blip r:embed="rId6"/>
                <a:stretch>
                  <a:fillRect t="-135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3604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647ED-D867-9130-083F-1853A7D5B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DE149E-A58E-5B21-E0F8-F06B0501F3B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Structural causal models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70E6D6-1538-D8BD-48C2-8028CE5930A3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963988B-1AD7-EC06-9F4B-D8AE953CBB5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𝐶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:=</m:t>
                    </m:r>
                    <m:sSub>
                      <m:sSubPr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𝑓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𝐶</m:t>
                        </m:r>
                      </m:sub>
                    </m:sSub>
                    <m:r>
                      <a:rPr lang="en-US" sz="1800" b="0" i="1" dirty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sSub>
                      <m:sSubPr>
                        <m:ctrlPr>
                          <a:rPr lang="en-US" sz="1800" b="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800" b="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𝑈</m:t>
                        </m:r>
                      </m:e>
                      <m:sub>
                        <m:r>
                          <a:rPr lang="en-US" sz="1800" b="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𝐶</m:t>
                        </m:r>
                      </m:sub>
                    </m:sSub>
                    <m:r>
                      <a:rPr lang="en-US" sz="1800" b="0" i="1" dirty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</m:t>
                    </m:r>
                  </m:oMath>
                </a14:m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generates baseline severity.</a:t>
                </a:r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963988B-1AD7-EC06-9F4B-D8AE953CBB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blipFill>
                <a:blip r:embed="rId2"/>
                <a:stretch>
                  <a:fillRect l="-4068" t="-82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E58F2E8-E97F-654E-68DD-09171C5261C1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05A9E97-FF20-99FF-57B0-DB00379FAD5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57775" y="1295400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𝑇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:=</m:t>
                    </m:r>
                    <m:sSub>
                      <m:sSubPr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𝑓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𝑇</m:t>
                        </m:r>
                      </m:sub>
                    </m:sSub>
                    <m:r>
                      <a:rPr lang="en-US" sz="1800" b="0" i="1" dirty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𝐶</m:t>
                    </m:r>
                    <m:r>
                      <a:rPr lang="en-US" sz="1800" b="0" i="1" dirty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,</m:t>
                    </m:r>
                    <m:sSub>
                      <m:sSubPr>
                        <m:ctrlPr>
                          <a:rPr lang="en-US" sz="1800" b="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800" b="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𝑈</m:t>
                        </m:r>
                      </m:e>
                      <m:sub>
                        <m:r>
                          <a:rPr lang="en-US" sz="1800" b="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𝑇</m:t>
                        </m:r>
                      </m:sub>
                    </m:sSub>
                    <m:r>
                      <a:rPr lang="en-US" sz="1800" b="0" i="1" dirty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</m:t>
                    </m:r>
                  </m:oMath>
                </a14:m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generates treatment assignment.</a:t>
                </a:r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05A9E97-FF20-99FF-57B0-DB00379FAD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775" y="1295400"/>
                <a:ext cx="3600450" cy="962025"/>
              </a:xfrm>
              <a:prstGeom prst="rect">
                <a:avLst/>
              </a:prstGeom>
              <a:blipFill>
                <a:blip r:embed="rId3"/>
                <a:stretch>
                  <a:fillRect l="-4068" t="-8280" r="-355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D514B7E-B254-B25B-26F1-52669630C003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F6CD970-3050-70CB-EF30-0B868F4F20B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2790825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𝑌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:=</m:t>
                    </m:r>
                    <m:sSub>
                      <m:sSubPr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𝑓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𝑌</m:t>
                        </m:r>
                      </m:sub>
                    </m:sSub>
                    <m:r>
                      <a:rPr lang="en-US" sz="1800" b="0" i="1" dirty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𝐶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,</m:t>
                    </m:r>
                    <m:r>
                      <a:rPr lang="en-US" sz="1800" b="0" i="1" dirty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𝑇</m:t>
                    </m:r>
                    <m:r>
                      <a:rPr lang="en-US" sz="1800" b="0" i="1" dirty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,</m:t>
                    </m:r>
                    <m:sSub>
                      <m:sSubPr>
                        <m:ctrlPr>
                          <a:rPr lang="en-US" sz="1800" b="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800" b="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𝑈</m:t>
                        </m:r>
                      </m:e>
                      <m:sub>
                        <m:r>
                          <a:rPr lang="en-US" sz="1800" b="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𝑌</m:t>
                        </m:r>
                      </m:sub>
                    </m:sSub>
                    <m:r>
                      <a:rPr lang="en-US" sz="1800" b="0" i="1" dirty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 </m:t>
                    </m:r>
                  </m:oMath>
                </a14:m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generates the outcome.</a:t>
                </a:r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F6CD970-3050-70CB-EF30-0B868F4F20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2790825"/>
                <a:ext cx="3600450" cy="962025"/>
              </a:xfrm>
              <a:prstGeom prst="rect">
                <a:avLst/>
              </a:prstGeom>
              <a:blipFill>
                <a:blip r:embed="rId4"/>
                <a:stretch>
                  <a:fillRect l="-4068" t="-822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E2B1A2E-831C-C40D-8A16-E3C29273F6F8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01C590-D30B-5488-6036-C8D6999DB95B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The structural rules state how the system responds to interventions.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97FC6E-93A3-C94E-1F58-A3810A179D19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A DAG gives the causal structure. An SCM also specifies the mechanisms.</a:t>
            </a:r>
          </a:p>
        </p:txBody>
      </p:sp>
    </p:spTree>
    <p:extLst>
      <p:ext uri="{BB962C8B-B14F-4D97-AF65-F5344CB8AC3E}">
        <p14:creationId xmlns:p14="http://schemas.microsoft.com/office/powerpoint/2010/main" val="2953323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64F89-5156-9E4E-B2A4-08F6AD17C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41D15F-2D39-8ADA-1398-8A958C74266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Conditioning, intervention, counterfactual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4DD8CFE-A709-9598-9AD2-B9E713F83F7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5269248"/>
                  </p:ext>
                </p:extLst>
              </p:nvPr>
            </p:nvGraphicFramePr>
            <p:xfrm>
              <a:off x="405685" y="1083972"/>
              <a:ext cx="8229600" cy="2514600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Operation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 dirty="0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Meaning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What stays fixed?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0" dirty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Condition on </a:t>
                          </a:r>
                          <a14:m>
                            <m:oMath xmlns:m="http://schemas.openxmlformats.org/officeDocument/2006/math">
                              <m:r>
                                <a:rPr lang="en-US" sz="16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𝑇</m:t>
                              </m:r>
                              <m:r>
                                <a:rPr lang="en-US" sz="16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 = 1</m:t>
                              </m:r>
                            </m:oMath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Select people who received treatment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Their observed characteristics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𝑑𝑜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(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𝑇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 = 1)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 dirty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Replace the treatment rule with </a:t>
                          </a:r>
                          <a14:m>
                            <m:oMath xmlns:m="http://schemas.openxmlformats.org/officeDocument/2006/math">
                              <m:r>
                                <a:rPr lang="en-US" sz="16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𝑇</m:t>
                              </m:r>
                              <m:r>
                                <a:rPr lang="en-US" sz="16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 := 1</m:t>
                              </m:r>
                            </m:oMath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Other structural rules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50" b="0" i="1" dirty="0" smtClean="0">
                                        <a:solidFill>
                                          <a:srgbClr val="F4F1EA"/>
                                        </a:solidFill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50" b="0" i="1" dirty="0" smtClean="0">
                                        <a:solidFill>
                                          <a:srgbClr val="F4F1EA"/>
                                        </a:solidFill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sz="1650" b="0" i="1" dirty="0" smtClean="0">
                                        <a:solidFill>
                                          <a:srgbClr val="F4F1EA"/>
                                        </a:solidFill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 dirty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Outcome for person </a:t>
                          </a:r>
                          <a14:m>
                            <m:oMath xmlns:m="http://schemas.openxmlformats.org/officeDocument/2006/math">
                              <m:r>
                                <a:rPr lang="en-US" sz="16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𝑖</m:t>
                              </m:r>
                            </m:oMath>
                          </a14:m>
                          <a:r>
                            <a:rPr sz="1650" b="0" dirty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 under treatment 1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 dirty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That person’s background factors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4DD8CFE-A709-9598-9AD2-B9E713F83F7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5269248"/>
                  </p:ext>
                </p:extLst>
              </p:nvPr>
            </p:nvGraphicFramePr>
            <p:xfrm>
              <a:off x="405685" y="1083972"/>
              <a:ext cx="8229600" cy="2514600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Operation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 dirty="0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Meaning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What stays fixed?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2" t="-102913" r="-200667" b="-208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Select people who received treatment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Their observed characteristics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2" t="-200962" r="-200667" b="-1067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00962" r="-100222" b="-1067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Other structural rules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2" t="-303883" r="-200667" b="-77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303883" r="-100222" b="-77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 dirty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That person’s background factors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38640711-A733-E83B-BFBD-BA36F4BF7317}"/>
              </a:ext>
            </a:extLst>
          </p:cNvPr>
          <p:cNvSpPr>
            <a:spLocks noGrp="1"/>
          </p:cNvSpPr>
          <p:nvPr/>
        </p:nvSpPr>
        <p:spPr>
          <a:xfrm>
            <a:off x="405685" y="4265322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Intervening changes assignment. Conditioning selects an observed subgroup.</a:t>
            </a:r>
          </a:p>
        </p:txBody>
      </p:sp>
    </p:spTree>
    <p:extLst>
      <p:ext uri="{BB962C8B-B14F-4D97-AF65-F5344CB8AC3E}">
        <p14:creationId xmlns:p14="http://schemas.microsoft.com/office/powerpoint/2010/main" val="1039443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8D4F-4F83-E800-7D79-9FE4648FD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B6BFD3-5870-C4C0-F6AE-583769CFB47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Simulation: a known causal world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33A4A6-D28E-C2B7-5B10-FB286C9C4C2C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CCB3799-AE32-D1B0-137F-B55DE16E72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C is baseline severity, with </a:t>
                </a:r>
                <a:endParaRPr lang="en-US"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endParaRPr lang="en-US"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𝐶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∼ 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𝑁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(0,1).</m:t>
                      </m:r>
                    </m:oMath>
                  </m:oMathPara>
                </a14:m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CCB3799-AE32-D1B0-137F-B55DE16E72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blipFill>
                <a:blip r:embed="rId2"/>
                <a:stretch>
                  <a:fillRect l="-4068" t="-82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E088B4F-E98C-1979-E4E5-DAA7EA95E4E4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F800BDC-E9B1-312B-08ED-49BB31FCE06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86350" y="1528762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𝑃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𝑇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1 | 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𝐶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 = 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𝑙𝑜𝑔𝑖𝑠𝑡𝑖𝑐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(1.2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𝐶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).</m:t>
                      </m:r>
                    </m:oMath>
                  </m:oMathPara>
                </a14:m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F800BDC-E9B1-312B-08ED-49BB31FCE0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350" y="1528762"/>
                <a:ext cx="3600450" cy="9620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E4F8B69-4546-6F11-5191-204407C825DB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A46B97F-9FFF-83CF-0D17-3E6156B4A85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2790825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𝑌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120 + 10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𝐶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− 6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𝑇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+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𝜖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</m:t>
                      </m:r>
                    </m:oMath>
                  </m:oMathPara>
                </a14:m>
                <a:endParaRPr lang="en-US"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endParaRPr lang="en-US" sz="1800" dirty="0">
                  <a:solidFill>
                    <a:srgbClr val="F4F1EA"/>
                  </a:solidFill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with independent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𝜖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∼ 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𝑁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(0,25).</m:t>
                    </m:r>
                  </m:oMath>
                </a14:m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A46B97F-9FFF-83CF-0D17-3E6156B4A8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2790825"/>
                <a:ext cx="3600450" cy="962025"/>
              </a:xfrm>
              <a:prstGeom prst="rect">
                <a:avLst/>
              </a:prstGeom>
              <a:blipFill>
                <a:blip r:embed="rId4"/>
                <a:stretch>
                  <a:fillRect l="-406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23C815D-E456-BE60-D74F-68F4CC570CDF}"/>
              </a:ext>
            </a:extLst>
          </p:cNvPr>
          <p:cNvSpPr>
            <a:spLocks noGrp="1"/>
          </p:cNvSpPr>
          <p:nvPr/>
        </p:nvSpPr>
        <p:spPr>
          <a:xfrm>
            <a:off x="4857750" y="257175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13C915-7E41-42C7-FEF9-F8DF48615B33}"/>
              </a:ext>
            </a:extLst>
          </p:cNvPr>
          <p:cNvSpPr>
            <a:spLocks noGrp="1"/>
          </p:cNvSpPr>
          <p:nvPr/>
        </p:nvSpPr>
        <p:spPr>
          <a:xfrm>
            <a:off x="5057775" y="2831473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Higher severity increases treatment probability and blood pressure.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92FAA2D-BCCD-DBD2-42DE-3AD96719BD9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57200" y="4400550"/>
                <a:ext cx="82296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725" b="1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725" b="1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725" b="1" dirty="0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rPr>
                  <a:t>True effect: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25" b="1" i="1" dirty="0" smtClean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725" b="1" i="1" dirty="0" smtClean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𝒀</m:t>
                        </m:r>
                      </m:e>
                      <m:sub>
                        <m:r>
                          <a:rPr lang="en-US" sz="1725" b="1" i="1" dirty="0" smtClean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𝒊</m:t>
                        </m:r>
                      </m:sub>
                    </m:sSub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𝟏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 − </m:t>
                    </m:r>
                    <m:sSub>
                      <m:sSubPr>
                        <m:ctrlPr>
                          <a:rPr lang="en-US" sz="1725" b="1" i="1" dirty="0" smtClean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725" b="1" i="1" dirty="0" smtClean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𝒀</m:t>
                        </m:r>
                      </m:e>
                      <m:sub>
                        <m:r>
                          <a:rPr lang="en-US" sz="1725" b="1" i="1" dirty="0" smtClean="0">
                            <a:solidFill>
                              <a:srgbClr val="F5B62D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𝒊</m:t>
                        </m:r>
                      </m:sub>
                    </m:sSub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𝟎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 = −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𝟔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𝒎𝒎𝑯𝒈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</m:t>
                    </m:r>
                  </m:oMath>
                </a14:m>
                <a:r>
                  <a:rPr lang="en-US" sz="1725" b="1" dirty="0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rPr>
                  <a:t>for every person.</a:t>
                </a:r>
                <a:endParaRPr sz="1725" b="1" dirty="0">
                  <a:solidFill>
                    <a:srgbClr val="F5B62D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92FAA2D-BCCD-DBD2-42DE-3AD96719BD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400550"/>
                <a:ext cx="8229600" cy="495300"/>
              </a:xfrm>
              <a:prstGeom prst="rect">
                <a:avLst/>
              </a:prstGeom>
              <a:blipFill>
                <a:blip r:embed="rId5"/>
                <a:stretch>
                  <a:fillRect t="-135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9928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AC3A4-BAD7-6044-3DB8-7237E80E6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F85C75-B898-DBC0-8813-C30734C1FE83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Simulation: generate and compare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F0939C-26B1-33D9-2728-A44E484011A2}"/>
              </a:ext>
            </a:extLst>
          </p:cNvPr>
          <p:cNvSpPr>
            <a:spLocks noGrp="1"/>
          </p:cNvSpPr>
          <p:nvPr/>
        </p:nvSpPr>
        <p:spPr>
          <a:xfrm>
            <a:off x="381000" y="1028700"/>
            <a:ext cx="8382000" cy="3133725"/>
          </a:xfrm>
          <a:prstGeom prst="roundRect">
            <a:avLst>
              <a:gd name="adj" fmla="val 5471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E0E445-78CD-CE21-C307-8C1828618566}"/>
              </a:ext>
            </a:extLst>
          </p:cNvPr>
          <p:cNvSpPr>
            <a:spLocks noGrp="1"/>
          </p:cNvSpPr>
          <p:nvPr/>
        </p:nvSpPr>
        <p:spPr>
          <a:xfrm>
            <a:off x="600075" y="1219200"/>
            <a:ext cx="7943850" cy="2790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set.seed(7900)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n &lt;- 5000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C &lt;- rnorm(n)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T &lt;- rbinom(n, 1, plogis(1.2 * C))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eps &lt;- rnorm(n, sd = 5)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Y &lt;- 120 + 10 * C - 6 * T + eps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dat &lt;- data.frame(C, T, Y)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coef(lm(Y ~ T, data = dat))["T"]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coef(lm(Y ~ T + C, data = dat))["T"]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740949-C659-40DD-883F-DB4C1D224250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Predict the crude and adjusted results before running the code.</a:t>
            </a:r>
          </a:p>
        </p:txBody>
      </p:sp>
    </p:spTree>
    <p:extLst>
      <p:ext uri="{BB962C8B-B14F-4D97-AF65-F5344CB8AC3E}">
        <p14:creationId xmlns:p14="http://schemas.microsoft.com/office/powerpoint/2010/main" val="2576236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3387-86FE-94E5-5C73-5BBB1390C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0D3634-3EBA-9186-CCAB-E03ABC89F28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Simulation: association versus intervention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B1836B76-ACAD-835C-BD7F-629B971756F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20775222"/>
                  </p:ext>
                </p:extLst>
              </p:nvPr>
            </p:nvGraphicFramePr>
            <p:xfrm>
              <a:off x="457200" y="1219200"/>
              <a:ext cx="8229600" cy="2514600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1" dirty="0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Comparison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Approximate result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Reason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Crude observed contrast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+3.5 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𝑚𝑚𝐻𝑔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Treated patients have greater severity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Adjustment for C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−6.0 </m:t>
                                </m:r>
                                <m:r>
                                  <a:rPr lang="en-US" sz="1650" b="0" i="1" dirty="0" smtClean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  <a:ea typeface="Arial"/>
                                    <a:cs typeface="Arial"/>
                                  </a:rPr>
                                  <m:t>𝑚𝑚𝐻𝑔</m:t>
                                </m:r>
                              </m:oMath>
                            </m:oMathPara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Correct outcome model blocks confounding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Same-person interventions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 dirty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Exactly </a:t>
                          </a:r>
                          <a14:m>
                            <m:oMath xmlns:m="http://schemas.openxmlformats.org/officeDocument/2006/math">
                              <m:r>
                                <a:rPr lang="en-US" sz="16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−6 </m:t>
                              </m:r>
                              <m:r>
                                <a:rPr lang="en-US" sz="16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𝑚𝑚𝐻𝑔</m:t>
                              </m:r>
                            </m:oMath>
                          </a14:m>
                          <a:endParaRPr sz="1650" b="0" dirty="0">
                            <a:solidFill>
                              <a:srgbClr val="F4F1EA"/>
                            </a:solidFill>
                            <a:latin typeface="Arial"/>
                            <a:ea typeface="Arial"/>
                            <a:cs typeface="Arial"/>
                          </a:endParaRP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 dirty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The structural contrast is constant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B1836B76-ACAD-835C-BD7F-629B971756F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20775222"/>
                  </p:ext>
                </p:extLst>
              </p:nvPr>
            </p:nvGraphicFramePr>
            <p:xfrm>
              <a:off x="457200" y="1219200"/>
              <a:ext cx="8229600" cy="2514600"/>
            </p:xfrm>
            <a:graphic>
              <a:graphicData uri="http://schemas.openxmlformats.org/drawingml/2006/table">
                <a:tbl>
                  <a:tblPr/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1" dirty="0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Comparison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Approximate result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1">
                              <a:solidFill>
                                <a:srgbClr val="71AFE8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Reason</a:t>
                          </a:r>
                        </a:p>
                      </a:txBody>
                      <a:tcPr>
                        <a:solidFill>
                          <a:srgbClr val="30303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Crude observed contrast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44" t="-101923" r="-100667" b="-205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Treated patients have greater severity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Adjustment for C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44" t="-203883" r="-100667" b="-1077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Correct outcome model blocks confounding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28650">
                    <a:tc>
                      <a:txBody>
                        <a:bodyPr/>
                        <a:lstStyle/>
                        <a:p>
                          <a:r>
                            <a:rPr sz="1650" b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Same-person interventions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44" t="-303883" r="-100667" b="-77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650" b="0" dirty="0">
                              <a:solidFill>
                                <a:srgbClr val="F4F1EA"/>
                              </a:solidFill>
                              <a:latin typeface="Arial"/>
                              <a:ea typeface="Arial"/>
                              <a:cs typeface="Arial"/>
                            </a:rPr>
                            <a:t>The structural contrast is constant</a:t>
                          </a:r>
                        </a:p>
                      </a:txBody>
                      <a:tcPr>
                        <a:solidFill>
                          <a:srgbClr val="25252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1348A09-C2CA-94D4-4588-9D73F7F8E82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57200" y="4400550"/>
                <a:ext cx="82296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725" b="1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725" b="1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 xmlns:m="http://schemas.openxmlformats.org/officeDocument/2006/math"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𝒀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₁ = 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𝟏𝟐𝟎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+ 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𝟏𝟎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𝑪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− 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𝟔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+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𝝐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</m:t>
                    </m:r>
                  </m:oMath>
                </a14:m>
                <a:r>
                  <a:rPr lang="en-US" sz="1725" b="1" dirty="0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rPr>
                  <a:t> and  </a:t>
                </a:r>
                <a14:m>
                  <m:oMath xmlns:m="http://schemas.openxmlformats.org/officeDocument/2006/math"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𝒀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₀ = 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𝟏𝟐𝟎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+ 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𝟏𝟎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𝑪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+</m:t>
                    </m:r>
                    <m:r>
                      <a:rPr lang="en-US" sz="1725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𝝐</m:t>
                    </m:r>
                  </m:oMath>
                </a14:m>
                <a:r>
                  <a:rPr lang="el-GR" sz="1725" b="1" dirty="0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rPr>
                  <a:t>.</a:t>
                </a:r>
                <a:endParaRPr sz="1725" b="1" dirty="0">
                  <a:solidFill>
                    <a:srgbClr val="F5B62D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1348A09-C2CA-94D4-4588-9D73F7F8E8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400550"/>
                <a:ext cx="8229600" cy="495300"/>
              </a:xfrm>
              <a:prstGeom prst="rect">
                <a:avLst/>
              </a:prstGeom>
              <a:blipFill>
                <a:blip r:embed="rId3"/>
                <a:stretch>
                  <a:fillRect t="-135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9352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65D11-92A2-6C1D-1B86-190BAF434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844823-4509-3CA6-1843-1DBA0AF9FF0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Randomization and Identification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AF56F6-1B42-2A40-D07A-230851E66156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9163B67-710D-8361-7C6C-F4F1FE18711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Under simple random assignment,</a:t>
                </a:r>
                <a:endParaRPr lang="en-US"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</a:t>
                </a:r>
                <a:endParaRPr lang="en-US" sz="1800" b="0" i="1" dirty="0">
                  <a:solidFill>
                    <a:srgbClr val="F4F1EA"/>
                  </a:solidFill>
                  <a:latin typeface="Cambria Math" panose="02040503050406030204" pitchFamily="18" charset="0"/>
                  <a:ea typeface="Arial"/>
                  <a:cs typeface="Arial"/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𝑇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⟂ {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𝑌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(1), 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𝑌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(0), 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𝑋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}.</m:t>
                      </m:r>
                    </m:oMath>
                  </m:oMathPara>
                </a14:m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9163B67-710D-8361-7C6C-F4F1FE1871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blipFill>
                <a:blip r:embed="rId2"/>
                <a:stretch>
                  <a:fillRect l="-4068" t="-8280" r="-118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7922FFB-35BD-89C7-8E53-222397805045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3F2F8C7-78A1-8ECA-5A86-A6D9AB7600D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57775" y="1295400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With consistency, </a:t>
                </a:r>
                <a:endParaRPr lang="en-US"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endParaRPr lang="en-US" sz="1800" dirty="0">
                  <a:solidFill>
                    <a:srgbClr val="F4F1EA"/>
                  </a:solidFill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𝐸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[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𝑌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𝑡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)] = 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𝐸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[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𝑌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| 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𝑇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𝑡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].</m:t>
                      </m:r>
                    </m:oMath>
                  </m:oMathPara>
                </a14:m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3F2F8C7-78A1-8ECA-5A86-A6D9AB7600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775" y="1295400"/>
                <a:ext cx="3600450" cy="962025"/>
              </a:xfrm>
              <a:prstGeom prst="rect">
                <a:avLst/>
              </a:prstGeom>
              <a:blipFill>
                <a:blip r:embed="rId3"/>
                <a:stretch>
                  <a:fillRect l="-4068" t="-82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CF946E5-4DD0-E02F-25CB-51E0689D0EE2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F505D1D-40DA-D00F-A2EF-386EE3D2097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31228" y="2781903"/>
                <a:ext cx="4000499" cy="100844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Therefore </a:t>
                </a:r>
                <a:endParaRPr lang="en-US"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endParaRPr lang="en-US" sz="1800" dirty="0">
                  <a:solidFill>
                    <a:srgbClr val="F4F1EA"/>
                  </a:solidFill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𝐴𝑇𝐸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𝐸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[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𝑌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| 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𝑇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1] − 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𝐸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[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𝑌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| 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𝑇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0].</m:t>
                      </m:r>
                    </m:oMath>
                  </m:oMathPara>
                </a14:m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F505D1D-40DA-D00F-A2EF-386EE3D209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28" y="2781903"/>
                <a:ext cx="4000499" cy="1008443"/>
              </a:xfrm>
              <a:prstGeom prst="rect">
                <a:avLst/>
              </a:prstGeom>
              <a:blipFill>
                <a:blip r:embed="rId4"/>
                <a:stretch>
                  <a:fillRect l="-3501" t="-783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F0D044D-9EED-A3FB-8FAC-C9B7BA58C9E6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956EA0-BBF6-AA61-46C7-A7D0F39D5759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Randomization balances baseline causes in expectation, not exactly in every sample.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66789A-DD54-7D94-9D80-B1046773F181}"/>
              </a:ext>
            </a:extLst>
          </p:cNvPr>
          <p:cNvSpPr>
            <a:spLocks noGrp="1"/>
          </p:cNvSpPr>
          <p:nvPr/>
        </p:nvSpPr>
        <p:spPr>
          <a:xfrm>
            <a:off x="84594" y="4400549"/>
            <a:ext cx="8974812" cy="5994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Randomization identifies the assignment effect when outcomes and design support it.</a:t>
            </a:r>
          </a:p>
        </p:txBody>
      </p:sp>
    </p:spTree>
    <p:extLst>
      <p:ext uri="{BB962C8B-B14F-4D97-AF65-F5344CB8AC3E}">
        <p14:creationId xmlns:p14="http://schemas.microsoft.com/office/powerpoint/2010/main" val="281463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52104-16CA-03B7-86D3-42F86F692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41A52D-4454-4EFD-ABBC-44CED44590A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Randomized designs and analysis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BFB751-6B36-9E7C-CB82-03E61C129EAD}"/>
              </a:ext>
            </a:extLst>
          </p:cNvPr>
          <p:cNvGraphicFramePr/>
          <p:nvPr/>
        </p:nvGraphicFramePr>
        <p:xfrm>
          <a:off x="457200" y="1219200"/>
          <a:ext cx="8229600" cy="2514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Design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Assignment mechanism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Analysis implication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Complete / Bernoulli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Individuals receive random assignments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Respect fixed versus random arm sizes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Blocked / paired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Randomize within strata or pairs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Account for strata or pairs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Cluster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Randomize clinics or other groups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Account for within-cluster dependence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3E4651F-BA17-425B-0CE5-58E28800AF37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The randomization unit determines how we quantify uncertainty.</a:t>
            </a:r>
          </a:p>
        </p:txBody>
      </p:sp>
    </p:spTree>
    <p:extLst>
      <p:ext uri="{BB962C8B-B14F-4D97-AF65-F5344CB8AC3E}">
        <p14:creationId xmlns:p14="http://schemas.microsoft.com/office/powerpoint/2010/main" val="1327807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D714C-97BA-2026-EB4A-61D4AEDBC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6D4A0E-AA27-31EC-C2B4-74B2F6548253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Estimation and uncertainty in an RCT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02CDA97-D099-4D27-A3D4-EF7F3643C9F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081154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Difference in means: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𝜏</m:t>
                        </m:r>
                      </m:e>
                    </m:acc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</m:t>
                    </m:r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1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−</m:t>
                    </m:r>
                    <m:sSub>
                      <m:sSubPr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95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0</m:t>
                        </m:r>
                      </m:sub>
                    </m:sSub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.</m:t>
                    </m:r>
                  </m:oMath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02CDA97-D099-4D27-A3D4-EF7F3643C9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081154"/>
                <a:ext cx="8001000" cy="628650"/>
              </a:xfrm>
              <a:prstGeom prst="rect">
                <a:avLst/>
              </a:prstGeom>
              <a:blipFill>
                <a:blip r:embed="rId2"/>
                <a:stretch>
                  <a:fillRect t="-106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F37BFF2-5C9C-62DA-7115-CC2C7C1B69B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814579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Independent-arm SE: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950" b="0" i="1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radPr>
                      <m:deg/>
                      <m:e>
                        <m:d>
                          <m:dPr>
                            <m:ctrlPr>
                              <a:rPr lang="en-US" sz="1950" i="1" dirty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950" i="1" dirty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sz="1950" i="1" dirty="0">
                                        <a:solidFill>
                                          <a:srgbClr val="F4F1E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950" i="1" dirty="0">
                                        <a:solidFill>
                                          <a:srgbClr val="F4F1E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950" i="1" dirty="0">
                                        <a:solidFill>
                                          <a:srgbClr val="F4F1E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950" i="1" dirty="0">
                                        <a:solidFill>
                                          <a:srgbClr val="F4F1E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lang="en-US" sz="1950" i="1" dirty="0">
                                        <a:solidFill>
                                          <a:srgbClr val="F4F1E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50" i="1" dirty="0">
                                        <a:solidFill>
                                          <a:srgbClr val="F4F1E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1950" i="1" dirty="0">
                                        <a:solidFill>
                                          <a:srgbClr val="F4F1E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1950" i="1" dirty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950" i="1" dirty="0">
                                    <a:solidFill>
                                      <a:srgbClr val="F4F1E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sz="1950" i="1" dirty="0">
                                        <a:solidFill>
                                          <a:srgbClr val="F4F1E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950" i="1" dirty="0">
                                        <a:solidFill>
                                          <a:srgbClr val="F4F1E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950" i="1" dirty="0">
                                        <a:solidFill>
                                          <a:srgbClr val="F4F1E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950" i="1" dirty="0">
                                        <a:solidFill>
                                          <a:srgbClr val="F4F1E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lang="en-US" sz="1950" i="1" dirty="0">
                                        <a:solidFill>
                                          <a:srgbClr val="F4F1E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50" i="1" dirty="0">
                                        <a:solidFill>
                                          <a:srgbClr val="F4F1E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1950" i="1" dirty="0">
                                        <a:solidFill>
                                          <a:srgbClr val="F4F1E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rad>
                  </m:oMath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F37BFF2-5C9C-62DA-7115-CC2C7C1B69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814579"/>
                <a:ext cx="8001000" cy="6286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612FC22-450B-D6AF-E307-90298BE55CB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2619376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Example: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en-US" sz="195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𝜏</m:t>
                        </m:r>
                      </m:e>
                    </m:acc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−5.3</m:t>
                    </m:r>
                  </m:oMath>
                </a14:m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𝑆𝐸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1.8 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𝑚𝑚𝐻𝑔</m:t>
                    </m:r>
                  </m:oMath>
                </a14:m>
                <a:r>
                  <a:rPr lang="en-US"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.</a:t>
                </a:r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612FC22-450B-D6AF-E307-90298BE55C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2619376"/>
                <a:ext cx="8001000" cy="628650"/>
              </a:xfrm>
              <a:prstGeom prst="rect">
                <a:avLst/>
              </a:prstGeom>
              <a:blipFill>
                <a:blip r:embed="rId4"/>
                <a:stretch>
                  <a:fillRect t="-1165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4A3165B-8047-456E-949B-65543B14886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3281429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Approximate 95% CI: </a:t>
                </a: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−5.3 ± 1.96 × 1.8 = [−8.83, −1.77].</m:t>
                    </m:r>
                  </m:oMath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4A3165B-8047-456E-949B-65543B1488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281429"/>
                <a:ext cx="8001000" cy="628650"/>
              </a:xfrm>
              <a:prstGeom prst="rect">
                <a:avLst/>
              </a:prstGeom>
              <a:blipFill>
                <a:blip r:embed="rId5"/>
                <a:stretch>
                  <a:fillRect t="-106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6E635A16-9B17-3935-10EC-6D4C0714DB12}"/>
              </a:ext>
            </a:extLst>
          </p:cNvPr>
          <p:cNvSpPr>
            <a:spLocks noGrp="1"/>
          </p:cNvSpPr>
          <p:nvPr/>
        </p:nvSpPr>
        <p:spPr>
          <a:xfrm>
            <a:off x="457200" y="4291079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A confidence interval measures sampling uncertainty, not the validity of all assumptions.</a:t>
            </a:r>
          </a:p>
        </p:txBody>
      </p:sp>
    </p:spTree>
    <p:extLst>
      <p:ext uri="{BB962C8B-B14F-4D97-AF65-F5344CB8AC3E}">
        <p14:creationId xmlns:p14="http://schemas.microsoft.com/office/powerpoint/2010/main" val="2791032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418A2-B77D-9760-F512-C9CFACEBC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84DE04-708F-7E74-2308-6A729685DE9E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Assignment, treatment received, and outcome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1F7FD5-F3E8-512C-C2F5-8DD7C89B289B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090EA95-C2DD-DC44-25AC-9B21BF33DBD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1438275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just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𝑍</m:t>
                    </m:r>
                  </m:oMath>
                </a14:m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denotes randomized assignment.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𝑇</m:t>
                    </m:r>
                  </m:oMath>
                </a14:m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denotes treatment </a:t>
                </a:r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received</a:t>
                </a: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090EA95-C2DD-DC44-25AC-9B21BF33DB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1438275"/>
                <a:ext cx="3600450" cy="962025"/>
              </a:xfrm>
              <a:prstGeom prst="rect">
                <a:avLst/>
              </a:prstGeom>
              <a:blipFill>
                <a:blip r:embed="rId2"/>
                <a:stretch>
                  <a:fillRect l="-2373" t="-8228" r="-406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979EE72-8EDC-9C64-A0B8-EADE1DC5BF79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B6E414-384D-4846-8C06-D243672335D0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An intention-to-treat comparison preserves the randomized assignment contrast.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D370130-D200-0F9F-C750-E2FE14985F08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61A51E-9F0E-FBFC-56FB-C46DE1544FD4}"/>
              </a:ext>
            </a:extLst>
          </p:cNvPr>
          <p:cNvSpPr>
            <a:spLocks noGrp="1"/>
          </p:cNvSpPr>
          <p:nvPr/>
        </p:nvSpPr>
        <p:spPr>
          <a:xfrm>
            <a:off x="355577" y="2905125"/>
            <a:ext cx="3860845" cy="101488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just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Comparing recipients can reintroduce selection when adherence differs.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5D81CBE-6A5E-1DC0-3AA6-E2D17532659A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E293A7-B4F7-8AA8-50E3-62E8B7E5F0D3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A causal effect of treatment received needs additional assumptions or design.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E0B32A-3149-7CDB-C834-B3E97F61324F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Randomizing Z does not automatically make T unconfounded.</a:t>
            </a:r>
          </a:p>
        </p:txBody>
      </p:sp>
    </p:spTree>
    <p:extLst>
      <p:ext uri="{BB962C8B-B14F-4D97-AF65-F5344CB8AC3E}">
        <p14:creationId xmlns:p14="http://schemas.microsoft.com/office/powerpoint/2010/main" val="1720372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FBCF8-38DA-0343-16E2-94337085C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D61329-7161-AE4D-9330-F3193BE51A95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Real Data: Job trainings and earnings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4F02FA1-F7D0-938E-D436-51CEA3C80B85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CA26C2-1FF8-E03F-BC04-0ADEE0EBCD34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LaLonde data: 614 people, 185 treated and 429 comparison units.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6392B0-06CD-9FA1-1922-26D7499A9664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B8E9A6-74F1-9DAD-FE3E-4D90CB86108A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Treatment: participation in the job-training program.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93DF48C-8109-0511-562F-75022D45585C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F69DF8-96B6-272D-A76B-8A8569C791D3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Outcome: earnings in 1978, measured in dollars.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3B981C8-CBD7-F962-0982-3DA9DAA6A4B5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BC2EAF-9F90-E3A9-D14D-98839A1F2856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Baseline X includes demographics and earnings in 1974 and 1975.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08D3D5-D697-4B98-8733-5AF2F3D15B9A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Question: what would earnings be under training versus no training?</a:t>
            </a:r>
          </a:p>
        </p:txBody>
      </p:sp>
    </p:spTree>
    <p:extLst>
      <p:ext uri="{BB962C8B-B14F-4D97-AF65-F5344CB8AC3E}">
        <p14:creationId xmlns:p14="http://schemas.microsoft.com/office/powerpoint/2010/main" val="489382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F3EE8-68D2-FA40-CD0C-C76B8A50B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69EEA1-9DEC-D3CB-D5EE-F0C562EDCE4F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Real data: baseline differences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4C9BD5-52E9-8FA8-239A-BD616BB35A7C}"/>
              </a:ext>
            </a:extLst>
          </p:cNvPr>
          <p:cNvGraphicFramePr/>
          <p:nvPr/>
        </p:nvGraphicFramePr>
        <p:xfrm>
          <a:off x="457200" y="1219200"/>
          <a:ext cx="8229600" cy="27622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Variable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Age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25.8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28.0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Married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18.9%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51.3%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Black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84.3%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20.3%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1974 earnings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$2,096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$5,619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177CD74-AAB4-ECB6-2221-FCBF2CA16E7D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1978 earnings: $6,349 versus $6,984. Crude difference ≈ −$635.</a:t>
            </a:r>
          </a:p>
        </p:txBody>
      </p:sp>
    </p:spTree>
    <p:extLst>
      <p:ext uri="{BB962C8B-B14F-4D97-AF65-F5344CB8AC3E}">
        <p14:creationId xmlns:p14="http://schemas.microsoft.com/office/powerpoint/2010/main" val="3083699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3867E-9AA0-4D3D-C6A3-A6512C276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AD5803-7CDD-56F3-2CE0-A8D7E304CB2F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Real data: standardize model predictions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CBBAA8-F525-29BE-BC81-2CFA7A446AE5}"/>
              </a:ext>
            </a:extLst>
          </p:cNvPr>
          <p:cNvSpPr>
            <a:spLocks noGrp="1"/>
          </p:cNvSpPr>
          <p:nvPr/>
        </p:nvSpPr>
        <p:spPr>
          <a:xfrm>
            <a:off x="381000" y="1028700"/>
            <a:ext cx="8382000" cy="3133725"/>
          </a:xfrm>
          <a:prstGeom prst="roundRect">
            <a:avLst>
              <a:gd name="adj" fmla="val 5471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12583A-6ACE-49E2-B5FD-EAD822B56B9A}"/>
              </a:ext>
            </a:extLst>
          </p:cNvPr>
          <p:cNvSpPr>
            <a:spLocks noGrp="1"/>
          </p:cNvSpPr>
          <p:nvPr/>
        </p:nvSpPr>
        <p:spPr>
          <a:xfrm>
            <a:off x="600075" y="1219200"/>
            <a:ext cx="7943850" cy="2790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library(MatchIt)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data("lalonde", package = "MatchIt")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d &lt;- lalonde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fit &lt;- lm(re78 ~ treat + age + educ + race + married +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nodegree + re74 + re75, data = d)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y1 &lt;- predict(fit, transform(d, treat = 1))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y0 &lt;- predict(fit, transform(d, treat = 0))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mean(y1 - y0)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coef(fit)["treat"]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55EF29-B485-7088-429C-7FADE0C56F24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These coincide for this additive linear model without treatment interactions.</a:t>
            </a:r>
          </a:p>
        </p:txBody>
      </p:sp>
    </p:spTree>
    <p:extLst>
      <p:ext uri="{BB962C8B-B14F-4D97-AF65-F5344CB8AC3E}">
        <p14:creationId xmlns:p14="http://schemas.microsoft.com/office/powerpoint/2010/main" val="1479338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D3A72-ACAE-D1E1-FBF6-E36514EF2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967881-E11B-0742-3CD3-7C9C1ACA05F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Real data: what adjustment establishes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6EA002-C2AC-14F3-FA6E-460F18287201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4AAE6A-D4FC-28D9-0CDA-7C39F5B24A98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Earlier analysis changed a negative crude contrast to a positive adjusted estimate.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D743BF3-31BD-730E-92F3-CAC742586117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F41E8-EBB6-D5D7-073F-C9B9FD81BB02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Interpretation still depends on no unmeasured confounding given baseline X.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258C723-96FD-A91D-B927-995DF0B3B3E3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676ED2-C8F4-8E90-80D0-D470C9EACF23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Poor overlap can make predictions rely heavily on extrapolation.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B11D7D4-F4CD-3098-D6C3-3B326129350A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765FFC-DBE1-FC7C-C25A-9B71CAD633A4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Model estimates and causal credibility must be assessed separately.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1E1B41-DE8A-12AC-B2A0-62170EC89FAC}"/>
              </a:ext>
            </a:extLst>
          </p:cNvPr>
          <p:cNvSpPr>
            <a:spLocks noGrp="1"/>
          </p:cNvSpPr>
          <p:nvPr/>
        </p:nvSpPr>
        <p:spPr>
          <a:xfrm>
            <a:off x="285750" y="4400550"/>
            <a:ext cx="8686800" cy="59941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The observed data contain one treatment outcome per person, even after fitting a model.</a:t>
            </a:r>
          </a:p>
        </p:txBody>
      </p:sp>
    </p:spTree>
    <p:extLst>
      <p:ext uri="{BB962C8B-B14F-4D97-AF65-F5344CB8AC3E}">
        <p14:creationId xmlns:p14="http://schemas.microsoft.com/office/powerpoint/2010/main" val="1751509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4A9C5-E9A8-CF9D-F4C6-D96F24DBB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487929-A8F1-06BF-A005-DADF2B66BFE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Recap questions and the next step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659EF1-8BB7-0D8E-EBDD-F76E8DCB745B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8560B3-0274-82AA-5377-854907A60E61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Why did the simulated crude estimate have the wrong sign?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7B4F705-0766-82AE-8971-C8E325A9CCDB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24027D-30A6-AC8F-401D-F6E8E078E0B5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When does a treatment coefficient equal the g-computation ATE?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3AE1F46-DBD2-0980-3A44-54F955C96063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660C98-B817-72D8-73B5-E16FC1AC0493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Why can treatment received be confounded in a randomized trial?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F5C5CB6-9267-7D17-4682-6314025F74E0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FB0558-9F51-2C6C-5046-5FE3387CCF5B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What checks would make the job-training comparison more credible?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2AE244-F183-7B33-1E64-3DCA4959ED89}"/>
              </a:ext>
            </a:extLst>
          </p:cNvPr>
          <p:cNvSpPr>
            <a:spLocks noGrp="1"/>
          </p:cNvSpPr>
          <p:nvPr/>
        </p:nvSpPr>
        <p:spPr>
          <a:xfrm>
            <a:off x="285750" y="4344055"/>
            <a:ext cx="8686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Next: matching and weighting to create a more comparable observational analysis.</a:t>
            </a:r>
          </a:p>
        </p:txBody>
      </p:sp>
    </p:spTree>
    <p:extLst>
      <p:ext uri="{BB962C8B-B14F-4D97-AF65-F5344CB8AC3E}">
        <p14:creationId xmlns:p14="http://schemas.microsoft.com/office/powerpoint/2010/main" val="2390677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857513-AF08-45E6-AB6F-6EE7182A6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948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1B366-6E49-AFB6-11B0-8A23E5262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D55FDB-32BB-BD07-D465-49353FB03B3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Propensity scores: the job-training question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6A08EA2-BA82-4763-6AC7-051B11B992A4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64A14C-54BD-B5AB-E719-28C253158352}"/>
              </a:ext>
            </a:extLst>
          </p:cNvPr>
          <p:cNvSpPr>
            <a:spLocks noGrp="1"/>
          </p:cNvSpPr>
          <p:nvPr/>
        </p:nvSpPr>
        <p:spPr>
          <a:xfrm>
            <a:off x="457200" y="1438274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Does job training increase earnings in 1978?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BCB764-C2BE-B217-F70A-C0503D040663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4A48696-15F1-8B21-0D86-856A792CB18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57775" y="1438275"/>
                <a:ext cx="3538874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𝑇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1 </m:t>
                    </m:r>
                  </m:oMath>
                </a14:m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indicates training.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𝑇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0</m:t>
                    </m:r>
                  </m:oMath>
                </a14:m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indicates the comparison group.</a:t>
                </a:r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4A48696-15F1-8B21-0D86-856A792CB1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775" y="1438275"/>
                <a:ext cx="3538874" cy="962025"/>
              </a:xfrm>
              <a:prstGeom prst="rect">
                <a:avLst/>
              </a:prstGeom>
              <a:blipFill>
                <a:blip r:embed="rId2"/>
                <a:stretch>
                  <a:fillRect l="-4138" t="-822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916E39F-3492-0388-319D-B8F7DAAF4305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9C9975-1064-1CA3-ED4A-AA29B2E0B432}"/>
              </a:ext>
            </a:extLst>
          </p:cNvPr>
          <p:cNvSpPr>
            <a:spLocks noGrp="1"/>
          </p:cNvSpPr>
          <p:nvPr/>
        </p:nvSpPr>
        <p:spPr>
          <a:xfrm>
            <a:off x="485775" y="29051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Baseline X includes demographics and earlier earnings.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EC80E94-B235-82EB-EF89-18EEA92A5E92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E528F7-F6CE-7590-5088-88A0C211761F}"/>
              </a:ext>
            </a:extLst>
          </p:cNvPr>
          <p:cNvSpPr>
            <a:spLocks noGrp="1"/>
          </p:cNvSpPr>
          <p:nvPr/>
        </p:nvSpPr>
        <p:spPr>
          <a:xfrm>
            <a:off x="5057775" y="2905124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Our example uses the 614-person LaLonde dataset throughout.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4D21F2-E239-FF72-C065-A33367CA8DC5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We need comparable people to stand in for missing counterfactual outcomes.</a:t>
            </a:r>
          </a:p>
        </p:txBody>
      </p:sp>
    </p:spTree>
    <p:extLst>
      <p:ext uri="{BB962C8B-B14F-4D97-AF65-F5344CB8AC3E}">
        <p14:creationId xmlns:p14="http://schemas.microsoft.com/office/powerpoint/2010/main" val="29299537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61077-461B-6A3C-18D3-2EB7E6048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063123-F8AF-F71C-70F8-40A07DB015B5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Why the observed comparison is difficult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228433-4F3B-7086-B857-3A29B5AD206F}"/>
              </a:ext>
            </a:extLst>
          </p:cNvPr>
          <p:cNvGraphicFramePr/>
          <p:nvPr/>
        </p:nvGraphicFramePr>
        <p:xfrm>
          <a:off x="457200" y="1219200"/>
          <a:ext cx="8229600" cy="2514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Baseline feature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Married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18.9%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51.3%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Black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84.3%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20.3%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1974 earnings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$2,096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$5,619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563479C-A9C7-FBF9-5812-502235BE72B6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The groups differ before training begins.</a:t>
            </a:r>
          </a:p>
        </p:txBody>
      </p:sp>
    </p:spTree>
    <p:extLst>
      <p:ext uri="{BB962C8B-B14F-4D97-AF65-F5344CB8AC3E}">
        <p14:creationId xmlns:p14="http://schemas.microsoft.com/office/powerpoint/2010/main" val="20993460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0E14A-F9DB-3319-EFCC-D8FC484B8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25228-2EF7-B093-11ED-34210715DAF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The high-dimensional comparison problem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0CF2C5-73B7-936F-81FE-0F641733860A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FC9653-0B2D-F9F1-54AE-0B030ACD8C25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We want to compare people with similar age, education, and other baseline variables.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CA3AC84-2DBC-E723-6508-631B6C4ED07B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9EA8D0-4AD3-BD39-216D-44886CCCACCA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Exact agreement on every covariate becomes difficult as X grows.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3BE7FB1-5EB3-C652-5A24-82A0DABB23EA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5D2443-25BA-1D5D-95A6-F212626B38C8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Earlier earnings are continuous, so exact matches may be rare.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7DC4980-1CE7-1522-2AE9-8C6401CD694C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EAC261-C2F1-F596-3381-B1C34C80BF9D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A scalar treatment-assignment summary can help organize comparisons.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C8A005-A485-DD77-14D3-1546A488C209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The propensity score summarizes assignment using the chosen covariates.</a:t>
            </a:r>
          </a:p>
        </p:txBody>
      </p:sp>
    </p:spTree>
    <p:extLst>
      <p:ext uri="{BB962C8B-B14F-4D97-AF65-F5344CB8AC3E}">
        <p14:creationId xmlns:p14="http://schemas.microsoft.com/office/powerpoint/2010/main" val="1542708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CDC21-F1B0-FF85-C14E-82D3A531C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9127D9-24BD-696C-26BE-1F6B92F9BA05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Definition of the propensity 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1C53B10-2828-A275-D3B2-A68E2377C75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62029" y="1173051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𝑒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𝑥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 =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𝑃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𝑇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1 |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𝑋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𝑥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).</m:t>
                      </m:r>
                    </m:oMath>
                  </m:oMathPara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1C53B10-2828-A275-D3B2-A68E2377C7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29" y="1173051"/>
                <a:ext cx="8001000" cy="6286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5E082874-6C96-B338-43B8-DD77A6B7A6B6}"/>
              </a:ext>
            </a:extLst>
          </p:cNvPr>
          <p:cNvSpPr>
            <a:spLocks noGrp="1"/>
          </p:cNvSpPr>
          <p:nvPr/>
        </p:nvSpPr>
        <p:spPr>
          <a:xfrm>
            <a:off x="462029" y="1801701"/>
            <a:ext cx="8001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It is the probability of receiving training given baseline characteristics.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44302-C156-754D-7BCA-A4F8B67E51DA}"/>
              </a:ext>
            </a:extLst>
          </p:cNvPr>
          <p:cNvSpPr>
            <a:spLocks noGrp="1"/>
          </p:cNvSpPr>
          <p:nvPr/>
        </p:nvSpPr>
        <p:spPr>
          <a:xfrm>
            <a:off x="462029" y="2535126"/>
            <a:ext cx="8001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Every participant has a score, whether treated or untreated.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585878-4FCA-4C5B-5138-432EFF4ABB97}"/>
              </a:ext>
            </a:extLst>
          </p:cNvPr>
          <p:cNvSpPr>
            <a:spLocks noGrp="1"/>
          </p:cNvSpPr>
          <p:nvPr/>
        </p:nvSpPr>
        <p:spPr>
          <a:xfrm>
            <a:off x="462029" y="3268551"/>
            <a:ext cx="8001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For a given x, the score concerns people sharing that baseline profile.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6CE787-633D-8277-72FC-E187612895A7}"/>
              </a:ext>
            </a:extLst>
          </p:cNvPr>
          <p:cNvSpPr>
            <a:spLocks noGrp="1"/>
          </p:cNvSpPr>
          <p:nvPr/>
        </p:nvSpPr>
        <p:spPr>
          <a:xfrm>
            <a:off x="347729" y="4278201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The observed treatment is 0 or 1. Its probability can lie between them.</a:t>
            </a:r>
          </a:p>
        </p:txBody>
      </p:sp>
    </p:spTree>
    <p:extLst>
      <p:ext uri="{BB962C8B-B14F-4D97-AF65-F5344CB8AC3E}">
        <p14:creationId xmlns:p14="http://schemas.microsoft.com/office/powerpoint/2010/main" val="257924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645BC-5B10-30E8-4994-E05866CE4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3ECCA3-FD59-473A-3BC0-068E001BB41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Interpreting a score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661FDE-0A9F-F0C7-CAA3-665137A9154A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60246F8-ED0B-B581-B32A-1451834CD73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A participant’s estimated score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𝑒</m:t>
                        </m:r>
                      </m:e>
                    </m:acc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 = 0.65</m:t>
                    </m:r>
                  </m:oMath>
                </a14:m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.</a:t>
                </a:r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60246F8-ED0B-B581-B32A-1451834CD7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blipFill>
                <a:blip r:embed="rId2"/>
                <a:stretch>
                  <a:fillRect l="-4068" t="-82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E05B38-F138-57A7-6250-07225FCF09E0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AEFBEC-A57E-67DB-A788-A47CBB093974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The fitted model predicts about a 65% training probability for that profile.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3D896FD-C8E8-C018-F893-0AB8A1A56193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D913E0-713A-30F0-AF43-235000686925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The participant can still appear in either treatment arm.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4781282-FFC2-D214-263A-597642FC2F00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4526B4-9AB6-9F0F-0A42-3FA8226668CC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The score does not describe the probability of high earnings or treatment benefit.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0B5376-B855-73AB-51C0-AFE3DFFCE91E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A probability of treatment and a causal effect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3889359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53E98-D7D3-ABDE-F0DF-B40BB7B9B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BA97EF-1F3C-F150-DF6E-051D7B97232A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The score depends on the study sample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FC9F9EA-7167-999C-9157-10E6928A1B00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751231-1AF4-16F5-B5AD-1C5D3087F09B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The combined sample has 185 treated and 429 comparison participants.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8EBF0E-C376-BEBD-586C-19AF8CF0718F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0FBC34-5347-D610-307B-CADBCCDC58F4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The estimated assignment model describes treatment membership in these study data.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25E34D8-05CD-3038-1ADB-0217354C74F8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819748-D3C5-6AF7-C2EB-9777071E756C}"/>
              </a:ext>
            </a:extLst>
          </p:cNvPr>
          <p:cNvSpPr>
            <a:spLocks noGrp="1"/>
          </p:cNvSpPr>
          <p:nvPr/>
        </p:nvSpPr>
        <p:spPr>
          <a:xfrm>
            <a:off x="485775" y="29337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Changing comparison sampling can change the fitted scores.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3050765-7D0C-E87A-6CD2-9F82098095EF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EE88B7-87A3-CD44-F090-75963CC46548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It does not automatically describe participation probabilities in the whole population.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96B782F-2D0B-C177-6F35-709868B4C872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Specify the study population when interpreting a score.</a:t>
            </a:r>
          </a:p>
        </p:txBody>
      </p:sp>
    </p:spTree>
    <p:extLst>
      <p:ext uri="{BB962C8B-B14F-4D97-AF65-F5344CB8AC3E}">
        <p14:creationId xmlns:p14="http://schemas.microsoft.com/office/powerpoint/2010/main" val="3071323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75AA1-F077-4829-92D1-9A6E63871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FE054F-2854-4058-0E78-4D71353753E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Which variables belong in the model?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F69FD3-3A21-8FDE-A085-68637DF5DB59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BBAC96-1769-A55F-3F97-E0424868D4F1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Use baseline covariates justified by the causal question and adjustment graph.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5C7F064-46C5-CE78-5F77-878780EA36BB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DF3E5D-32FB-C7D5-ABD2-2D5670B37382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Include measured common causes of training participation and earnings.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7A320AD-1AA6-3F7B-6339-BA9D8A64C517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5BAACA-E0DB-46ED-EEF9-484AFED0C9FD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Earlier earnings and demographic circumstances motivate the current specification.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B570585-0AC4-41A7-F219-84CFE51CFCE8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C9752A-2BA4-857A-402F-FFEBAAF47B33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Avoid using 1978 earnings, which is the outcome, to predict assignment.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73DE97-F311-A312-489C-5BB3974CA274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A variable</a:t>
            </a:r>
            <a:r>
              <a:rPr lang="en-US"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'</a:t>
            </a: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s causal role matters more than its statistical significance.</a:t>
            </a:r>
          </a:p>
        </p:txBody>
      </p:sp>
    </p:spTree>
    <p:extLst>
      <p:ext uri="{BB962C8B-B14F-4D97-AF65-F5344CB8AC3E}">
        <p14:creationId xmlns:p14="http://schemas.microsoft.com/office/powerpoint/2010/main" val="4265694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B1750-88C1-70F4-2AC3-61F4B8637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8E206-DEC9-6424-C708-86E955B1D55F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A logistic treatment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4777726-818E-F22E-1BED-401DA0C6DA9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13546" y="1368582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log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⁡</m:t>
                      </m:r>
                      <m:f>
                        <m:fPr>
                          <m:ctrlP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fPr>
                        <m:num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𝑒</m:t>
                          </m:r>
                          <m:d>
                            <m:dPr>
                              <m:ctrlP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𝑋</m:t>
                              </m:r>
                            </m:e>
                          </m:d>
                        </m:num>
                        <m:den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1 − </m:t>
                          </m:r>
                          <m:r>
                            <a:rPr lang="en-US" sz="195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𝑒</m:t>
                          </m:r>
                          <m:d>
                            <m:dPr>
                              <m:ctrlP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sz="195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=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𝛽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₀ +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𝛽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ᵀ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𝑋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.</m:t>
                      </m:r>
                    </m:oMath>
                  </m:oMathPara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4777726-818E-F22E-1BED-401DA0C6DA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46" y="1368582"/>
                <a:ext cx="8001000" cy="6286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3C9E0FD3-D27F-D921-C0EF-D0C209CCB6F0}"/>
              </a:ext>
            </a:extLst>
          </p:cNvPr>
          <p:cNvSpPr>
            <a:spLocks noGrp="1"/>
          </p:cNvSpPr>
          <p:nvPr/>
        </p:nvSpPr>
        <p:spPr>
          <a:xfrm>
            <a:off x="396852" y="2224322"/>
            <a:ext cx="8572500" cy="72940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The model uses baseline covariates to predict binary treatment membership.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BA7A894-0F2D-D9C1-A87A-511C45914D3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13546" y="2796828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𝑒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 = </m:t>
                    </m:r>
                    <m:r>
                      <m:rPr>
                        <m:sty m:val="p"/>
                      </m:rP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exp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⁡(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𝜂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)/{1 + </m:t>
                    </m:r>
                    <m:r>
                      <m:rPr>
                        <m:sty m:val="p"/>
                      </m:rP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exp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⁡(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𝜂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)}, </m:t>
                    </m:r>
                  </m:oMath>
                </a14:m>
                <a:r>
                  <a:rPr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𝜂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𝛽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₀ + 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𝛽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ᵀ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.</m:t>
                    </m:r>
                  </m:oMath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BA7A894-0F2D-D9C1-A87A-511C45914D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46" y="2796828"/>
                <a:ext cx="8001000" cy="628650"/>
              </a:xfrm>
              <a:prstGeom prst="rect">
                <a:avLst/>
              </a:prstGeom>
              <a:blipFill>
                <a:blip r:embed="rId3"/>
                <a:stretch>
                  <a:fillRect l="-762" t="-1165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C3918769-E074-3B17-C918-FB76CD40E3F9}"/>
              </a:ext>
            </a:extLst>
          </p:cNvPr>
          <p:cNvSpPr>
            <a:spLocks noGrp="1"/>
          </p:cNvSpPr>
          <p:nvPr/>
        </p:nvSpPr>
        <p:spPr>
          <a:xfrm>
            <a:off x="571500" y="3460593"/>
            <a:ext cx="8001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The logistic transform keeps predicted probabilities between 0 and 1.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BF3A70-C8BC-DA8F-7455-7954E6BA3A7A}"/>
              </a:ext>
            </a:extLst>
          </p:cNvPr>
          <p:cNvSpPr>
            <a:spLocks noGrp="1"/>
          </p:cNvSpPr>
          <p:nvPr/>
        </p:nvSpPr>
        <p:spPr>
          <a:xfrm>
            <a:off x="457200" y="4316837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This regression models treatment assignment, not the outcome.</a:t>
            </a:r>
          </a:p>
        </p:txBody>
      </p:sp>
    </p:spTree>
    <p:extLst>
      <p:ext uri="{BB962C8B-B14F-4D97-AF65-F5344CB8AC3E}">
        <p14:creationId xmlns:p14="http://schemas.microsoft.com/office/powerpoint/2010/main" val="2455748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898B8-C867-DEEA-0EED-51CA5B4F8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0C1729-C6F2-4161-EADF-58352CDD960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R: estimate scores in the real dataset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35790B-E4E8-5F6E-B539-5E1791C5580D}"/>
              </a:ext>
            </a:extLst>
          </p:cNvPr>
          <p:cNvSpPr>
            <a:spLocks noGrp="1"/>
          </p:cNvSpPr>
          <p:nvPr/>
        </p:nvSpPr>
        <p:spPr>
          <a:xfrm>
            <a:off x="381000" y="1028700"/>
            <a:ext cx="8382000" cy="3133725"/>
          </a:xfrm>
          <a:prstGeom prst="roundRect">
            <a:avLst>
              <a:gd name="adj" fmla="val 5471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D2F8F2-7D0C-6CE2-5E08-5CBECB009496}"/>
              </a:ext>
            </a:extLst>
          </p:cNvPr>
          <p:cNvSpPr>
            <a:spLocks noGrp="1"/>
          </p:cNvSpPr>
          <p:nvPr/>
        </p:nvSpPr>
        <p:spPr>
          <a:xfrm>
            <a:off x="600075" y="1219200"/>
            <a:ext cx="7943850" cy="2790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library(MatchIt)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data("lalonde", package = "MatchIt")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d &lt;- lalonde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ps_fit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&lt;- glm(treat ~ age + educ + race + married +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 nodegree + re74 + re75,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 family = binomial(), data = d)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d$ps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&lt;- predict(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ps_fit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, type = "response")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head(d[c("treat", "age", "educ", "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ps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")])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0E3332-1DF7-D361-7E60-535AEC7C8F6B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type = "response" returns probabilities, not log odds.</a:t>
            </a:r>
          </a:p>
        </p:txBody>
      </p:sp>
    </p:spTree>
    <p:extLst>
      <p:ext uri="{BB962C8B-B14F-4D97-AF65-F5344CB8AC3E}">
        <p14:creationId xmlns:p14="http://schemas.microsoft.com/office/powerpoint/2010/main" val="41701860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C2464-E6F5-80CA-FB27-C72D24806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F898C4-3430-530B-77DE-4D16E5803F3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Fitted scores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5BE9374-7E07-9DF5-778B-FC3A691A77FB}"/>
              </a:ext>
            </a:extLst>
          </p:cNvPr>
          <p:cNvGraphicFramePr/>
          <p:nvPr/>
        </p:nvGraphicFramePr>
        <p:xfrm>
          <a:off x="457200" y="1219200"/>
          <a:ext cx="8229600" cy="276225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Participant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 dirty="0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Age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Education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ê(X)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NSW1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0.639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NSW11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0.689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PSID1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0.026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PSID16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42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 dirty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0.056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0ABD4D55-4EC8-1A62-6746-90275517102C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All listed scores also use race, marriage, degree status, and earlier earnings.</a:t>
            </a:r>
          </a:p>
        </p:txBody>
      </p:sp>
    </p:spTree>
    <p:extLst>
      <p:ext uri="{BB962C8B-B14F-4D97-AF65-F5344CB8AC3E}">
        <p14:creationId xmlns:p14="http://schemas.microsoft.com/office/powerpoint/2010/main" val="33322007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E296A-C55B-B705-9E05-CB3254230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13D7CA-10DC-A1C8-CD3D-CDEF5E5FF2E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Scores differ across observed groups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5AD9FD-1DFF-36D6-D4EA-B4F59D5120CF}"/>
              </a:ext>
            </a:extLst>
          </p:cNvPr>
          <p:cNvGraphicFramePr/>
          <p:nvPr/>
        </p:nvGraphicFramePr>
        <p:xfrm>
          <a:off x="457200" y="1219200"/>
          <a:ext cx="8229600" cy="188595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Group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Mean score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Median score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Observed score range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185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0.577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0.654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0.025–0.853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425" b="0" dirty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 dirty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429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0.182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0.076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 dirty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0.009–0.789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FC3C9A3-96DC-4CE9-F76D-93DB5B832ECE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Estimating a propensity score does not itself change either group.</a:t>
            </a:r>
          </a:p>
        </p:txBody>
      </p:sp>
    </p:spTree>
    <p:extLst>
      <p:ext uri="{BB962C8B-B14F-4D97-AF65-F5344CB8AC3E}">
        <p14:creationId xmlns:p14="http://schemas.microsoft.com/office/powerpoint/2010/main" val="33564901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9E5A5-0F14-32F4-D2D1-13029302C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76C6C2-4C0B-587A-E767-1747BF6E94CF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Overlap in the LaLonde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3D345-53B5-BD27-988C-1B57D046E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322" y="763424"/>
            <a:ext cx="6076373" cy="430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735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C6D53-8534-0350-BB25-9A9BBBBAC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25430C-2D7D-064C-D871-E2287BC437CE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Positivity and empirical overlap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28388E-27AD-3D20-A8DA-79712C542151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99ED386-4CC1-4A27-7FA6-A38E579E646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41705" y="1378524"/>
                <a:ext cx="4000499" cy="105244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Population positivity: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0 &lt; 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𝑒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 &lt; 1 </m:t>
                    </m:r>
                  </m:oMath>
                </a14:m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</a:t>
                </a: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for relevant profiles.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99ED386-4CC1-4A27-7FA6-A38E579E64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05" y="1378524"/>
                <a:ext cx="4000499" cy="1052446"/>
              </a:xfrm>
              <a:prstGeom prst="rect">
                <a:avLst/>
              </a:prstGeom>
              <a:blipFill>
                <a:blip r:embed="rId2"/>
                <a:stretch>
                  <a:fillRect l="-3501" t="-751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E933EE-6389-B607-3DD2-8C089D2A6302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AA67D4-2AC3-D3E3-29D9-96E3E0512634}"/>
              </a:ext>
            </a:extLst>
          </p:cNvPr>
          <p:cNvSpPr>
            <a:spLocks noGrp="1"/>
          </p:cNvSpPr>
          <p:nvPr/>
        </p:nvSpPr>
        <p:spPr>
          <a:xfrm>
            <a:off x="5130420" y="1300565"/>
            <a:ext cx="345516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Empirical overlap: the sample contains comparable units from both arms.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84880B1-B335-47A8-8777-BF80170957CB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E12F441-A980-9749-DA28-207FE3A0B4D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73890" y="2936249"/>
                <a:ext cx="391236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A logistic model can return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𝑒</m:t>
                        </m:r>
                      </m:e>
                    </m:acc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= 0.10 </m:t>
                    </m:r>
                  </m:oMath>
                </a14:m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even for a sparsely supported profile.</a:t>
                </a:r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E12F441-A980-9749-DA28-207FE3A0B4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90" y="2936249"/>
                <a:ext cx="3912360" cy="962025"/>
              </a:xfrm>
              <a:prstGeom prst="rect">
                <a:avLst/>
              </a:prstGeom>
              <a:blipFill>
                <a:blip r:embed="rId3"/>
                <a:stretch>
                  <a:fillRect l="-3583" t="-8280" r="-15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49C9F73-8298-B859-B70F-7705B12B742B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DEBB26-C35F-C173-9C6A-97F7B18441A8}"/>
              </a:ext>
            </a:extLst>
          </p:cNvPr>
          <p:cNvSpPr>
            <a:spLocks noGrp="1"/>
          </p:cNvSpPr>
          <p:nvPr/>
        </p:nvSpPr>
        <p:spPr>
          <a:xfrm>
            <a:off x="4945890" y="2936249"/>
            <a:ext cx="3712335" cy="96980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Finite scores between 0 and 1 do not establish adequate data support.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CE63DD-ED65-4E54-3AB3-1D17530A8C96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A fitted probability cannot create missing counterfactual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14231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AEEB6-A8BC-F524-DF53-3AE9F6EBB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E850BE-3A1E-4DF5-E22E-8DE5EC443903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The propensity score’s balancing property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9D664C-F375-7319-ED84-777374B81F88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C00126C-884B-C213-2625-97DDB652C13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For the true propensity score:</a:t>
                </a:r>
                <a:endParaRPr lang="en-US"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</a:t>
                </a:r>
                <a:endParaRPr lang="en-US"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𝑇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⟂ 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𝑋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| 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𝑒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𝑋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).</m:t>
                      </m:r>
                    </m:oMath>
                  </m:oMathPara>
                </a14:m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C00126C-884B-C213-2625-97DDB652C1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blipFill>
                <a:blip r:embed="rId2"/>
                <a:stretch>
                  <a:fillRect l="-4068" t="-82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19CD803-11EC-0876-4618-DEE8B02EABBB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BF3BD0-F5DB-A52A-2FBB-9DE31C0C7409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Within a score stratum, treatment assignment does not further select the distribution of X.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16FA3E9-AEDD-9E83-1C95-6DB2D99FD3A8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7C75B0-FB50-D057-4D7D-7E102E0E470C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This is a population statement, not exact equality between individual profiles.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BE9E67C-BAEB-305F-C033-A25CFABC5761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F54ECE-CA54-38E7-B700-AF51DA73C83F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Estimated scores and finite samples require diagnostic checks.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FDAFEC7-ED27-9CD4-6502-5F35770399E8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Comparable score strata can organize a fairer comparison.</a:t>
            </a:r>
          </a:p>
        </p:txBody>
      </p:sp>
    </p:spTree>
    <p:extLst>
      <p:ext uri="{BB962C8B-B14F-4D97-AF65-F5344CB8AC3E}">
        <p14:creationId xmlns:p14="http://schemas.microsoft.com/office/powerpoint/2010/main" val="30592870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0C746-9A60-D5CB-BFE8-6C66464EB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476763-E036-F27B-4B16-A24C55F3565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Why the balancing property holds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97A9E5E-6CC3-244D-5BCD-3C532B326E3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68469" y="1113352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Once </a:t>
                </a:r>
                <a14:m>
                  <m:oMath xmlns:m="http://schemas.openxmlformats.org/officeDocument/2006/math"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𝑒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 = </m:t>
                    </m:r>
                    <m:r>
                      <a:rPr lang="en-US" sz="195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𝑠</m:t>
                    </m:r>
                  </m:oMath>
                </a14:m>
                <a:r>
                  <a:rPr sz="195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, every profile in that stratum has treatment probability s.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97A9E5E-6CC3-244D-5BCD-3C532B326E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69" y="1113352"/>
                <a:ext cx="8001000" cy="628650"/>
              </a:xfrm>
              <a:prstGeom prst="rect">
                <a:avLst/>
              </a:prstGeom>
              <a:blipFill>
                <a:blip r:embed="rId2"/>
                <a:stretch>
                  <a:fillRect l="-1905" t="-11650" r="-38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1929FCC-049A-296A-7734-F3E45493957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68469" y="1846777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𝑃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𝑇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1 |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𝑋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,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𝑒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𝑋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 =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 =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.</m:t>
                      </m:r>
                    </m:oMath>
                  </m:oMathPara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1929FCC-049A-296A-7734-F3E454939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69" y="1846777"/>
                <a:ext cx="8001000" cy="6286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8000E80-EB72-1FEB-19B5-4EE6A731240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68469" y="2580202"/>
                <a:ext cx="8001000" cy="6286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𝑃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𝑇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1 |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𝑒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𝑋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 =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 =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𝑠</m:t>
                      </m:r>
                      <m:r>
                        <a:rPr lang="en-US" sz="195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.</m:t>
                      </m:r>
                    </m:oMath>
                  </m:oMathPara>
                </a14:m>
                <a:endParaRPr sz="195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8000E80-EB72-1FEB-19B5-4EE6A73124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69" y="2580202"/>
                <a:ext cx="8001000" cy="628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D88D2E24-BA54-ED02-26E1-1304BD90039E}"/>
              </a:ext>
            </a:extLst>
          </p:cNvPr>
          <p:cNvSpPr>
            <a:spLocks noGrp="1"/>
          </p:cNvSpPr>
          <p:nvPr/>
        </p:nvSpPr>
        <p:spPr>
          <a:xfrm>
            <a:off x="468469" y="3446977"/>
            <a:ext cx="846303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Knowing X within the stratum supplies no further assignment information.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93A5EB0-89A1-A600-DACB-04566822975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54169" y="4323277"/>
                <a:ext cx="8229600" cy="4953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ctr">
                  <a:defRPr sz="1725" b="1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ctr">
                  <a:defRPr sz="1725" b="1">
                    <a:solidFill>
                      <a:srgbClr val="F5B62D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2400" b="1" dirty="0">
                    <a:solidFill>
                      <a:srgbClr val="F5B62D"/>
                    </a:solidFill>
                    <a:ea typeface="Arial"/>
                    <a:cs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𝑻</m:t>
                    </m:r>
                    <m:r>
                      <a:rPr lang="en-US" sz="24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⟂ </m:t>
                    </m:r>
                    <m:r>
                      <a:rPr lang="en-US" sz="24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𝑿</m:t>
                    </m:r>
                    <m:r>
                      <a:rPr lang="en-US" sz="24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| </m:t>
                    </m:r>
                    <m:r>
                      <a:rPr lang="en-US" sz="24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𝒆</m:t>
                    </m:r>
                    <m:r>
                      <a:rPr lang="en-US" sz="24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𝑿</m:t>
                    </m:r>
                    <m:r>
                      <a:rPr lang="en-US" sz="2400" b="1" i="1" dirty="0" smtClean="0">
                        <a:solidFill>
                          <a:srgbClr val="F5B62D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).</m:t>
                    </m:r>
                  </m:oMath>
                </a14:m>
                <a:endParaRPr sz="2400" b="1" dirty="0">
                  <a:solidFill>
                    <a:srgbClr val="F5B62D"/>
                  </a:solidFill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93A5EB0-89A1-A600-DACB-0456682297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169" y="4323277"/>
                <a:ext cx="8229600" cy="495300"/>
              </a:xfrm>
              <a:prstGeom prst="rect">
                <a:avLst/>
              </a:prstGeom>
              <a:blipFill>
                <a:blip r:embed="rId5"/>
                <a:stretch>
                  <a:fillRect t="-17284" b="-135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213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7FB63-F9B2-C504-FA67-7E0EB3E0A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815B28-99D7-5A87-96AF-337B0D68182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From balance to causal identification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A55DD20-9152-2A80-8826-29BBB12DBD1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7322" y="1106912"/>
                <a:ext cx="8247764" cy="71377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20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Assume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{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𝑌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(1), 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𝑌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(0)} ⟂ 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𝑇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| 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</m:oMath>
                </a14:m>
                <a:r>
                  <a:rPr sz="20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A55DD20-9152-2A80-8826-29BBB12DBD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22" y="1106912"/>
                <a:ext cx="8247764" cy="713772"/>
              </a:xfrm>
              <a:prstGeom prst="rect">
                <a:avLst/>
              </a:prstGeom>
              <a:blipFill>
                <a:blip r:embed="rId2"/>
                <a:stretch>
                  <a:fillRect l="-1848" t="-1025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86C5CA87-4B37-602C-0812-22AA54501539}"/>
              </a:ext>
            </a:extLst>
          </p:cNvPr>
          <p:cNvSpPr>
            <a:spLocks noGrp="1"/>
          </p:cNvSpPr>
          <p:nvPr/>
        </p:nvSpPr>
        <p:spPr>
          <a:xfrm>
            <a:off x="507322" y="1840337"/>
            <a:ext cx="8247764" cy="7137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Together with the true balancing score, exchangeability also holds given e(X).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91D8F3A-B5F0-C63A-82D2-698DF9EF3F9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7322" y="2573762"/>
                <a:ext cx="8247764" cy="71377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95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20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𝐸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[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𝑌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𝑡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)] = 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𝐸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ₑ{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𝐸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[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𝑌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| 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𝑇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 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𝑡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, 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𝑒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(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𝑋</m:t>
                    </m:r>
                    <m:r>
                      <a:rPr lang="en-US" sz="20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)]}.</m:t>
                    </m:r>
                  </m:oMath>
                </a14:m>
                <a:endParaRPr sz="20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91D8F3A-B5F0-C63A-82D2-698DF9EF3F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22" y="2573762"/>
                <a:ext cx="8247764" cy="713772"/>
              </a:xfrm>
              <a:prstGeom prst="rect">
                <a:avLst/>
              </a:prstGeom>
              <a:blipFill>
                <a:blip r:embed="rId3"/>
                <a:stretch>
                  <a:fillRect l="-1848" t="-10256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D8B23426-8363-22DB-9663-AB5B19B7E05C}"/>
              </a:ext>
            </a:extLst>
          </p:cNvPr>
          <p:cNvSpPr>
            <a:spLocks noGrp="1"/>
          </p:cNvSpPr>
          <p:nvPr/>
        </p:nvSpPr>
        <p:spPr>
          <a:xfrm>
            <a:off x="507322" y="3307187"/>
            <a:ext cx="8247764" cy="7137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Consistency and positivity remain necessary.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8DFF69-9A7E-9ACB-9E60-10E1CF615A43}"/>
              </a:ext>
            </a:extLst>
          </p:cNvPr>
          <p:cNvSpPr>
            <a:spLocks noGrp="1"/>
          </p:cNvSpPr>
          <p:nvPr/>
        </p:nvSpPr>
        <p:spPr>
          <a:xfrm>
            <a:off x="289776" y="4207366"/>
            <a:ext cx="8689194" cy="64796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The score reduces the adjustment dimension under the causal assumptions.</a:t>
            </a:r>
          </a:p>
        </p:txBody>
      </p:sp>
    </p:spTree>
    <p:extLst>
      <p:ext uri="{BB962C8B-B14F-4D97-AF65-F5344CB8AC3E}">
        <p14:creationId xmlns:p14="http://schemas.microsoft.com/office/powerpoint/2010/main" val="41925304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9BDFA-EDFC-0EB9-8705-E1D3EA95F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D8D72D-6F90-BA1A-A695-591EF736F905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Similar scores do not mean identical people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656C646-88D4-27D4-7050-D30B1305AD32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1840AD-09C2-F85E-36D0-2E95C6FE061E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Different covariate profiles can produce similar treatment probabilities.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B20B15-9C01-F31F-17B9-2D44844B6EC9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C4F8F4-4DEE-B800-597E-CE1FB715978C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Matching on a score can leave important covariates imbalanced in a sample.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5D4BAE5-A29D-FFF1-8CE4-DD27B3CB38AD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383321-7838-774A-A9CC-F6A677DE4C7E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Assess age, prior earnings, and other adjustment covariates individually.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116D30F-C838-F3A3-FB62-2425B7F242F2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E8976E-DE61-A274-5718-2E0ADD788775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An unmeasured confounder cannot enter this score unless we measure it.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2AC011-0430-5A3D-6A5C-C7B90341A957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Score similarity is useful, but observed balance still needs checking.</a:t>
            </a:r>
          </a:p>
        </p:txBody>
      </p:sp>
    </p:spTree>
    <p:extLst>
      <p:ext uri="{BB962C8B-B14F-4D97-AF65-F5344CB8AC3E}">
        <p14:creationId xmlns:p14="http://schemas.microsoft.com/office/powerpoint/2010/main" val="38320286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9C847-F104-DCBC-CD67-0F8AE4CA8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90C9FB-2509-D641-2C2B-1DEC9F34B73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Propensity-score checkpoint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74E5C2A-BCBB-B826-AD34-AB0F3C74231A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B909956-F485-4E0F-A0B2-2A4C1132299D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What does a score of 0.65 mean for an untreated participant?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D3A8896-C0CA-FA0D-0A3F-8E55BCDD87AF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BE57600-D109-8C22-AFFF-051CB0001CA9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Why do the treated and comparison arms still have different mean scores?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679DA78-8C11-83C5-A35B-61A721F428A1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2149398-4898-DB02-8C4C-08956E561D89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Does a score strictly between 0 and 1 prove positivity?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FAEEC0B3-E82C-814C-0CA8-FFA6E2F1493E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6DED40C-C146-946A-3B7C-63A61044C3D4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What would you inspect before interpreting a matched comparison?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77268DA-DE05-911C-3858-771A8BD1F074}"/>
              </a:ext>
            </a:extLst>
          </p:cNvPr>
          <p:cNvSpPr>
            <a:spLocks noGrp="1"/>
          </p:cNvSpPr>
          <p:nvPr/>
        </p:nvSpPr>
        <p:spPr>
          <a:xfrm>
            <a:off x="169187" y="4400549"/>
            <a:ext cx="8762311" cy="5994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lang="en-US" sz="2000" b="1" dirty="0">
                <a:solidFill>
                  <a:srgbClr val="F5B62D"/>
                </a:solidFill>
              </a:rPr>
              <a:t>Estimating scores is the first step. Comparable groups require a design and balance checks.</a:t>
            </a:r>
            <a:endParaRPr sz="2000" b="1" dirty="0">
              <a:solidFill>
                <a:srgbClr val="F5B62D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89834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8735C-3A47-2D4C-D84F-20D19E34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ADBF93-870C-E825-4D45-34499C2E6AD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Matching: a comparable job-training group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F97F2D-6B1A-902E-1E7B-A9810720A782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8949F9-1D1F-99C5-9696-48449DD59643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We have estimated each person</a:t>
            </a:r>
            <a:r>
              <a:rPr lang="en-US"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'</a:t>
            </a: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s probability of receiving training.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80FE7A-347F-A1C9-7920-6FFCCE3E6A34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177BB7-95B7-0591-540E-962924EFB1E2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Now select untreated participants with similar baseline profiles.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55F56C3-D60F-95E9-77C7-4806F8295B3A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FE9BDC-6D21-1C32-7A24-D771913A18BC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Use their earnings to inform the missing no-training comparison.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752C8B-598A-3953-DD4A-FD60115E3C5B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3AEED7-B87F-ACFC-2E09-27EC324C3AF0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The scientific goal remains an effect in a clearly defined population.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7C66F7-5B7E-3845-E553-8A7BA50C3CD2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Matching uses observed comparison people to support the counterfactual contrast.</a:t>
            </a:r>
          </a:p>
        </p:txBody>
      </p:sp>
    </p:spTree>
    <p:extLst>
      <p:ext uri="{BB962C8B-B14F-4D97-AF65-F5344CB8AC3E}">
        <p14:creationId xmlns:p14="http://schemas.microsoft.com/office/powerpoint/2010/main" val="26560171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1EB90-3A2A-ED3C-9D56-3B5156900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2A8982-60C2-CB85-49BC-E0CFDD21110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Why match when we have g-computation?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0A9C601-A8B0-103E-D952-CF9E1E40A5BA}"/>
              </a:ext>
            </a:extLst>
          </p:cNvPr>
          <p:cNvGraphicFramePr/>
          <p:nvPr/>
        </p:nvGraphicFramePr>
        <p:xfrm>
          <a:off x="457200" y="1219200"/>
          <a:ext cx="8229600" cy="25146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Approach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How it constructs the comparison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G-computation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Predict both outcomes using an outcome model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Matching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Select comparable observed treatment and comparison units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Matching + regression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Model outcomes after constructing comparable groups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6CDD3D2-8D12-85A8-BBEA-91821D4257F0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Matching is an alternative adjustment strategy, not a prerequisite for g-computation.</a:t>
            </a:r>
          </a:p>
        </p:txBody>
      </p:sp>
    </p:spTree>
    <p:extLst>
      <p:ext uri="{BB962C8B-B14F-4D97-AF65-F5344CB8AC3E}">
        <p14:creationId xmlns:p14="http://schemas.microsoft.com/office/powerpoint/2010/main" val="721645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BFC57-2665-8DC4-BE2D-D5D19BA9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9F5FE3-117F-64D8-DBE1-A9FF237A787A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Benefits and costs of matching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DDCC8A-219A-8C82-ACB2-9F67EB11EAB6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A6BACF-E0D2-F8BF-7C46-C3DB6211CDFA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Closer observed comparisons can reduce reliance on outcome extrapolation.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471C73-A38C-BA29-4891-A4E2009D3545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13A5A6-00A8-83CE-C0C2-1B7054777F00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Balance diagnostics make the comparison design visible.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87C9E94-6AAB-E1E2-0804-B9C5710126ED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738E30-0B5A-F92F-27AA-935A0B6270FD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Discarding participants can reduce precision and change the target population.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2DF6246-32CE-BCED-A00B-B6BDE4355EEA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634EF8-AD8B-CAAC-6F51-1380DB3D34A8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Matching choices and residual covariate imbalance can affect estimates.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160F60-1B0C-C623-99F6-F39D558E776E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Matching trades sample retention against comparability.</a:t>
            </a:r>
          </a:p>
        </p:txBody>
      </p:sp>
    </p:spTree>
    <p:extLst>
      <p:ext uri="{BB962C8B-B14F-4D97-AF65-F5344CB8AC3E}">
        <p14:creationId xmlns:p14="http://schemas.microsoft.com/office/powerpoint/2010/main" val="17892743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36D98-DA31-6E51-D518-6BDF62C4B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F274A8-7CB0-F59E-3AED-01ED8EAB04EF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The causal target: ATT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95B403-98C4-2A06-9B7D-C51812AFDFFB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C7823B8-F5D7-CD7E-42EB-70F865D3C54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1474094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𝐴𝑇𝑇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𝐸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[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𝑌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(1) − 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𝑌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(0) | 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𝑇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= 1].</m:t>
                      </m:r>
                    </m:oMath>
                  </m:oMathPara>
                </a14:m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C7823B8-F5D7-CD7E-42EB-70F865D3C5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1474094"/>
                <a:ext cx="3600450" cy="962025"/>
              </a:xfrm>
              <a:prstGeom prst="rect">
                <a:avLst/>
              </a:prstGeom>
              <a:blipFill>
                <a:blip r:embed="rId2"/>
                <a:stretch>
                  <a:fillRect t="-63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3211015-F6D8-C31B-7276-BDB1F3A06EBD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F9BEBF-68C0-7C43-FBC6-75F0E966775B}"/>
              </a:ext>
            </a:extLst>
          </p:cNvPr>
          <p:cNvSpPr>
            <a:spLocks noGrp="1"/>
          </p:cNvSpPr>
          <p:nvPr/>
        </p:nvSpPr>
        <p:spPr>
          <a:xfrm>
            <a:off x="5057775" y="1376362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Use treated participants as the focal group.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28E9134-15C7-16F8-8F8F-818CD452101A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A0AA27-E793-F9A9-C3A3-B6B2C077656E}"/>
              </a:ext>
            </a:extLst>
          </p:cNvPr>
          <p:cNvSpPr>
            <a:spLocks noGrp="1"/>
          </p:cNvSpPr>
          <p:nvPr/>
        </p:nvSpPr>
        <p:spPr>
          <a:xfrm>
            <a:off x="485775" y="2844352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Find controls to represent their outcomes without training.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FA1096F-42AF-746E-A6CA-122804C662FC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53CAC4-FE85-1703-E59D-73D5E99C863D}"/>
              </a:ext>
            </a:extLst>
          </p:cNvPr>
          <p:cNvSpPr>
            <a:spLocks noGrp="1"/>
          </p:cNvSpPr>
          <p:nvPr/>
        </p:nvSpPr>
        <p:spPr>
          <a:xfrm>
            <a:off x="5057775" y="2828924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Dropping treated participants can change the effect being targeted.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3788F51-726A-544E-73C7-DE0C2B707845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Full ATT and the effect among retained treated participants may differ.</a:t>
            </a:r>
          </a:p>
        </p:txBody>
      </p:sp>
    </p:spTree>
    <p:extLst>
      <p:ext uri="{BB962C8B-B14F-4D97-AF65-F5344CB8AC3E}">
        <p14:creationId xmlns:p14="http://schemas.microsoft.com/office/powerpoint/2010/main" val="27892607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7371E-4925-BB6F-5CDA-8FCD7374F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C03D06-77D1-00F2-0936-66F3A9499A4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Nearest-neighbor propensity-score matching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E45FA00-2076-5F1A-2A92-482312B9D712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19D0A03-0692-7C94-EB17-F57AC09D23D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For treated participant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𝑖</m:t>
                    </m:r>
                  </m:oMath>
                </a14:m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, seek a control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𝑗</m:t>
                    </m:r>
                  </m:oMath>
                </a14:m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with a nearby score.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19D0A03-0692-7C94-EB17-F57AC09D23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blipFill>
                <a:blip r:embed="rId2"/>
                <a:stretch>
                  <a:fillRect l="-4068" t="-82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CCAE742-ED23-DE7A-9937-591C35EA9257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36F9D4F-D676-49E1-1A07-B5CA6B77888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57775" y="1295400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Distance: </a:t>
                </a:r>
                <a:endParaRPr lang="en-US" sz="1800" b="0" i="1" dirty="0">
                  <a:solidFill>
                    <a:srgbClr val="F4F1EA"/>
                  </a:solidFill>
                  <a:latin typeface="Cambria Math" panose="02040503050406030204" pitchFamily="18" charset="0"/>
                  <a:ea typeface="Arial"/>
                  <a:cs typeface="Arial"/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endParaRPr lang="en-US" sz="1800" b="0" i="1" dirty="0">
                  <a:solidFill>
                    <a:srgbClr val="F4F1EA"/>
                  </a:solidFill>
                  <a:latin typeface="Cambria Math" panose="02040503050406030204" pitchFamily="18" charset="0"/>
                  <a:ea typeface="Arial"/>
                  <a:cs typeface="Arial"/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𝑑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𝑖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,</m:t>
                      </m:r>
                      <m:r>
                        <a:rPr lang="en-US" sz="1800" b="0" i="1" dirty="0" smtClean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𝑗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 =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80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80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80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𝑒</m:t>
                              </m:r>
                            </m:e>
                          </m:acc>
                          <m:r>
                            <a:rPr lang="en-US" sz="180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800" b="0" i="1" dirty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dirty="0">
                                      <a:solidFill>
                                        <a:srgbClr val="F4F1EA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dirty="0">
                                      <a:solidFill>
                                        <a:srgbClr val="F4F1EA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800" b="0" i="1" dirty="0" smtClean="0">
                                      <a:solidFill>
                                        <a:srgbClr val="F4F1EA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b="0" i="1" dirty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ea typeface="Arial"/>
                              <a:cs typeface="Arial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sz="180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80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𝑒</m:t>
                              </m:r>
                            </m:e>
                          </m:acc>
                          <m:d>
                            <m:dPr>
                              <m:ctrlPr>
                                <a:rPr lang="en-US" sz="1800" b="0" i="1" dirty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dirty="0">
                                      <a:solidFill>
                                        <a:srgbClr val="F4F1EA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dirty="0">
                                      <a:solidFill>
                                        <a:srgbClr val="F4F1EA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800" b="0" i="1" dirty="0" smtClean="0">
                                      <a:solidFill>
                                        <a:srgbClr val="F4F1EA"/>
                                      </a:solidFill>
                                      <a:latin typeface="Cambria Math" panose="02040503050406030204" pitchFamily="18" charset="0"/>
                                      <a:ea typeface="Arial"/>
                                      <a:cs typeface="Arial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.</m:t>
                      </m:r>
                    </m:oMath>
                  </m:oMathPara>
                </a14:m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36F9D4F-D676-49E1-1A07-B5CA6B7788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775" y="1295400"/>
                <a:ext cx="3600450" cy="962025"/>
              </a:xfrm>
              <a:prstGeom prst="rect">
                <a:avLst/>
              </a:prstGeom>
              <a:blipFill>
                <a:blip r:embed="rId3"/>
                <a:stretch>
                  <a:fillRect l="-4068" t="-82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5E8DF87-196C-6B55-D795-F5DBAB2E4A41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08EE65-21BC-1C80-E126-430C94178BCA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One-to-one matching assigns one eligible control to each retained treated unit.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D2F31AE-FF10-A204-A3DD-D341EC0BFD1B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C0CD1D-F7F5-4BDD-9366-EE01405227E0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A greedy algorithm selects each match without optimizing the whole set.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EEB1EB-3015-36A8-2950-71DC4ED726CC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A nearby score is a starting point. Covariate balance determines usefulness.</a:t>
            </a:r>
          </a:p>
        </p:txBody>
      </p:sp>
    </p:spTree>
    <p:extLst>
      <p:ext uri="{BB962C8B-B14F-4D97-AF65-F5344CB8AC3E}">
        <p14:creationId xmlns:p14="http://schemas.microsoft.com/office/powerpoint/2010/main" val="18400640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E424E-3626-0C9D-84D7-F1F9096C8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1D2BDA-5E6F-A964-9E73-02C2ECD1267E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Actual pairs from the job-training data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A9227D-6BDE-0EF8-5AAE-7C65543740F6}"/>
              </a:ext>
            </a:extLst>
          </p:cNvPr>
          <p:cNvGraphicFramePr/>
          <p:nvPr/>
        </p:nvGraphicFramePr>
        <p:xfrm>
          <a:off x="457200" y="1219200"/>
          <a:ext cx="8229600" cy="2514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Treated ID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Score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Comparison ID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Score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Gap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NSW178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0.853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PSID118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0.789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0.064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NSW95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0.819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PSID226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0.779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0.041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NSW176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0.816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PSID196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0.764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0.052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89D559D-695E-82B5-FB3F-C58904E474BB}"/>
              </a:ext>
            </a:extLst>
          </p:cNvPr>
          <p:cNvSpPr>
            <a:spLocks noGrp="1"/>
          </p:cNvSpPr>
          <p:nvPr/>
        </p:nvSpPr>
        <p:spPr>
          <a:xfrm>
            <a:off x="77273" y="4400549"/>
            <a:ext cx="8983014" cy="5994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These are the first three pairs when matching treated scores from largest to smallest.</a:t>
            </a:r>
          </a:p>
        </p:txBody>
      </p:sp>
    </p:spTree>
    <p:extLst>
      <p:ext uri="{BB962C8B-B14F-4D97-AF65-F5344CB8AC3E}">
        <p14:creationId xmlns:p14="http://schemas.microsoft.com/office/powerpoint/2010/main" val="8742227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92BB6-3423-3A9C-5AD3-A9ED53EA8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A454D5-EAA8-FD52-56CE-AEE8EA1DB52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Matching order and competition for controls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70DBE4-95F9-C6B9-009F-14C14A91BD34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669F5F-71A9-799D-534A-9CF63CE33521}"/>
              </a:ext>
            </a:extLst>
          </p:cNvPr>
          <p:cNvSpPr>
            <a:spLocks noGrp="1"/>
          </p:cNvSpPr>
          <p:nvPr/>
        </p:nvSpPr>
        <p:spPr>
          <a:xfrm>
            <a:off x="485775" y="1445788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Without replacement, each control can serve only one treated unit.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BF7FE5A-8363-A699-52C9-45D9DACFA9CF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FA3ED6-F1BE-24E7-08A3-0B379C8BF1E1}"/>
              </a:ext>
            </a:extLst>
          </p:cNvPr>
          <p:cNvSpPr>
            <a:spLocks noGrp="1"/>
          </p:cNvSpPr>
          <p:nvPr/>
        </p:nvSpPr>
        <p:spPr>
          <a:xfrm>
            <a:off x="5057775" y="143827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Early matches remove controls from the pool for later matches.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C247637-7B54-E494-3BE3-F06C11BDA635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B55B98-C8D4-D1F3-D786-97146759948B}"/>
              </a:ext>
            </a:extLst>
          </p:cNvPr>
          <p:cNvSpPr>
            <a:spLocks noGrp="1"/>
          </p:cNvSpPr>
          <p:nvPr/>
        </p:nvSpPr>
        <p:spPr>
          <a:xfrm>
            <a:off x="530851" y="292981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Different matching orders can produce different pairs.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6E79A8C-67D8-789A-0D1A-148EC1C1759C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E1966D-C0B6-667D-5E16-E8601AED30D7}"/>
              </a:ext>
            </a:extLst>
          </p:cNvPr>
          <p:cNvSpPr>
            <a:spLocks noGrp="1"/>
          </p:cNvSpPr>
          <p:nvPr/>
        </p:nvSpPr>
        <p:spPr>
          <a:xfrm>
            <a:off x="5086350" y="29051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Record the order so the design is reproducible.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6D13A0-265B-CE05-88EB-1C8B3B43C382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Our example uses descending treated scores: </a:t>
            </a:r>
            <a:r>
              <a:rPr sz="1725" b="1" dirty="0" err="1">
                <a:solidFill>
                  <a:srgbClr val="F5B62D"/>
                </a:solidFill>
                <a:latin typeface="Arial"/>
                <a:ea typeface="Arial"/>
                <a:cs typeface="Arial"/>
              </a:rPr>
              <a:t>m.order</a:t>
            </a: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 = "largest".</a:t>
            </a:r>
          </a:p>
        </p:txBody>
      </p:sp>
    </p:spTree>
    <p:extLst>
      <p:ext uri="{BB962C8B-B14F-4D97-AF65-F5344CB8AC3E}">
        <p14:creationId xmlns:p14="http://schemas.microsoft.com/office/powerpoint/2010/main" val="14555280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B147A-F64F-D433-6994-9AE77BF8D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1552B6-177D-EC69-47D8-706C1D52B61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With or without replacement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536FE3-6A9B-A568-A444-168A1016698E}"/>
              </a:ext>
            </a:extLst>
          </p:cNvPr>
          <p:cNvGraphicFramePr/>
          <p:nvPr/>
        </p:nvGraphicFramePr>
        <p:xfrm>
          <a:off x="457200" y="1219200"/>
          <a:ext cx="8229600" cy="18859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Choice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Benefit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Cost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Without replacement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Each control appears in one pair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Later treated units may receive weaker matches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With replacement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Good controls can serve multiple treated units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Reuse reduces independent information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FA4924C-EB1C-DA81-E106-A4D3ACB40720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A reused control remains one person, even if they appear in several matches.</a:t>
            </a:r>
          </a:p>
        </p:txBody>
      </p:sp>
    </p:spTree>
    <p:extLst>
      <p:ext uri="{BB962C8B-B14F-4D97-AF65-F5344CB8AC3E}">
        <p14:creationId xmlns:p14="http://schemas.microsoft.com/office/powerpoint/2010/main" val="12292507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8FC84-DB19-93A1-49B2-481B485C3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1F294F-3D3D-AC10-E6FE-307725792D6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Calipers: a maximum acceptable distance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4D29741-5ECF-C3B3-8A3C-934D71A49542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6B71D5-2C03-E9A2-56D7-3918D41C007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1376362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A raw score caliper of 0.05 requires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|</m:t>
                    </m:r>
                    <m:sSub>
                      <m:sSubPr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80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cs typeface="Arial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−</m:t>
                    </m:r>
                    <m:sSub>
                      <m:sSubPr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</m:ctrlPr>
                          </m:accPr>
                          <m:e>
                            <m:r>
                              <a:rPr lang="en-US" sz="1800" b="0" i="1" dirty="0" smtClean="0">
                                <a:solidFill>
                                  <a:srgbClr val="F4F1EA"/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𝑗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| ≤ 0.05.</m:t>
                    </m:r>
                  </m:oMath>
                </a14:m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76B71D5-2C03-E9A2-56D7-3918D41C00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1376362"/>
                <a:ext cx="3600450" cy="962025"/>
              </a:xfrm>
              <a:prstGeom prst="rect">
                <a:avLst/>
              </a:prstGeom>
              <a:blipFill>
                <a:blip r:embed="rId2"/>
                <a:stretch>
                  <a:fillRect l="-4068" t="-8228" r="-559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755CAB1-8A06-9F51-5F8A-208EE30C9F7D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352895-AED5-01F9-3729-DA479B86567F}"/>
              </a:ext>
            </a:extLst>
          </p:cNvPr>
          <p:cNvSpPr>
            <a:spLocks noGrp="1"/>
          </p:cNvSpPr>
          <p:nvPr/>
        </p:nvSpPr>
        <p:spPr>
          <a:xfrm>
            <a:off x="5057775" y="1376362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A treated person with no eligible control remains unmatched.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7952F3E-B3BF-5AE8-BA5A-C3E8CF412F8E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3C7784-5887-8A64-252C-75ACA90489A3}"/>
              </a:ext>
            </a:extLst>
          </p:cNvPr>
          <p:cNvSpPr>
            <a:spLocks noGrp="1"/>
          </p:cNvSpPr>
          <p:nvPr/>
        </p:nvSpPr>
        <p:spPr>
          <a:xfrm>
            <a:off x="350546" y="2933700"/>
            <a:ext cx="4000499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Smaller calipers can prevent weak matches but discard more participants.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0F2F98A-6BFC-B271-01B1-001F77D21DCD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3A44EB-C68A-E254-1897-5D063111D1BC}"/>
              </a:ext>
            </a:extLst>
          </p:cNvPr>
          <p:cNvSpPr>
            <a:spLocks noGrp="1"/>
          </p:cNvSpPr>
          <p:nvPr/>
        </p:nvSpPr>
        <p:spPr>
          <a:xfrm>
            <a:off x="5086350" y="29337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A caliper can instead be defined on log odds or in SD units.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D5C910-D5D1-4B07-F53E-765613F17944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The number 0.05 has meaning only after specifying the distance scale.</a:t>
            </a:r>
          </a:p>
        </p:txBody>
      </p:sp>
    </p:spTree>
    <p:extLst>
      <p:ext uri="{BB962C8B-B14F-4D97-AF65-F5344CB8AC3E}">
        <p14:creationId xmlns:p14="http://schemas.microsoft.com/office/powerpoint/2010/main" val="5898590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FEE50-46C9-FAEA-7A77-44D85BEA5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D05525-DB75-9641-8377-01F2423007FA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R: the initial matching design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96817E-9A20-A664-3DDE-CDAB0CA80375}"/>
              </a:ext>
            </a:extLst>
          </p:cNvPr>
          <p:cNvSpPr>
            <a:spLocks noGrp="1"/>
          </p:cNvSpPr>
          <p:nvPr/>
        </p:nvSpPr>
        <p:spPr>
          <a:xfrm>
            <a:off x="381000" y="1028700"/>
            <a:ext cx="8382000" cy="3133725"/>
          </a:xfrm>
          <a:prstGeom prst="roundRect">
            <a:avLst>
              <a:gd name="adj" fmla="val 5471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B92C3F-013E-E2D8-6ABD-7A0D9BEBC371}"/>
              </a:ext>
            </a:extLst>
          </p:cNvPr>
          <p:cNvSpPr>
            <a:spLocks noGrp="1"/>
          </p:cNvSpPr>
          <p:nvPr/>
        </p:nvSpPr>
        <p:spPr>
          <a:xfrm>
            <a:off x="600075" y="1219200"/>
            <a:ext cx="7943850" cy="2790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library(MatchIt)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data("lalonde", package = "MatchIt")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d &lt;- lalonde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f &lt;- treat ~ age + educ + race + married +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nodegree + re74 + re75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m0 &lt;- matchit(f, data = d, method = "nearest",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 distance = "glm", estimand = "ATT",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 ratio = 1, replace = FALSE,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 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m.order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= "largest")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summary(m0)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5389B2-AC97-B279-6897-4455EB9F7072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Outcome earnings do not enter the matching formula.</a:t>
            </a:r>
          </a:p>
        </p:txBody>
      </p:sp>
    </p:spTree>
    <p:extLst>
      <p:ext uri="{BB962C8B-B14F-4D97-AF65-F5344CB8AC3E}">
        <p14:creationId xmlns:p14="http://schemas.microsoft.com/office/powerpoint/2010/main" val="42544816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8B072-5209-7EF9-48CC-B1A8C0B5B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7EEC7C-C69F-9BC4-B431-52B7B25F3EF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Who remains after initial matching?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09BD5C-D594-8693-02D3-653C014E2BAA}"/>
              </a:ext>
            </a:extLst>
          </p:cNvPr>
          <p:cNvGraphicFramePr/>
          <p:nvPr/>
        </p:nvGraphicFramePr>
        <p:xfrm>
          <a:off x="457200" y="1219200"/>
          <a:ext cx="8229600" cy="2514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Group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Before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After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Treated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185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185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429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185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Unused comparison participants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244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1BBCD136-9AF6-6884-FDCF-B8AD15798556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All treated participants remain, but retention does not establish adequate balance.</a:t>
            </a:r>
          </a:p>
        </p:txBody>
      </p:sp>
    </p:spTree>
    <p:extLst>
      <p:ext uri="{BB962C8B-B14F-4D97-AF65-F5344CB8AC3E}">
        <p14:creationId xmlns:p14="http://schemas.microsoft.com/office/powerpoint/2010/main" val="2391902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CADC3-B9B5-CF01-FBEF-63BBA957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C28519-6943-8319-6BA7-793DEA39370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Covariate balance: standardized differences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F2B1DF-3672-17AC-1C6E-E0095586C039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029EF7-F397-4BBA-BBF9-A7902EB78BE9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442281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SMD = </a:t>
            </a:r>
            <a:endParaRPr lang="en-US" sz="1800" b="0" dirty="0">
              <a:solidFill>
                <a:srgbClr val="F4F1EA"/>
              </a:solidFill>
              <a:latin typeface="Arial"/>
              <a:ea typeface="Arial"/>
              <a:cs typeface="Arial"/>
            </a:endParaRPr>
          </a:p>
          <a:p>
            <a:pPr algn="ctr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(treated mean − comparison mean)/sref.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61D2A9-7F23-5D31-9E49-576CA55E8E99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0B92DD-6949-5B6F-9A3A-ECB96A0F700E}"/>
              </a:ext>
            </a:extLst>
          </p:cNvPr>
          <p:cNvSpPr>
            <a:spLocks noGrp="1"/>
          </p:cNvSpPr>
          <p:nvPr/>
        </p:nvSpPr>
        <p:spPr>
          <a:xfrm>
            <a:off x="5057775" y="1452227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Use a fixed reference scale when comparing designs.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AD5A481-E827-FA38-E9A1-DE083EA4DACD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06E193-757A-E0B4-B9F2-C1EEB97D3011}"/>
              </a:ext>
            </a:extLst>
          </p:cNvPr>
          <p:cNvSpPr>
            <a:spLocks noGrp="1"/>
          </p:cNvSpPr>
          <p:nvPr/>
        </p:nvSpPr>
        <p:spPr>
          <a:xfrm>
            <a:off x="530851" y="29051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Here sref is the SD in the original treated group.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93AB801-2B84-A1BF-E2F4-B7FCDC199E1D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543DBFD-1660-B908-1BA6-803900E0996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057775" y="2905124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Inspect each adjustment covariate.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|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𝑆𝑀𝐷</m:t>
                    </m:r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| &lt; 0.10 </m:t>
                    </m:r>
                  </m:oMath>
                </a14:m>
                <a:r>
                  <a:rPr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is a guideline.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543DBFD-1660-B908-1BA6-803900E099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775" y="2905124"/>
                <a:ext cx="3600450" cy="962025"/>
              </a:xfrm>
              <a:prstGeom prst="rect">
                <a:avLst/>
              </a:prstGeom>
              <a:blipFill>
                <a:blip r:embed="rId2"/>
                <a:stretch>
                  <a:fillRect l="-4068" t="-8280" r="-3898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D69ADE47-387D-8954-03F5-AD5B18BD473E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A small score difference does not guarantee small covariate differences.</a:t>
            </a:r>
          </a:p>
        </p:txBody>
      </p:sp>
    </p:spTree>
    <p:extLst>
      <p:ext uri="{BB962C8B-B14F-4D97-AF65-F5344CB8AC3E}">
        <p14:creationId xmlns:p14="http://schemas.microsoft.com/office/powerpoint/2010/main" val="38161172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9FB0E-D250-63D7-056F-55E160594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1B966C-8629-0FFB-7D0E-F0007BC5098A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Initial matching improves some covariates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3905B3-5350-8421-80F2-9C51AE4A68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5512830"/>
              </p:ext>
            </p:extLst>
          </p:nvPr>
        </p:nvGraphicFramePr>
        <p:xfrm>
          <a:off x="457200" y="1109729"/>
          <a:ext cx="8229600" cy="276225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Covariate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Before |SMD|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After |SMD|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Age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0.309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0.072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Married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0.824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0.055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1974 earnings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0.721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0.050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Black indicator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1.757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1.023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25A871A-2367-058C-6630-D4DEF682CE4A}"/>
              </a:ext>
            </a:extLst>
          </p:cNvPr>
          <p:cNvSpPr>
            <a:spLocks noGrp="1"/>
          </p:cNvSpPr>
          <p:nvPr/>
        </p:nvSpPr>
        <p:spPr>
          <a:xfrm>
            <a:off x="457200" y="4291078"/>
            <a:ext cx="8274676" cy="6286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Substantial imbalance remains. We should revise the design before relying on its effect estimate.</a:t>
            </a:r>
          </a:p>
        </p:txBody>
      </p:sp>
    </p:spTree>
    <p:extLst>
      <p:ext uri="{BB962C8B-B14F-4D97-AF65-F5344CB8AC3E}">
        <p14:creationId xmlns:p14="http://schemas.microsoft.com/office/powerpoint/2010/main" val="6916108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BDC89-0AD5-926E-F06B-A5295F721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CC9DC4-DD24-F9C8-5692-97F09CB250B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R: add a raw-score caliper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D21E232-F50C-1697-CEB7-27F5AD73DE1A}"/>
              </a:ext>
            </a:extLst>
          </p:cNvPr>
          <p:cNvSpPr>
            <a:spLocks noGrp="1"/>
          </p:cNvSpPr>
          <p:nvPr/>
        </p:nvSpPr>
        <p:spPr>
          <a:xfrm>
            <a:off x="381000" y="1028700"/>
            <a:ext cx="8382000" cy="3133725"/>
          </a:xfrm>
          <a:prstGeom prst="roundRect">
            <a:avLst>
              <a:gd name="adj" fmla="val 5471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BB7899-F3FA-A5A4-AED5-EE1912520755}"/>
              </a:ext>
            </a:extLst>
          </p:cNvPr>
          <p:cNvSpPr>
            <a:spLocks noGrp="1"/>
          </p:cNvSpPr>
          <p:nvPr/>
        </p:nvSpPr>
        <p:spPr>
          <a:xfrm>
            <a:off x="600075" y="1219200"/>
            <a:ext cx="7943850" cy="2790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m1 &lt;- matchit(f, data = d, method = "nearest",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 distance = "glm", estimand = "ATT",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 ratio = 1, replace = FALSE,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 m.order = "largest",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 caliper = 0.05, </a:t>
            </a:r>
            <a:r>
              <a:rPr sz="1575" b="0" dirty="0" err="1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std.caliper</a:t>
            </a: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= FALSE)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summary(m1)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plot(summary(m1), abs = TRUE)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D6DF5E-BC82-BC96-0CAA-2EEA18FECC5F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This caliper limits probability differences to 0.05.</a:t>
            </a:r>
          </a:p>
        </p:txBody>
      </p:sp>
    </p:spTree>
    <p:extLst>
      <p:ext uri="{BB962C8B-B14F-4D97-AF65-F5344CB8AC3E}">
        <p14:creationId xmlns:p14="http://schemas.microsoft.com/office/powerpoint/2010/main" val="8647078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A8C2A-D61F-AD1A-7AB7-98B27E2F0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0E3FC7-0298-F79D-9185-F694DBD7DB9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Caliper matching changes the analysis sample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6D3A1FA-B148-9FE8-9826-ACFBB5939756}"/>
              </a:ext>
            </a:extLst>
          </p:cNvPr>
          <p:cNvGraphicFramePr/>
          <p:nvPr/>
        </p:nvGraphicFramePr>
        <p:xfrm>
          <a:off x="457200" y="1219200"/>
          <a:ext cx="8229600" cy="2514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Group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Initial match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0.05 caliper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Treated retained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185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113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Comparison retained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185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113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Treated unmatched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72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7F40A650-DE60-37B4-79CA-1E3FAB6D312B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The caliper design represents retained treated participants, not automatically all 185.</a:t>
            </a:r>
          </a:p>
        </p:txBody>
      </p:sp>
    </p:spTree>
    <p:extLst>
      <p:ext uri="{BB962C8B-B14F-4D97-AF65-F5344CB8AC3E}">
        <p14:creationId xmlns:p14="http://schemas.microsoft.com/office/powerpoint/2010/main" val="11226508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AB0B-1C93-B147-68FF-16F27A1A1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012946-A5F7-40D8-6C86-EED5E37F867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Balance across matching designs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98C59E-3F91-A2E3-CDD5-B819EB94B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459" y="801146"/>
            <a:ext cx="6031923" cy="42760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4C09DC-FDE2-DA41-C96C-B7ADF8E94B4C}"/>
              </a:ext>
            </a:extLst>
          </p:cNvPr>
          <p:cNvSpPr>
            <a:spLocks noGrp="1"/>
          </p:cNvSpPr>
          <p:nvPr/>
        </p:nvSpPr>
        <p:spPr>
          <a:xfrm>
            <a:off x="225381" y="2272040"/>
            <a:ext cx="2324636" cy="15014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The caliper improves some imbalances, but degree status and marriage still need attention.</a:t>
            </a:r>
          </a:p>
        </p:txBody>
      </p:sp>
    </p:spTree>
    <p:extLst>
      <p:ext uri="{BB962C8B-B14F-4D97-AF65-F5344CB8AC3E}">
        <p14:creationId xmlns:p14="http://schemas.microsoft.com/office/powerpoint/2010/main" val="10879363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67D80-4D4A-58A3-AB97-7FF990B01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AA7E8F-9DC4-FC7E-3440-408AD9E2322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If balance is still poor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E6F5498-5E2D-55BF-7354-A2F8D51657FD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004404A-2042-A422-8DDB-AA20DDFE69CE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Revise nonlinear terms or interactions in the propensity model.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31F9300F-A46C-2250-B5E8-4D8CA9DCE39E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5C41FE0-CBAA-104E-FA2A-E59C6559E150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Consider exact matching on scientifically important variables.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28BAEB1-8C5E-E56B-A7A0-6B7F624CB8EA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A2868AA-D30B-C208-4CE0-E8958D289BFC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Consider replacement, a different distance, or a different matching method.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C9607781-725A-8623-F9FC-523E8304AFAD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136E753-C09B-46C2-2E40-C07A97ECFAF4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Reassess retention and the target population after each design change.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2DB2A44-70F5-2E1D-1BEA-56C33BCD5CA1}"/>
              </a:ext>
            </a:extLst>
          </p:cNvPr>
          <p:cNvSpPr>
            <a:spLocks noGrp="1"/>
          </p:cNvSpPr>
          <p:nvPr/>
        </p:nvSpPr>
        <p:spPr>
          <a:xfrm>
            <a:off x="-51516" y="4456894"/>
            <a:ext cx="9247031" cy="68660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Improve the comparison using diagnostics, not the size or sign of the estimated effect.</a:t>
            </a:r>
          </a:p>
        </p:txBody>
      </p:sp>
    </p:spTree>
    <p:extLst>
      <p:ext uri="{BB962C8B-B14F-4D97-AF65-F5344CB8AC3E}">
        <p14:creationId xmlns:p14="http://schemas.microsoft.com/office/powerpoint/2010/main" val="42543671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DF99B-9E9E-106C-3A53-2B15FD8BB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D713C6-1FEE-D85A-D072-19E644E2C21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The matched outcome contrast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6C126A-EF62-91C6-B136-2B15381BF3C8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C1822EB-8D7A-CAB5-7CA2-A07E9772245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For each retained pair,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𝐷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𝑖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 =</m:t>
                    </m:r>
                    <m:sSub>
                      <m:sSubPr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𝑌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</a:rPr>
                          <m:t>𝑡𝑟𝑒𝑎𝑡𝑒𝑑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,</m:t>
                    </m:r>
                  </m:oMath>
                </a14:m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 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  <a:ea typeface="Arial"/>
                            <a:cs typeface="Arial"/>
                          </a:rPr>
                          <m:t>𝑌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 dirty="0">
                            <a:solidFill>
                              <a:srgbClr val="F4F1EA"/>
                            </a:solidFill>
                            <a:latin typeface="Cambria Math" panose="02040503050406030204" pitchFamily="18" charset="0"/>
                          </a:rPr>
                          <m:t>𝑐𝑜𝑚𝑝𝑎𝑟𝑖𝑠𝑜𝑛</m:t>
                        </m:r>
                      </m:sub>
                    </m:sSub>
                  </m:oMath>
                </a14:m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.</a:t>
                </a:r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C1822EB-8D7A-CAB5-7CA2-A07E977224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75" y="1295400"/>
                <a:ext cx="3600450" cy="962025"/>
              </a:xfrm>
              <a:prstGeom prst="rect">
                <a:avLst/>
              </a:prstGeom>
              <a:blipFill>
                <a:blip r:embed="rId2"/>
                <a:stretch>
                  <a:fillRect l="-4068" t="-828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B5ACFCD-9D87-4D7B-F0B3-143028B4CE89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33B5518-1F92-A067-778D-67E3436701E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928985" y="1302913"/>
                <a:ext cx="4000499" cy="11049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800" b="0" dirty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rPr>
                  <a:t>For equally weighted one-to-one pairs, </a:t>
                </a: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endParaRPr lang="en-US" sz="1800" b="0" i="1" dirty="0">
                  <a:solidFill>
                    <a:srgbClr val="F4F1EA"/>
                  </a:solidFill>
                  <a:latin typeface="Cambria Math" panose="02040503050406030204" pitchFamily="18" charset="0"/>
                  <a:ea typeface="Arial"/>
                  <a:cs typeface="Arial"/>
                </a:endParaRPr>
              </a:p>
              <a:p>
                <a:pPr algn="l">
                  <a:defRPr sz="18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80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accPr>
                            <m:e>
                              <m:r>
                                <a:rPr lang="en-US" sz="1800" b="0" i="1" dirty="0" smtClean="0">
                                  <a:solidFill>
                                    <a:srgbClr val="F4F1EA"/>
                                  </a:solidFill>
                                  <a:latin typeface="Cambria Math" panose="02040503050406030204" pitchFamily="18" charset="0"/>
                                  <a:cs typeface="Arial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sz="1800" b="0" i="1" dirty="0" smtClean="0">
                              <a:solidFill>
                                <a:srgbClr val="F4F1EA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𝑚𝑎𝑡𝑐ℎ</m:t>
                          </m:r>
                        </m:sub>
                      </m:sSub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= 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𝑚𝑒𝑎𝑛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(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𝐷</m:t>
                      </m:r>
                      <m:r>
                        <a:rPr lang="en-US" sz="1800" b="0" i="1" dirty="0">
                          <a:solidFill>
                            <a:srgbClr val="F4F1EA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ᵢ).</m:t>
                      </m:r>
                    </m:oMath>
                  </m:oMathPara>
                </a14:m>
                <a:endParaRPr sz="1800" b="0" dirty="0">
                  <a:solidFill>
                    <a:srgbClr val="F4F1EA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33B5518-1F92-A067-778D-67E343670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985" y="1302913"/>
                <a:ext cx="4000499" cy="1104900"/>
              </a:xfrm>
              <a:prstGeom prst="rect">
                <a:avLst/>
              </a:prstGeom>
              <a:blipFill>
                <a:blip r:embed="rId3"/>
                <a:stretch>
                  <a:fillRect l="-3659" t="-7182" r="-259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BAD9502-6DCE-F692-7606-788BECA4D266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8BDA1C-E533-C8B0-6945-861541B65F53}"/>
              </a:ext>
            </a:extLst>
          </p:cNvPr>
          <p:cNvSpPr>
            <a:spLocks noGrp="1"/>
          </p:cNvSpPr>
          <p:nvPr/>
        </p:nvSpPr>
        <p:spPr>
          <a:xfrm>
            <a:off x="588806" y="29051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This equals the difference in matched-arm means.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FFCBE3A-2A15-68F6-15C8-B9DBAF5389A8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0768BD-A562-7272-0EB3-85FD48EAA965}"/>
              </a:ext>
            </a:extLst>
          </p:cNvPr>
          <p:cNvSpPr>
            <a:spLocks noGrp="1"/>
          </p:cNvSpPr>
          <p:nvPr/>
        </p:nvSpPr>
        <p:spPr>
          <a:xfrm>
            <a:off x="5086350" y="2905124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A causal interpretation still requires adequate adjustment and support.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8B2A8C-0944-3AED-DE05-8C0D837C5027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Pairing supplies a comparison. Assumptions justify treating it causally.</a:t>
            </a:r>
          </a:p>
        </p:txBody>
      </p:sp>
    </p:spTree>
    <p:extLst>
      <p:ext uri="{BB962C8B-B14F-4D97-AF65-F5344CB8AC3E}">
        <p14:creationId xmlns:p14="http://schemas.microsoft.com/office/powerpoint/2010/main" val="7057464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764F3-7083-CC44-3913-8EF5902B4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F9EB7F-DE8B-0A1F-686D-DBC9DCF0A31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R: compute the matched point estimate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5ECD65-B20B-2A62-9BD3-33ABD19DDFBA}"/>
              </a:ext>
            </a:extLst>
          </p:cNvPr>
          <p:cNvSpPr>
            <a:spLocks noGrp="1"/>
          </p:cNvSpPr>
          <p:nvPr/>
        </p:nvSpPr>
        <p:spPr>
          <a:xfrm>
            <a:off x="381000" y="1028700"/>
            <a:ext cx="8382000" cy="3133725"/>
          </a:xfrm>
          <a:prstGeom prst="roundRect">
            <a:avLst>
              <a:gd name="adj" fmla="val 5471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E99E61-BA52-B0CB-9C02-251DF53FF0F6}"/>
              </a:ext>
            </a:extLst>
          </p:cNvPr>
          <p:cNvSpPr>
            <a:spLocks noGrp="1"/>
          </p:cNvSpPr>
          <p:nvPr/>
        </p:nvSpPr>
        <p:spPr>
          <a:xfrm>
            <a:off x="600075" y="1219200"/>
            <a:ext cx="7943850" cy="2790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md &lt;- match.data(m1)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mu1 &lt;- with(md, weighted.mean(re78[treat == 1],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                  weights[treat == 1]))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mu0 &lt;- with(md, weighted.mean(re78[treat == 0],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                               weights[treat == 0]))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matched_difference &lt;- mu1 - mu0</a:t>
            </a:r>
          </a:p>
          <a:p>
            <a:pPr algn="l">
              <a:defRPr sz="1575" b="0">
                <a:solidFill>
                  <a:srgbClr val="F4F1EA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4F1EA"/>
                </a:solidFill>
                <a:latin typeface="Consolas"/>
                <a:ea typeface="Consolas"/>
                <a:cs typeface="Consolas"/>
              </a:rPr>
              <a:t>matched_difference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D302E3-CB51-BFF4-3465-F2B65EF2B02A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Keep the point estimate separate from the inference step.</a:t>
            </a:r>
          </a:p>
        </p:txBody>
      </p:sp>
    </p:spTree>
    <p:extLst>
      <p:ext uri="{BB962C8B-B14F-4D97-AF65-F5344CB8AC3E}">
        <p14:creationId xmlns:p14="http://schemas.microsoft.com/office/powerpoint/2010/main" val="17826137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4572B-1056-C6D0-1ADA-0553B32FE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87F6C2-5B56-12B1-C958-F37E2FBDCE7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Results depend on design and population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8E9692-874D-E2E8-DC64-8AD570D531C8}"/>
              </a:ext>
            </a:extLst>
          </p:cNvPr>
          <p:cNvGraphicFramePr/>
          <p:nvPr/>
        </p:nvGraphicFramePr>
        <p:xfrm>
          <a:off x="457200" y="1219200"/>
          <a:ext cx="8229600" cy="2514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Analysis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Observed earnings contrast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71AFE8"/>
                          </a:solidFill>
                          <a:latin typeface="Arial"/>
                          <a:ea typeface="Arial"/>
                          <a:cs typeface="Arial"/>
                        </a:rPr>
                        <a:t>Population represented</a:t>
                      </a:r>
                    </a:p>
                  </a:txBody>
                  <a:tcPr>
                    <a:solidFill>
                      <a:srgbClr val="303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Crude full-sample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About −$635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Original observed groups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Initial nearest match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About +$894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All treated participants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0.05-caliper match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About +$1,433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4F1EA"/>
                          </a:solidFill>
                          <a:latin typeface="Arial"/>
                          <a:ea typeface="Arial"/>
                          <a:cs typeface="Arial"/>
                        </a:rPr>
                        <a:t>113 retained treated participants</a:t>
                      </a:r>
                    </a:p>
                  </a:txBody>
                  <a:tcPr>
                    <a:solidFill>
                      <a:srgbClr val="2525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FCA704AA-CE2D-7B6E-8311-02C351CD5711}"/>
              </a:ext>
            </a:extLst>
          </p:cNvPr>
          <p:cNvSpPr>
            <a:spLocks noGrp="1"/>
          </p:cNvSpPr>
          <p:nvPr/>
        </p:nvSpPr>
        <p:spPr>
          <a:xfrm>
            <a:off x="141667" y="4400550"/>
            <a:ext cx="8860665" cy="59941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The change in estimates is not proof that the final design has removed confounding.</a:t>
            </a:r>
          </a:p>
        </p:txBody>
      </p:sp>
    </p:spTree>
    <p:extLst>
      <p:ext uri="{BB962C8B-B14F-4D97-AF65-F5344CB8AC3E}">
        <p14:creationId xmlns:p14="http://schemas.microsoft.com/office/powerpoint/2010/main" val="22004332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13124-4744-FD45-AB91-3A9EF44A1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578CB9-F73E-5087-E553-01577068F9F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Uncertainty and remaining assumptions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CF7D97-0703-1AF2-6735-7FC7ED4932AE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27FFCA-FC45-17F0-DD17-E103211494F3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Matched observations require an analysis that respects the matching structure.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E1D6C6-EFE5-1909-739D-1D0B196E7085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9B88BC-9AF7-4399-2AE5-ECB166D7EBFC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Control reuse and unequal weights require additional care.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3378E4-D4AA-4DB6-2B78-6B6FA24F7728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7900DA-3DA7-509F-2C4C-2D7FB9CEB5FA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F4F1EA"/>
                </a:solidFill>
                <a:latin typeface="Arial"/>
                <a:ea typeface="Arial"/>
                <a:cs typeface="Arial"/>
              </a:rPr>
              <a:t>Standard resampling is not universally valid for nearest-neighbor estimators.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F3F0F56-02AA-AB40-6D47-10CAA4829A19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438161-C01D-5C7C-4A60-AB174C2D189B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No matching method removes unmeasured confounding or absent support.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49512A-721C-0332-0E52-78CDE7527F7F}"/>
              </a:ext>
            </a:extLst>
          </p:cNvPr>
          <p:cNvSpPr>
            <a:spLocks noGrp="1"/>
          </p:cNvSpPr>
          <p:nvPr/>
        </p:nvSpPr>
        <p:spPr>
          <a:xfrm>
            <a:off x="228600" y="4400550"/>
            <a:ext cx="8686800" cy="5232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F5B62D"/>
                </a:solidFill>
                <a:latin typeface="Arial"/>
                <a:ea typeface="Arial"/>
                <a:cs typeface="Arial"/>
              </a:rPr>
              <a:t>A credible report includes uncertainty, balance, retention, and causal limitations.</a:t>
            </a:r>
          </a:p>
        </p:txBody>
      </p:sp>
    </p:spTree>
    <p:extLst>
      <p:ext uri="{BB962C8B-B14F-4D97-AF65-F5344CB8AC3E}">
        <p14:creationId xmlns:p14="http://schemas.microsoft.com/office/powerpoint/2010/main" val="33235544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794CB-852B-77A6-EA70-04F00BB92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705AA6-89EA-1B65-138A-59F190A7AC1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Matching: Summary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30ED765-B095-9879-2FA0-0DDA9041A436}"/>
              </a:ext>
            </a:extLst>
          </p:cNvPr>
          <p:cNvSpPr>
            <a:spLocks noGrp="1"/>
          </p:cNvSpPr>
          <p:nvPr/>
        </p:nvSpPr>
        <p:spPr>
          <a:xfrm>
            <a:off x="285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CE48B5-A9E5-3E38-4878-C963703ACE59}"/>
              </a:ext>
            </a:extLst>
          </p:cNvPr>
          <p:cNvSpPr>
            <a:spLocks noGrp="1"/>
          </p:cNvSpPr>
          <p:nvPr/>
        </p:nvSpPr>
        <p:spPr>
          <a:xfrm>
            <a:off x="485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Matching and g-computation offer different ways to use a valid adjustment set.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568B23-C384-F09A-7A6F-982800F4310F}"/>
              </a:ext>
            </a:extLst>
          </p:cNvPr>
          <p:cNvSpPr>
            <a:spLocks noGrp="1"/>
          </p:cNvSpPr>
          <p:nvPr/>
        </p:nvSpPr>
        <p:spPr>
          <a:xfrm>
            <a:off x="4857750" y="1095375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3B4021-8E7A-30C7-7606-11DCB30245BF}"/>
              </a:ext>
            </a:extLst>
          </p:cNvPr>
          <p:cNvSpPr>
            <a:spLocks noGrp="1"/>
          </p:cNvSpPr>
          <p:nvPr/>
        </p:nvSpPr>
        <p:spPr>
          <a:xfrm>
            <a:off x="5057775" y="1295400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Scores organize comparisons, while covariate diagnostics assess the resulting design.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86DD005-0332-47BB-197F-E1FAAE34D16B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1AF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22C60E-F74C-1BB6-6426-7B4219387582}"/>
              </a:ext>
            </a:extLst>
          </p:cNvPr>
          <p:cNvSpPr>
            <a:spLocks noGrp="1"/>
          </p:cNvSpPr>
          <p:nvPr/>
        </p:nvSpPr>
        <p:spPr>
          <a:xfrm>
            <a:off x="485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Calipers can improve comparability while changing the represented population.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CED434E-CCDC-48A9-3B17-79B10FA37C52}"/>
              </a:ext>
            </a:extLst>
          </p:cNvPr>
          <p:cNvSpPr>
            <a:spLocks noGrp="1"/>
          </p:cNvSpPr>
          <p:nvPr/>
        </p:nvSpPr>
        <p:spPr>
          <a:xfrm>
            <a:off x="4857750" y="2590800"/>
            <a:ext cx="4000500" cy="1304925"/>
          </a:xfrm>
          <a:prstGeom prst="roundRect">
            <a:avLst>
              <a:gd name="adj" fmla="val 13139"/>
            </a:avLst>
          </a:prstGeom>
          <a:solidFill>
            <a:srgbClr val="2B2B2B"/>
          </a:solidFill>
          <a:ln w="11430">
            <a:solidFill>
              <a:srgbClr val="7CCB9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51C5BC-6646-A16D-53E2-3C40219516A1}"/>
              </a:ext>
            </a:extLst>
          </p:cNvPr>
          <p:cNvSpPr>
            <a:spLocks noGrp="1"/>
          </p:cNvSpPr>
          <p:nvPr/>
        </p:nvSpPr>
        <p:spPr>
          <a:xfrm>
            <a:off x="5057775" y="2790825"/>
            <a:ext cx="360045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1EA"/>
                </a:solidFill>
                <a:latin typeface="Arial"/>
                <a:ea typeface="Arial"/>
                <a:cs typeface="Arial"/>
              </a:rPr>
              <a:t>Outcome estimates become meaningful only after design and assumption checks.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2B0062-C6F2-BA82-8939-3C41ACD7210D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8229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F5B6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B62D"/>
                </a:solidFill>
                <a:latin typeface="Arial"/>
                <a:ea typeface="Arial"/>
                <a:cs typeface="Arial"/>
              </a:rPr>
              <a:t>Next: weighting lets us change contributions rather than selecting pairs.</a:t>
            </a:r>
          </a:p>
        </p:txBody>
      </p:sp>
    </p:spTree>
    <p:extLst>
      <p:ext uri="{BB962C8B-B14F-4D97-AF65-F5344CB8AC3E}">
        <p14:creationId xmlns:p14="http://schemas.microsoft.com/office/powerpoint/2010/main" val="3176108245"/>
      </p:ext>
    </p:extLst>
  </p:cSld>
  <p:clrMapOvr>
    <a:masterClrMapping/>
  </p:clrMapOvr>
</p:sld>
</file>

<file path=ppt/theme/theme1.xml><?xml version="1.0" encoding="utf-8"?>
<a:theme xmlns:a="http://schemas.openxmlformats.org/drawingml/2006/main" name="Ursula template">
  <a:themeElements>
    <a:clrScheme name="Custom 347">
      <a:dk1>
        <a:srgbClr val="000000"/>
      </a:dk1>
      <a:lt1>
        <a:srgbClr val="FFFFFF"/>
      </a:lt1>
      <a:dk2>
        <a:srgbClr val="D1D8DF"/>
      </a:dk2>
      <a:lt2>
        <a:srgbClr val="4F565C"/>
      </a:lt2>
      <a:accent1>
        <a:srgbClr val="71AEF0"/>
      </a:accent1>
      <a:accent2>
        <a:srgbClr val="88E6DC"/>
      </a:accent2>
      <a:accent3>
        <a:srgbClr val="A6D145"/>
      </a:accent3>
      <a:accent4>
        <a:srgbClr val="FFE000"/>
      </a:accent4>
      <a:accent5>
        <a:srgbClr val="FC765C"/>
      </a:accent5>
      <a:accent6>
        <a:srgbClr val="A693C9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10215</TotalTime>
  <Words>3787</Words>
  <Application>Microsoft Office PowerPoint</Application>
  <PresentationFormat>On-screen Show (16:9)</PresentationFormat>
  <Paragraphs>553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8" baseType="lpstr">
      <vt:lpstr>Consolas</vt:lpstr>
      <vt:lpstr>Walter Turncoat</vt:lpstr>
      <vt:lpstr>Arial</vt:lpstr>
      <vt:lpstr>Sniglet</vt:lpstr>
      <vt:lpstr>Cambria Math</vt:lpstr>
      <vt:lpstr>Ursula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Samhita Pal</dc:creator>
  <cp:lastModifiedBy>Dhrubajyoti Ghosh</cp:lastModifiedBy>
  <cp:revision>176</cp:revision>
  <dcterms:modified xsi:type="dcterms:W3CDTF">2026-10-18T16:23:35Z</dcterms:modified>
</cp:coreProperties>
</file>