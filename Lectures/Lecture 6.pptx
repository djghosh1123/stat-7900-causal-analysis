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110"/>
  </p:notesMasterIdLst>
  <p:sldIdLst>
    <p:sldId id="297" r:id="rId2"/>
    <p:sldId id="461" r:id="rId3"/>
    <p:sldId id="462" r:id="rId4"/>
    <p:sldId id="463" r:id="rId5"/>
    <p:sldId id="464" r:id="rId6"/>
    <p:sldId id="465" r:id="rId7"/>
    <p:sldId id="466" r:id="rId8"/>
    <p:sldId id="467" r:id="rId9"/>
    <p:sldId id="468" r:id="rId10"/>
    <p:sldId id="469" r:id="rId11"/>
    <p:sldId id="470" r:id="rId12"/>
    <p:sldId id="471" r:id="rId13"/>
    <p:sldId id="472" r:id="rId14"/>
    <p:sldId id="473" r:id="rId15"/>
    <p:sldId id="474" r:id="rId16"/>
    <p:sldId id="475" r:id="rId17"/>
    <p:sldId id="476" r:id="rId18"/>
    <p:sldId id="477" r:id="rId19"/>
    <p:sldId id="478" r:id="rId20"/>
    <p:sldId id="479" r:id="rId21"/>
    <p:sldId id="480" r:id="rId22"/>
    <p:sldId id="482" r:id="rId23"/>
    <p:sldId id="481" r:id="rId24"/>
    <p:sldId id="483" r:id="rId25"/>
    <p:sldId id="484" r:id="rId26"/>
    <p:sldId id="485" r:id="rId27"/>
    <p:sldId id="486" r:id="rId28"/>
    <p:sldId id="487" r:id="rId29"/>
    <p:sldId id="488" r:id="rId30"/>
    <p:sldId id="489" r:id="rId31"/>
    <p:sldId id="490" r:id="rId32"/>
    <p:sldId id="491" r:id="rId33"/>
    <p:sldId id="492" r:id="rId34"/>
    <p:sldId id="493" r:id="rId35"/>
    <p:sldId id="494" r:id="rId36"/>
    <p:sldId id="495" r:id="rId37"/>
    <p:sldId id="496" r:id="rId38"/>
    <p:sldId id="497" r:id="rId39"/>
    <p:sldId id="498" r:id="rId40"/>
    <p:sldId id="499" r:id="rId41"/>
    <p:sldId id="500" r:id="rId42"/>
    <p:sldId id="501" r:id="rId43"/>
    <p:sldId id="502" r:id="rId44"/>
    <p:sldId id="503" r:id="rId45"/>
    <p:sldId id="504" r:id="rId46"/>
    <p:sldId id="505" r:id="rId47"/>
    <p:sldId id="506" r:id="rId48"/>
    <p:sldId id="507" r:id="rId49"/>
    <p:sldId id="508" r:id="rId50"/>
    <p:sldId id="509" r:id="rId51"/>
    <p:sldId id="510" r:id="rId52"/>
    <p:sldId id="511" r:id="rId53"/>
    <p:sldId id="512" r:id="rId54"/>
    <p:sldId id="513" r:id="rId55"/>
    <p:sldId id="514" r:id="rId56"/>
    <p:sldId id="515" r:id="rId57"/>
    <p:sldId id="516" r:id="rId58"/>
    <p:sldId id="517" r:id="rId59"/>
    <p:sldId id="518" r:id="rId60"/>
    <p:sldId id="519" r:id="rId61"/>
    <p:sldId id="520" r:id="rId62"/>
    <p:sldId id="521" r:id="rId63"/>
    <p:sldId id="522" r:id="rId64"/>
    <p:sldId id="523" r:id="rId65"/>
    <p:sldId id="524" r:id="rId66"/>
    <p:sldId id="525" r:id="rId67"/>
    <p:sldId id="526" r:id="rId68"/>
    <p:sldId id="527" r:id="rId69"/>
    <p:sldId id="528" r:id="rId70"/>
    <p:sldId id="529" r:id="rId71"/>
    <p:sldId id="530" r:id="rId72"/>
    <p:sldId id="531" r:id="rId73"/>
    <p:sldId id="532" r:id="rId74"/>
    <p:sldId id="533" r:id="rId75"/>
    <p:sldId id="534" r:id="rId76"/>
    <p:sldId id="535" r:id="rId77"/>
    <p:sldId id="536" r:id="rId78"/>
    <p:sldId id="537" r:id="rId79"/>
    <p:sldId id="538" r:id="rId80"/>
    <p:sldId id="539" r:id="rId81"/>
    <p:sldId id="540" r:id="rId82"/>
    <p:sldId id="541" r:id="rId83"/>
    <p:sldId id="542" r:id="rId84"/>
    <p:sldId id="543" r:id="rId85"/>
    <p:sldId id="544" r:id="rId86"/>
    <p:sldId id="545" r:id="rId87"/>
    <p:sldId id="546" r:id="rId88"/>
    <p:sldId id="547" r:id="rId89"/>
    <p:sldId id="548" r:id="rId90"/>
    <p:sldId id="549" r:id="rId91"/>
    <p:sldId id="550" r:id="rId92"/>
    <p:sldId id="551" r:id="rId93"/>
    <p:sldId id="552" r:id="rId94"/>
    <p:sldId id="553" r:id="rId95"/>
    <p:sldId id="554" r:id="rId96"/>
    <p:sldId id="555" r:id="rId97"/>
    <p:sldId id="556" r:id="rId98"/>
    <p:sldId id="557" r:id="rId99"/>
    <p:sldId id="558" r:id="rId100"/>
    <p:sldId id="559" r:id="rId101"/>
    <p:sldId id="560" r:id="rId102"/>
    <p:sldId id="561" r:id="rId103"/>
    <p:sldId id="562" r:id="rId104"/>
    <p:sldId id="563" r:id="rId105"/>
    <p:sldId id="564" r:id="rId106"/>
    <p:sldId id="565" r:id="rId107"/>
    <p:sldId id="566" r:id="rId108"/>
    <p:sldId id="567" r:id="rId10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11"/>
    </p:embeddedFont>
    <p:embeddedFont>
      <p:font typeface="Consolas" panose="020B0609020204030204" pitchFamily="49" charset="0"/>
      <p:regular r:id="rId112"/>
      <p:bold r:id="rId113"/>
      <p:italic r:id="rId114"/>
      <p:boldItalic r:id="rId115"/>
    </p:embeddedFont>
    <p:embeddedFont>
      <p:font typeface="Sniglet" panose="020B0604020202020204" charset="0"/>
      <p:regular r:id="rId116"/>
    </p:embeddedFont>
    <p:embeddedFont>
      <p:font typeface="Walter Turncoat" panose="020B0604020202020204" charset="0"/>
      <p:regular r:id="rId1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D0B942B-5FDC-419F-A31C-88048C057ADA}">
  <a:tblStyle styleId="{3D0B942B-5FDC-419F-A31C-88048C057AD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F752B63-FEDA-48D4-B3B7-9A5BAED313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3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font" Target="fonts/font7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font" Target="fonts/font2.fntdata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font" Target="fonts/font3.fntdata"/><Relationship Id="rId118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font" Target="fonts/font4.fntdata"/><Relationship Id="rId119" Type="http://schemas.openxmlformats.org/officeDocument/2006/relationships/viewProps" Target="view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115" Type="http://schemas.openxmlformats.org/officeDocument/2006/relationships/font" Target="fonts/font5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font" Target="fonts/font1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4297650" y="4832975"/>
            <a:ext cx="548700" cy="3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-6025" y="967975"/>
            <a:ext cx="91560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563400"/>
            <a:ext cx="8229600" cy="25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✘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●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●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297650" y="4832975"/>
            <a:ext cx="548700" cy="3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9790-8FD3-3CFF-298C-8576CD7777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134EF000-1360-AEF0-B6CC-E38FC7950DC5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369955" y="294994"/>
            <a:ext cx="8229600" cy="19050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Walter Turncoat" panose="020B0604020202020204" charset="0"/>
              </a:rPr>
              <a:t>STAT 7900: Special Topic: </a:t>
            </a:r>
          </a:p>
          <a:p>
            <a:r>
              <a:rPr lang="en-US" dirty="0">
                <a:solidFill>
                  <a:schemeClr val="bg1"/>
                </a:solidFill>
                <a:latin typeface="Walter Turncoat" panose="020B0604020202020204" charset="0"/>
              </a:rPr>
              <a:t>Causal Analysis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FDCB5-F084-8EE3-64F9-3FEEE886EC0D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4738512" y="2356682"/>
            <a:ext cx="4013200" cy="182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None/>
              <a:defRPr sz="2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en-US" sz="1800" b="1" dirty="0">
                <a:solidFill>
                  <a:schemeClr val="bg1"/>
                </a:solidFill>
                <a:latin typeface="Walter Turncoat" panose="020B0604020202020204" charset="0"/>
              </a:rPr>
              <a:t>KENNESAW STATE UNIVERSITY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latin typeface="Walter Turncoat" panose="020B0604020202020204" charset="0"/>
              </a:rPr>
              <a:t>STAT 7900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58E625-98C4-4A42-C24D-4A91B5CF5611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-51800" y="2297602"/>
            <a:ext cx="4013200" cy="182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None/>
              <a:defRPr sz="2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en-US" sz="1800" b="1" dirty="0">
                <a:solidFill>
                  <a:schemeClr val="bg1"/>
                </a:solidFill>
                <a:latin typeface="Walter Turncoat" panose="020B0604020202020204" charset="0"/>
              </a:rPr>
              <a:t>Instructor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  <a:latin typeface="Walter Turncoat" panose="020B0604020202020204" charset="0"/>
              </a:rPr>
              <a:t> Dhrubajyoti Ghosh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93739B6-31BF-A8C0-52D4-A784612214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8895" y="2171700"/>
            <a:ext cx="847725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212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DAC7D-CE69-4797-9141-D38D8467B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AF0F5C-1CEF-DB34-D54C-C9135694EC2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Recap: the causal question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2B8A142-26C5-E3E7-B6E5-E3B6F00E6D0B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EDC84A5-4C86-DA30-E11E-E72BFB4DC930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Descriptive: how do outcomes differ across observed groups?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51CE94E-740A-22F8-D78C-A97D518573F5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E846E9E-6CE3-E7EF-AA8B-45C164077260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Predictive: who is likely to have the outcome?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7E7EC72-5BD3-EDC4-595B-C205BF1FD505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2CF692F-031C-99E6-F936-5C4BBB3AFBC9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Causal: what would happen if we assigned an intervention?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93D1697-5F9F-7318-0867-75975DE107D9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2622021-38FC-0CB6-99EC-0067128A17C1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Specify population, treatment, comparator, outcome, and time horizon.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53A6C86-024F-1B93-0FA9-B17D8941CC2E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Example: does Drug A lower four-week blood pressure in eligible adults?</a:t>
            </a:r>
          </a:p>
        </p:txBody>
      </p:sp>
    </p:spTree>
    <p:extLst>
      <p:ext uri="{BB962C8B-B14F-4D97-AF65-F5344CB8AC3E}">
        <p14:creationId xmlns:p14="http://schemas.microsoft.com/office/powerpoint/2010/main" val="830160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30982-937E-7CD4-F53F-F9DC2385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655D6A-0DB9-8C6F-5A9D-C604F3F60BC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Potential outcomes and the target effect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35DC68-F273-81CB-0600-F52F6BBBC6D0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8693F7B-2B1D-CAD0-D145-5E3B6297A95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0967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b="0" i="1" dirty="0">
                  <a:solidFill>
                    <a:srgbClr val="F4F1EA"/>
                  </a:solidFill>
                  <a:latin typeface="Cambria Math" panose="02040503050406030204" pitchFamily="18" charset="0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𝑌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(1)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𝑌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(0)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describe the same person under two treatments.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8693F7B-2B1D-CAD0-D145-5E3B6297A9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09675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r="-847" b="-63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A233FEB-A832-CB38-D73E-2B93FF886379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5A3FD91-E7F3-4A5B-A3FB-FC4B7334BC9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We observe only </a:t>
                </a: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i="1" dirty="0">
                  <a:solidFill>
                    <a:srgbClr val="F4F1EA"/>
                  </a:solidFill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sSub>
                        <m:sSubPr>
                          <m:ctrlP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𝑇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(1) + </m:t>
                      </m:r>
                      <m:d>
                        <m:dPr>
                          <m:ctrlP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dPr>
                        <m:e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1 − </m:t>
                          </m:r>
                          <m:sSub>
                            <m:sSubPr>
                              <m:ctrlP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sSubPr>
                            <m:e>
                              <m: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(0).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5A3FD91-E7F3-4A5B-A3FB-FC4B7334BC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0271AFA-3E8C-23AA-3334-D2625FE02911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7D52468-55EB-D310-AE3D-525067493C3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𝐴𝑇𝐸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(1) −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(0)] </m:t>
                      </m:r>
                    </m:oMath>
                  </m:oMathPara>
                </a14:m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dirty="0">
                  <a:solidFill>
                    <a:srgbClr val="F4F1EA"/>
                  </a:solidFill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in the target population.</a:t>
                </a: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7D52468-55EB-D310-AE3D-525067493C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blipFill>
                <a:blip r:embed="rId4"/>
                <a:stretch>
                  <a:fillRect l="-4068" t="-63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7178F10-5EA7-B9A8-381F-D19FD068A021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B47DF3E-BECF-05A9-BA59-D91E82364ED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279082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𝐴𝑇𝑇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(1) −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(0) |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1] </m:t>
                      </m:r>
                    </m:oMath>
                  </m:oMathPara>
                </a14:m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dirty="0">
                  <a:solidFill>
                    <a:srgbClr val="F4F1EA"/>
                  </a:solidFill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among treated people.</a:t>
                </a:r>
              </a:p>
            </p:txBody>
          </p:sp>
        </mc:Choice>
        <mc:Fallback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B47DF3E-BECF-05A9-BA59-D91E82364E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2790825"/>
                <a:ext cx="3600450" cy="962025"/>
              </a:xfrm>
              <a:prstGeom prst="rect">
                <a:avLst/>
              </a:prstGeom>
              <a:blipFill>
                <a:blip r:embed="rId5"/>
                <a:stretch>
                  <a:fillRect l="-4068" t="-63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AA40659-C63D-C1AE-D2A0-433DE67AC4D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𝑬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𝒀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| 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𝑻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] − 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𝑬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𝒀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| 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𝑻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]</m:t>
                    </m:r>
                  </m:oMath>
                </a14:m>
                <a:r>
                  <a:rPr sz="2000" b="1" dirty="0">
                    <a:solidFill>
                      <a:srgbClr val="F5B62D"/>
                    </a:solidFill>
                    <a:ea typeface="Arial"/>
                    <a:cs typeface="Arial"/>
                  </a:rPr>
                  <a:t> can differ from the ATE.</a:t>
                </a: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AA40659-C63D-C1AE-D2A0-433DE67AC4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blipFill>
                <a:blip r:embed="rId6"/>
                <a:stretch>
                  <a:fillRect t="-148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8749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2992C-7C20-14DC-B0BD-F035BADED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516985-449D-9859-37B0-E3AC254A094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Four assumptions for causal interpretation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5779984-5E98-59BC-2E69-F45BDC3924FB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FC8C401-F31D-FE14-D68E-CA0A1BD444B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Consistency: treatment received matches the intervention defining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𝑡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).</m:t>
                    </m:r>
                  </m:oMath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FC8C401-F31D-FE14-D68E-CA0A1BD444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E7539A4-1E75-9A85-7A73-CF5386873466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8D4B2A5-FDFA-AD6D-032D-A980524C316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Exchangeability: </a:t>
                </a:r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dirty="0">
                  <a:solidFill>
                    <a:srgbClr val="F4F1EA"/>
                  </a:solidFill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{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(1),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(0)} ⟂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|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8D4B2A5-FDFA-AD6D-032D-A980524C31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487647B-FAD2-CA4E-8B5D-DB2E85F33F61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9904017-BD38-7C9A-4FC1-B0A81962F3C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Positivity: both treatments occur within relevant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profiles.</a:t>
                </a:r>
              </a:p>
            </p:txBody>
          </p:sp>
        </mc:Choice>
        <mc:Fallback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9904017-BD38-7C9A-4FC1-B0A81962F3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blipFill>
                <a:blip r:embed="rId4"/>
                <a:stretch>
                  <a:fillRect l="-4068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3D6B36B-54D4-D051-2B4E-4A37B6F1707A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C1E4742-3DFA-C9D3-FE2B-06099B00A1C4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No interference: another person’s treatment does not change my outcome.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ED60BC-9B2A-A2D5-9D89-4C94448AE544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Measured covariate balance alone cannot verify all four assumptions.</a:t>
            </a:r>
          </a:p>
        </p:txBody>
      </p:sp>
    </p:spTree>
    <p:extLst>
      <p:ext uri="{BB962C8B-B14F-4D97-AF65-F5344CB8AC3E}">
        <p14:creationId xmlns:p14="http://schemas.microsoft.com/office/powerpoint/2010/main" val="2064409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FA798-4307-B0AE-B4AD-90C81B423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0E73E5-E1BF-E8A0-C836-73DDF258A4B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Adjustment depends on the causal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2707AE0-31D8-918F-CC17-3D4F620706EA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79340632"/>
                  </p:ext>
                </p:extLst>
              </p:nvPr>
            </p:nvGraphicFramePr>
            <p:xfrm>
              <a:off x="457200" y="1219200"/>
              <a:ext cx="8229600" cy="251460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Role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Example path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For the total effect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Confounder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←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𝐶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→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Block the backdoor path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Mediator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→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𝑀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→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Preserve this causal pathway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Collider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→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𝑀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←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𝑈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→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Avoid opening the closed path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2707AE0-31D8-918F-CC17-3D4F620706EA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79340632"/>
                  </p:ext>
                </p:extLst>
              </p:nvPr>
            </p:nvGraphicFramePr>
            <p:xfrm>
              <a:off x="457200" y="1219200"/>
              <a:ext cx="8229600" cy="251460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Role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Example path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For the total effect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Confounder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101923" r="-100667" b="-205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Block the backdoor path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Mediator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203883" r="-100667" b="-1077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Preserve this causal pathway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Collider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303883" r="-100667" b="-77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Avoid opening the closed path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F98AE1A-3EEB-A27A-D470-F23C0076C5BF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 variable’s role depends on the path and the estimand.</a:t>
            </a:r>
          </a:p>
        </p:txBody>
      </p:sp>
    </p:spTree>
    <p:extLst>
      <p:ext uri="{BB962C8B-B14F-4D97-AF65-F5344CB8AC3E}">
        <p14:creationId xmlns:p14="http://schemas.microsoft.com/office/powerpoint/2010/main" val="3405034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E851-908F-9D9D-D936-AEF03C40A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DA1908-6E21-F138-3362-C5617A831C42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Identification through the g-formula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8DDC34C-7040-A76D-B274-773A56B33E3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147293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𝑡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)] 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ₓ{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|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𝑡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,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]}.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8DDC34C-7040-A76D-B274-773A56B33E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147293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285F9150-7C1D-8084-49BE-30841C2B1B02}"/>
              </a:ext>
            </a:extLst>
          </p:cNvPr>
          <p:cNvSpPr>
            <a:spLocks noGrp="1"/>
          </p:cNvSpPr>
          <p:nvPr/>
        </p:nvSpPr>
        <p:spPr>
          <a:xfrm>
            <a:off x="571500" y="1775943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Within each X stratum, use comparable observed units to estimate the treatment-specific mean.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BE3D20-8813-C6CF-FE08-09A42266E942}"/>
              </a:ext>
            </a:extLst>
          </p:cNvPr>
          <p:cNvSpPr>
            <a:spLocks noGrp="1"/>
          </p:cNvSpPr>
          <p:nvPr/>
        </p:nvSpPr>
        <p:spPr>
          <a:xfrm>
            <a:off x="571500" y="2509368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Average those means over one common target distribution of X.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B201E8-D771-79D5-511E-6B0F88B45737}"/>
              </a:ext>
            </a:extLst>
          </p:cNvPr>
          <p:cNvSpPr>
            <a:spLocks noGrp="1"/>
          </p:cNvSpPr>
          <p:nvPr/>
        </p:nvSpPr>
        <p:spPr>
          <a:xfrm>
            <a:off x="571500" y="3242793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DAG and assumptions justify this replacement of missing counterfactual means.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37835A-924F-30FD-E752-15EB5B375369}"/>
              </a:ext>
            </a:extLst>
          </p:cNvPr>
          <p:cNvSpPr>
            <a:spLocks noGrp="1"/>
          </p:cNvSpPr>
          <p:nvPr/>
        </p:nvSpPr>
        <p:spPr>
          <a:xfrm>
            <a:off x="457200" y="4252443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Identification gives an observed-data formula. Estimation computes it.</a:t>
            </a:r>
          </a:p>
        </p:txBody>
      </p:sp>
    </p:spTree>
    <p:extLst>
      <p:ext uri="{BB962C8B-B14F-4D97-AF65-F5344CB8AC3E}">
        <p14:creationId xmlns:p14="http://schemas.microsoft.com/office/powerpoint/2010/main" val="3097259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6E5B9-E201-4E04-AF5B-199EFB016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68FE56-0F8D-BA49-EEBF-F71B6EFD8D7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g-computation and the treatment coefficient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E19FD7F-23ED-2061-516D-2E739215A7A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Fit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𝑚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𝑡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=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|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𝑡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].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E19FD7F-23ED-2061-516D-2E739215A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l="-1905"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7C6A15F-418F-B0C3-A39A-651EF2F71CF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Predict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𝑚</m:t>
                        </m:r>
                      </m:e>
                    </m:acc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(1,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𝑋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𝑚</m:t>
                        </m:r>
                      </m:e>
                    </m:acc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(0,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𝑋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for each person.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7C6A15F-418F-B0C3-A39A-651EF2F71C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l="-1905"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5554C71-D276-3381-3332-99E2AF7EF75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Average: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𝜏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𝑔</m:t>
                        </m:r>
                      </m:sub>
                    </m:sSub>
                    <m:r>
                      <a:rPr lang="en-US" sz="195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sSup>
                      <m:sSupPr>
                        <m:ctrlPr>
                          <a:rPr lang="en-US" sz="195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en-US" sz="195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𝑛</m:t>
                        </m:r>
                      </m:e>
                      <m:sup>
                        <m:r>
                          <a:rPr lang="en-US" sz="195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-1</m:t>
                        </m:r>
                      </m:sup>
                    </m:sSup>
                    <m:nary>
                      <m:naryPr>
                        <m:chr m:val="∑"/>
                        <m:supHide m:val="on"/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naryPr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  <m:sup/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1950" i="1" dirty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19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9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  <m:t>ᵢ</m:t>
                                </m:r>
                              </m:e>
                            </m:d>
                            <m:r>
                              <a:rPr lang="en-US" sz="1950" i="1" dirty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̂"/>
                                <m:ctrlPr>
                                  <a:rPr lang="en-US" sz="19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9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  <m:t>0,</m:t>
                                </m:r>
                                <m: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  <m:t>ᵢ</m:t>
                                </m:r>
                              </m:e>
                            </m:d>
                          </m:e>
                        </m:d>
                      </m:e>
                    </m:nary>
                    <m:r>
                      <a:rPr lang="en-US" sz="195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5554C71-D276-3381-3332-99E2AF7EF7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blipFill>
                <a:blip r:embed="rId4"/>
                <a:stretch>
                  <a:fillRect l="-1905" t="-85437" b="-7378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58723E26-B2A7-30A8-95C3-1B692AE4E35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×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</m:oMath>
                </a14:m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interaction, the contrast varies with X.</a:t>
                </a:r>
              </a:p>
            </p:txBody>
          </p:sp>
        </mc:Choice>
        <mc:Fallback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58723E26-B2A7-30A8-95C3-1B692AE4E3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5"/>
                <a:stretch>
                  <a:fillRect l="-1905"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34AACEE-85B8-85F5-2E94-9F8ABB4E91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𝒎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𝒕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𝒙</m:t>
                    </m:r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=</m:t>
                    </m:r>
                    <m:sSub>
                      <m:sSubPr>
                        <m:ctrlP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𝜷</m:t>
                        </m:r>
                      </m:e>
                      <m:sub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𝟎</m:t>
                        </m:r>
                      </m:sub>
                    </m:sSub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+ </m:t>
                    </m:r>
                    <m:sSub>
                      <m:sSubPr>
                        <m:ctrlP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𝜷</m:t>
                        </m:r>
                      </m:e>
                      <m:sub>
                        <m: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𝑻</m:t>
                        </m:r>
                      </m:sub>
                    </m:sSub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𝒕</m:t>
                    </m:r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+ </m:t>
                    </m:r>
                    <m:sSub>
                      <m:sSubPr>
                        <m:ctrlP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𝜷</m:t>
                        </m:r>
                      </m:e>
                      <m:sub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𝑿</m:t>
                        </m:r>
                      </m:sub>
                    </m:sSub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𝒙</m:t>
                    </m:r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+ </m:t>
                    </m:r>
                    <m:sSub>
                      <m:sSubPr>
                        <m:ctrlP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𝜷</m:t>
                        </m:r>
                      </m:e>
                      <m:sub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𝑻𝑿</m:t>
                        </m:r>
                      </m:sub>
                    </m:sSub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𝒕𝒙</m:t>
                    </m:r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 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 </m:t>
                    </m:r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𝑨𝑻𝑬</m:t>
                    </m:r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sSub>
                      <m:sSubPr>
                        <m:ctrlP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𝜷</m:t>
                        </m:r>
                      </m:e>
                      <m:sub>
                        <m: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𝑻</m:t>
                        </m:r>
                      </m:sub>
                    </m:sSub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+ </m:t>
                    </m:r>
                    <m:sSub>
                      <m:sSubPr>
                        <m:ctrlP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𝜷</m:t>
                        </m:r>
                      </m:e>
                      <m:sub>
                        <m:r>
                          <a:rPr lang="en-US" sz="1725" b="1" i="1" dirty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𝑻𝑿</m:t>
                        </m:r>
                      </m:sub>
                    </m:sSub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𝑬</m:t>
                    </m:r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𝑿</m:t>
                    </m:r>
                    <m:r>
                      <a:rPr lang="en-US" sz="1725" b="1" i="1" dirty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].</m:t>
                    </m:r>
                  </m:oMath>
                </a14:m>
                <a:endParaRPr sz="1725" b="1" dirty="0">
                  <a:solidFill>
                    <a:srgbClr val="F5B62D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34AACEE-85B8-85F5-2E94-9F8ABB4E91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blipFill>
                <a:blip r:embed="rId6"/>
                <a:stretch>
                  <a:fillRect t="-135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3604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647ED-D867-9130-083F-1853A7D5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DE149E-A58E-5B21-E0F8-F06B0501F3B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Structural causal models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F70E6D6-1538-D8BD-48C2-8028CE5930A3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963988B-1AD7-EC06-9F4B-D8AE953CBB5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𝐶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:=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𝑓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𝐶</m:t>
                        </m:r>
                      </m:sub>
                    </m:sSub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sSub>
                      <m:sSubPr>
                        <m:ctrlPr>
                          <a:rPr lang="en-US" sz="180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𝑈</m:t>
                        </m:r>
                      </m:e>
                      <m:sub>
                        <m:r>
                          <a:rPr lang="en-US" sz="180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𝐶</m:t>
                        </m:r>
                      </m:sub>
                    </m:sSub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generates baseline severity.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963988B-1AD7-EC06-9F4B-D8AE953CBB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E58F2E8-E97F-654E-68DD-09171C5261C1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705A9E97-FF20-99FF-57B0-DB00379FAD5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:=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𝑓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𝑇</m:t>
                        </m:r>
                      </m:sub>
                    </m:sSub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𝐶</m:t>
                    </m:r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</m:t>
                    </m:r>
                    <m:sSub>
                      <m:sSubPr>
                        <m:ctrlPr>
                          <a:rPr lang="en-US" sz="180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𝑈</m:t>
                        </m:r>
                      </m:e>
                      <m:sub>
                        <m:r>
                          <a:rPr lang="en-US" sz="180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𝑇</m:t>
                        </m:r>
                      </m:sub>
                    </m:sSub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generates treatment assignment.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705A9E97-FF20-99FF-57B0-DB00379FAD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8280" r="-355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D514B7E-B254-B25B-26F1-52669630C003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F6CD970-3050-70CB-EF30-0B868F4F20B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:=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𝑓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𝑌</m:t>
                        </m:r>
                      </m:sub>
                    </m:sSub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𝐶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</m:t>
                    </m:r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</m:t>
                    </m:r>
                    <m:sSub>
                      <m:sSubPr>
                        <m:ctrlPr>
                          <a:rPr lang="en-US" sz="180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𝑈</m:t>
                        </m:r>
                      </m:e>
                      <m:sub>
                        <m:r>
                          <a:rPr lang="en-US" sz="180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𝑌</m:t>
                        </m:r>
                      </m:sub>
                    </m:sSub>
                    <m:r>
                      <a:rPr lang="en-US" sz="180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generates the outcome.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F6CD970-3050-70CB-EF30-0B868F4F2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blipFill>
                <a:blip r:embed="rId4"/>
                <a:stretch>
                  <a:fillRect l="-4068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E2B1A2E-831C-C40D-8A16-E3C29273F6F8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701C590-D30B-5488-6036-C8D6999DB95B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structural rules state how the system responds to interventions.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697FC6E-93A3-C94E-1F58-A3810A179D19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 DAG gives the causal structure. An SCM also specifies the mechanisms.</a:t>
            </a:r>
          </a:p>
        </p:txBody>
      </p:sp>
    </p:spTree>
    <p:extLst>
      <p:ext uri="{BB962C8B-B14F-4D97-AF65-F5344CB8AC3E}">
        <p14:creationId xmlns:p14="http://schemas.microsoft.com/office/powerpoint/2010/main" val="2953323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64F89-5156-9E4E-B2A4-08F6AD17C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41D15F-2D39-8ADA-1398-8A958C74266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Conditioning, intervention, counterfactual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4DD8CFE-A709-9598-9AD2-B9E713F83F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5269248"/>
                  </p:ext>
                </p:extLst>
              </p:nvPr>
            </p:nvGraphicFramePr>
            <p:xfrm>
              <a:off x="405685" y="1083972"/>
              <a:ext cx="8229600" cy="251460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Operation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Meaning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What stays fixed?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Condition on </a:t>
                          </a:r>
                          <a14:m>
                            <m:oMath xmlns:m="http://schemas.openxmlformats.org/officeDocument/2006/math">
                              <m:r>
                                <a:rPr lang="en-US" sz="16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𝑇</m:t>
                              </m:r>
                              <m:r>
                                <a:rPr lang="en-US" sz="16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 = 1</m:t>
                              </m:r>
                            </m:oMath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Select people who received treatment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Their observed characteristics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𝑑𝑜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= 1)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Replace the treatment rule with </a:t>
                          </a:r>
                          <a14:m>
                            <m:oMath xmlns:m="http://schemas.openxmlformats.org/officeDocument/2006/math">
                              <m:r>
                                <a:rPr lang="en-US" sz="16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𝑇</m:t>
                              </m:r>
                              <m:r>
                                <a:rPr lang="en-US" sz="16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 := 1</m:t>
                              </m:r>
                            </m:oMath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Other structural rules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50" b="0" i="1" dirty="0" smtClean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50" b="0" i="1" dirty="0" smtClean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650" b="0" i="1" dirty="0" smtClean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Outcome for person </a:t>
                          </a:r>
                          <a14:m>
                            <m:oMath xmlns:m="http://schemas.openxmlformats.org/officeDocument/2006/math">
                              <m:r>
                                <a:rPr lang="en-US" sz="16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𝑖</m:t>
                              </m:r>
                            </m:oMath>
                          </a14:m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 under treatment 1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That person’s background factors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4DD8CFE-A709-9598-9AD2-B9E713F83F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5269248"/>
                  </p:ext>
                </p:extLst>
              </p:nvPr>
            </p:nvGraphicFramePr>
            <p:xfrm>
              <a:off x="405685" y="1083972"/>
              <a:ext cx="8229600" cy="251460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Operation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Meaning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What stays fixed?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22" t="-102913" r="-200667" b="-2087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Select people who received treatment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Their observed characteristics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22" t="-200962" r="-200667" b="-106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00962" r="-100222" b="-106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Other structural rules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22" t="-303883" r="-200667" b="-77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303883" r="-100222" b="-77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That person’s background factors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8640711-A733-E83B-BFBD-BA36F4BF7317}"/>
              </a:ext>
            </a:extLst>
          </p:cNvPr>
          <p:cNvSpPr>
            <a:spLocks noGrp="1"/>
          </p:cNvSpPr>
          <p:nvPr/>
        </p:nvSpPr>
        <p:spPr>
          <a:xfrm>
            <a:off x="405685" y="4265322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Intervening changes assignment. Conditioning selects an observed subgroup.</a:t>
            </a:r>
          </a:p>
        </p:txBody>
      </p:sp>
    </p:spTree>
    <p:extLst>
      <p:ext uri="{BB962C8B-B14F-4D97-AF65-F5344CB8AC3E}">
        <p14:creationId xmlns:p14="http://schemas.microsoft.com/office/powerpoint/2010/main" val="1039443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8D4F-4F83-E800-7D79-9FE4648FD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B6BFD3-5870-C4C0-F6AE-583769CFB47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Simulation: a known causal world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133A4A6-D28E-C2B7-5B10-FB286C9C4C2C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CCB3799-AE32-D1B0-137F-B55DE16E72B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C is baseline severity, with </a:t>
                </a:r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𝐶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∼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𝑁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(0,1).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CCB3799-AE32-D1B0-137F-B55DE16E7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E088B4F-E98C-1979-E4E5-DAA7EA95E4E4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F800BDC-E9B1-312B-08ED-49BB31FCE06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86350" y="1528762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𝑃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1 |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𝐶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=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𝑙𝑜𝑔𝑖𝑠𝑡𝑖𝑐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(1.2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𝐶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F800BDC-E9B1-312B-08ED-49BB31FCE0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6350" y="1528762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E4F8B69-4546-6F11-5191-204407C825DB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A46B97F-9FFF-83CF-0D17-3E6156B4A85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120 + 10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𝐶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− 6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+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𝜖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</m:t>
                      </m:r>
                    </m:oMath>
                  </m:oMathPara>
                </a14:m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dirty="0">
                  <a:solidFill>
                    <a:srgbClr val="F4F1EA"/>
                  </a:solidFill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with independent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𝜖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∼ 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𝑁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(0,25).</m:t>
                    </m:r>
                  </m:oMath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A46B97F-9FFF-83CF-0D17-3E6156B4A8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blipFill>
                <a:blip r:embed="rId4"/>
                <a:stretch>
                  <a:fillRect l="-406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23C815D-E456-BE60-D74F-68F4CC570CDF}"/>
              </a:ext>
            </a:extLst>
          </p:cNvPr>
          <p:cNvSpPr>
            <a:spLocks noGrp="1"/>
          </p:cNvSpPr>
          <p:nvPr/>
        </p:nvSpPr>
        <p:spPr>
          <a:xfrm>
            <a:off x="4857750" y="257175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13C915-7E41-42C7-FEF9-F8DF48615B33}"/>
              </a:ext>
            </a:extLst>
          </p:cNvPr>
          <p:cNvSpPr>
            <a:spLocks noGrp="1"/>
          </p:cNvSpPr>
          <p:nvPr/>
        </p:nvSpPr>
        <p:spPr>
          <a:xfrm>
            <a:off x="5057775" y="2831473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Higher severity increases treatment probability and blood pressure.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92FAA2D-BCCD-DBD2-42DE-3AD96719BD9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True effect: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𝒀</m:t>
                        </m:r>
                      </m:e>
                      <m:sub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𝒊</m:t>
                        </m:r>
                      </m:sub>
                    </m:sSub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𝟏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− </m:t>
                    </m:r>
                    <m:sSub>
                      <m:sSubPr>
                        <m:ctrlP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𝒀</m:t>
                        </m:r>
                      </m:e>
                      <m:sub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𝒊</m:t>
                        </m:r>
                      </m:sub>
                    </m:sSub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𝟎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= −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𝟔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𝒎𝒎𝑯𝒈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</m:t>
                    </m:r>
                  </m:oMath>
                </a14:m>
                <a:r>
                  <a:rPr lang="en-US"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for every person.</a:t>
                </a:r>
                <a:endParaRPr sz="1725" b="1" dirty="0">
                  <a:solidFill>
                    <a:srgbClr val="F5B62D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92FAA2D-BCCD-DBD2-42DE-3AD96719BD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blipFill>
                <a:blip r:embed="rId5"/>
                <a:stretch>
                  <a:fillRect t="-135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9928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C3A4-BAD7-6044-3DB8-7237E80E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F85C75-B898-DBC0-8813-C30734C1FE8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Simulation: generate and compare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F0939C-26B1-33D9-2728-A44E484011A2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E0E445-78CD-CE21-C307-8C1828618566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set.seed(7900)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n &lt;- 5000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 &lt;- rnorm(n)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T &lt;- rbinom(n, 1, plogis(1.2 * C))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eps &lt;- rnorm(n, sd = 5)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Y &lt;- 120 + 10 * C - 6 * T + eps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dat &lt;- data.frame(C, T, Y)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coef(lm(Y ~ T, data = dat))["T"]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coef(lm(Y ~ T + C, data = dat))["T"]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740949-C659-40DD-883F-DB4C1D224250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Predict the crude and adjusted results before running the code.</a:t>
            </a:r>
          </a:p>
        </p:txBody>
      </p:sp>
    </p:spTree>
    <p:extLst>
      <p:ext uri="{BB962C8B-B14F-4D97-AF65-F5344CB8AC3E}">
        <p14:creationId xmlns:p14="http://schemas.microsoft.com/office/powerpoint/2010/main" val="2576236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63387-86FE-94E5-5C73-5BBB1390C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0D3634-3EBA-9186-CCAB-E03ABC89F28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Simulation: association versus intervention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B1836B76-ACAD-835C-BD7F-629B971756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20775222"/>
                  </p:ext>
                </p:extLst>
              </p:nvPr>
            </p:nvGraphicFramePr>
            <p:xfrm>
              <a:off x="457200" y="1219200"/>
              <a:ext cx="8229600" cy="251460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Comparison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Approximate result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Reason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Crude observed contrast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+3.5 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𝑚𝑚𝐻𝑔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Treated patients have greater severity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Adjustment for C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−6.0 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𝑚𝑚𝐻𝑔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Correct outcome model blocks confounding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Same-person interventions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Exactly </a:t>
                          </a:r>
                          <a14:m>
                            <m:oMath xmlns:m="http://schemas.openxmlformats.org/officeDocument/2006/math">
                              <m:r>
                                <a:rPr lang="en-US" sz="16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−6 </m:t>
                              </m:r>
                              <m:r>
                                <a:rPr lang="en-US" sz="16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𝑚𝑚𝐻𝑔</m:t>
                              </m:r>
                            </m:oMath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The structural contrast is constant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B1836B76-ACAD-835C-BD7F-629B971756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20775222"/>
                  </p:ext>
                </p:extLst>
              </p:nvPr>
            </p:nvGraphicFramePr>
            <p:xfrm>
              <a:off x="457200" y="1219200"/>
              <a:ext cx="8229600" cy="251460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Comparison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Approximate result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Reason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Crude observed contrast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101923" r="-100667" b="-205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Treated patients have greater severity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Adjustment for C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203883" r="-100667" b="-1077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Correct outcome model blocks confounding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Same-person interventions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303883" r="-100667" b="-77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The structural contrast is constant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1348A09-C2CA-94D4-4588-9D73F7F8E8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𝒀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₁ = 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𝟏𝟐𝟎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+ 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𝟏𝟎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𝑪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− 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𝟔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+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𝝐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</m:t>
                    </m:r>
                  </m:oMath>
                </a14:m>
                <a:r>
                  <a:rPr lang="en-US"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 and  </a:t>
                </a:r>
                <a14:m>
                  <m:oMath xmlns:m="http://schemas.openxmlformats.org/officeDocument/2006/math"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𝒀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₀ = 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𝟏𝟐𝟎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+ 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𝟏𝟎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𝑪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+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𝝐</m:t>
                    </m:r>
                  </m:oMath>
                </a14:m>
                <a:r>
                  <a:rPr lang="el-GR"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725" b="1" dirty="0">
                  <a:solidFill>
                    <a:srgbClr val="F5B62D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1348A09-C2CA-94D4-4588-9D73F7F8E8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blipFill>
                <a:blip r:embed="rId3"/>
                <a:stretch>
                  <a:fillRect t="-135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9352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65D11-92A2-6C1D-1B86-190BAF434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844823-4509-3CA6-1843-1DBA0AF9FF0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Randomization and Identification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5AF56F6-1B42-2A40-D07A-230851E66156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9163B67-710D-8361-7C6C-F4F1FE18711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Under simple random assignment,</a:t>
                </a:r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</a:t>
                </a:r>
                <a:endParaRPr lang="en-US" sz="1800" b="0" i="1" dirty="0">
                  <a:solidFill>
                    <a:srgbClr val="F4F1EA"/>
                  </a:solidFill>
                  <a:latin typeface="Cambria Math" panose="02040503050406030204" pitchFamily="18" charset="0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⟂ {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(1),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(0),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}.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9163B67-710D-8361-7C6C-F4F1FE1871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 r="-118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7922FFB-35BD-89C7-8E53-222397805045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3F2F8C7-78A1-8ECA-5A86-A6D9AB7600D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With consistency, </a:t>
                </a:r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dirty="0">
                  <a:solidFill>
                    <a:srgbClr val="F4F1EA"/>
                  </a:solidFill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𝑡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)] =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|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𝑡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].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3F2F8C7-78A1-8ECA-5A86-A6D9AB7600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CF946E5-4DD0-E02F-25CB-51E0689D0EE2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505D1D-40DA-D00F-A2EF-386EE3D2097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31228" y="2781903"/>
                <a:ext cx="4000499" cy="1008443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Therefore </a:t>
                </a:r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dirty="0">
                  <a:solidFill>
                    <a:srgbClr val="F4F1EA"/>
                  </a:solidFill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𝐴𝑇𝐸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|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1] −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|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0].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505D1D-40DA-D00F-A2EF-386EE3D209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28" y="2781903"/>
                <a:ext cx="4000499" cy="1008443"/>
              </a:xfrm>
              <a:prstGeom prst="rect">
                <a:avLst/>
              </a:prstGeom>
              <a:blipFill>
                <a:blip r:embed="rId4"/>
                <a:stretch>
                  <a:fillRect l="-3501" t="-7831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F0D044D-9EED-A3FB-8FAC-C9B7BA58C9E6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0956EA0-BBF6-AA61-46C7-A7D0F39D5759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Randomization balances baseline causes in expectation, not exactly in every sample.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66789A-DD54-7D94-9D80-B1046773F181}"/>
              </a:ext>
            </a:extLst>
          </p:cNvPr>
          <p:cNvSpPr>
            <a:spLocks noGrp="1"/>
          </p:cNvSpPr>
          <p:nvPr/>
        </p:nvSpPr>
        <p:spPr>
          <a:xfrm>
            <a:off x="84594" y="4400549"/>
            <a:ext cx="8974812" cy="5994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Randomization identifies the assignment effect when outcomes and design support it.</a:t>
            </a:r>
          </a:p>
        </p:txBody>
      </p:sp>
    </p:spTree>
    <p:extLst>
      <p:ext uri="{BB962C8B-B14F-4D97-AF65-F5344CB8AC3E}">
        <p14:creationId xmlns:p14="http://schemas.microsoft.com/office/powerpoint/2010/main" val="281463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52104-16CA-03B7-86D3-42F86F692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41A52D-4454-4EFD-ABBC-44CED44590A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Randomized designs and analysis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4BFB751-6B36-9E7C-CB82-03E61C129EAD}"/>
              </a:ext>
            </a:extLst>
          </p:cNvPr>
          <p:cNvGraphicFramePr/>
          <p:nvPr/>
        </p:nvGraphicFramePr>
        <p:xfrm>
          <a:off x="457200" y="1219200"/>
          <a:ext cx="8229600" cy="25146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 dirty="0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Design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Assignment mechanism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Analysis implication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Complete / Bernoulli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Individuals receive random assignments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Respect fixed versus random arm sizes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Blocked / paired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Randomize within strata or pairs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Account for strata or pairs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Cluster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Randomize clinics or other groups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Account for within-cluster dependence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3E4651F-BA17-425B-0CE5-58E28800AF37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randomization unit determines how we quantify uncertainty.</a:t>
            </a:r>
          </a:p>
        </p:txBody>
      </p:sp>
    </p:spTree>
    <p:extLst>
      <p:ext uri="{BB962C8B-B14F-4D97-AF65-F5344CB8AC3E}">
        <p14:creationId xmlns:p14="http://schemas.microsoft.com/office/powerpoint/2010/main" val="13278076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714C-97BA-2026-EB4A-61D4AEDBC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6D4A0E-AA27-31EC-C2B4-74B2F654825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Estimation and uncertainty in an RCT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02CDA97-D099-4D27-A3D4-EF7F3643C9F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081154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Difference in means: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𝜏</m:t>
                        </m:r>
                      </m:e>
                    </m:acc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−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02CDA97-D099-4D27-A3D4-EF7F3643C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081154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F37BFF2-5C9C-62DA-7115-CC2C7C1B69B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814579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Independent-arm SE: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950" b="0" i="1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radPr>
                      <m:deg/>
                      <m:e>
                        <m:d>
                          <m:dPr>
                            <m:ctrlPr>
                              <a:rPr lang="en-US" sz="1950" i="1" dirty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sSub>
                                  <m:sSubPr>
                                    <m:ctrlP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sz="1950" i="1" dirty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1950" i="1" dirty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sSub>
                                  <m:sSubPr>
                                    <m:ctrlP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sz="1950" i="1" dirty="0">
                                        <a:solidFill>
                                          <a:srgbClr val="F4F1E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rad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F37BFF2-5C9C-62DA-7115-CC2C7C1B69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814579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612FC22-450B-D6AF-E307-90298BE55CB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2619376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Example: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𝜏</m:t>
                        </m:r>
                      </m:e>
                    </m:acc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−5.3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𝑆𝐸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1.8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𝑚𝑚𝐻𝑔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612FC22-450B-D6AF-E307-90298BE55C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2619376"/>
                <a:ext cx="8001000" cy="628650"/>
              </a:xfrm>
              <a:prstGeom prst="rect">
                <a:avLst/>
              </a:prstGeom>
              <a:blipFill>
                <a:blip r:embed="rId4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4A3165B-8047-456E-949B-65543B14886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281429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Approximate 95% CI: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−5.3 ± 1.96 × 1.8 = [−8.83, −1.77].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4A3165B-8047-456E-949B-65543B1488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281429"/>
                <a:ext cx="8001000" cy="628650"/>
              </a:xfrm>
              <a:prstGeom prst="rect">
                <a:avLst/>
              </a:prstGeom>
              <a:blipFill>
                <a:blip r:embed="rId5"/>
                <a:stretch>
                  <a:fillRect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6E635A16-9B17-3935-10EC-6D4C0714DB12}"/>
              </a:ext>
            </a:extLst>
          </p:cNvPr>
          <p:cNvSpPr>
            <a:spLocks noGrp="1"/>
          </p:cNvSpPr>
          <p:nvPr/>
        </p:nvSpPr>
        <p:spPr>
          <a:xfrm>
            <a:off x="457200" y="4291079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2000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A confidence interval measures sampling uncertainty, not the validity of all assumptions.</a:t>
            </a:r>
          </a:p>
        </p:txBody>
      </p:sp>
    </p:spTree>
    <p:extLst>
      <p:ext uri="{BB962C8B-B14F-4D97-AF65-F5344CB8AC3E}">
        <p14:creationId xmlns:p14="http://schemas.microsoft.com/office/powerpoint/2010/main" val="2791032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418A2-B77D-9760-F512-C9CFACEBC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84DE04-708F-7E74-2308-6A729685DE9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Assignment, treatment received, and outcome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1F7FD5-F3E8-512C-C2F5-8DD7C89B289B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090EA95-C2DD-DC44-25AC-9B21BF33DBD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43827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just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𝑍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denotes randomized assignment.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denotes treatment </a:t>
                </a: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received</a:t>
                </a: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090EA95-C2DD-DC44-25AC-9B21BF33DB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438275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2373" t="-8228" r="-406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979EE72-8EDC-9C64-A0B8-EADE1DC5BF79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CB6E414-384D-4846-8C06-D243672335D0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An intention-to-treat comparison preserves the randomized assignment contrast.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370130-D200-0F9F-C750-E2FE14985F08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61A51E-9F0E-FBFC-56FB-C46DE1544FD4}"/>
              </a:ext>
            </a:extLst>
          </p:cNvPr>
          <p:cNvSpPr>
            <a:spLocks noGrp="1"/>
          </p:cNvSpPr>
          <p:nvPr/>
        </p:nvSpPr>
        <p:spPr>
          <a:xfrm>
            <a:off x="355577" y="2905125"/>
            <a:ext cx="3860845" cy="101488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just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Comparing recipients can reintroduce selection when adherence differs.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5D81CBE-6A5E-1DC0-3AA6-E2D17532659A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E293A7-B4F7-8AA8-50E3-62E8B7E5F0D3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 causal effect of treatment received needs additional assumptions or design.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E0B32A-3149-7CDB-C834-B3E97F61324F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Randomizing Z does not automatically make T unconfounded.</a:t>
            </a:r>
          </a:p>
        </p:txBody>
      </p:sp>
    </p:spTree>
    <p:extLst>
      <p:ext uri="{BB962C8B-B14F-4D97-AF65-F5344CB8AC3E}">
        <p14:creationId xmlns:p14="http://schemas.microsoft.com/office/powerpoint/2010/main" val="17203720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FBCF8-38DA-0343-16E2-94337085C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D61329-7161-AE4D-9330-F3193BE51A95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Real Data: Job trainings and earnings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F02FA1-F7D0-938E-D436-51CEA3C80B85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CA26C2-1FF8-E03F-BC04-0ADEE0EBCD34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LaLonde data: 614 people, 185 treated and 429 comparison units.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16392B0-06CD-9FA1-1922-26D7499A9664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B8E9A6-74F1-9DAD-FE3E-4D90CB86108A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Treatment: participation in the job-training program.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93DF48C-8109-0511-562F-75022D45585C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F69DF8-96B6-272D-A76B-8A8569C791D3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Outcome: earnings in 1978, measured in dollars.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3B981C8-CBD7-F962-0982-3DA9DAA6A4B5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BC2EAF-9F90-E3A9-D14D-98839A1F2856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Baseline X includes demographics and earnings in 1974 and 1975.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008D3D5-D697-4B98-8733-5AF2F3D15B9A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Question: what would earnings be under training versus no training?</a:t>
            </a:r>
          </a:p>
        </p:txBody>
      </p:sp>
    </p:spTree>
    <p:extLst>
      <p:ext uri="{BB962C8B-B14F-4D97-AF65-F5344CB8AC3E}">
        <p14:creationId xmlns:p14="http://schemas.microsoft.com/office/powerpoint/2010/main" val="489382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F3EE8-68D2-FA40-CD0C-C76B8A50B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69EEA1-9DEC-D3CB-D5EE-F0C562EDCE4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Real data: baseline differences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4C9BD5-52E9-8FA8-239A-BD616BB35A7C}"/>
              </a:ext>
            </a:extLst>
          </p:cNvPr>
          <p:cNvGraphicFramePr/>
          <p:nvPr/>
        </p:nvGraphicFramePr>
        <p:xfrm>
          <a:off x="457200" y="1219200"/>
          <a:ext cx="8229600" cy="276225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1650" b="1" dirty="0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Treated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Comparison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25.8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28.0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Married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18.9%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51.3%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Black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84.3%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20.3%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1974 earnings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$2,096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$5,619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177CD74-AAB4-ECB6-2221-FCBF2CA16E7D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1978 earnings: $6,349 versus $6,984. Crude difference ≈ −$635.</a:t>
            </a:r>
          </a:p>
        </p:txBody>
      </p:sp>
    </p:spTree>
    <p:extLst>
      <p:ext uri="{BB962C8B-B14F-4D97-AF65-F5344CB8AC3E}">
        <p14:creationId xmlns:p14="http://schemas.microsoft.com/office/powerpoint/2010/main" val="3083699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3867E-9AA0-4D3D-C6A3-A6512C276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AD5803-7CDD-56F3-2CE0-A8D7E304CB2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Real data: standardize model predictions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CBBAA8-F525-29BE-BC81-2CFA7A446AE5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12583A-6ACE-49E2-B5FD-EAD822B56B9A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library(MatchIt)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data("lalonde", package = "MatchIt")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 &lt;- lalonde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fit &lt;- lm(re78 ~ treat + age + educ + race + married +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nodegree + re74 + re75, data = d)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y1 &lt;- predict(fit, transform(d, treat = 1))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y0 &lt;- predict(fit, transform(d, treat = 0))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mean(y1 - y0)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coef(fit)["treat"]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55EF29-B485-7088-429C-7FADE0C56F24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These coincide for this additive linear model without treatment interactions.</a:t>
            </a:r>
          </a:p>
        </p:txBody>
      </p:sp>
    </p:spTree>
    <p:extLst>
      <p:ext uri="{BB962C8B-B14F-4D97-AF65-F5344CB8AC3E}">
        <p14:creationId xmlns:p14="http://schemas.microsoft.com/office/powerpoint/2010/main" val="14793382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D3A72-ACAE-D1E1-FBF6-E36514EF2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967881-E11B-0742-3CD3-7C9C1ACA05F2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Real data: what adjustment establishes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6EA002-C2AC-14F3-FA6E-460F18287201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4AAE6A-D4FC-28D9-0CDA-7C39F5B24A98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Earlier analysis changed a negative crude contrast to a positive adjusted estimate.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D743BF3-31BD-730E-92F3-CAC742586117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9F41E8-EBB6-D5D7-073F-C9B9FD81BB02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Interpretation still depends on no unmeasured confounding given baseline X.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58C723-96FD-A91D-B927-995DF0B3B3E3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676ED2-C8F4-8E90-80D0-D470C9EACF23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Poor overlap can make predictions rely heavily on extrapolation.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B11D7D4-F4CD-3098-D6C3-3B326129350A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765FFC-DBE1-FC7C-C25A-9B71CAD633A4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Model estimates and causal credibility must be assessed separately.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1E1B41-DE8A-12AC-B2A0-62170EC89FAC}"/>
              </a:ext>
            </a:extLst>
          </p:cNvPr>
          <p:cNvSpPr>
            <a:spLocks noGrp="1"/>
          </p:cNvSpPr>
          <p:nvPr/>
        </p:nvSpPr>
        <p:spPr>
          <a:xfrm>
            <a:off x="285750" y="4400550"/>
            <a:ext cx="8686800" cy="59941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2000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observed data contain one treatment outcome per person, even after fitting a model.</a:t>
            </a:r>
          </a:p>
        </p:txBody>
      </p:sp>
    </p:spTree>
    <p:extLst>
      <p:ext uri="{BB962C8B-B14F-4D97-AF65-F5344CB8AC3E}">
        <p14:creationId xmlns:p14="http://schemas.microsoft.com/office/powerpoint/2010/main" val="17515096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4A9C5-E9A8-CF9D-F4C6-D96F24DBB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487929-A8F1-06BF-A005-DADF2B66BFE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Recap questions and the next step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659EF1-8BB7-0D8E-EBDD-F76E8DCB745B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8560B3-0274-82AA-5377-854907A60E61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Why did the simulated crude estimate have the wrong sign?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7B4F705-0766-82AE-8971-C8E325A9CCDB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24027D-30A6-AC8F-401D-F6E8E078E0B5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When does a treatment coefficient equal the g-computation ATE?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3AE1F46-DBD2-0980-3A44-54F955C96063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660C98-B817-72D8-73B5-E16FC1AC0493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Why can treatment received be confounded in a randomized trial?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F5C5CB6-9267-7D17-4682-6314025F74E0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1FB0558-9F51-2C6C-5046-5FE3387CCF5B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What checks would make the job-training comparison more credible?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32AE244-F183-7B33-1E64-3DCA4959ED89}"/>
              </a:ext>
            </a:extLst>
          </p:cNvPr>
          <p:cNvSpPr>
            <a:spLocks noGrp="1"/>
          </p:cNvSpPr>
          <p:nvPr/>
        </p:nvSpPr>
        <p:spPr>
          <a:xfrm>
            <a:off x="285750" y="4344055"/>
            <a:ext cx="8686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Next: matching and weighting to create a more comparable observational analysis.</a:t>
            </a:r>
          </a:p>
        </p:txBody>
      </p:sp>
    </p:spTree>
    <p:extLst>
      <p:ext uri="{BB962C8B-B14F-4D97-AF65-F5344CB8AC3E}">
        <p14:creationId xmlns:p14="http://schemas.microsoft.com/office/powerpoint/2010/main" val="23906770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857513-AF08-45E6-AB6F-6EE7182A6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9481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1B366-6E49-AFB6-11B0-8A23E526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D55FDB-32BB-BD07-D465-49353FB03B3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Propensity scores: the job-training question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A08EA2-BA82-4763-6AC7-051B11B992A4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64A14C-54BD-B5AB-E719-28C253158352}"/>
              </a:ext>
            </a:extLst>
          </p:cNvPr>
          <p:cNvSpPr>
            <a:spLocks noGrp="1"/>
          </p:cNvSpPr>
          <p:nvPr/>
        </p:nvSpPr>
        <p:spPr>
          <a:xfrm>
            <a:off x="457200" y="1438274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Does job training increase earnings in 1978?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DBCB764-C2BE-B217-F70A-C0503D040663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4A48696-15F1-8B21-0D86-856A792CB18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438275"/>
                <a:ext cx="3538874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1 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indicates training.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0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indicates the comparison group.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4A48696-15F1-8B21-0D86-856A792CB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438275"/>
                <a:ext cx="3538874" cy="962025"/>
              </a:xfrm>
              <a:prstGeom prst="rect">
                <a:avLst/>
              </a:prstGeom>
              <a:blipFill>
                <a:blip r:embed="rId2"/>
                <a:stretch>
                  <a:fillRect l="-4138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916E39F-3492-0388-319D-B8F7DAAF4305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9C9975-1064-1CA3-ED4A-AA29B2E0B432}"/>
              </a:ext>
            </a:extLst>
          </p:cNvPr>
          <p:cNvSpPr>
            <a:spLocks noGrp="1"/>
          </p:cNvSpPr>
          <p:nvPr/>
        </p:nvSpPr>
        <p:spPr>
          <a:xfrm>
            <a:off x="485775" y="29051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Baseline X includes demographics and earlier earnings.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EC80E94-B235-82EB-EF89-18EEA92A5E92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E528F7-F6CE-7590-5088-88A0C211761F}"/>
              </a:ext>
            </a:extLst>
          </p:cNvPr>
          <p:cNvSpPr>
            <a:spLocks noGrp="1"/>
          </p:cNvSpPr>
          <p:nvPr/>
        </p:nvSpPr>
        <p:spPr>
          <a:xfrm>
            <a:off x="5057775" y="2905124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Our example uses the 614-person LaLonde dataset throughout.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E4D21F2-E239-FF72-C065-A33367CA8DC5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We need comparable people to stand in for missing counterfactual outcomes.</a:t>
            </a:r>
          </a:p>
        </p:txBody>
      </p:sp>
    </p:spTree>
    <p:extLst>
      <p:ext uri="{BB962C8B-B14F-4D97-AF65-F5344CB8AC3E}">
        <p14:creationId xmlns:p14="http://schemas.microsoft.com/office/powerpoint/2010/main" val="2929953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61077-461B-6A3C-18D3-2EB7E6048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063123-F8AF-F71C-70F8-40A07DB015B5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Why the observed comparison is difficult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228433-4F3B-7086-B857-3A29B5AD206F}"/>
              </a:ext>
            </a:extLst>
          </p:cNvPr>
          <p:cNvGraphicFramePr/>
          <p:nvPr/>
        </p:nvGraphicFramePr>
        <p:xfrm>
          <a:off x="457200" y="1219200"/>
          <a:ext cx="8229600" cy="25146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Baseline feature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Treated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Comparison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Married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18.9%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51.3%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Black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84.3%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20.3%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1974 earnings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$2,096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$5,619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563479C-A9C7-FBF9-5812-502235BE72B6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groups differ before training begins.</a:t>
            </a:r>
          </a:p>
        </p:txBody>
      </p:sp>
    </p:spTree>
    <p:extLst>
      <p:ext uri="{BB962C8B-B14F-4D97-AF65-F5344CB8AC3E}">
        <p14:creationId xmlns:p14="http://schemas.microsoft.com/office/powerpoint/2010/main" val="20993460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0E14A-F9DB-3319-EFCC-D8FC484B8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825228-2EF7-B093-11ED-34210715DAF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The high-dimensional comparison problem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0CF2C5-73B7-936F-81FE-0F641733860A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FC9653-0B2D-F9F1-54AE-0B030ACD8C25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We want to compare people with similar age, education, and other baseline variables.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CA3AC84-2DBC-E723-6508-631B6C4ED07B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9EA8D0-4AD3-BD39-216D-44886CCCACCA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Exact agreement on every covariate becomes difficult as X grows.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BE7FB1-5EB3-C652-5A24-82A0DABB23EA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5D2443-25BA-1D5D-95A6-F212626B38C8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Earlier earnings are continuous, so exact matches may be rare.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7DC4980-1CE7-1522-2AE9-8C6401CD694C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BEAC261-C2F1-F596-3381-B1C34C80BF9D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 scalar treatment-assignment summary can help organize comparisons.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C8A005-A485-DD77-14D3-1546A488C209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propensity score summarizes assignment using the chosen covariates.</a:t>
            </a:r>
          </a:p>
        </p:txBody>
      </p:sp>
    </p:spTree>
    <p:extLst>
      <p:ext uri="{BB962C8B-B14F-4D97-AF65-F5344CB8AC3E}">
        <p14:creationId xmlns:p14="http://schemas.microsoft.com/office/powerpoint/2010/main" val="15427082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CDC21-F1B0-FF85-C14E-82D3A531C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9127D9-24BD-696C-26BE-1F6B92F9BA05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Definition of the propensity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1C53B10-2828-A275-D3B2-A68E2377C75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62029" y="1173051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𝑒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𝑥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𝑃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1 |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𝑥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1C53B10-2828-A275-D3B2-A68E2377C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029" y="1173051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5E082874-6C96-B338-43B8-DD77A6B7A6B6}"/>
              </a:ext>
            </a:extLst>
          </p:cNvPr>
          <p:cNvSpPr>
            <a:spLocks noGrp="1"/>
          </p:cNvSpPr>
          <p:nvPr/>
        </p:nvSpPr>
        <p:spPr>
          <a:xfrm>
            <a:off x="462029" y="1801701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It is the probability of receiving training given baseline characteristics.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244302-C156-754D-7BCA-A4F8B67E51DA}"/>
              </a:ext>
            </a:extLst>
          </p:cNvPr>
          <p:cNvSpPr>
            <a:spLocks noGrp="1"/>
          </p:cNvSpPr>
          <p:nvPr/>
        </p:nvSpPr>
        <p:spPr>
          <a:xfrm>
            <a:off x="462029" y="2535126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Every participant has a score, whether treated or untreated.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585878-4FCA-4C5B-5138-432EFF4ABB97}"/>
              </a:ext>
            </a:extLst>
          </p:cNvPr>
          <p:cNvSpPr>
            <a:spLocks noGrp="1"/>
          </p:cNvSpPr>
          <p:nvPr/>
        </p:nvSpPr>
        <p:spPr>
          <a:xfrm>
            <a:off x="462029" y="3268551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For a given x, the score concerns people sharing that baseline profile.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36CE787-633D-8277-72FC-E187612895A7}"/>
              </a:ext>
            </a:extLst>
          </p:cNvPr>
          <p:cNvSpPr>
            <a:spLocks noGrp="1"/>
          </p:cNvSpPr>
          <p:nvPr/>
        </p:nvSpPr>
        <p:spPr>
          <a:xfrm>
            <a:off x="347729" y="4278201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observed treatment is 0 or 1. Its probability can lie between them.</a:t>
            </a:r>
          </a:p>
        </p:txBody>
      </p:sp>
    </p:spTree>
    <p:extLst>
      <p:ext uri="{BB962C8B-B14F-4D97-AF65-F5344CB8AC3E}">
        <p14:creationId xmlns:p14="http://schemas.microsoft.com/office/powerpoint/2010/main" val="2579247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645BC-5B10-30E8-4994-E05866CE4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3ECCA3-FD59-473A-3BC0-068E001BB41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Interpreting a score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661FDE-0A9F-F0C7-CAA3-665137A9154A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60246F8-ED0B-B581-B32A-1451834CD73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 participant’s estimated score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= 0.65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60246F8-ED0B-B581-B32A-1451834CD7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DE05B38-F138-57A7-6250-07225FCF09E0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AEFBEC-A57E-67DB-A788-A47CBB093974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fitted model predicts about a 65% training probability for that profile.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3D896FD-C8E8-C018-F893-0AB8A1A56193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D913E0-713A-30F0-AF43-235000686925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participant can still appear in either treatment arm.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4781282-FFC2-D214-263A-597642FC2F00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E4526B4-9AB6-9F0F-0A42-3FA8226668CC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score does not describe the probability of high earnings or treatment benefit.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B0B5376-B855-73AB-51C0-AFE3DFFCE91E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 probability of treatment and a causal effect answer different questions.</a:t>
            </a:r>
          </a:p>
        </p:txBody>
      </p:sp>
    </p:spTree>
    <p:extLst>
      <p:ext uri="{BB962C8B-B14F-4D97-AF65-F5344CB8AC3E}">
        <p14:creationId xmlns:p14="http://schemas.microsoft.com/office/powerpoint/2010/main" val="38893598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53E98-D7D3-ABDE-F0DF-B40BB7B9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A97EF-1F3C-F150-DF6E-051D7B97232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The score depends on the study sample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FC9F9EA-7167-999C-9157-10E6928A1B00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751231-1AF4-16F5-B5AD-1C5D3087F09B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combined sample has 185 treated and 429 comparison participants.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88EBF0E-C376-BEBD-586C-19AF8CF0718F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0FBC34-5347-D610-307B-CADBCCDC58F4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estimated assignment model describes treatment membership in these study data.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25E34D8-05CD-3038-1ADB-0217354C74F8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819748-D3C5-6AF7-C2EB-9777071E756C}"/>
              </a:ext>
            </a:extLst>
          </p:cNvPr>
          <p:cNvSpPr>
            <a:spLocks noGrp="1"/>
          </p:cNvSpPr>
          <p:nvPr/>
        </p:nvSpPr>
        <p:spPr>
          <a:xfrm>
            <a:off x="485775" y="29337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Changing comparison sampling can change the fitted scores.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3050765-7D0C-E87A-6CD2-9F82098095EF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EE88B7-87A3-CD44-F090-75963CC46548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It does not automatically describe participation probabilities in the whole population.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96B782F-2D0B-C177-6F35-709868B4C872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Specify the study population when interpreting a score.</a:t>
            </a:r>
          </a:p>
        </p:txBody>
      </p:sp>
    </p:spTree>
    <p:extLst>
      <p:ext uri="{BB962C8B-B14F-4D97-AF65-F5344CB8AC3E}">
        <p14:creationId xmlns:p14="http://schemas.microsoft.com/office/powerpoint/2010/main" val="3071323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75AA1-F077-4829-92D1-9A6E63871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FE054F-2854-4058-0E78-4D71353753E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Which variables belong in the model?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F69FD3-3A21-8FDE-A085-68637DF5DB59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BBAC96-1769-A55F-3F97-E0424868D4F1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Use baseline covariates justified by the causal question and adjustment graph.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5C7F064-46C5-CE78-5F77-878780EA36BB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DF3E5D-32FB-C7D5-ABD2-2D5670B37382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Include measured common causes of training participation and earnings.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7A320AD-1AA6-3F7B-6339-BA9D8A64C517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5BAACA-E0DB-46ED-EEF9-484AFED0C9FD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Earlier earnings and demographic circumstances motivate the current specification.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570585-0AC4-41A7-F219-84CFE51CFCE8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C9752A-2BA4-857A-402F-FFEBAAF47B33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Avoid using 1978 earnings, which is the outcome, to predict assignment.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273DE97-F311-A312-489C-5BB3974CA274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A variable</a:t>
            </a:r>
            <a:r>
              <a:rPr lang="en-US"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'</a:t>
            </a: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s causal role matters more than its statistical significance.</a:t>
            </a:r>
          </a:p>
        </p:txBody>
      </p:sp>
    </p:spTree>
    <p:extLst>
      <p:ext uri="{BB962C8B-B14F-4D97-AF65-F5344CB8AC3E}">
        <p14:creationId xmlns:p14="http://schemas.microsoft.com/office/powerpoint/2010/main" val="4265694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B1750-88C1-70F4-2AC3-61F4B8637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D8E206-DEC9-6424-C708-86E955B1D55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 logistic treatment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4777726-818E-F22E-1BED-401DA0C6DA9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13546" y="1368582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log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⁡</m:t>
                      </m:r>
                      <m:f>
                        <m:f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fPr>
                        <m:num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𝑒</m:t>
                          </m:r>
                          <m:d>
                            <m:dPr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d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𝑋</m:t>
                              </m:r>
                            </m:e>
                          </m:d>
                        </m:num>
                        <m:den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1 − </m:t>
                          </m:r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𝑒</m:t>
                          </m:r>
                          <m:d>
                            <m:dPr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d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𝑋</m:t>
                              </m:r>
                            </m:e>
                          </m:d>
                        </m:den>
                      </m:f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𝛽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₀ +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𝛽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ᵀ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4777726-818E-F22E-1BED-401DA0C6DA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546" y="1368582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3C9E0FD3-D27F-D921-C0EF-D0C209CCB6F0}"/>
              </a:ext>
            </a:extLst>
          </p:cNvPr>
          <p:cNvSpPr>
            <a:spLocks noGrp="1"/>
          </p:cNvSpPr>
          <p:nvPr/>
        </p:nvSpPr>
        <p:spPr>
          <a:xfrm>
            <a:off x="396852" y="2224322"/>
            <a:ext cx="8572500" cy="72940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model uses baseline covariates to predict binary treatment membership.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BA7A894-0F2D-D9C1-A87A-511C45914D3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13546" y="2796828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= </m:t>
                    </m:r>
                    <m:r>
                      <m:rPr>
                        <m:sty m:val="p"/>
                      </m:rP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exp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⁡(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𝜂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)/{1 + </m:t>
                    </m:r>
                    <m:r>
                      <m:rPr>
                        <m:sty m:val="p"/>
                      </m:rP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exp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⁡(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𝜂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)}, </m:t>
                    </m:r>
                  </m:oMath>
                </a14:m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𝜂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𝛽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₀ +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𝛽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ᵀ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BA7A894-0F2D-D9C1-A87A-511C45914D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546" y="2796828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l="-762"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C3918769-E074-3B17-C918-FB76CD40E3F9}"/>
              </a:ext>
            </a:extLst>
          </p:cNvPr>
          <p:cNvSpPr>
            <a:spLocks noGrp="1"/>
          </p:cNvSpPr>
          <p:nvPr/>
        </p:nvSpPr>
        <p:spPr>
          <a:xfrm>
            <a:off x="571500" y="3460593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logistic transform keeps predicted probabilities between 0 and 1.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BF3A70-C8BC-DA8F-7455-7954E6BA3A7A}"/>
              </a:ext>
            </a:extLst>
          </p:cNvPr>
          <p:cNvSpPr>
            <a:spLocks noGrp="1"/>
          </p:cNvSpPr>
          <p:nvPr/>
        </p:nvSpPr>
        <p:spPr>
          <a:xfrm>
            <a:off x="457200" y="4316837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This regression models treatment assignment, not the outcome.</a:t>
            </a:r>
          </a:p>
        </p:txBody>
      </p:sp>
    </p:spTree>
    <p:extLst>
      <p:ext uri="{BB962C8B-B14F-4D97-AF65-F5344CB8AC3E}">
        <p14:creationId xmlns:p14="http://schemas.microsoft.com/office/powerpoint/2010/main" val="2455748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898B8-C867-DEEA-0EED-51CA5B4F8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0C1729-C6F2-4161-EADF-58352CDD960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estimate scores in the real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F35790B-E4E8-5F6E-B539-5E1791C5580D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D2F8F2-7D0C-6CE2-5E08-5CBECB009496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library(MatchIt)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data("lalonde", package = "MatchIt")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 &lt;- lalonde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ps_fit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glm(treat ~ age + educ + race + married +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nodegree + re74 + re75,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family = binomial(), data = d)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d$ps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predict(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ps_fit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, type = "response")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head(d[c("treat", "age", "educ", "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ps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")])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0E3332-1DF7-D361-7E60-535AEC7C8F6B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type = "response" returns probabilities, not log odds.</a:t>
            </a:r>
          </a:p>
        </p:txBody>
      </p:sp>
    </p:spTree>
    <p:extLst>
      <p:ext uri="{BB962C8B-B14F-4D97-AF65-F5344CB8AC3E}">
        <p14:creationId xmlns:p14="http://schemas.microsoft.com/office/powerpoint/2010/main" val="41701860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C2464-E6F5-80CA-FB27-C72D24806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F898C4-3430-530B-77DE-4D16E5803F32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Fitted scores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5BE9374-7E07-9DF5-778B-FC3A691A77FB}"/>
              </a:ext>
            </a:extLst>
          </p:cNvPr>
          <p:cNvGraphicFramePr/>
          <p:nvPr/>
        </p:nvGraphicFramePr>
        <p:xfrm>
          <a:off x="457200" y="1219200"/>
          <a:ext cx="8229600" cy="276225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Participant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 dirty="0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Training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Education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ê(X)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NSW1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37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0.639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NSW11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0.689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PSID1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30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0.026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PSID16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42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0.056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0ABD4D55-4EC8-1A62-6746-90275517102C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All listed scores also use race, marriage, degree status, and earlier earnings.</a:t>
            </a:r>
          </a:p>
        </p:txBody>
      </p:sp>
    </p:spTree>
    <p:extLst>
      <p:ext uri="{BB962C8B-B14F-4D97-AF65-F5344CB8AC3E}">
        <p14:creationId xmlns:p14="http://schemas.microsoft.com/office/powerpoint/2010/main" val="3332200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E296A-C55B-B705-9E05-CB3254230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13D7CA-10DC-A1C8-CD3D-CDEF5E5FF2E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Scores differ across observed groups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5AD9FD-1DFF-36D6-D4EA-B4F59D5120CF}"/>
              </a:ext>
            </a:extLst>
          </p:cNvPr>
          <p:cNvGraphicFramePr/>
          <p:nvPr/>
        </p:nvGraphicFramePr>
        <p:xfrm>
          <a:off x="457200" y="1219200"/>
          <a:ext cx="8229600" cy="188595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Group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Mean score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Median score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Observed score range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Treated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0.577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0.654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0.025–0.853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425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Comparison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429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0.182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0.076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0.009–0.789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FC3C9A3-96DC-4CE9-F76D-93DB5B832ECE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Estimating a propensity score does not itself change either group.</a:t>
            </a:r>
          </a:p>
        </p:txBody>
      </p:sp>
    </p:spTree>
    <p:extLst>
      <p:ext uri="{BB962C8B-B14F-4D97-AF65-F5344CB8AC3E}">
        <p14:creationId xmlns:p14="http://schemas.microsoft.com/office/powerpoint/2010/main" val="33564901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9E5A5-0F14-32F4-D2D1-13029302C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76C6C2-4C0B-587A-E767-1747BF6E94C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Overlap in the LaLonde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3D345-53B5-BD27-988C-1B57D046E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322" y="763424"/>
            <a:ext cx="6076373" cy="430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0735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C6D53-8534-0350-BB25-9A9BBBBAC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5430C-2D7D-064C-D871-E2287BC437C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Positivity and empirical overlap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C28388E-27AD-3D20-A8DA-79712C542151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99ED386-4CC1-4A27-7FA6-A38E579E646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41705" y="1378524"/>
                <a:ext cx="4000499" cy="1052446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Population positivity: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0 &lt; 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&lt; 1 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</a:t>
                </a: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for relevant profiles.</a:t>
                </a: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99ED386-4CC1-4A27-7FA6-A38E579E64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705" y="1378524"/>
                <a:ext cx="4000499" cy="1052446"/>
              </a:xfrm>
              <a:prstGeom prst="rect">
                <a:avLst/>
              </a:prstGeom>
              <a:blipFill>
                <a:blip r:embed="rId2"/>
                <a:stretch>
                  <a:fillRect l="-3501" t="-751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BE933EE-6389-B607-3DD2-8C089D2A6302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AA67D4-2AC3-D3E3-29D9-96E3E0512634}"/>
              </a:ext>
            </a:extLst>
          </p:cNvPr>
          <p:cNvSpPr>
            <a:spLocks noGrp="1"/>
          </p:cNvSpPr>
          <p:nvPr/>
        </p:nvSpPr>
        <p:spPr>
          <a:xfrm>
            <a:off x="5130420" y="1300565"/>
            <a:ext cx="345516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Empirical overlap: the sample contains comparable units from both arms.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84880B1-B335-47A8-8777-BF80170957CB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E12F441-A980-9749-DA28-207FE3A0B4D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73890" y="2936249"/>
                <a:ext cx="391236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 logistic model can return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= 0.10 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even for a sparsely supported profile.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E12F441-A980-9749-DA28-207FE3A0B4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90" y="2936249"/>
                <a:ext cx="3912360" cy="962025"/>
              </a:xfrm>
              <a:prstGeom prst="rect">
                <a:avLst/>
              </a:prstGeom>
              <a:blipFill>
                <a:blip r:embed="rId3"/>
                <a:stretch>
                  <a:fillRect l="-3583" t="-8280" r="-15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49C9F73-8298-B859-B70F-7705B12B742B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DEBB26-C35F-C173-9C6A-97F7B18441A8}"/>
              </a:ext>
            </a:extLst>
          </p:cNvPr>
          <p:cNvSpPr>
            <a:spLocks noGrp="1"/>
          </p:cNvSpPr>
          <p:nvPr/>
        </p:nvSpPr>
        <p:spPr>
          <a:xfrm>
            <a:off x="4945890" y="2936249"/>
            <a:ext cx="3712335" cy="96980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Finite scores between 0 and 1 do not establish adequate data support.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CE63DD-ED65-4E54-3AB3-1D17530A8C96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 fitted probability cannot create missing counterfactual information.</a:t>
            </a:r>
          </a:p>
        </p:txBody>
      </p:sp>
    </p:spTree>
    <p:extLst>
      <p:ext uri="{BB962C8B-B14F-4D97-AF65-F5344CB8AC3E}">
        <p14:creationId xmlns:p14="http://schemas.microsoft.com/office/powerpoint/2010/main" val="1314231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AEEB6-A8BC-F524-DF53-3AE9F6EBB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E850BE-3A1E-4DF5-E22E-8DE5EC44390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The propensity score’s balancing property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D9D664C-F375-7319-ED84-777374B81F88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00126C-884B-C213-2625-97DDB652C13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For the true propensity score:</a:t>
                </a:r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</a:t>
                </a:r>
                <a:endParaRPr lang="en-US"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⟂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|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𝑒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00126C-884B-C213-2625-97DDB652C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19CD803-11EC-0876-4618-DEE8B02EABBB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BF3BD0-F5DB-A52A-2FBB-9DE31C0C7409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Within a score stratum, treatment assignment does not further select the distribution of X.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16FA3E9-AEDD-9E83-1C95-6DB2D99FD3A8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37C75B0-FB50-D057-4D7D-7E102E0E470C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This is a population statement, not exact equality between individual profiles.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BE9E67C-BAEB-305F-C033-A25CFABC5761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F54ECE-CA54-38E7-B700-AF51DA73C83F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Estimated scores and finite samples require diagnostic checks.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FDAFEC7-ED27-9CD4-6502-5F35770399E8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Comparable score strata can organize a fairer comparison.</a:t>
            </a:r>
          </a:p>
        </p:txBody>
      </p:sp>
    </p:spTree>
    <p:extLst>
      <p:ext uri="{BB962C8B-B14F-4D97-AF65-F5344CB8AC3E}">
        <p14:creationId xmlns:p14="http://schemas.microsoft.com/office/powerpoint/2010/main" val="30592870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0C746-9A60-D5CB-BFE8-6C66464EB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476763-E036-F27B-4B16-A24C55F3565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Why the balancing property holds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97A9E5E-6CC3-244D-5BCD-3C532B326E3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68469" y="1113352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Once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=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𝑠</m:t>
                    </m:r>
                  </m:oMath>
                </a14:m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, every profile in that stratum has treatment probability s.</a:t>
                </a: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97A9E5E-6CC3-244D-5BCD-3C532B326E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469" y="1113352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l="-1905" t="-11650" r="-381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1929FCC-049A-296A-7734-F3E4549395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68469" y="1846777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𝑃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1 |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,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𝑒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1929FCC-049A-296A-7734-F3E454939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469" y="1846777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8000E80-EB72-1FEB-19B5-4EE6A731240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68469" y="2580202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𝑃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1 |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𝑒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8000E80-EB72-1FEB-19B5-4EE6A73124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469" y="2580202"/>
                <a:ext cx="8001000" cy="6286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88D2E24-BA54-ED02-26E1-1304BD90039E}"/>
              </a:ext>
            </a:extLst>
          </p:cNvPr>
          <p:cNvSpPr>
            <a:spLocks noGrp="1"/>
          </p:cNvSpPr>
          <p:nvPr/>
        </p:nvSpPr>
        <p:spPr>
          <a:xfrm>
            <a:off x="468469" y="3446977"/>
            <a:ext cx="846303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Knowing X within the stratum supplies no further assignment information.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93A5EB0-89A1-A600-DACB-04566822975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54169" y="4323277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2400" b="1" dirty="0">
                    <a:solidFill>
                      <a:srgbClr val="F5B62D"/>
                    </a:solidFill>
                    <a:ea typeface="Arial"/>
                    <a:cs typeface="Arial"/>
                  </a:rPr>
                  <a:t>Therefore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⟂ </m:t>
                    </m:r>
                    <m:r>
                      <a:rPr lang="en-US" sz="24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𝒆</m:t>
                    </m:r>
                    <m:r>
                      <a:rPr lang="en-US" sz="24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).</m:t>
                    </m:r>
                  </m:oMath>
                </a14:m>
                <a:endParaRPr sz="2400" b="1" dirty="0">
                  <a:solidFill>
                    <a:srgbClr val="F5B62D"/>
                  </a:solidFill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93A5EB0-89A1-A600-DACB-0456682297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69" y="4323277"/>
                <a:ext cx="8229600" cy="495300"/>
              </a:xfrm>
              <a:prstGeom prst="rect">
                <a:avLst/>
              </a:prstGeom>
              <a:blipFill>
                <a:blip r:embed="rId5"/>
                <a:stretch>
                  <a:fillRect t="-17284" b="-135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213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7FB63-F9B2-C504-FA67-7E0EB3E0A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815B28-99D7-5A87-96AF-337B0D681822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From balance to causal identification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A55DD20-9152-2A80-8826-29BBB12DBD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7322" y="1106912"/>
                <a:ext cx="8247764" cy="71377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20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{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(1), 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(0)} ⟂ 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| 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</m:oMath>
                </a14:m>
                <a:r>
                  <a:rPr sz="20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A55DD20-9152-2A80-8826-29BBB12DBD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22" y="1106912"/>
                <a:ext cx="8247764" cy="713772"/>
              </a:xfrm>
              <a:prstGeom prst="rect">
                <a:avLst/>
              </a:prstGeom>
              <a:blipFill>
                <a:blip r:embed="rId2"/>
                <a:stretch>
                  <a:fillRect l="-1848" t="-1025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86C5CA87-4B37-602C-0812-22AA54501539}"/>
              </a:ext>
            </a:extLst>
          </p:cNvPr>
          <p:cNvSpPr>
            <a:spLocks noGrp="1"/>
          </p:cNvSpPr>
          <p:nvPr/>
        </p:nvSpPr>
        <p:spPr>
          <a:xfrm>
            <a:off x="507322" y="1840337"/>
            <a:ext cx="8247764" cy="7137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Together with the true balancing score, exchangeability also holds given e(X).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1D8F3A-B5F0-C63A-82D2-698DF9EF3F9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7322" y="2573762"/>
                <a:ext cx="8247764" cy="71377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20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𝑡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)] = 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ₑ{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| 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𝑡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 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20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)]}.</m:t>
                    </m:r>
                  </m:oMath>
                </a14:m>
                <a:endParaRPr sz="20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1D8F3A-B5F0-C63A-82D2-698DF9EF3F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22" y="2573762"/>
                <a:ext cx="8247764" cy="713772"/>
              </a:xfrm>
              <a:prstGeom prst="rect">
                <a:avLst/>
              </a:prstGeom>
              <a:blipFill>
                <a:blip r:embed="rId3"/>
                <a:stretch>
                  <a:fillRect l="-1848" t="-1025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D8B23426-8363-22DB-9663-AB5B19B7E05C}"/>
              </a:ext>
            </a:extLst>
          </p:cNvPr>
          <p:cNvSpPr>
            <a:spLocks noGrp="1"/>
          </p:cNvSpPr>
          <p:nvPr/>
        </p:nvSpPr>
        <p:spPr>
          <a:xfrm>
            <a:off x="507322" y="3307187"/>
            <a:ext cx="8247764" cy="7137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Consistency and positivity remain necessary.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D8DFF69-9A7E-9ACB-9E60-10E1CF615A43}"/>
              </a:ext>
            </a:extLst>
          </p:cNvPr>
          <p:cNvSpPr>
            <a:spLocks noGrp="1"/>
          </p:cNvSpPr>
          <p:nvPr/>
        </p:nvSpPr>
        <p:spPr>
          <a:xfrm>
            <a:off x="289776" y="4207366"/>
            <a:ext cx="8689194" cy="64796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score reduces the adjustment dimension under the causal assumptions.</a:t>
            </a:r>
          </a:p>
        </p:txBody>
      </p:sp>
    </p:spTree>
    <p:extLst>
      <p:ext uri="{BB962C8B-B14F-4D97-AF65-F5344CB8AC3E}">
        <p14:creationId xmlns:p14="http://schemas.microsoft.com/office/powerpoint/2010/main" val="41925304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BDFA-EDFC-0EB9-8705-E1D3EA95F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D8D72D-6F90-BA1A-A695-591EF736F905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Similar scores do not mean identical people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56C646-88D4-27D4-7050-D30B1305AD32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1840AD-09C2-F85E-36D0-2E95C6FE061E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Different covariate profiles can produce similar treatment probabilities.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3B20B15-9C01-F31F-17B9-2D44844B6EC9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C4F8F4-4DEE-B800-597E-CE1FB715978C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Matching on a score can leave important covariates imbalanced in a sample.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5D4BAE5-A29D-FFF1-8CE4-DD27B3CB38AD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383321-7838-774A-A9CC-F6A677DE4C7E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Assess age, prior earnings, and other adjustment covariates individually.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116D30F-C838-F3A3-FB62-2425B7F242F2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E8976E-DE61-A274-5718-2E0ADD788775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An unmeasured confounder cannot enter this score unless we measure it.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42AC011-0430-5A3D-6A5C-C7B90341A957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Score similarity is useful, but observed balance still needs checking.</a:t>
            </a:r>
          </a:p>
        </p:txBody>
      </p:sp>
    </p:spTree>
    <p:extLst>
      <p:ext uri="{BB962C8B-B14F-4D97-AF65-F5344CB8AC3E}">
        <p14:creationId xmlns:p14="http://schemas.microsoft.com/office/powerpoint/2010/main" val="38320286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C847-F104-DCBC-CD67-0F8AE4CA8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90C9FB-2509-D641-2C2B-1DEC9F34B73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Propensity-score checkpoint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74E5C2A-BCBB-B826-AD34-AB0F3C74231A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B909956-F485-4E0F-A0B2-2A4C1132299D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What does a score of 0.65 mean for an untreated participant?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D3A8896-C0CA-FA0D-0A3F-8E55BCDD87AF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BE57600-D109-8C22-AFFF-051CB0001CA9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Why do the treated and comparison arms still have different mean scores?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679DA78-8C11-83C5-A35B-61A721F428A1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2149398-4898-DB02-8C4C-08956E561D89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Does a score strictly between 0 and 1 prove positivity?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AEEC0B3-E82C-814C-0CA8-FFA6E2F1493E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6DED40C-C146-946A-3B7C-63A61044C3D4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What would you inspect before interpreting a matched comparison?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7268DA-DE05-911C-3858-771A8BD1F074}"/>
              </a:ext>
            </a:extLst>
          </p:cNvPr>
          <p:cNvSpPr>
            <a:spLocks noGrp="1"/>
          </p:cNvSpPr>
          <p:nvPr/>
        </p:nvSpPr>
        <p:spPr>
          <a:xfrm>
            <a:off x="169187" y="4400549"/>
            <a:ext cx="8762311" cy="5994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lang="en-US" sz="2000" b="1" dirty="0">
                <a:solidFill>
                  <a:srgbClr val="F5B62D"/>
                </a:solidFill>
              </a:rPr>
              <a:t>Estimating scores is the first step. Comparable groups require a design and balance checks.</a:t>
            </a:r>
            <a:endParaRPr sz="2000" b="1" dirty="0">
              <a:solidFill>
                <a:srgbClr val="F5B62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89834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8735C-3A47-2D4C-D84F-20D19E34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ADBF93-870C-E825-4D45-34499C2E6AD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Matching: a comparable job-training group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F97F2D-6B1A-902E-1E7B-A9810720A782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8949F9-1D1F-99C5-9696-48449DD59643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We have estimated each person</a:t>
            </a:r>
            <a:r>
              <a:rPr lang="en-US"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'</a:t>
            </a: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s probability of receiving training.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80FE7A-347F-A1C9-7920-6FFCCE3E6A34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177BB7-95B7-0591-540E-962924EFB1E2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Now select untreated participants with similar baseline profiles.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5F56C3-D60F-95E9-77C7-4806F8295B3A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FE9BDC-6D21-1C32-7A24-D771913A18BC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Use their earnings to inform the missing no-training comparison.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C752C8B-598A-3953-DD4A-FD60115E3C5B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3AEED7-B87F-ACFC-2E09-27EC324C3AF0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scientific goal remains an effect in a clearly defined population.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7C66F7-5B7E-3845-E553-8A7BA50C3CD2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Matching uses observed comparison people to support the counterfactual contrast.</a:t>
            </a:r>
          </a:p>
        </p:txBody>
      </p:sp>
    </p:spTree>
    <p:extLst>
      <p:ext uri="{BB962C8B-B14F-4D97-AF65-F5344CB8AC3E}">
        <p14:creationId xmlns:p14="http://schemas.microsoft.com/office/powerpoint/2010/main" val="2656017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1EB90-3A2A-ED3C-9D56-3B5156900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2A8982-60C2-CB85-49BC-E0CFDD21110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Why match when we have g-computation?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0A9C601-A8B0-103E-D952-CF9E1E40A5BA}"/>
              </a:ext>
            </a:extLst>
          </p:cNvPr>
          <p:cNvGraphicFramePr/>
          <p:nvPr/>
        </p:nvGraphicFramePr>
        <p:xfrm>
          <a:off x="457200" y="1219200"/>
          <a:ext cx="8229600" cy="25146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How it constructs the comparison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G-computation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Predict both outcomes using an outcome model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Matching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Select comparable observed treatment and comparison units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Matching + regression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Model outcomes after constructing comparable groups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6CDD3D2-8D12-85A8-BBEA-91821D4257F0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Matching is an alternative adjustment strategy, not a prerequisite for g-computation.</a:t>
            </a:r>
          </a:p>
        </p:txBody>
      </p:sp>
    </p:spTree>
    <p:extLst>
      <p:ext uri="{BB962C8B-B14F-4D97-AF65-F5344CB8AC3E}">
        <p14:creationId xmlns:p14="http://schemas.microsoft.com/office/powerpoint/2010/main" val="721645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BFC57-2665-8DC4-BE2D-D5D19BA9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9F5FE3-117F-64D8-DBE1-A9FF237A787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Benefits and costs of matching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5DDCC8A-219A-8C82-ACB2-9F67EB11EAB6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A6BACF-E0D2-F8BF-7C46-C3DB6211CDFA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Closer observed comparisons can reduce reliance on outcome extrapolation.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F471C73-A38C-BA29-4891-A4E2009D3545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3A5A6-00A8-83CE-C0C2-1B7054777F00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Balance diagnostics make the comparison design visible.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87C9E94-6AAB-E1E2-0804-B9C5710126ED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738E30-0B5A-F92F-27AA-935A0B6270FD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Discarding participants can reduce precision and change the target population.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2DF6246-32CE-BCED-A00B-B6BDE4355EEA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634EF8-AD8B-CAAC-6F51-1380DB3D34A8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Matching choices and residual covariate imbalance can affect estimates.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160F60-1B0C-C623-99F6-F39D558E776E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Matching trades sample retention against comparability.</a:t>
            </a:r>
          </a:p>
        </p:txBody>
      </p:sp>
    </p:spTree>
    <p:extLst>
      <p:ext uri="{BB962C8B-B14F-4D97-AF65-F5344CB8AC3E}">
        <p14:creationId xmlns:p14="http://schemas.microsoft.com/office/powerpoint/2010/main" val="17892743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36D98-DA31-6E51-D518-6BDF62C4B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F274A8-7CB0-F59E-3AED-01ED8EAB04E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The causal target: ATT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495B403-98C4-2A06-9B7D-C51812AFDFFB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C7823B8-F5D7-CD7E-42EB-70F865D3C54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474094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𝐴𝑇𝑇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(1) −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(0) | 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1].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C7823B8-F5D7-CD7E-42EB-70F865D3C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474094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t="-63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211015-F6D8-C31B-7276-BDB1F3A06EBD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F9BEBF-68C0-7C43-FBC6-75F0E966775B}"/>
              </a:ext>
            </a:extLst>
          </p:cNvPr>
          <p:cNvSpPr>
            <a:spLocks noGrp="1"/>
          </p:cNvSpPr>
          <p:nvPr/>
        </p:nvSpPr>
        <p:spPr>
          <a:xfrm>
            <a:off x="5057775" y="1376362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Use treated participants as the focal group.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28E9134-15C7-16F8-8F8F-818CD452101A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A0AA27-E793-F9A9-C3A3-B6B2C077656E}"/>
              </a:ext>
            </a:extLst>
          </p:cNvPr>
          <p:cNvSpPr>
            <a:spLocks noGrp="1"/>
          </p:cNvSpPr>
          <p:nvPr/>
        </p:nvSpPr>
        <p:spPr>
          <a:xfrm>
            <a:off x="485775" y="2844352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Find controls to represent their outcomes without training.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FA1096F-42AF-746E-A6CA-122804C662FC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53CAC4-FE85-1703-E59D-73D5E99C863D}"/>
              </a:ext>
            </a:extLst>
          </p:cNvPr>
          <p:cNvSpPr>
            <a:spLocks noGrp="1"/>
          </p:cNvSpPr>
          <p:nvPr/>
        </p:nvSpPr>
        <p:spPr>
          <a:xfrm>
            <a:off x="5057775" y="2828924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Dropping treated participants can change the effect being targeted.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3788F51-726A-544E-73C7-DE0C2B707845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Full ATT and the effect among retained treated participants may differ.</a:t>
            </a:r>
          </a:p>
        </p:txBody>
      </p:sp>
    </p:spTree>
    <p:extLst>
      <p:ext uri="{BB962C8B-B14F-4D97-AF65-F5344CB8AC3E}">
        <p14:creationId xmlns:p14="http://schemas.microsoft.com/office/powerpoint/2010/main" val="27892607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7371E-4925-BB6F-5CDA-8FCD7374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C03D06-77D1-00F2-0936-66F3A9499A4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Nearest-neighbor propensity-score matching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E45FA00-2076-5F1A-2A92-482312B9D712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19D0A03-0692-7C94-EB17-F57AC09D23D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For treated participant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𝑖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, seek a control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𝑗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with a nearby score.</a:t>
                </a: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19D0A03-0692-7C94-EB17-F57AC09D23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CCAE742-ED23-DE7A-9937-591C35EA9257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36F9D4F-D676-49E1-1A07-B5CA6B77888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Distance: </a:t>
                </a:r>
                <a:endParaRPr lang="en-US" sz="1800" b="0" i="1" dirty="0">
                  <a:solidFill>
                    <a:srgbClr val="F4F1EA"/>
                  </a:solidFill>
                  <a:latin typeface="Cambria Math" panose="02040503050406030204" pitchFamily="18" charset="0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b="0" i="1" dirty="0">
                  <a:solidFill>
                    <a:srgbClr val="F4F1EA"/>
                  </a:solidFill>
                  <a:latin typeface="Cambria Math" panose="02040503050406030204" pitchFamily="18" charset="0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𝑑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𝑖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,</m:t>
                      </m:r>
                      <m:r>
                        <a:rPr lang="en-US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𝑗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=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𝑒</m:t>
                              </m:r>
                            </m:e>
                          </m:acc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 </m:t>
                          </m:r>
                          <m:d>
                            <m:dPr>
                              <m:ctrlP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dirty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dirty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80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𝑒</m:t>
                              </m:r>
                            </m:e>
                          </m:acc>
                          <m:d>
                            <m:dPr>
                              <m:ctrlP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dirty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dirty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80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36F9D4F-D676-49E1-1A07-B5CA6B7788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5E8DF87-196C-6B55-D795-F5DBAB2E4A41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B08EE65-21BC-1C80-E126-430C94178BCA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One-to-one matching assigns one eligible control to each retained treated unit.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D2F31AE-FF10-A204-A3DD-D341EC0BFD1B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4C0CD1D-F7F5-4BDD-9366-EE01405227E0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 greedy algorithm selects each match without optimizing the whole set.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EEB1EB-3015-36A8-2950-71DC4ED726CC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 nearby score is a starting point. Covariate balance determines usefulness.</a:t>
            </a:r>
          </a:p>
        </p:txBody>
      </p:sp>
    </p:spTree>
    <p:extLst>
      <p:ext uri="{BB962C8B-B14F-4D97-AF65-F5344CB8AC3E}">
        <p14:creationId xmlns:p14="http://schemas.microsoft.com/office/powerpoint/2010/main" val="18400640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E424E-3626-0C9D-84D7-F1F9096C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1D2BDA-5E6F-A964-9E73-02C2ECD1267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Actual pairs from the job-training data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DA9227D-6BDE-0EF8-5AAE-7C65543740F6}"/>
              </a:ext>
            </a:extLst>
          </p:cNvPr>
          <p:cNvGraphicFramePr/>
          <p:nvPr/>
        </p:nvGraphicFramePr>
        <p:xfrm>
          <a:off x="457200" y="1219200"/>
          <a:ext cx="8229600" cy="25146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Treated ID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Score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Comparison ID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Score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Gap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NSW178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0.853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PSID118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0.789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0.064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NSW95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0.819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PSID226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0.779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0.041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NSW176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0.816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PSID196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0.764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0.052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89D559D-695E-82B5-FB3F-C58904E474BB}"/>
              </a:ext>
            </a:extLst>
          </p:cNvPr>
          <p:cNvSpPr>
            <a:spLocks noGrp="1"/>
          </p:cNvSpPr>
          <p:nvPr/>
        </p:nvSpPr>
        <p:spPr>
          <a:xfrm>
            <a:off x="77273" y="4400549"/>
            <a:ext cx="8983014" cy="5994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These are the first three pairs when matching treated scores from largest to smallest.</a:t>
            </a:r>
          </a:p>
        </p:txBody>
      </p:sp>
    </p:spTree>
    <p:extLst>
      <p:ext uri="{BB962C8B-B14F-4D97-AF65-F5344CB8AC3E}">
        <p14:creationId xmlns:p14="http://schemas.microsoft.com/office/powerpoint/2010/main" val="8742227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92BB6-3423-3A9C-5AD3-A9ED53EA8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454D5-EAA8-FD52-56CE-AEE8EA1DB52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Matching order and competition for controls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70DBE4-95F9-C6B9-009F-14C14A91BD34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669F5F-71A9-799D-534A-9CF63CE33521}"/>
              </a:ext>
            </a:extLst>
          </p:cNvPr>
          <p:cNvSpPr>
            <a:spLocks noGrp="1"/>
          </p:cNvSpPr>
          <p:nvPr/>
        </p:nvSpPr>
        <p:spPr>
          <a:xfrm>
            <a:off x="485775" y="1445788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Without replacement, each control can serve only one treated unit.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BF7FE5A-8363-A699-52C9-45D9DACFA9CF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FA3ED6-F1BE-24E7-08A3-0B379C8BF1E1}"/>
              </a:ext>
            </a:extLst>
          </p:cNvPr>
          <p:cNvSpPr>
            <a:spLocks noGrp="1"/>
          </p:cNvSpPr>
          <p:nvPr/>
        </p:nvSpPr>
        <p:spPr>
          <a:xfrm>
            <a:off x="5057775" y="143827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Early matches remove controls from the pool for later matches.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C247637-7B54-E494-3BE3-F06C11BDA635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55B98-C8D4-D1F3-D786-97146759948B}"/>
              </a:ext>
            </a:extLst>
          </p:cNvPr>
          <p:cNvSpPr>
            <a:spLocks noGrp="1"/>
          </p:cNvSpPr>
          <p:nvPr/>
        </p:nvSpPr>
        <p:spPr>
          <a:xfrm>
            <a:off x="530851" y="292981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Different matching orders can produce different pairs.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6E79A8C-67D8-789A-0D1A-148EC1C1759C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E1966D-C0B6-667D-5E16-E8601AED30D7}"/>
              </a:ext>
            </a:extLst>
          </p:cNvPr>
          <p:cNvSpPr>
            <a:spLocks noGrp="1"/>
          </p:cNvSpPr>
          <p:nvPr/>
        </p:nvSpPr>
        <p:spPr>
          <a:xfrm>
            <a:off x="5086350" y="29051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Record the order so the design is reproducible.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6D13A0-265B-CE05-88EB-1C8B3B43C382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Our example uses descending treated scores: </a:t>
            </a:r>
            <a:r>
              <a:rPr sz="1725" b="1" dirty="0" err="1">
                <a:solidFill>
                  <a:srgbClr val="F5B62D"/>
                </a:solidFill>
                <a:latin typeface="Arial"/>
                <a:ea typeface="Arial"/>
                <a:cs typeface="Arial"/>
              </a:rPr>
              <a:t>m.order</a:t>
            </a: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 = "largest".</a:t>
            </a:r>
          </a:p>
        </p:txBody>
      </p:sp>
    </p:spTree>
    <p:extLst>
      <p:ext uri="{BB962C8B-B14F-4D97-AF65-F5344CB8AC3E}">
        <p14:creationId xmlns:p14="http://schemas.microsoft.com/office/powerpoint/2010/main" val="1455528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B147A-F64F-D433-6994-9AE77BF8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1552B6-177D-EC69-47D8-706C1D52B61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With or without replacement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536FE3-6A9B-A568-A444-168A1016698E}"/>
              </a:ext>
            </a:extLst>
          </p:cNvPr>
          <p:cNvGraphicFramePr/>
          <p:nvPr/>
        </p:nvGraphicFramePr>
        <p:xfrm>
          <a:off x="457200" y="1219200"/>
          <a:ext cx="8229600" cy="188595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Choice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Benefit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Cost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Without replacement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Each control appears in one pair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Later treated units may receive weaker matches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With replacement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Good controls can serve multiple treated units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Reuse reduces independent information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A4924C-EB1C-DA81-E106-A4D3ACB40720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 reused control remains one person, even if they appear in several matches.</a:t>
            </a:r>
          </a:p>
        </p:txBody>
      </p:sp>
    </p:spTree>
    <p:extLst>
      <p:ext uri="{BB962C8B-B14F-4D97-AF65-F5344CB8AC3E}">
        <p14:creationId xmlns:p14="http://schemas.microsoft.com/office/powerpoint/2010/main" val="12292507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8FC84-DB19-93A1-49B2-481B485C3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1F294F-3D3D-AC10-E6FE-307725792D6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Calipers: a maximum acceptable distance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D29741-5ECF-C3B3-8A3C-934D71A49542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6B71D5-2C03-E9A2-56D7-3918D41C007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376362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 raw score caliper of 0.05 requires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|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−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𝑗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| ≤ 0.05.</m:t>
                    </m:r>
                  </m:oMath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6B71D5-2C03-E9A2-56D7-3918D41C00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376362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28" r="-559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755CAB1-8A06-9F51-5F8A-208EE30C9F7D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352895-AED5-01F9-3729-DA479B86567F}"/>
              </a:ext>
            </a:extLst>
          </p:cNvPr>
          <p:cNvSpPr>
            <a:spLocks noGrp="1"/>
          </p:cNvSpPr>
          <p:nvPr/>
        </p:nvSpPr>
        <p:spPr>
          <a:xfrm>
            <a:off x="5057775" y="1376362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 treated person with no eligible control remains unmatched.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7952F3E-B3BF-5AE8-BA5A-C3E8CF412F8E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83C7784-5887-8A64-252C-75ACA90489A3}"/>
              </a:ext>
            </a:extLst>
          </p:cNvPr>
          <p:cNvSpPr>
            <a:spLocks noGrp="1"/>
          </p:cNvSpPr>
          <p:nvPr/>
        </p:nvSpPr>
        <p:spPr>
          <a:xfrm>
            <a:off x="350546" y="2933700"/>
            <a:ext cx="4000499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Smaller calipers can prevent weak matches but discard more participants.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F2F98A-6BFC-B271-01B1-001F77D21DCD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3A44EB-C68A-E254-1897-5D063111D1BC}"/>
              </a:ext>
            </a:extLst>
          </p:cNvPr>
          <p:cNvSpPr>
            <a:spLocks noGrp="1"/>
          </p:cNvSpPr>
          <p:nvPr/>
        </p:nvSpPr>
        <p:spPr>
          <a:xfrm>
            <a:off x="5086350" y="29337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 caliper can instead be defined on log odds or in SD units.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D5C910-D5D1-4B07-F53E-765613F17944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number 0.05 has meaning only after specifying the distance scale.</a:t>
            </a:r>
          </a:p>
        </p:txBody>
      </p:sp>
    </p:spTree>
    <p:extLst>
      <p:ext uri="{BB962C8B-B14F-4D97-AF65-F5344CB8AC3E}">
        <p14:creationId xmlns:p14="http://schemas.microsoft.com/office/powerpoint/2010/main" val="5898590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FEE50-46C9-FAEA-7A77-44D85BEA5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D05525-DB75-9641-8377-01F2423007F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the initial matching design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96817E-9A20-A664-3DDE-CDAB0CA80375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B92C3F-013E-E2D8-6ABD-7A0D9BEBC371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library(MatchIt)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data("lalonde", package = "MatchIt")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 &lt;- lalonde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 &lt;- treat ~ age + educ + race + married +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nodegree + re74 + re75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m0 &lt;- matchit(f, data = d, method = "nearest",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distance = "glm", estimand = "ATT",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ratio = 1, replace = FALSE,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m.order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= "largest")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summary(m0)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5389B2-AC97-B279-6897-4455EB9F7072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Outcome earnings do not enter the matching formula.</a:t>
            </a:r>
          </a:p>
        </p:txBody>
      </p:sp>
    </p:spTree>
    <p:extLst>
      <p:ext uri="{BB962C8B-B14F-4D97-AF65-F5344CB8AC3E}">
        <p14:creationId xmlns:p14="http://schemas.microsoft.com/office/powerpoint/2010/main" val="42544816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8B072-5209-7EF9-48CC-B1A8C0B5B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7EEC7C-C69F-9BC4-B431-52B7B25F3EF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Who remains after initial matching?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09BD5C-D594-8693-02D3-653C014E2BAA}"/>
              </a:ext>
            </a:extLst>
          </p:cNvPr>
          <p:cNvGraphicFramePr/>
          <p:nvPr/>
        </p:nvGraphicFramePr>
        <p:xfrm>
          <a:off x="457200" y="1219200"/>
          <a:ext cx="8229600" cy="25146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Group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Before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After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Treated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Comparison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429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Unused comparison participants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244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BBCD136-9AF6-6884-FDCF-B8AD15798556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All treated participants remain, but retention does not establish adequate balance.</a:t>
            </a:r>
          </a:p>
        </p:txBody>
      </p:sp>
    </p:spTree>
    <p:extLst>
      <p:ext uri="{BB962C8B-B14F-4D97-AF65-F5344CB8AC3E}">
        <p14:creationId xmlns:p14="http://schemas.microsoft.com/office/powerpoint/2010/main" val="2391902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CADC3-B9B5-CF01-FBEF-63BBA9572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C28519-6943-8319-6BA7-793DEA39370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Covariate balance: standardized differences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5F2B1DF-3672-17AC-1C6E-E0095586C039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029EF7-F397-4BBA-BBF9-A7902EB78BE9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442281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SMD = </a:t>
            </a:r>
            <a:endParaRPr lang="en-US" sz="1800" b="0" dirty="0">
              <a:solidFill>
                <a:srgbClr val="F4F1EA"/>
              </a:solidFill>
              <a:latin typeface="Arial"/>
              <a:ea typeface="Arial"/>
              <a:cs typeface="Arial"/>
            </a:endParaRPr>
          </a:p>
          <a:p>
            <a:pPr algn="ctr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(treated mean − comparison mean)/sref.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A61D2A9-7F23-5D31-9E49-576CA55E8E99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0B92DD-6949-5B6F-9A3A-ECB96A0F700E}"/>
              </a:ext>
            </a:extLst>
          </p:cNvPr>
          <p:cNvSpPr>
            <a:spLocks noGrp="1"/>
          </p:cNvSpPr>
          <p:nvPr/>
        </p:nvSpPr>
        <p:spPr>
          <a:xfrm>
            <a:off x="5057775" y="1452227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Use a fixed reference scale when comparing designs.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AD5A481-E827-FA38-E9A1-DE083EA4DACD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06E193-757A-E0B4-B9F2-C1EEB97D3011}"/>
              </a:ext>
            </a:extLst>
          </p:cNvPr>
          <p:cNvSpPr>
            <a:spLocks noGrp="1"/>
          </p:cNvSpPr>
          <p:nvPr/>
        </p:nvSpPr>
        <p:spPr>
          <a:xfrm>
            <a:off x="530851" y="29051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Here sref is the SD in the original treated group.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3AB801-2B84-A1BF-E2F4-B7FCDC199E1D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543DBFD-1660-B908-1BA6-803900E0996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2905124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Inspect each adjustment covariate.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|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𝑆𝑀𝐷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| &lt; 0.10 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is a guideline.</a:t>
                </a: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543DBFD-1660-B908-1BA6-803900E099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2905124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 r="-389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D69ADE47-387D-8954-03F5-AD5B18BD473E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A small score difference does not guarantee small covariate differences.</a:t>
            </a:r>
          </a:p>
        </p:txBody>
      </p:sp>
    </p:spTree>
    <p:extLst>
      <p:ext uri="{BB962C8B-B14F-4D97-AF65-F5344CB8AC3E}">
        <p14:creationId xmlns:p14="http://schemas.microsoft.com/office/powerpoint/2010/main" val="38161172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9FB0E-D250-63D7-056F-55E160594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B966C-8629-0FFB-7D0E-F0007BC5098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Initial matching improves some covariates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53905B3-5350-8421-80F2-9C51AE4A68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5512830"/>
              </p:ext>
            </p:extLst>
          </p:nvPr>
        </p:nvGraphicFramePr>
        <p:xfrm>
          <a:off x="457200" y="1109729"/>
          <a:ext cx="8229600" cy="276225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Covariate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 dirty="0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Before |SMD|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 dirty="0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After |SMD|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0.309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0.072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Married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0.824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0.055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1974 earnings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0.721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0.050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Black indicator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1.757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1.023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25A871A-2367-058C-6630-D4DEF682CE4A}"/>
              </a:ext>
            </a:extLst>
          </p:cNvPr>
          <p:cNvSpPr>
            <a:spLocks noGrp="1"/>
          </p:cNvSpPr>
          <p:nvPr/>
        </p:nvSpPr>
        <p:spPr>
          <a:xfrm>
            <a:off x="457200" y="4291078"/>
            <a:ext cx="8274676" cy="62865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Substantial imbalance remains. We should revise the design before relying on its effect estimate.</a:t>
            </a:r>
          </a:p>
        </p:txBody>
      </p:sp>
    </p:spTree>
    <p:extLst>
      <p:ext uri="{BB962C8B-B14F-4D97-AF65-F5344CB8AC3E}">
        <p14:creationId xmlns:p14="http://schemas.microsoft.com/office/powerpoint/2010/main" val="6916108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BDC89-0AD5-926E-F06B-A5295F721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CC9DC4-DD24-F9C8-5692-97F09CB250B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add a raw-score caliper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21E232-F50C-1697-CEB7-27F5AD73DE1A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B7899-F3FA-A5A4-AED5-EE1912520755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m1 &lt;- matchit(f, data = d, method = "nearest",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distance = "glm", estimand = "ATT",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ratio = 1, replace = FALSE,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m.order = "largest",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caliper = 0.05,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std.caliper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= FALSE)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summary(m1)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plot(summary(m1), abs = TRUE)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D6DF5E-BC82-BC96-0CAA-2EEA18FECC5F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This caliper limits probability differences to 0.05.</a:t>
            </a:r>
          </a:p>
        </p:txBody>
      </p:sp>
    </p:spTree>
    <p:extLst>
      <p:ext uri="{BB962C8B-B14F-4D97-AF65-F5344CB8AC3E}">
        <p14:creationId xmlns:p14="http://schemas.microsoft.com/office/powerpoint/2010/main" val="8647078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A8C2A-D61F-AD1A-7AB7-98B27E2F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0E3FC7-0298-F79D-9185-F694DBD7DB9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Caliper matching changes the analysis sample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6D3A1FA-B148-9FE8-9826-ACFBB5939756}"/>
              </a:ext>
            </a:extLst>
          </p:cNvPr>
          <p:cNvGraphicFramePr/>
          <p:nvPr/>
        </p:nvGraphicFramePr>
        <p:xfrm>
          <a:off x="457200" y="1219200"/>
          <a:ext cx="8229600" cy="25146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 dirty="0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Group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Initial match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0.05 caliper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Treated retained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113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Comparison retained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113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Treated unmatched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72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7F40A650-DE60-37B4-79CA-1E3FAB6D312B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caliper design represents retained treated participants, not automatically all 185.</a:t>
            </a:r>
          </a:p>
        </p:txBody>
      </p:sp>
    </p:spTree>
    <p:extLst>
      <p:ext uri="{BB962C8B-B14F-4D97-AF65-F5344CB8AC3E}">
        <p14:creationId xmlns:p14="http://schemas.microsoft.com/office/powerpoint/2010/main" val="112265084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AB0B-1C93-B147-68FF-16F27A1A1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012946-A5F7-40D8-6C86-EED5E37F867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Balance across matching designs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98C59E-3F91-A2E3-CDD5-B819EB94B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6459" y="801146"/>
            <a:ext cx="6031923" cy="427609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4C09DC-FDE2-DA41-C96C-B7ADF8E94B4C}"/>
              </a:ext>
            </a:extLst>
          </p:cNvPr>
          <p:cNvSpPr>
            <a:spLocks noGrp="1"/>
          </p:cNvSpPr>
          <p:nvPr/>
        </p:nvSpPr>
        <p:spPr>
          <a:xfrm>
            <a:off x="225381" y="2272040"/>
            <a:ext cx="2324636" cy="150147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caliper improves some imbalances, but degree status and marriage still need attention.</a:t>
            </a:r>
          </a:p>
        </p:txBody>
      </p:sp>
    </p:spTree>
    <p:extLst>
      <p:ext uri="{BB962C8B-B14F-4D97-AF65-F5344CB8AC3E}">
        <p14:creationId xmlns:p14="http://schemas.microsoft.com/office/powerpoint/2010/main" val="10879363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67D80-4D4A-58A3-AB97-7FF990B01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AA7E8F-9DC4-FC7E-3440-408AD9E2322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If balance is still poor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E6F5498-5E2D-55BF-7354-A2F8D51657FD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004404A-2042-A422-8DDB-AA20DDFE69CE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Revise nonlinear terms or interactions in the propensity model.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31F9300F-A46C-2250-B5E8-4D8CA9DCE39E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5C41FE0-CBAA-104E-FA2A-E59C6559E150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Consider exact matching on scientifically important variables.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28BAEB1-8C5E-E56B-A7A0-6B7F624CB8EA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A2868AA-D30B-C208-4CE0-E8958D289BFC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Consider replacement, a different distance, or a different matching method.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C9607781-725A-8623-F9FC-523E8304AFAD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136E753-C09B-46C2-2E40-C07A97ECFAF4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Reassess retention and the target population after each design change.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2DB2A44-70F5-2E1D-1BEA-56C33BCD5CA1}"/>
              </a:ext>
            </a:extLst>
          </p:cNvPr>
          <p:cNvSpPr>
            <a:spLocks noGrp="1"/>
          </p:cNvSpPr>
          <p:nvPr/>
        </p:nvSpPr>
        <p:spPr>
          <a:xfrm>
            <a:off x="-51516" y="4456894"/>
            <a:ext cx="9247031" cy="68660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Improve the comparison using diagnostics, not the size or sign of the estimated effect.</a:t>
            </a:r>
          </a:p>
        </p:txBody>
      </p:sp>
    </p:spTree>
    <p:extLst>
      <p:ext uri="{BB962C8B-B14F-4D97-AF65-F5344CB8AC3E}">
        <p14:creationId xmlns:p14="http://schemas.microsoft.com/office/powerpoint/2010/main" val="42543671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DF99B-9E9E-106C-3A53-2B15FD8BB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D713C6-1FEE-D85A-D072-19E644E2C21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The matched outcome contrast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B6C126A-EF62-91C6-B136-2B15381BF3C8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C1822EB-8D7A-CAB5-7CA2-A07E9772245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For each retained pair,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𝐷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𝑌</m:t>
                        </m:r>
                      </m:e>
                      <m:sub>
                        <m:r>
                          <a:rPr lang="en-US" sz="180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</a:rPr>
                          <m:t>𝑡𝑟𝑒𝑎𝑡𝑒𝑑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𝑌</m:t>
                        </m:r>
                      </m:e>
                      <m:sub>
                        <m:r>
                          <a:rPr lang="en-US" sz="180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</a:rPr>
                          <m:t>𝑐𝑜𝑚𝑝𝑎𝑟𝑖𝑠𝑜𝑛</m:t>
                        </m:r>
                      </m:sub>
                    </m:sSub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C1822EB-8D7A-CAB5-7CA2-A07E977224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B5ACFCD-9D87-4D7B-F0B3-143028B4CE89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33B5518-1F92-A067-778D-67E3436701E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928985" y="1302913"/>
                <a:ext cx="4000499" cy="11049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For equally weighted one-to-one pairs, </a:t>
                </a: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endParaRPr lang="en-US" sz="1800" b="0" i="1" dirty="0">
                  <a:solidFill>
                    <a:srgbClr val="F4F1EA"/>
                  </a:solidFill>
                  <a:latin typeface="Cambria Math" panose="02040503050406030204" pitchFamily="18" charset="0"/>
                  <a:ea typeface="Arial"/>
                  <a:cs typeface="Arial"/>
                </a:endParaRPr>
              </a:p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  <m:t>𝜏</m:t>
                              </m:r>
                            </m:e>
                          </m:acc>
                        </m:e>
                        <m:sub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𝑚𝑎𝑡𝑐ℎ</m:t>
                          </m:r>
                        </m:sub>
                      </m:sSub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= 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𝑚𝑒𝑎𝑛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𝐷</m:t>
                      </m:r>
                      <m:r>
                        <a:rPr lang="en-US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ᵢ).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33B5518-1F92-A067-778D-67E3436701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8985" y="1302913"/>
                <a:ext cx="4000499" cy="1104900"/>
              </a:xfrm>
              <a:prstGeom prst="rect">
                <a:avLst/>
              </a:prstGeom>
              <a:blipFill>
                <a:blip r:embed="rId3"/>
                <a:stretch>
                  <a:fillRect l="-3659" t="-7182" r="-2591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BAD9502-6DCE-F692-7606-788BECA4D266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8BDA1C-E533-C8B0-6945-861541B65F53}"/>
              </a:ext>
            </a:extLst>
          </p:cNvPr>
          <p:cNvSpPr>
            <a:spLocks noGrp="1"/>
          </p:cNvSpPr>
          <p:nvPr/>
        </p:nvSpPr>
        <p:spPr>
          <a:xfrm>
            <a:off x="588806" y="29051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This equals the difference in matched-arm means.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FFCBE3A-2A15-68F6-15C8-B9DBAF5389A8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0768BD-A562-7272-0EB3-85FD48EAA965}"/>
              </a:ext>
            </a:extLst>
          </p:cNvPr>
          <p:cNvSpPr>
            <a:spLocks noGrp="1"/>
          </p:cNvSpPr>
          <p:nvPr/>
        </p:nvSpPr>
        <p:spPr>
          <a:xfrm>
            <a:off x="5086350" y="2905124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 causal interpretation still requires adequate adjustment and support.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A8B2A8C-0944-3AED-DE05-8C0D837C5027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Pairing supplies a comparison. Assumptions justify treating it causally.</a:t>
            </a:r>
          </a:p>
        </p:txBody>
      </p:sp>
    </p:spTree>
    <p:extLst>
      <p:ext uri="{BB962C8B-B14F-4D97-AF65-F5344CB8AC3E}">
        <p14:creationId xmlns:p14="http://schemas.microsoft.com/office/powerpoint/2010/main" val="7057464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64F3-7083-CC44-3913-8EF5902B4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F9EB7F-DE8B-0A1F-686D-DBC9DCF0A31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compute the matched point estimate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C5ECD65-B20B-2A62-9BD3-33ABD19DDFBA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E99E61-BA52-B0CB-9C02-251DF53FF0F6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md &lt;- match.data(m1)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mu1 &lt;- with(md, weighted.mean(re78[treat == 1],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                 weights[treat == 1]))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mu0 &lt;- with(md, weighted.mean(re78[treat == 0],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                 weights[treat == 0]))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matched_difference &lt;- mu1 - mu0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matched_difference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D302E3-CB51-BFF4-3465-F2B65EF2B02A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Keep the point estimate separate from the inference step.</a:t>
            </a:r>
          </a:p>
        </p:txBody>
      </p:sp>
    </p:spTree>
    <p:extLst>
      <p:ext uri="{BB962C8B-B14F-4D97-AF65-F5344CB8AC3E}">
        <p14:creationId xmlns:p14="http://schemas.microsoft.com/office/powerpoint/2010/main" val="17826137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4572B-1056-C6D0-1ADA-0553B32FE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87F6C2-5B56-12B1-C958-F37E2FBDCE7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Results depend on design and population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68E9692-874D-E2E8-DC64-8AD570D531C8}"/>
              </a:ext>
            </a:extLst>
          </p:cNvPr>
          <p:cNvGraphicFramePr/>
          <p:nvPr/>
        </p:nvGraphicFramePr>
        <p:xfrm>
          <a:off x="457200" y="1219200"/>
          <a:ext cx="8229600" cy="25146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Analysis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Observed earnings contrast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Population represented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Crude full-sample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About −$635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Original observed groups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Initial nearest match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About +$894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All treated participants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0.05-caliper match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About +$1,433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113 retained treated participants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FCA704AA-CE2D-7B6E-8311-02C351CD5711}"/>
              </a:ext>
            </a:extLst>
          </p:cNvPr>
          <p:cNvSpPr>
            <a:spLocks noGrp="1"/>
          </p:cNvSpPr>
          <p:nvPr/>
        </p:nvSpPr>
        <p:spPr>
          <a:xfrm>
            <a:off x="141667" y="4400550"/>
            <a:ext cx="8860665" cy="59941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change in estimates is not proof that the final design has removed confounding.</a:t>
            </a:r>
          </a:p>
        </p:txBody>
      </p:sp>
    </p:spTree>
    <p:extLst>
      <p:ext uri="{BB962C8B-B14F-4D97-AF65-F5344CB8AC3E}">
        <p14:creationId xmlns:p14="http://schemas.microsoft.com/office/powerpoint/2010/main" val="22004332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13124-4744-FD45-AB91-3A9EF44A1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578CB9-F73E-5087-E553-01577068F9F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Uncertainty and remaining assumptions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CF7D97-0703-1AF2-6735-7FC7ED4932AE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27FFCA-FC45-17F0-DD17-E103211494F3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Matched observations require an analysis that respects the matching structure.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E1D6C6-EFE5-1909-739D-1D0B196E7085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9B88BC-9AF7-4399-2AE5-ECB166D7EBFC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Control reuse and unequal weights require additional care.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3378E4-D4AA-4DB6-2B78-6B6FA24F7728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7900DA-3DA7-509F-2C4C-2D7FB9CEB5FA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Standard resampling is not universally valid for nearest-neighbor estimators.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F3F0F56-02AA-AB40-6D47-10CAA4829A19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4438161-C01D-5C7C-4A60-AB174C2D189B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No matching method removes unmeasured confounding or absent support.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49512A-721C-0332-0E52-78CDE7527F7F}"/>
              </a:ext>
            </a:extLst>
          </p:cNvPr>
          <p:cNvSpPr>
            <a:spLocks noGrp="1"/>
          </p:cNvSpPr>
          <p:nvPr/>
        </p:nvSpPr>
        <p:spPr>
          <a:xfrm>
            <a:off x="228600" y="4400550"/>
            <a:ext cx="8686800" cy="5232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A credible report includes uncertainty, balance, retention, and causal limitations.</a:t>
            </a:r>
          </a:p>
        </p:txBody>
      </p:sp>
    </p:spTree>
    <p:extLst>
      <p:ext uri="{BB962C8B-B14F-4D97-AF65-F5344CB8AC3E}">
        <p14:creationId xmlns:p14="http://schemas.microsoft.com/office/powerpoint/2010/main" val="33235544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794CB-852B-77A6-EA70-04F00BB92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705AA6-89EA-1B65-138A-59F190A7AC1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Matching: Summary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0ED765-B095-9879-2FA0-0DDA9041A436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CE48B5-A9E5-3E38-4878-C963703ACE59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Matching and g-computation offer different ways to use a valid adjustment set.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F568B23-C384-F09A-7A6F-982800F4310F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3B4021-8E7A-30C7-7606-11DCB30245BF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Scores organize comparisons, while covariate diagnostics assess the resulting design.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86DD005-0332-47BB-197F-E1FAAE34D16B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22C60E-F74C-1BB6-6426-7B4219387582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Calipers can improve comparability while changing the represented population.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ED434E-CCDC-48A9-3B17-79B10FA37C52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51C5BC-6646-A16D-53E2-3C40219516A1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Outcome estimates become meaningful only after design and assumption checks.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D2B0062-C6F2-BA82-8939-3C41ACD7210D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Next: weighting lets us change contributions rather than selecting pairs.</a:t>
            </a:r>
          </a:p>
        </p:txBody>
      </p:sp>
    </p:spTree>
    <p:extLst>
      <p:ext uri="{BB962C8B-B14F-4D97-AF65-F5344CB8AC3E}">
        <p14:creationId xmlns:p14="http://schemas.microsoft.com/office/powerpoint/2010/main" val="317610824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B4FA1-2FAC-89FB-8100-13FB513D4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C18088-17E1-E3C6-DE64-FC2C11575E7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IPW: changing each person’s contribution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671DE3C-EC72-1FF8-7631-B69FD2790836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98E72A-4091-2741-9234-43B24A22AE01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Matching selects comparison participants.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7D0296F-E04E-D68C-9CBE-717FC022C00C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2535847-CFAE-C1AE-89CB-A970D5DF852D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Weighting assigns a numerical contribution to each observed participant.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1D3F70A-EBA6-5B99-81D0-E8735DB412D4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1C179D1-DA03-4CC0-AB71-5AFFD3D457C9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goal is to align covariate distributions for a chosen causal target.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AB5DAF84-D119-FF8E-9E7C-56A718D8329B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4E93DD7-23F0-846B-46AC-025D6163B7D8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We continue with training, baseline X, and 1978 earnings.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6179DB-A4B8-128B-38D8-C2B1199704ED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IPW uses treatment probabilities to construct the comparison.</a:t>
            </a:r>
          </a:p>
        </p:txBody>
      </p:sp>
    </p:spTree>
    <p:extLst>
      <p:ext uri="{BB962C8B-B14F-4D97-AF65-F5344CB8AC3E}">
        <p14:creationId xmlns:p14="http://schemas.microsoft.com/office/powerpoint/2010/main" val="21151689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6AFE-5623-DB76-1408-B949A6D6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3203B0-929D-3A6B-61D1-1307189468D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Why inverse probabilities?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4FA30E-8C80-E0C5-D0A4-60A9DABE4A76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7A11789-5A2A-660A-D6FE-DD01864E341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 treated person with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= 0.20 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</a:t>
                </a: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represents a relatively rare assignment.</a:t>
                </a: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7A11789-5A2A-660A-D6FE-DD01864E34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 b="-63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A1AEC5-D68A-32E3-7035-BCF1FE3D1D15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ED9CE61-447E-0236-6740-9559B4EE78C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Giving that person weight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ar-AE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ar-AE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0.20</m:t>
                        </m:r>
                      </m:den>
                    </m:f>
                    <m:r>
                      <a:rPr lang="ar-AE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5</m:t>
                    </m:r>
                  </m:oMath>
                </a14:m>
                <a:r>
                  <a:rPr lang="ar-AE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</a:t>
                </a: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compensates for the selection probability.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ED9CE61-447E-0236-6740-9559B4EE78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2548" r="-2881" b="-1273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4AB9F1E-C0BC-A6FF-C7E3-E2E0D4E00692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904733E-5EF8-E51A-2399-8FFB479972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 treated person with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= 0.80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receives weight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1.25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904733E-5EF8-E51A-2399-8FFB479972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blipFill>
                <a:blip r:embed="rId4"/>
                <a:stretch>
                  <a:fillRect l="-4068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A4682E4-27AA-8E34-AF9F-7B92B5B6E56D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D725C87-2BB9-CF65-FB8A-D17E99EC12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279082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The same reasoning applies to controls using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1 − 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).</m:t>
                    </m:r>
                  </m:oMath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D725C87-2BB9-CF65-FB8A-D17E99EC12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2790825"/>
                <a:ext cx="3600450" cy="962025"/>
              </a:xfrm>
              <a:prstGeom prst="rect">
                <a:avLst/>
              </a:prstGeom>
              <a:blipFill>
                <a:blip r:embed="rId5"/>
                <a:stretch>
                  <a:fillRect l="-4068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B10ADADD-ED68-6F57-694C-DBA9B657782D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Less likely observed assignments receive larger ATE weights.</a:t>
            </a:r>
          </a:p>
        </p:txBody>
      </p:sp>
    </p:spTree>
    <p:extLst>
      <p:ext uri="{BB962C8B-B14F-4D97-AF65-F5344CB8AC3E}">
        <p14:creationId xmlns:p14="http://schemas.microsoft.com/office/powerpoint/2010/main" val="330843387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A97CE-5895-254D-D36D-B7020F20D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723CD4-D00F-E8F9-7A81-431A03941A9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ATE weights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942F053E-5E67-4776-B82C-E7F75CF4247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63416306"/>
                  </p:ext>
                </p:extLst>
              </p:nvPr>
            </p:nvGraphicFramePr>
            <p:xfrm>
              <a:off x="457200" y="1219200"/>
              <a:ext cx="8229600" cy="188595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Observed treatment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Probability of that assignment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ATE weight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= 1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𝑒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𝑋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1/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𝑒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𝑋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= 0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1 −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𝑒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𝑋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1/{1 −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𝑒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𝑋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)}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942F053E-5E67-4776-B82C-E7F75CF4247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63416306"/>
                  </p:ext>
                </p:extLst>
              </p:nvPr>
            </p:nvGraphicFramePr>
            <p:xfrm>
              <a:off x="457200" y="1219200"/>
              <a:ext cx="8229600" cy="188595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Observed treatment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Probability of that assignment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ATE weight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44" t="-101923" r="-200667" b="-1009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101923" r="-100667" b="-1009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444" t="-101923" r="-667" b="-1009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44" t="-203883" r="-200667" b="-19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203883" r="-100667" b="-19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444" t="-203883" r="-667" b="-19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F1679A-A555-764C-4E01-02934C38E46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9188" y="3866077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725" b="1" i="1" dirty="0" smtClean="0">
                              <a:solidFill>
                                <a:srgbClr val="F5B62D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725" b="1" i="1" dirty="0" smtClean="0">
                              <a:solidFill>
                                <a:srgbClr val="F5B62D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𝒘</m:t>
                          </m:r>
                        </m:e>
                        <m:sub>
                          <m:r>
                            <a:rPr lang="en-US" sz="1725" b="1" i="1" dirty="0" smtClean="0">
                              <a:solidFill>
                                <a:srgbClr val="F5B62D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𝒊</m:t>
                          </m:r>
                        </m:sub>
                      </m:sSub>
                      <m:r>
                        <a:rPr lang="en-US" sz="1725" b="1" i="1" dirty="0" smtClean="0">
                          <a:solidFill>
                            <a:srgbClr val="F5B62D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</m:t>
                      </m:r>
                      <m:f>
                        <m:fPr>
                          <m:ctrlPr>
                            <a:rPr lang="en-US" sz="1725" b="1" i="1" dirty="0" smtClean="0">
                              <a:solidFill>
                                <a:srgbClr val="F5B62D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725" b="1" i="1" dirty="0" smtClean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sSubPr>
                            <m:e>
                              <m:r>
                                <a:rPr lang="en-US" sz="1725" b="1" i="1" dirty="0" smtClean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725" b="1" i="1" dirty="0" smtClean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725" b="1" i="1" dirty="0" smtClean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725" b="1" i="1" dirty="0" smtClean="0">
                                      <a:solidFill>
                                        <a:srgbClr val="F5B62D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</m:ctrlPr>
                                </m:accPr>
                                <m:e>
                                  <m:r>
                                    <a:rPr lang="en-US" sz="1725" b="1" i="1" dirty="0" smtClean="0">
                                      <a:solidFill>
                                        <a:srgbClr val="F5B62D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725" b="1" i="1" dirty="0" smtClean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𝒊</m:t>
                              </m:r>
                            </m:sub>
                          </m:sSub>
                        </m:den>
                      </m:f>
                      <m:r>
                        <a:rPr lang="en-US" sz="1725" b="1" i="1" dirty="0" smtClean="0">
                          <a:solidFill>
                            <a:srgbClr val="F5B62D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+</m:t>
                      </m:r>
                      <m:f>
                        <m:fPr>
                          <m:ctrlPr>
                            <a:rPr lang="en-US" sz="1725" b="1" i="1" dirty="0" smtClean="0">
                              <a:solidFill>
                                <a:srgbClr val="F5B62D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fPr>
                        <m:num>
                          <m:r>
                            <a:rPr lang="en-US" sz="1725" b="1" i="1" dirty="0" smtClean="0">
                              <a:solidFill>
                                <a:srgbClr val="F5B62D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𝟏</m:t>
                          </m:r>
                          <m:r>
                            <a:rPr lang="en-US" sz="1725" b="1" i="1" dirty="0" smtClean="0">
                              <a:solidFill>
                                <a:srgbClr val="F5B62D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en-US" sz="1725" b="1" i="1" dirty="0" smtClean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sSubPr>
                            <m:e>
                              <m:r>
                                <a:rPr lang="en-US" sz="1725" b="1" i="1" dirty="0" smtClean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725" b="1" i="1" dirty="0" smtClean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r>
                            <a:rPr lang="en-US" sz="1725" b="1" i="1" dirty="0" smtClean="0">
                              <a:solidFill>
                                <a:srgbClr val="F5B62D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𝟏</m:t>
                          </m:r>
                          <m:r>
                            <a:rPr lang="en-US" sz="1725" b="1" i="1" dirty="0" smtClean="0">
                              <a:solidFill>
                                <a:srgbClr val="F5B62D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 −</m:t>
                          </m:r>
                          <m:sSub>
                            <m:sSubPr>
                              <m:ctrlPr>
                                <a:rPr lang="en-US" sz="1725" b="1" i="1" dirty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725" b="1" i="1" dirty="0">
                                      <a:solidFill>
                                        <a:srgbClr val="F5B62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725" b="1" i="1" dirty="0">
                                      <a:solidFill>
                                        <a:srgbClr val="F5B62D"/>
                                      </a:solidFill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725" b="1" i="1" dirty="0">
                                  <a:solidFill>
                                    <a:srgbClr val="F5B62D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sz="1725" b="1" dirty="0">
                  <a:solidFill>
                    <a:srgbClr val="F5B62D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F1679A-A555-764C-4E01-02934C38E4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88" y="3866077"/>
                <a:ext cx="8229600" cy="495300"/>
              </a:xfrm>
              <a:prstGeom prst="rect">
                <a:avLst/>
              </a:prstGeom>
              <a:blipFill>
                <a:blip r:embed="rId3"/>
                <a:stretch>
                  <a:fillRect b="-987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17970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E400F-92E0-0CC4-B976-204E0DA84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0B8ED0-95B7-7C61-9529-8A2151AFDEE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Actual weights for job-training participants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E1ADA54-B9AE-2E43-A0FC-07C83EF47B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254694"/>
              </p:ext>
            </p:extLst>
          </p:nvPr>
        </p:nvGraphicFramePr>
        <p:xfrm>
          <a:off x="457200" y="1109729"/>
          <a:ext cx="8229600" cy="276225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Participant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Estimated score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ATE weight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NSW1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0.639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1.57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NSW11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0.689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1.45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PSID1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0.026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1.03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PSID16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0.056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1.06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CA0E42B4-F7A2-B563-5F25-586E96C5F160}"/>
              </a:ext>
            </a:extLst>
          </p:cNvPr>
          <p:cNvSpPr>
            <a:spLocks noGrp="1"/>
          </p:cNvSpPr>
          <p:nvPr/>
        </p:nvSpPr>
        <p:spPr>
          <a:xfrm>
            <a:off x="457200" y="4291079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For an untreated participant, use 1/(1 − score), not 1/score.</a:t>
            </a:r>
          </a:p>
        </p:txBody>
      </p:sp>
    </p:spTree>
    <p:extLst>
      <p:ext uri="{BB962C8B-B14F-4D97-AF65-F5344CB8AC3E}">
        <p14:creationId xmlns:p14="http://schemas.microsoft.com/office/powerpoint/2010/main" val="42530518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E5EF2-68DC-D415-A998-4394D33CF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52C966-FEC1-74EF-346B-969389CBCF32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Why weighting balances the population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9203471-E6A6-5B88-D979-055D4C40AF30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CAF7C6-770A-8DE3-229E-588119B15A5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The observed treated covariate density is proportional to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𝑓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CAF7C6-770A-8DE3-229E-588119B15A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 r="-118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F87967F-4060-0E29-5EF1-314D4789C35E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35D575-41E7-5623-CFE6-61E42EFC7D9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Multiplying by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1/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leaves a density proportional to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𝑓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35D575-41E7-5623-CFE6-61E42EFC7D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73ACFDF-2B63-8B5C-41B8-D5635F115695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D45135-A529-7970-5538-5E226F10D3E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The control density is proportional to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{1 − 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)}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𝑓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).</m:t>
                    </m:r>
                  </m:oMath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D45135-A529-7970-5538-5E226F10D3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2790825"/>
                <a:ext cx="3600450" cy="962025"/>
              </a:xfrm>
              <a:prstGeom prst="rect">
                <a:avLst/>
              </a:prstGeom>
              <a:blipFill>
                <a:blip r:embed="rId4"/>
                <a:stretch>
                  <a:fillRect l="-4068" t="-8228" r="-10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C4EA597-917E-730F-A728-CFE2798239C8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AF9013D-B4CE-A6C2-8E79-4683A97D7DB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279082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Multiplying by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1/{1 − 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)} 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also leaves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𝑓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𝑥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AF9013D-B4CE-A6C2-8E79-4683A97D7D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2790825"/>
                <a:ext cx="3600450" cy="962025"/>
              </a:xfrm>
              <a:prstGeom prst="rect">
                <a:avLst/>
              </a:prstGeom>
              <a:blipFill>
                <a:blip r:embed="rId5"/>
                <a:stretch>
                  <a:fillRect l="-4068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3805011-2F89-1779-104A-24FFAB2EFB7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With the true probabilities, both ATE-weighted arms target the same </a:t>
                </a:r>
                <a14:m>
                  <m:oMath xmlns:m="http://schemas.openxmlformats.org/officeDocument/2006/math"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𝒇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𝒙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3805011-2F89-1779-104A-24FFAB2EF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blipFill>
                <a:blip r:embed="rId6"/>
                <a:stretch>
                  <a:fillRect t="-135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26555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B06C6-E128-CCA6-AA85-E12694B96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8D4F8B-A180-3616-3CBA-D246E75238E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Why IPW identifies a treatment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2FB0494-8B78-BADF-7021-AEE066DA0D1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𝑇𝑌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/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𝑒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|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] =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|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1,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].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2FB0494-8B78-BADF-7021-AEE066DA0D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E3FF32A-B760-C354-EEBE-66A2E007630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Because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𝑇𝑌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|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] =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|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1,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].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E3FF32A-B760-C354-EEBE-66A2E00763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l="-1905"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FE81E3C-351E-637E-67C7-826CA698AFF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Averaging over X gives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𝑇𝑌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/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)] =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(1)].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FE81E3C-351E-637E-67C7-826CA698A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blipFill>
                <a:blip r:embed="rId4"/>
                <a:stretch>
                  <a:fillRect l="-1905"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248F692-FFEF-FAD9-9305-CA0B4056633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The control expression identifies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(0)] </m:t>
                    </m:r>
                  </m:oMath>
                </a14:m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in the same way.</a:t>
                </a: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248F692-FFEF-FAD9-9305-CA0B405663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5"/>
                <a:stretch>
                  <a:fillRect l="-1905"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5DB09D33-8F4A-CEE2-D6CF-71AE142F5FBD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Exchangeability, consistency, and positivity justify the causal equality.</a:t>
            </a:r>
          </a:p>
        </p:txBody>
      </p:sp>
    </p:spTree>
    <p:extLst>
      <p:ext uri="{BB962C8B-B14F-4D97-AF65-F5344CB8AC3E}">
        <p14:creationId xmlns:p14="http://schemas.microsoft.com/office/powerpoint/2010/main" val="151642867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ACEC4-A82C-C645-E88D-3BCD77872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0920F-C225-17EA-303D-683CD223930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Weighted mean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F5C0435-502A-2059-B57E-6EA6C172288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Horvitz-Thompson: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𝜇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𝑛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⁻¹ </m:t>
                    </m:r>
                    <m:r>
                      <m:rPr>
                        <m:sty m:val="p"/>
                      </m:rPr>
                      <a:rPr lang="el-GR" sz="1950" b="0" i="0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Σ</m:t>
                    </m:r>
                    <m:r>
                      <a:rPr lang="el-GR" sz="195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</m:t>
                    </m:r>
                    <m:sSub>
                      <m:sSubPr>
                        <m:ctrlPr>
                          <a:rPr lang="el-GR" sz="195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l-GR" sz="195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𝑇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195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𝑌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/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F5C0435-502A-2059-B57E-6EA6C17228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l="-1905"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EB01E21-1BA1-83AC-1A8C-4D2AE90FFC3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Normalized mean: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𝜇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r>
                      <m:rPr>
                        <m:sty m:val="p"/>
                      </m:rPr>
                      <a:rPr lang="el-GR" sz="1950" b="0" i="0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Σ</m:t>
                    </m:r>
                    <m:r>
                      <a:rPr lang="el-GR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</m:t>
                    </m:r>
                    <m:r>
                      <a:rPr lang="el-GR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ᵢ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ᵢ/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̂ᵢ ÷ </m:t>
                    </m:r>
                    <m:r>
                      <m:rPr>
                        <m:sty m:val="p"/>
                      </m:rPr>
                      <a:rPr lang="el-GR" sz="1950" b="0" i="0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Σ</m:t>
                    </m:r>
                    <m:r>
                      <a:rPr lang="el-GR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</m:t>
                    </m:r>
                    <m:r>
                      <a:rPr lang="el-GR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ᵢ/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̂ᵢ.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EB01E21-1BA1-83AC-1A8C-4D2AE90FFC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l="-1905" t="-77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1B11821-458B-B7D1-86C7-A9D46BB3DD2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Compute the corresponding control mean using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1 −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1B11821-458B-B7D1-86C7-A9D46BB3DD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blipFill>
                <a:blip r:embed="rId4"/>
                <a:stretch>
                  <a:fillRect l="-1905"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7C32F53-59F4-9584-C624-B0901BAB19F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The effect estimate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𝜏</m:t>
                        </m:r>
                      </m:e>
                    </m:acc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𝜇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−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𝜇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7C32F53-59F4-9584-C624-B0901BAB19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5"/>
                <a:stretch>
                  <a:fillRect l="-1905"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4BBBA076-3EFB-2781-740C-4D37A578C235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Our real-data calculations use normalized weighted means.</a:t>
            </a:r>
          </a:p>
        </p:txBody>
      </p:sp>
    </p:spTree>
    <p:extLst>
      <p:ext uri="{BB962C8B-B14F-4D97-AF65-F5344CB8AC3E}">
        <p14:creationId xmlns:p14="http://schemas.microsoft.com/office/powerpoint/2010/main" val="35311413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BC3F-A35A-78CF-DA63-30391C337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AD0976-E2CC-23C4-D51C-ED74E01B057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estimate the assignment model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2363663-AFC8-CE5D-3D23-BB7153C85627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FEAFD2-5885-D779-E302-24AA2503D05C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library(MatchIt)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data("lalonde", package = "MatchIt")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 &lt;- lalonde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ps_fit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glm(treat ~ age + educ + race + married +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nodegree + re74 + re75,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family = binomial(), data = d)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d$ps &lt;- predict(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ps_fit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, type = "response")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stopifnot(all(d$ps &gt; 0 &amp; d$ps &lt; 1))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C819CF-F12A-68AF-757D-B8C3CA6DD7DC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This check prevents invalid denominators. It does not verify population positivity.</a:t>
            </a:r>
          </a:p>
        </p:txBody>
      </p:sp>
    </p:spTree>
    <p:extLst>
      <p:ext uri="{BB962C8B-B14F-4D97-AF65-F5344CB8AC3E}">
        <p14:creationId xmlns:p14="http://schemas.microsoft.com/office/powerpoint/2010/main" val="192372512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7C5EF-4592-BC4F-0C76-F6942685B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5E53CF-5412-3A5B-1B64-A8E96394C1B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ATE weights and point estimate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A0AE5A5-467B-A8DE-4DA4-7BA4278EAD99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2D9297-3B75-3DEF-3AFA-0D8FB0BFFE81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d$w_ate &lt;- ifelse(d$treat == 1,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      1 / d$ps, 1 / (1 - d$ps))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mu1 &lt;- with(d, weighted.mean(re78[treat == 1],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               w_ate[treat == 1]))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mu0 &lt;- with(d, weighted.mean(re78[treat == 0],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               w_ate[treat == 0]))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ate_ipw &lt;- mu1 - mu0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c(mu1 = mu1, mu0 = mu0, ATE = ate_ipw)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29928C-F0E7-031C-1A89-9B8F1CCA36E2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target is the overall population represented by these study data.</a:t>
            </a:r>
          </a:p>
        </p:txBody>
      </p:sp>
    </p:spTree>
    <p:extLst>
      <p:ext uri="{BB962C8B-B14F-4D97-AF65-F5344CB8AC3E}">
        <p14:creationId xmlns:p14="http://schemas.microsoft.com/office/powerpoint/2010/main" val="31172664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5AE92-F00D-A417-F88A-97894CD2E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BA7BCD-EC6A-EFF9-7E66-28FE1CA1EE2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ATE weighting: real-data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A8A550-83F3-F085-BB72-CE75FEA83FFD}"/>
              </a:ext>
            </a:extLst>
          </p:cNvPr>
          <p:cNvGraphicFramePr/>
          <p:nvPr/>
        </p:nvGraphicFramePr>
        <p:xfrm>
          <a:off x="457200" y="1219200"/>
          <a:ext cx="8229600" cy="25146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Quantity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Estimate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Weighted training mean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$6,648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Weighted comparison mean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$6,423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Weighted difference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About +$225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CC91D70C-593D-C736-B72B-C697914555A5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This is an estimate under the proposed model and assumptions, not a validated causal conclusion.</a:t>
            </a:r>
          </a:p>
        </p:txBody>
      </p:sp>
    </p:spTree>
    <p:extLst>
      <p:ext uri="{BB962C8B-B14F-4D97-AF65-F5344CB8AC3E}">
        <p14:creationId xmlns:p14="http://schemas.microsoft.com/office/powerpoint/2010/main" val="386980146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1252C-31EB-049C-9C64-5D7A842E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82DF7-0DAF-679B-A5B0-CFF2DF1F048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ATT weighting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70C58F1-9CD0-22FA-564E-7B8257A5B14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40350463"/>
                  </p:ext>
                </p:extLst>
              </p:nvPr>
            </p:nvGraphicFramePr>
            <p:xfrm>
              <a:off x="457200" y="1219200"/>
              <a:ext cx="8229600" cy="188595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Observed treatment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ATT weight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Purpose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= 1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Retain the treated population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= 0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𝑒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𝑋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)/{1 −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𝑒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𝑋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)}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Make controls resemble treated units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70C58F1-9CD0-22FA-564E-7B8257A5B14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40350463"/>
                  </p:ext>
                </p:extLst>
              </p:nvPr>
            </p:nvGraphicFramePr>
            <p:xfrm>
              <a:off x="457200" y="1219200"/>
              <a:ext cx="8229600" cy="188595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Observed treatment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 dirty="0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ATT weight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Purpose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44" t="-101923" r="-200667" b="-106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101923" r="-100667" b="-106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Retain the treated population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44" t="-203883" r="-200667" b="-77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4" t="-203883" r="-100667" b="-77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Make controls resemble treated units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6D585563-E512-E6C6-15B2-194BC7770508}"/>
              </a:ext>
            </a:extLst>
          </p:cNvPr>
          <p:cNvSpPr>
            <a:spLocks noGrp="1"/>
          </p:cNvSpPr>
          <p:nvPr/>
        </p:nvSpPr>
        <p:spPr>
          <a:xfrm>
            <a:off x="457200" y="392430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ATT weights target the treated covariate distribution, not the full-population ATE.</a:t>
            </a:r>
          </a:p>
        </p:txBody>
      </p:sp>
    </p:spTree>
    <p:extLst>
      <p:ext uri="{BB962C8B-B14F-4D97-AF65-F5344CB8AC3E}">
        <p14:creationId xmlns:p14="http://schemas.microsoft.com/office/powerpoint/2010/main" val="117572846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D2A5-D220-F135-1DED-DFE755977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6AC960-8ED5-1CC8-09ED-9AEBE8E3C57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ATT weights and point estimate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60D91DD-3E92-07E6-0F52-B6F5EE894E0A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B926B1-9555-7115-81D4-82FD48DEDD02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d$w_att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ifelse(d$treat == 1,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      1, d$ps / (1 - d$ps))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mu1_att &lt;- with(d, weighted.mean(re78[treat == 1],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                  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w_att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[treat == 1]))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mu0_att &lt;- with(d, weighted.mean(re78[treat == 0],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                   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w_att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[treat == 0]))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att_ipw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mu1_att - mu0_att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c(mu1 = mu1_att, mu0 = mu0_att, ATT =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att_ipw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123F2E-C663-2BB9-F1AF-96FD3CAD2D9D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Here the treated mean stays $6,349. The weighted control mean is about $5,135.</a:t>
            </a:r>
          </a:p>
        </p:txBody>
      </p:sp>
    </p:spTree>
    <p:extLst>
      <p:ext uri="{BB962C8B-B14F-4D97-AF65-F5344CB8AC3E}">
        <p14:creationId xmlns:p14="http://schemas.microsoft.com/office/powerpoint/2010/main" val="8861959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1BA7C-D1F4-A726-354F-D7230FF95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B1DC3B-643A-09A9-E3D3-8FC1326A231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ATE and ATT answer different questions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D3326A2-3C62-BA40-F913-3787855737BC}"/>
              </a:ext>
            </a:extLst>
          </p:cNvPr>
          <p:cNvGraphicFramePr/>
          <p:nvPr/>
        </p:nvGraphicFramePr>
        <p:xfrm>
          <a:off x="457200" y="1219200"/>
          <a:ext cx="8229600" cy="188595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Weighting estimate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Whose effect?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ATE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About +$225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Overall study population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ATT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About +$1,214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Treated participants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FF8291FE-547E-8374-E31A-4B4097315C9B}"/>
              </a:ext>
            </a:extLst>
          </p:cNvPr>
          <p:cNvSpPr>
            <a:spLocks noGrp="1"/>
          </p:cNvSpPr>
          <p:nvPr/>
        </p:nvSpPr>
        <p:spPr>
          <a:xfrm>
            <a:off x="457200" y="4001305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Different targets can produce different effects, even with the same data and propensity model.</a:t>
            </a:r>
          </a:p>
        </p:txBody>
      </p:sp>
    </p:spTree>
    <p:extLst>
      <p:ext uri="{BB962C8B-B14F-4D97-AF65-F5344CB8AC3E}">
        <p14:creationId xmlns:p14="http://schemas.microsoft.com/office/powerpoint/2010/main" val="350923878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822D1-C90C-B07C-C029-13D8FCFA1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DAEE7E-10FA-728F-2E69-12FC9E6FF31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Stabilized ATE weights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B459365-5C26-C9BD-D441-020ADB9EBBDF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9F295EF-3F86-666C-6966-93271A2F393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885825" y="1509712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Treated: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𝑃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1)/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9F295EF-3F86-666C-6966-93271A2F39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825" y="1509712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3892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9B74656-3A3D-91F9-EE20-98F63B0DF652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7F31694-708C-DE44-B7E4-D7ED4BE4001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205882" y="1528762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Control: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𝑃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0)/{1 − 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)}.</m:t>
                    </m:r>
                  </m:oMath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7F31694-708C-DE44-B7E4-D7ED4BE400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882" y="1528762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1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2716335-BC20-AF76-C8FF-4CFDE8028A9C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77511-4D0D-9799-C549-1EB1024EE4DF}"/>
              </a:ext>
            </a:extLst>
          </p:cNvPr>
          <p:cNvSpPr>
            <a:spLocks noGrp="1"/>
          </p:cNvSpPr>
          <p:nvPr/>
        </p:nvSpPr>
        <p:spPr>
          <a:xfrm>
            <a:off x="485775" y="29051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Use the observed treatment fraction to estimate the numerators.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D71EAB0-26C8-C8A9-C1AC-42CE1F0F8098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E74194-BB8B-1EEF-1B12-30A00DF440D4}"/>
              </a:ext>
            </a:extLst>
          </p:cNvPr>
          <p:cNvSpPr>
            <a:spLocks noGrp="1"/>
          </p:cNvSpPr>
          <p:nvPr/>
        </p:nvSpPr>
        <p:spPr>
          <a:xfrm>
            <a:off x="5057775" y="2762249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numerators multiply all weights within an arm by the same constant.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F5BA69-941D-7480-090E-FAA185F95B10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Normalized arm means are unchanged. Stabilization does not fix poor overlap.</a:t>
            </a:r>
          </a:p>
        </p:txBody>
      </p:sp>
    </p:spTree>
    <p:extLst>
      <p:ext uri="{BB962C8B-B14F-4D97-AF65-F5344CB8AC3E}">
        <p14:creationId xmlns:p14="http://schemas.microsoft.com/office/powerpoint/2010/main" val="35342399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6E2CE-2CEE-FD85-D91B-91BECEEF8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7BA048-E0C2-BB05-47F4-74CD9C2B60F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Extreme weights and influence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BAECDA3-5A95-64A4-B4D5-55CEC4F9F9BA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2EB60D6-080F-98BE-F36B-8D8AA588ECF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432909"/>
                <a:ext cx="3800475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For a treated person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= 0.025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, the ATE weight is about 40.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2EB60D6-080F-98BE-F36B-8D8AA588EC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432909"/>
                <a:ext cx="3800475" cy="962025"/>
              </a:xfrm>
              <a:prstGeom prst="rect">
                <a:avLst/>
              </a:prstGeom>
              <a:blipFill>
                <a:blip r:embed="rId2"/>
                <a:stretch>
                  <a:fillRect l="-3852" t="-8228" r="-256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A4A909A-5EA1-3C6A-65CE-B575739EE9CE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0819ED7-3BC0-7938-9C15-C1BDD073542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432908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In this real dataset, the maximum treated ATE weight is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40.08</m:t>
                    </m:r>
                  </m:oMath>
                </a14:m>
                <a:r>
                  <a:rPr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0819ED7-3BC0-7938-9C15-C1BDD07354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432908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01FC3C-EF2E-DF61-C1A1-1D6D6DF03299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17E2E7E-C409-AB30-7552-78CBA240B165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 small number of low-score treated people can drive the weighted treated mean.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850F571-A777-1630-6701-6A4F1AFD04EA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3947C0-C512-F18B-6DE9-18BF4761773F}"/>
              </a:ext>
            </a:extLst>
          </p:cNvPr>
          <p:cNvSpPr>
            <a:spLocks noGrp="1"/>
          </p:cNvSpPr>
          <p:nvPr/>
        </p:nvSpPr>
        <p:spPr>
          <a:xfrm>
            <a:off x="5086350" y="2837912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Check the weight distribution separately in each arm.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22CE974-B1E0-370F-56DD-026F8FA34146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Retaining everyone does not mean everyone contributes equally.</a:t>
            </a:r>
          </a:p>
        </p:txBody>
      </p:sp>
    </p:spTree>
    <p:extLst>
      <p:ext uri="{BB962C8B-B14F-4D97-AF65-F5344CB8AC3E}">
        <p14:creationId xmlns:p14="http://schemas.microsoft.com/office/powerpoint/2010/main" val="1777700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18EC-48B9-6D08-E183-B12871EA0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04FEB7-8266-EE5E-694C-212EC88F4A4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Effective sample size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D4514BF-6EDB-0668-9BDF-D21B3DC8307D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27F71C9-9A98-C331-D457-3559D7C533F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4859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l-GR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𝐸𝑆𝑆</m:t>
                      </m:r>
                      <m:r>
                        <a:rPr lang="el-GR" sz="180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(</m:t>
                      </m:r>
                      <m:r>
                        <m:rPr>
                          <m:sty m:val="p"/>
                        </m:rPr>
                        <a:rPr lang="el-GR" sz="1800" b="0" i="0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Σ</m:t>
                      </m:r>
                      <m:r>
                        <a:rPr lang="el-GR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</m:t>
                      </m:r>
                      <m:sSub>
                        <m:sSubPr>
                          <m:ctrlPr>
                            <a:rPr lang="el-GR" sz="180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l-GR" sz="180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𝑤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l-GR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)² / </m:t>
                      </m:r>
                      <m:r>
                        <m:rPr>
                          <m:sty m:val="p"/>
                        </m:rPr>
                        <a:rPr lang="el-GR" sz="1800" b="0" i="0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Σ</m:t>
                      </m:r>
                      <m:r>
                        <a:rPr lang="el-GR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</m:t>
                      </m:r>
                      <m:sSub>
                        <m:sSubPr>
                          <m:ctrlPr>
                            <a:rPr lang="el-GR" sz="180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l-GR" sz="180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𝑤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l-GR" sz="180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².</m:t>
                      </m:r>
                    </m:oMath>
                  </m:oMathPara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27F71C9-9A98-C331-D457-3559D7C533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4859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t="-189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1E428CB-1705-5D79-B121-7801E9B7C0F0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94EE99-9593-BCC5-225F-2875EA222C26}"/>
              </a:ext>
            </a:extLst>
          </p:cNvPr>
          <p:cNvSpPr>
            <a:spLocks noGrp="1"/>
          </p:cNvSpPr>
          <p:nvPr/>
        </p:nvSpPr>
        <p:spPr>
          <a:xfrm>
            <a:off x="5057775" y="1376362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Equal weights give ESS equal to the observed sample size.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1229289-5372-0979-31C1-9DABB0676C42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8D9DCA-2D3B-6E86-D54F-E87C747B1DEF}"/>
              </a:ext>
            </a:extLst>
          </p:cNvPr>
          <p:cNvSpPr>
            <a:spLocks noGrp="1"/>
          </p:cNvSpPr>
          <p:nvPr/>
        </p:nvSpPr>
        <p:spPr>
          <a:xfrm>
            <a:off x="485775" y="3048000"/>
            <a:ext cx="3800475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 few dominant weights lower ESS.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6C37625-6ED6-C93D-AC97-F54895B4992C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62A056-CF88-AA44-4291-C552D0ED486D}"/>
              </a:ext>
            </a:extLst>
          </p:cNvPr>
          <p:cNvSpPr>
            <a:spLocks noGrp="1"/>
          </p:cNvSpPr>
          <p:nvPr/>
        </p:nvSpPr>
        <p:spPr>
          <a:xfrm>
            <a:off x="5086350" y="2919412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Compute ESS within each treatment arm.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751065A-2D39-E15D-C906-EEB9A50DBAFD}"/>
              </a:ext>
            </a:extLst>
          </p:cNvPr>
          <p:cNvSpPr>
            <a:spLocks noGrp="1"/>
          </p:cNvSpPr>
          <p:nvPr/>
        </p:nvSpPr>
        <p:spPr>
          <a:xfrm>
            <a:off x="255163" y="4400550"/>
            <a:ext cx="8603087" cy="59941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ESS describes weight concentration, not a new count of independent participants.</a:t>
            </a:r>
          </a:p>
        </p:txBody>
      </p:sp>
    </p:spTree>
    <p:extLst>
      <p:ext uri="{BB962C8B-B14F-4D97-AF65-F5344CB8AC3E}">
        <p14:creationId xmlns:p14="http://schemas.microsoft.com/office/powerpoint/2010/main" val="343934118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8C6D3-DB08-82F3-BF47-DD871FA37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BEE5E5-DE7F-E371-A4F2-22A4322DE9E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Weight diagnostics in the real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B31C9C1-FC7A-F125-E9EC-64580628D882}"/>
              </a:ext>
            </a:extLst>
          </p:cNvPr>
          <p:cNvGraphicFramePr/>
          <p:nvPr/>
        </p:nvGraphicFramePr>
        <p:xfrm>
          <a:off x="457200" y="1219200"/>
          <a:ext cx="8229600" cy="188595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Design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Treated 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Treated ESS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Control n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Control ESS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ATE weights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58.3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429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329.0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ATT weights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185.0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429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99.8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18124DBD-D2A2-9081-4295-7696AF238BC4}"/>
              </a:ext>
            </a:extLst>
          </p:cNvPr>
          <p:cNvSpPr>
            <a:spLocks noGrp="1"/>
          </p:cNvSpPr>
          <p:nvPr/>
        </p:nvSpPr>
        <p:spPr>
          <a:xfrm>
            <a:off x="457200" y="4007745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ATE weights concentrate influence among treated units. ATT weights concentrate it among controls.</a:t>
            </a:r>
          </a:p>
        </p:txBody>
      </p:sp>
    </p:spTree>
    <p:extLst>
      <p:ext uri="{BB962C8B-B14F-4D97-AF65-F5344CB8AC3E}">
        <p14:creationId xmlns:p14="http://schemas.microsoft.com/office/powerpoint/2010/main" val="33377150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43CF5-D49E-E1C9-CE81-00ACFCF80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ADAD4B-93F1-7939-03CE-BB32E03CEF3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inspect weights and ESS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8E06CC6-D9A0-3846-DF52-51F8457E74AF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B3AEC4-9365-0686-5BED-9B0C73A57BBD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ess &lt;- function(w) sum(w)^2 / sum(w^2)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q &lt;- c(0, .5, .9, .95, .99, 1)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tapply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(d$w_ate, d$treat, quantile, probs = q)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tapply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(d$w_ate, d$treat, ess)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tapply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(d$w_att, d$treat, ess)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# Largest ATE weights and their underlying scores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ix &lt;- order(d$w_ate, decreasing = TRUE)[1:5]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d[ix, c("treat", "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ps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", "w_ate", "age", "re74", "re75")]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2A1DFE-A18B-24F6-448C-B7AE6D8118AE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Inspect the people behind the largest contributions.</a:t>
            </a:r>
          </a:p>
        </p:txBody>
      </p:sp>
    </p:spTree>
    <p:extLst>
      <p:ext uri="{BB962C8B-B14F-4D97-AF65-F5344CB8AC3E}">
        <p14:creationId xmlns:p14="http://schemas.microsoft.com/office/powerpoint/2010/main" val="426518817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F445-9D07-4D5F-038B-D5341FE4C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2C110F-FEB5-73B5-1CF7-E34C4FF1C5F2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calculate the chart’s balance values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7049369-9EE2-AA9C-006D-DA71FA2E8FA3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CA8B29-FFD3-195A-43A4-C1D4146E32BF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X &lt;- data.frame(age=d$age, educ=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d$educ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, married=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d$married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nodegree=d$nodegree, re74=d$re74, re75=d$re75,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black=as.numeric(d$race == "black"))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 &lt;- d$treat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sref &lt;- sapply(X[A == 1, ], sd)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smd &lt;- function(w) sapply(seq_along(X), function(j) {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x &lt;- X[[j]]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abs(weighted.mean(x[A == 1], w[A == 1]) -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weighted.mean(x[A == 0], w[A == 0])) / sref[j]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})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D1B4A9-BFD7-989B-B848-5492D2F2EB8F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Use one fixed denominator before and after weighting.</a:t>
            </a:r>
          </a:p>
        </p:txBody>
      </p:sp>
    </p:spTree>
    <p:extLst>
      <p:ext uri="{BB962C8B-B14F-4D97-AF65-F5344CB8AC3E}">
        <p14:creationId xmlns:p14="http://schemas.microsoft.com/office/powerpoint/2010/main" val="22557562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297D6-B79C-145F-C7C0-29651C51F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5CFDDA-5996-6819-E044-D7F8CFCF7DE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reproduce the balance plot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52BE93-86A4-F8A4-06DF-B09B39186340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96C3F9-6CDE-B745-9A4D-8B6FA01A97A1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balance &lt;- rbind(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Before =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smd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(rep(1,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nrow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(d))),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ATE = smd(d$w_ate), ATT = smd(d$w_att))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barplot(balance, beside = TRUE,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names.arg = names(X), cex.names = .75,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col = c("grey70", "#71AFE8", "#7CCB91"),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ylab = "Absolute SMD",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ylim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= c(0, 2),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legend.text = rownames(balance),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args.legend = list(x = "top",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bty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= "n"))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abline(h = .10,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lty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= 2, col = "red")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00EBA6-729D-41F8-0BD6-E1FF5C6608F8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dashed 0.10 line is a guideline, not a test of exchangeability.</a:t>
            </a:r>
          </a:p>
        </p:txBody>
      </p:sp>
    </p:spTree>
    <p:extLst>
      <p:ext uri="{BB962C8B-B14F-4D97-AF65-F5344CB8AC3E}">
        <p14:creationId xmlns:p14="http://schemas.microsoft.com/office/powerpoint/2010/main" val="376252142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4FA9B-6096-F87A-A295-E122E49C1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DEF909-C920-4913-474A-FEF3C84D9E8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Balance after weighting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BEEA55-A6A2-23D2-0E15-2E32027E3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438" y="759886"/>
            <a:ext cx="5981123" cy="424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73597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FA4E4-E3B4-EB41-CB3F-946D4119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0274C2-C11D-9874-5D53-FA03EFB0702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Poor overlap: possible responses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6F5FFB-F75A-197D-6CAB-88DE3DA44B80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13336B-F9AD-2E39-BE93-A5A26149AB34}"/>
              </a:ext>
            </a:extLst>
          </p:cNvPr>
          <p:cNvSpPr>
            <a:spLocks noGrp="1"/>
          </p:cNvSpPr>
          <p:nvPr/>
        </p:nvSpPr>
        <p:spPr>
          <a:xfrm>
            <a:off x="485775" y="1432909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Reconsider whether the full-population ATE is supported.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8CC66A9-8BA3-446E-B5E6-897E20F8E6A9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1949D8-9CCC-D47B-7022-2260D1E97595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Improve the propensity specification if important modeled terms are missing.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AAFA294-9C61-EBA7-8E95-2889EF21FFB3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1461F1-74F4-6E87-84B2-129879600C79}"/>
              </a:ext>
            </a:extLst>
          </p:cNvPr>
          <p:cNvSpPr>
            <a:spLocks noGrp="1"/>
          </p:cNvSpPr>
          <p:nvPr/>
        </p:nvSpPr>
        <p:spPr>
          <a:xfrm>
            <a:off x="556609" y="2812692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Restriction changes the target population. Weight capping can introduce bias.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7CFD15-FF0D-30E0-14F7-6B113458A2BC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6E1DA43-4C12-E9AA-6884-D09E3ECA8620}"/>
              </a:ext>
            </a:extLst>
          </p:cNvPr>
          <p:cNvSpPr>
            <a:spLocks noGrp="1"/>
          </p:cNvSpPr>
          <p:nvPr/>
        </p:nvSpPr>
        <p:spPr>
          <a:xfrm>
            <a:off x="5086350" y="2919413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Recheck balance and sensitivity after any change.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F1E872-F25D-372D-B0F4-B9ACB87C714F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 numerical weight modification cannot restore missing support.</a:t>
            </a:r>
          </a:p>
        </p:txBody>
      </p:sp>
    </p:spTree>
    <p:extLst>
      <p:ext uri="{BB962C8B-B14F-4D97-AF65-F5344CB8AC3E}">
        <p14:creationId xmlns:p14="http://schemas.microsoft.com/office/powerpoint/2010/main" val="310285363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64339-7F96-0DA6-C509-70A2691F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C005E4-A337-B1EC-CB0E-35AA6782CE4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Uncertainty and the next estimator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875B21-536F-B7E3-5C1E-24C225A3B834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7650D9-1DDD-72A7-E892-591CF6592AD3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Use inference that accounts for the weighting analysis and any clustering.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3BB5E4-5805-8C19-0D46-4E19328EB499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21CC5F-312E-06E1-6F49-F0A9E8DB2FB7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 suitable refitting bootstrap can include propensity-model estimation for smooth IPW.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1BF219-3F01-A31B-6097-3D152F6BA706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F13A78-D482-1B04-065B-ECAEF339AE35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Sampling intervals do not quantify unmeasured confounding.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63EA754-6505-493E-7033-58E6C9DEAE20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9D941F-8913-4A8F-5F44-C357BDEBCAD7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Next, AIPW combines outcome predictions with weighted residual corrections.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C14703-A61D-CE65-6C49-179B4F96526C}"/>
              </a:ext>
            </a:extLst>
          </p:cNvPr>
          <p:cNvSpPr>
            <a:spLocks noGrp="1"/>
          </p:cNvSpPr>
          <p:nvPr/>
        </p:nvSpPr>
        <p:spPr>
          <a:xfrm>
            <a:off x="313194" y="4400550"/>
            <a:ext cx="8517612" cy="5232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IPW depends on the treatment model. AIPW adds an outcome-model safeguard.</a:t>
            </a:r>
          </a:p>
        </p:txBody>
      </p:sp>
    </p:spTree>
    <p:extLst>
      <p:ext uri="{BB962C8B-B14F-4D97-AF65-F5344CB8AC3E}">
        <p14:creationId xmlns:p14="http://schemas.microsoft.com/office/powerpoint/2010/main" val="204453148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D3B5C-CD32-522B-6436-0B722C44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BE7891-AE28-0606-1E9D-173C3C41CA1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AIPW: why combine the two approaches?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A69B89-C93C-B383-0D94-485FF11C838F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C25A95-0A44-7B65-0D09-1AB99CF90335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G-computation predicts outcomes under training and no training.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4B5A17B-BE49-B393-8A75-D1B87788D6E1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386B2-CB00-6A0B-3B53-6009CF1B3499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IPW uses treatment probabilities to reconstruct comparable populations.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1B556E2-BF1C-6384-F884-A795305D1A43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1700F2-C24F-8F26-B26D-139767985975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Each approach depends on a different statistical model.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C96F1FA-AB48-F887-C7C2-619A90AF9C39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518243E-68E2-81D3-2C65-97E3D097A245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AIPW combines predictions with weighted observed prediction errors.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A8C5125-298C-D3B5-8399-058D6DAA8B0C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Our target in this section is the same full-study-population ATE.</a:t>
            </a:r>
          </a:p>
        </p:txBody>
      </p:sp>
    </p:spTree>
    <p:extLst>
      <p:ext uri="{BB962C8B-B14F-4D97-AF65-F5344CB8AC3E}">
        <p14:creationId xmlns:p14="http://schemas.microsoft.com/office/powerpoint/2010/main" val="331721415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053C7-DBF0-E9BD-161E-451ECEEEB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D56E79-1B30-8A12-2257-5CA2CABAB94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The two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5B6179A-CF3A-C1A0-2A04-182AEB8A470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89062453"/>
                  </p:ext>
                </p:extLst>
              </p:nvPr>
            </p:nvGraphicFramePr>
            <p:xfrm>
              <a:off x="457200" y="1219200"/>
              <a:ext cx="8229600" cy="188595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5911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62729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Model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Definition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In the job-training data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Outcome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𝑚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ₜ(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𝑥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) =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𝐸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[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𝑌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 |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=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𝑡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,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𝑋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=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𝑥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Predict 1978 earnings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Treatment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𝑒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𝑥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) =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𝑃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(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𝑇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=1 | 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𝑋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=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𝑥</m:t>
                                </m:r>
                                <m:r>
                                  <a:rPr lang="en-US" sz="1650" b="0" i="1" dirty="0" smtClean="0">
                                    <a:solidFill>
                                      <a:srgbClr val="F4F1EA"/>
                                    </a:solidFill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sz="1650" b="0" dirty="0">
                            <a:solidFill>
                              <a:srgbClr val="F4F1EA"/>
                            </a:solidFill>
                            <a:latin typeface="Arial"/>
                            <a:ea typeface="Arial"/>
                            <a:cs typeface="Arial"/>
                          </a:endParaRP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Predict training membership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5B6179A-CF3A-C1A0-2A04-182AEB8A470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89062453"/>
                  </p:ext>
                </p:extLst>
              </p:nvPr>
            </p:nvGraphicFramePr>
            <p:xfrm>
              <a:off x="457200" y="1219200"/>
              <a:ext cx="8229600" cy="1885950"/>
            </p:xfrm>
            <a:graphic>
              <a:graphicData uri="http://schemas.openxmlformats.org/drawingml/2006/table">
                <a:tbl>
                  <a:tblPr/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5911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62729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Model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Definition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1">
                              <a:solidFill>
                                <a:srgbClr val="71AFE8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In the job-training data</a:t>
                          </a:r>
                        </a:p>
                      </a:txBody>
                      <a:tcPr>
                        <a:solidFill>
                          <a:srgbClr val="30303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Outcome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375" t="-101923" r="-92537" b="-106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Predict 1978 earnings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28650">
                    <a:tc>
                      <a:txBody>
                        <a:bodyPr/>
                        <a:lstStyle/>
                        <a:p>
                          <a:r>
                            <a:rPr sz="1650" b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Treatment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375" t="-203883" r="-92537" b="-77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650" b="0" dirty="0">
                              <a:solidFill>
                                <a:srgbClr val="F4F1EA"/>
                              </a:solidFill>
                              <a:latin typeface="Arial"/>
                              <a:ea typeface="Arial"/>
                              <a:cs typeface="Arial"/>
                            </a:rPr>
                            <a:t>Predict training membership</a:t>
                          </a:r>
                        </a:p>
                      </a:txBody>
                      <a:tcPr>
                        <a:solidFill>
                          <a:srgbClr val="25252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B59DBB9D-F6E5-F7F0-7F2A-ACD06341B452}"/>
              </a:ext>
            </a:extLst>
          </p:cNvPr>
          <p:cNvSpPr>
            <a:spLocks noGrp="1"/>
          </p:cNvSpPr>
          <p:nvPr/>
        </p:nvSpPr>
        <p:spPr>
          <a:xfrm>
            <a:off x="515155" y="4027063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Both models use the baseline adjustment set justified by the causal question.</a:t>
            </a:r>
          </a:p>
        </p:txBody>
      </p:sp>
    </p:spTree>
    <p:extLst>
      <p:ext uri="{BB962C8B-B14F-4D97-AF65-F5344CB8AC3E}">
        <p14:creationId xmlns:p14="http://schemas.microsoft.com/office/powerpoint/2010/main" val="134211852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1417C-70A6-ABDB-111E-7CD9DAAD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5B5AC2-FFE1-1C1F-B010-FA33F28F223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Start with outcome predictions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6C9891-9D1F-1151-BEAF-1A82B58F8CD5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E40ACCC-A497-D350-1450-A1B7D554F7A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37291" y="143827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For each person, 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b="0" i="1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cs typeface="Arial"/>
                      </a:rPr>
                      <m:t>(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𝑋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cs typeface="Arial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rgbClr val="F4F1EA"/>
                    </a:solidFill>
                  </a:rPr>
                  <a:t> </a:t>
                </a: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under training.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E40ACCC-A497-D350-1450-A1B7D554F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91" y="1438275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3892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1EEFC37-C987-CC16-F50D-552F89536ECD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747D7A5-CEDC-BAE5-192F-702F5D4B6A6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167245" y="1438275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Also 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ᵢ)</m:t>
                    </m:r>
                  </m:oMath>
                </a14:m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under no training.</a:t>
                </a:r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747D7A5-CEDC-BAE5-192F-702F5D4B6A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7245" y="1438275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82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1FE01E0-43C7-BA9C-2CB0-0B9613EC15C1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2D9148-8571-C954-5698-31BA58BB18B8}"/>
              </a:ext>
            </a:extLst>
          </p:cNvPr>
          <p:cNvSpPr>
            <a:spLocks noGrp="1"/>
          </p:cNvSpPr>
          <p:nvPr/>
        </p:nvSpPr>
        <p:spPr>
          <a:xfrm>
            <a:off x="537291" y="29337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G-computation averages these predictions over all participants.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F1B5143-DBA8-952E-5864-72FAA83ED6F7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0C13AA-F2EE-CE3E-8F70-03F7E7D6B500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If the outcome model is wrong, prediction errors may systematically affect the mean.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23AFB6-B911-84C8-EFA9-748D2807E3AA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AIPW starts with the same predictions, then adds a correction.</a:t>
            </a:r>
          </a:p>
        </p:txBody>
      </p:sp>
    </p:spTree>
    <p:extLst>
      <p:ext uri="{BB962C8B-B14F-4D97-AF65-F5344CB8AC3E}">
        <p14:creationId xmlns:p14="http://schemas.microsoft.com/office/powerpoint/2010/main" val="4936743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1FE17-90CB-1999-9AD8-6E9C24765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817B4-F666-78E2-A307-D5BAADEF0F8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Observed residuals supply the correction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89817F7-2482-56CB-9DBF-192B117E7EC8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AF1F863-5D19-EFCB-C0E2-761EC7D6FB6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For a treated person, the observed training residual is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ᵢ −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𝑋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).</m:t>
                    </m:r>
                  </m:oMath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AF1F863-5D19-EFCB-C0E2-761EC7D6F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" y="1295400"/>
                <a:ext cx="3600450" cy="962025"/>
              </a:xfrm>
              <a:prstGeom prst="rect">
                <a:avLst/>
              </a:prstGeom>
              <a:blipFill>
                <a:blip r:embed="rId2"/>
                <a:stretch>
                  <a:fillRect l="-4068" t="-8280" r="-339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7E0A5CC-C482-3757-4B70-67B44E7B8713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A8F1DEB-4815-BAF8-185F-D48AF8C0721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l">
                  <a:defRPr sz="180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80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For a control, the observed no-training residual is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ᵢ −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80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0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sSub>
                      <m:sSubPr>
                        <m:ctrlP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𝑋</m:t>
                        </m:r>
                      </m:e>
                      <m:sub>
                        <m:r>
                          <a:rPr lang="en-US" sz="180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80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).</m:t>
                    </m:r>
                  </m:oMath>
                </a14:m>
                <a:endParaRPr sz="180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A8F1DEB-4815-BAF8-185F-D48AF8C07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775" y="1295400"/>
                <a:ext cx="3600450" cy="962025"/>
              </a:xfrm>
              <a:prstGeom prst="rect">
                <a:avLst/>
              </a:prstGeom>
              <a:blipFill>
                <a:blip r:embed="rId3"/>
                <a:stretch>
                  <a:fillRect l="-4068" t="-82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5422505-28C0-8C2E-53CD-DED16F22DBC7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02A5DC-6FF3-6CF1-4827-21AC0AE58E97}"/>
              </a:ext>
            </a:extLst>
          </p:cNvPr>
          <p:cNvSpPr>
            <a:spLocks noGrp="1"/>
          </p:cNvSpPr>
          <p:nvPr/>
        </p:nvSpPr>
        <p:spPr>
          <a:xfrm>
            <a:off x="556609" y="290123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We only observe the residual in the arm </a:t>
            </a:r>
            <a:r>
              <a:rPr lang="en-US"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received</a:t>
            </a: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D0C3DD2-67B0-F41D-FEF8-F3E3173A4BF6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52F590-2C3C-BD90-E4F1-4082865948B4}"/>
              </a:ext>
            </a:extLst>
          </p:cNvPr>
          <p:cNvSpPr>
            <a:spLocks noGrp="1"/>
          </p:cNvSpPr>
          <p:nvPr/>
        </p:nvSpPr>
        <p:spPr>
          <a:xfrm>
            <a:off x="5057775" y="2901234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Inverse probabilities adjust which people supply those residuals.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F7F1BEB-336A-2F12-0C28-19CF91507DA8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correction uses observed outcomes without inventing missing residuals.</a:t>
            </a:r>
          </a:p>
        </p:txBody>
      </p:sp>
    </p:spTree>
    <p:extLst>
      <p:ext uri="{BB962C8B-B14F-4D97-AF65-F5344CB8AC3E}">
        <p14:creationId xmlns:p14="http://schemas.microsoft.com/office/powerpoint/2010/main" val="175828880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935B5-EA9E-D159-E96E-139CE3449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D33BF1-E92D-795C-2B77-0E1E0DB61E7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The augmented training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84C9EE2-1316-C9FF-F99A-97795BFA47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2954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𝜓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₁ᵢ =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1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+ 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𝑇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{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−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1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)}/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84C9EE2-1316-C9FF-F99A-97795BFA47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295400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t="-97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CFDDC630-8BA3-1FF4-6040-CC785A822904}"/>
              </a:ext>
            </a:extLst>
          </p:cNvPr>
          <p:cNvSpPr>
            <a:spLocks noGrp="1"/>
          </p:cNvSpPr>
          <p:nvPr/>
        </p:nvSpPr>
        <p:spPr>
          <a:xfrm>
            <a:off x="571500" y="1924050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Every person contributes a predicted training outcome.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1D6A0B-61FA-C3D0-562B-2BA0C138D03D}"/>
              </a:ext>
            </a:extLst>
          </p:cNvPr>
          <p:cNvSpPr>
            <a:spLocks noGrp="1"/>
          </p:cNvSpPr>
          <p:nvPr/>
        </p:nvSpPr>
        <p:spPr>
          <a:xfrm>
            <a:off x="571500" y="2657475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Only treated people contribute a training residual correction.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451F14A-C454-EF99-46D0-3B6DBEF0DA5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  <m:t>𝜇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1</m:t>
                          </m:r>
                          <m:r>
                            <a:rPr lang="el-GR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l-GR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  <m:t>𝐴𝐼𝑃𝑊</m:t>
                          </m:r>
                        </m:sub>
                      </m:sSub>
                      <m:r>
                        <a:rPr lang="el-GR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sSup>
                        <m:sSupPr>
                          <m:ctrlPr>
                            <a:rPr lang="el-GR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pPr>
                        <m:e>
                          <m:r>
                            <a:rPr lang="el-GR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𝑛</m:t>
                          </m:r>
                        </m:e>
                        <m:sup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l-GR" sz="1950" b="0" i="0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950" b="0" i="0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Σ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</m:t>
                      </m:r>
                      <m:sSub>
                        <m:sSubPr>
                          <m:ctrlPr>
                            <a:rPr lang="en-US" sz="195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𝜓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1</m:t>
                          </m:r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451F14A-C454-EF99-46D0-3B6DBEF0D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t="-97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C2BFADFC-B6E0-8F22-DF12-66C853362F0C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Prediction + inverse-probability-weighted residual</a:t>
            </a:r>
          </a:p>
        </p:txBody>
      </p:sp>
    </p:spTree>
    <p:extLst>
      <p:ext uri="{BB962C8B-B14F-4D97-AF65-F5344CB8AC3E}">
        <p14:creationId xmlns:p14="http://schemas.microsoft.com/office/powerpoint/2010/main" val="84267257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2BF8-6EE2-E916-3313-9B0BF732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E086D4-1842-0E39-3F45-DD8607EBFED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The augmented no-training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8D32FBC-3C49-8F2C-8A44-079EBC58DE0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2954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𝜓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₁ᵢ =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0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+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(1−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𝑇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{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−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0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)}/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(1−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8D32FBC-3C49-8F2C-8A44-079EBC58D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295400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t="-97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1FC6032E-04F7-A819-C457-E8D7F070A728}"/>
              </a:ext>
            </a:extLst>
          </p:cNvPr>
          <p:cNvSpPr>
            <a:spLocks noGrp="1"/>
          </p:cNvSpPr>
          <p:nvPr/>
        </p:nvSpPr>
        <p:spPr>
          <a:xfrm>
            <a:off x="571500" y="1924050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Every person contributes a predicted </a:t>
            </a:r>
            <a:r>
              <a:rPr lang="en-US"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no-</a:t>
            </a: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training outcome.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59F1A3-0FCE-667E-870C-14A735EF57F2}"/>
              </a:ext>
            </a:extLst>
          </p:cNvPr>
          <p:cNvSpPr>
            <a:spLocks noGrp="1"/>
          </p:cNvSpPr>
          <p:nvPr/>
        </p:nvSpPr>
        <p:spPr>
          <a:xfrm>
            <a:off x="571500" y="2657475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Only </a:t>
            </a:r>
            <a:r>
              <a:rPr lang="en-US"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controls </a:t>
            </a: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contribute a </a:t>
            </a:r>
            <a:r>
              <a:rPr lang="en-US"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no-</a:t>
            </a: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training residual correction.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C23832D-74EA-831B-5EF5-5B181294F12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  <m:t>𝜇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0</m:t>
                          </m:r>
                          <m:r>
                            <a:rPr lang="el-GR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l-GR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  <m:t>𝐴𝐼𝑃𝑊</m:t>
                          </m:r>
                        </m:sub>
                      </m:sSub>
                      <m:r>
                        <a:rPr lang="el-GR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sSup>
                        <m:sSupPr>
                          <m:ctrlPr>
                            <a:rPr lang="el-GR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pPr>
                        <m:e>
                          <m:r>
                            <a:rPr lang="el-GR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𝑛</m:t>
                          </m:r>
                        </m:e>
                        <m:sup>
                          <m:r>
                            <a:rPr lang="el-GR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l-GR" sz="1950" b="0" i="0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950" b="0" i="0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Σ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</m:t>
                      </m:r>
                      <m:sSub>
                        <m:sSubPr>
                          <m:ctrlPr>
                            <a:rPr lang="en-US" sz="195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𝜓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0</m:t>
                          </m:r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C23832D-74EA-831B-5EF5-5B181294F1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t="-97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615041B3-BF94-E746-A533-09B975D6403F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lang="en-US" sz="1725" b="1" dirty="0">
                <a:solidFill>
                  <a:srgbClr val="F5B62D"/>
                </a:solidFill>
              </a:rPr>
              <a:t>Both means average over the same target population.</a:t>
            </a:r>
          </a:p>
        </p:txBody>
      </p:sp>
    </p:spTree>
    <p:extLst>
      <p:ext uri="{BB962C8B-B14F-4D97-AF65-F5344CB8AC3E}">
        <p14:creationId xmlns:p14="http://schemas.microsoft.com/office/powerpoint/2010/main" val="360195041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EE8D-1AA0-6B8D-75C8-04CD6EB4B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AD0C08-169A-55A1-6880-E24427E1D06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AIPW 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7D8BC16-A3E7-D194-7E95-AC59C8A3F1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  <m:t>𝜏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𝐴𝐼𝑃𝑊</m:t>
                          </m:r>
                        </m:sub>
                      </m:sSub>
                      <m:r>
                        <a:rPr lang="el-GR" sz="195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= </m:t>
                      </m:r>
                      <m:sSup>
                        <m:sSupPr>
                          <m:ctrlPr>
                            <a:rPr lang="el-GR" sz="195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pPr>
                        <m:e>
                          <m:r>
                            <a:rPr lang="el-GR" sz="195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𝑛</m:t>
                          </m:r>
                        </m:e>
                        <m:sup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−</m:t>
                          </m:r>
                          <m:r>
                            <a:rPr lang="el-GR" sz="195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l-GR" sz="1950" b="0" i="0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950" b="0" i="0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Σ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𝑖</m:t>
                          </m:r>
                        </m:sub>
                      </m:sSub>
                      <m:r>
                        <a:rPr lang="en-US" sz="195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95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950" b="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sSubPr>
                            <m:e>
                              <m:r>
                                <a:rPr lang="en-US" sz="1950" b="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1950" b="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1</m:t>
                              </m:r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950" b="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en-US" sz="1950" b="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sSubPr>
                            <m:e>
                              <m:r>
                                <a:rPr lang="en-US" sz="1950" b="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1950" b="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0</m:t>
                              </m:r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950" b="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7D8BC16-A3E7-D194-7E95-AC59C8A3F1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t="-485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26F48AA9-4B3C-7422-94DF-DEE08E76D4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Prediction contrast: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sSub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−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sSub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26F48AA9-4B3C-7422-94DF-DEE08E76D4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FACB888-5E46-2DB5-BB58-C3454958D52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Add the treated residual correction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𝑇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{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𝑌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−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𝑋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)}/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FACB888-5E46-2DB5-BB58-C3454958D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blipFill>
                <a:blip r:embed="rId4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AE3495F-DE13-D684-3DDD-972163DE35E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Subtract the control residual correction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dPr>
                      <m:e>
                        <m:r>
                          <a:rPr lang="ar-AE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1 − </m:t>
                        </m:r>
                        <m:sSub>
                          <m:sSubPr>
                            <m:ctrlPr>
                              <a:rPr lang="ar-AE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sSubPr>
                          <m:e>
                            <m:r>
                              <a:rPr lang="ar-AE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{</m:t>
                    </m:r>
                    <m:sSub>
                      <m:sSubPr>
                        <m:ctrlPr>
                          <a:rPr lang="ar-AE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ar-AE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𝑌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−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0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𝑋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)}/(1 −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AE3495F-DE13-D684-3DDD-972163DE35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5"/>
                <a:stretch>
                  <a:fillRect l="-686" t="-10680" r="-61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F82E8F5D-4E85-02C1-9FD2-FB19EB367357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control correction enters with a minus sign.</a:t>
            </a:r>
          </a:p>
        </p:txBody>
      </p:sp>
    </p:spTree>
    <p:extLst>
      <p:ext uri="{BB962C8B-B14F-4D97-AF65-F5344CB8AC3E}">
        <p14:creationId xmlns:p14="http://schemas.microsoft.com/office/powerpoint/2010/main" val="320820278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829C3-48DE-957C-E4C8-22A792C4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98C5CA-CC9E-CAF4-061A-B9DA3BD4681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Worked real participant: NSW1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FCC6297-4DF1-A891-8D4C-AF5412B33D69}"/>
              </a:ext>
            </a:extLst>
          </p:cNvPr>
          <p:cNvGraphicFramePr/>
          <p:nvPr/>
        </p:nvGraphicFramePr>
        <p:xfrm>
          <a:off x="457200" y="1219200"/>
          <a:ext cx="8229600" cy="276225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Quantity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Treatment and observed earnings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T=1, Y=$9,930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Predicted training earnings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$5,964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Estimated treatment probability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0.639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Augmented training contribution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5964 + (9930 − 5964)/0.639 ≈ $12,173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79443EF-8030-3A27-3BB9-5B100F98B39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Its control contribution is the prediction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725" b="1" i="1" dirty="0" smtClean="0">
                                <a:solidFill>
                                  <a:srgbClr val="F5B62D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725" b="1" i="1" dirty="0" smtClean="0">
                                <a:solidFill>
                                  <a:srgbClr val="F5B62D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𝒎</m:t>
                            </m:r>
                          </m:e>
                        </m:acc>
                      </m:e>
                      <m:sub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𝟎</m:t>
                        </m:r>
                      </m:sub>
                    </m:sSub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𝑿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≈ $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𝟒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𝟒𝟏𝟔</m:t>
                    </m:r>
                  </m:oMath>
                </a14:m>
                <a:r>
                  <a:rPr lang="en-US"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725" b="1" dirty="0">
                  <a:solidFill>
                    <a:srgbClr val="F5B62D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79443EF-8030-3A27-3BB9-5B100F98B3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blipFill>
                <a:blip r:embed="rId2"/>
                <a:stretch>
                  <a:fillRect t="-135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59188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B0092-EFE3-4540-931C-79ADBA1D3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37E053-2A83-F636-5B44-ADD7C10573D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Worked real participant: PSID1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D4D600A-FA14-2FD5-B557-A59CFD93A6CC}"/>
              </a:ext>
            </a:extLst>
          </p:cNvPr>
          <p:cNvGraphicFramePr/>
          <p:nvPr/>
        </p:nvGraphicFramePr>
        <p:xfrm>
          <a:off x="457200" y="1219200"/>
          <a:ext cx="8229600" cy="280416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Quantity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Treatment and observed earnings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T=0, Y=$25,565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Predicted no-training earnings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$15,935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Estimated treatment probability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0.026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Augmented control contribution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15935 + (25565 − 15935)/(1 − 0.026) ≈ $25,823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62A5D79-21C8-C739-C2A6-395CB50102B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Its training contribution is the prediction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725" b="1" i="1" dirty="0" smtClean="0">
                                <a:solidFill>
                                  <a:srgbClr val="F5B62D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725" b="1" i="1" dirty="0" smtClean="0">
                                <a:solidFill>
                                  <a:srgbClr val="F5B62D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𝒎</m:t>
                            </m:r>
                          </m:e>
                        </m:acc>
                      </m:e>
                      <m:sub>
                        <m:r>
                          <a:rPr lang="en-US" sz="1725" b="1" i="1" dirty="0" smtClean="0">
                            <a:solidFill>
                              <a:srgbClr val="F5B62D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𝟏</m:t>
                        </m:r>
                      </m:sub>
                    </m:sSub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𝑿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≈ $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𝟏𝟕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,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𝟒𝟖𝟑</m:t>
                    </m:r>
                  </m:oMath>
                </a14:m>
                <a:r>
                  <a:rPr lang="en-US"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725" b="1" dirty="0">
                  <a:solidFill>
                    <a:srgbClr val="F5B62D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62A5D79-21C8-C739-C2A6-395CB5010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blipFill>
                <a:blip r:embed="rId2"/>
                <a:stretch>
                  <a:fillRect t="-135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275471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E1D8-87EC-A5AD-562F-FAA61CEAA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6F25F2-D922-BFE5-DAD6-0B2237FA3A5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Why it works: a correct outcome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8286288-63B5-DABA-7DB7-41D3C10BD7C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converges to the true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𝑚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8286288-63B5-DABA-7DB7-41D3C10BD7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3934224-BD52-0E12-84FA-4575A20AA88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− 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𝑚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 |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𝑇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=1,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] = 0.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3934224-BD52-0E12-84FA-4575A20AA8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8F5B2F76-2A4D-3DC1-AB90-F74094B2029C}"/>
              </a:ext>
            </a:extLst>
          </p:cNvPr>
          <p:cNvSpPr>
            <a:spLocks noGrp="1"/>
          </p:cNvSpPr>
          <p:nvPr/>
        </p:nvSpPr>
        <p:spPr>
          <a:xfrm>
            <a:off x="571500" y="2657475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The weighted residual correction has conditional expectation zero.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C4767B-6758-6DF4-D806-BCD4E95A226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The average prediction identifies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[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𝑌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(1)].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C4767B-6758-6DF4-D806-BCD4E95A22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4"/>
                <a:stretch>
                  <a:fillRect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3B8C6712-D918-0278-E5BF-1E766F088AEB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 correct outcome model makes the correction mean-zero.</a:t>
            </a:r>
          </a:p>
        </p:txBody>
      </p:sp>
    </p:spTree>
    <p:extLst>
      <p:ext uri="{BB962C8B-B14F-4D97-AF65-F5344CB8AC3E}">
        <p14:creationId xmlns:p14="http://schemas.microsoft.com/office/powerpoint/2010/main" val="145078105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B927C-D98B-C357-C4D8-F1481265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04B7C3-EC7D-3696-2A59-783FA428690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Why it works: a correct propensity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CA2F153-4F56-F25C-88FA-779496E127A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Suppose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converges to the true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𝑒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CA2F153-4F56-F25C-88FA-779496E127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452EEC-E2E1-75DA-3D2C-B85648AA09A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be a possibly wrong outcome-model limit.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452EEC-E2E1-75DA-3D2C-B85648AA0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4E1AA0-DF2B-F8E7-3E27-74496CA0378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[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cs typeface="Arial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1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+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𝑇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{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𝑌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−</m:t>
                      </m:r>
                      <m:sSub>
                        <m:sSubPr>
                          <m:ctrlPr>
                            <a:rPr lang="en-US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95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95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95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5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95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</a:rPr>
                        <m:t>)}/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𝑒</m:t>
                      </m:r>
                      <m:d>
                        <m:d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d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𝑋</m:t>
                          </m:r>
                        </m:e>
                      </m:d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 | 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]  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4E1AA0-DF2B-F8E7-3E27-74496CA037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blipFill>
                <a:blip r:embed="rId4"/>
                <a:stretch>
                  <a:fillRect t="-77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938C39D-8F98-2101-44DD-DB2A2CEDCA3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=</m:t>
                      </m:r>
                      <m:sSub>
                        <m:sSubPr>
                          <m:ctrlPr>
                            <a:rPr lang="en-US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95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95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+ 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𝑚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1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 −</m:t>
                      </m:r>
                      <m:sSub>
                        <m:sSubPr>
                          <m:ctrlPr>
                            <a:rPr lang="en-US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95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950" i="1" dirty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950" i="1" dirty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95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5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950" i="1" dirty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</a:rPr>
                        <m:t>)= </m:t>
                      </m:r>
                      <m:sSub>
                        <m:sSubPr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𝑚</m:t>
                          </m:r>
                        </m:e>
                        <m:sub>
                          <m: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  <m:t>1</m:t>
                          </m:r>
                        </m:sub>
                      </m:sSub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(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𝑋</m:t>
                      </m:r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).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938C39D-8F98-2101-44DD-DB2A2CEDC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5"/>
                <a:stretch>
                  <a:fillRect t="-67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9E829C37-973E-4816-8E75-A56EC6279FE8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Correct assignment probabilities remove the limiting prediction error.</a:t>
            </a:r>
          </a:p>
        </p:txBody>
      </p:sp>
    </p:spTree>
    <p:extLst>
      <p:ext uri="{BB962C8B-B14F-4D97-AF65-F5344CB8AC3E}">
        <p14:creationId xmlns:p14="http://schemas.microsoft.com/office/powerpoint/2010/main" val="271998867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79D74-A94D-33C0-9160-D2A923F19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45EB09-7B9A-1BF5-C3E7-7BDDAFAA3AB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Two errors interact in the remaining bias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963614-41B6-FA52-D8F9-26EB3F5EF686}"/>
              </a:ext>
            </a:extLst>
          </p:cNvPr>
          <p:cNvSpPr>
            <a:spLocks noGrp="1"/>
          </p:cNvSpPr>
          <p:nvPr/>
        </p:nvSpPr>
        <p:spPr>
          <a:xfrm>
            <a:off x="571500" y="1190625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Let g(X) be the propensity-model limit.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4D745D6-5BFF-4E5A-C6A8-F4562C9ECBE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1950" b="0" i="1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cs typeface="Arial"/>
                      </a:rPr>
                      <m:t>(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cs typeface="Arial"/>
                      </a:rPr>
                      <m:t>𝑋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cs typeface="Arial"/>
                      </a:rPr>
                      <m:t>)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 be the outcome-model limit.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4D745D6-5BFF-4E5A-C6A8-F4562C9ECB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A26F2031-B78E-398A-2A19-4A27BA52DCB1}"/>
              </a:ext>
            </a:extLst>
          </p:cNvPr>
          <p:cNvSpPr>
            <a:spLocks noGrp="1"/>
          </p:cNvSpPr>
          <p:nvPr/>
        </p:nvSpPr>
        <p:spPr>
          <a:xfrm>
            <a:off x="571500" y="2657475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Bias of the augmented training mean: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902B65F-9F32-B733-A437-FA64B14ED2C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950" b="0" i="1" dirty="0" smtClean="0">
                              <a:solidFill>
                                <a:srgbClr val="F4F1EA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95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195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  <m:t>𝑋</m:t>
                                      </m:r>
                                    </m:e>
                                  </m:d>
                                  <m:r>
                                    <a:rPr lang="en-US" sz="195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− </m:t>
                                  </m:r>
                                  <m:r>
                                    <a:rPr lang="en-US" sz="195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𝑒</m:t>
                                  </m:r>
                                  <m:d>
                                    <m:dPr>
                                      <m:ctrlP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  <m:t>𝑋</m:t>
                                      </m:r>
                                    </m:e>
                                  </m:d>
                                </m:e>
                              </m:d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95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sz="1950" b="0" i="1" dirty="0" smtClean="0">
                                              <a:solidFill>
                                                <a:srgbClr val="F4F1EA"/>
                                              </a:solidFill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950" b="0" i="1" dirty="0" smtClean="0">
                                              <a:solidFill>
                                                <a:srgbClr val="F4F1EA"/>
                                              </a:solidFill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  <m:t>𝑋</m:t>
                                      </m:r>
                                    </m:e>
                                  </m:d>
                                  <m:r>
                                    <a:rPr lang="en-US" sz="195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950" b="0" i="1" dirty="0" smtClean="0">
                                          <a:solidFill>
                                            <a:srgbClr val="F4F1EA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</a:rPr>
                                        <m:t>𝑋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sz="1950" b="0" i="1" dirty="0" smtClean="0">
                                  <a:solidFill>
                                    <a:srgbClr val="F4F1EA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sz="195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1950" b="0" i="1" dirty="0" smtClean="0">
                                      <a:solidFill>
                                        <a:srgbClr val="F4F1EA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</a:rPr>
                                    <m:t>𝑋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sz="1950" b="0" i="1" dirty="0" smtClean="0">
                          <a:solidFill>
                            <a:srgbClr val="F4F1EA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</a:rPr>
                        <m:t>.</m:t>
                      </m:r>
                    </m:oMath>
                  </m:oMathPara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902B65F-9F32-B733-A437-FA64B14ED2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b="-67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004CB485-29FF-D10F-DC10-D8E4C4E4C86A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If either error is zero, this bias term vanishes.</a:t>
            </a:r>
          </a:p>
        </p:txBody>
      </p:sp>
    </p:spTree>
    <p:extLst>
      <p:ext uri="{BB962C8B-B14F-4D97-AF65-F5344CB8AC3E}">
        <p14:creationId xmlns:p14="http://schemas.microsoft.com/office/powerpoint/2010/main" val="415530321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FF183-3C44-B466-0226-C9C52FCB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DA5D41-F041-3B24-160A-C87A5076A6D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What double robustness does not fix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E392AC-B4DB-6CFE-2825-59D954D6CF5E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1B378C-ABFE-0192-C798-9C1E7B0910F1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An unmeasured confounder can invalidate both model-based causal interpretations.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3D2B377-0D71-6955-033D-2FAE23F3926A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0CB6AF-8354-8109-AA2E-F95AD9927073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Missing support can prevent identification for part of the target population.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EE5B9B-A8E8-DD6D-D7F3-D63CE2D833CA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026ABD-4F94-0346-99CC-78A00D3E8CD5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Scores near 0 or 1 can create extreme residual corrections.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E94B69E-B013-2C3A-CE15-825AA0B5A67D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62B07F-8978-4CD1-AB71-92C275495438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Two misspecified models can still yield a biased estimate.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6557C3-D3E5-27DF-5276-1DAC6C59FC8D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Double robustness concerns statistical models, not a replacement for causal assumptions.</a:t>
            </a:r>
          </a:p>
        </p:txBody>
      </p:sp>
    </p:spTree>
    <p:extLst>
      <p:ext uri="{BB962C8B-B14F-4D97-AF65-F5344CB8AC3E}">
        <p14:creationId xmlns:p14="http://schemas.microsoft.com/office/powerpoint/2010/main" val="1278045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20E7F-0AF1-0EFA-07B5-117D6F4CD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364000-F91D-63A4-003D-6B9C2D3DBED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fit the outcome and treatment models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F9AF282-7D83-D828-66ED-4D8106F7B4B3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312339-D84B-EC05-88F1-0AB785E9E144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library(MatchIt)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data("lalonde", package = "MatchIt")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d &lt;- lalonde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f_x &lt;- ~ age + educ + race + married + nodegree + re74 + re75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fit_y &lt;- lm(update(f_x, re78 ~ treat + .), data = d)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fit_e &lt;- glm(update(f_x, treat ~ .),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  family = binomial(), data = d)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m1 &lt;- predict(fit_y, transform(d, treat = 1))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m0 &lt;- predict(fit_y, transform(d, treat = 0))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e &lt;- predict(fit_e, type = "response")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2B5BCE3-234E-BB19-83FF-22F0EA7990F7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outcome model predicts earnings. The treatment model predicts assignment.</a:t>
            </a:r>
          </a:p>
        </p:txBody>
      </p:sp>
    </p:spTree>
    <p:extLst>
      <p:ext uri="{BB962C8B-B14F-4D97-AF65-F5344CB8AC3E}">
        <p14:creationId xmlns:p14="http://schemas.microsoft.com/office/powerpoint/2010/main" val="109969373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655E8-2C04-7634-77FC-2D863A08D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FEA645-63F7-D387-2D7F-84EB553850E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calculate augmented contributions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29D4AC1-FD1C-FAE6-2C43-9BA19AE5EF9F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3A97E3-ECEA-E9F3-F365-6DDF0EDCBB56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 &lt;- d$treat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Y &lt;- d$re78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stopifnot(all(e &gt; 0 &amp; e &lt; 1))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psi1 &lt;- m1 + A * (Y - m1) / e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psi0 &lt;- m0 + (1 - A) * (Y - m0) / (1 - e)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psi &lt;- psi1 - psi0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ate_aipw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mean(psi)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c(mu1 = mean(psi1), mu0 = mean(psi0), ATE =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ate_aipw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26731D-78B5-A5D1-0DA7-667A4F90E78E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Prediction errors use observed minus predicted outcomes.</a:t>
            </a:r>
          </a:p>
        </p:txBody>
      </p:sp>
    </p:spTree>
    <p:extLst>
      <p:ext uri="{BB962C8B-B14F-4D97-AF65-F5344CB8AC3E}">
        <p14:creationId xmlns:p14="http://schemas.microsoft.com/office/powerpoint/2010/main" val="5293145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0EEA1-295F-6437-26FC-B4505046D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0D13D9-8851-B1E2-AE81-2882BA58213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compare the same ATE target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541DA6-6320-53E7-1A3A-5F71CD40BC4E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7AD250-9A18-4488-16B7-A35408144A13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ate_g &lt;- mean(m1 - m0)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w &lt;- ifelse(A == 1, 1 / e, 1 / (1 - e))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ate_ipw &lt;- weighted.mean(Y[A == 1], w[A == 1]) -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weighted.mean(Y[A == 0], w[A == 0])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G_computation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= ate_g,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IPW_normalized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= ate_ipw,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AIPW = ate_aipw)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D07FB0-B768-E2CA-AECB-650D70A23806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All three calculations target the overall study-population ATE.</a:t>
            </a:r>
          </a:p>
        </p:txBody>
      </p:sp>
    </p:spTree>
    <p:extLst>
      <p:ext uri="{BB962C8B-B14F-4D97-AF65-F5344CB8AC3E}">
        <p14:creationId xmlns:p14="http://schemas.microsoft.com/office/powerpoint/2010/main" val="227797534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89BC5-CB2D-7B2C-2253-FD43D60CF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A174CD-685D-1371-1101-680B7B37DAC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Real-data estimates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903168C-DEF9-12D8-9885-9B6C89B7E04E}"/>
              </a:ext>
            </a:extLst>
          </p:cNvPr>
          <p:cNvGraphicFramePr/>
          <p:nvPr/>
        </p:nvGraphicFramePr>
        <p:xfrm>
          <a:off x="457200" y="1219200"/>
          <a:ext cx="8229600" cy="25146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650" b="1" dirty="0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ATE estimate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71AFE8"/>
                          </a:solidFill>
                          <a:latin typeface="Arial"/>
                          <a:ea typeface="Arial"/>
                          <a:cs typeface="Arial"/>
                        </a:rPr>
                        <a:t>Main statistical dependence</a:t>
                      </a:r>
                    </a:p>
                  </a:txBody>
                  <a:tcPr>
                    <a:solidFill>
                      <a:srgbClr val="303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G-computation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About +$1,548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Outcome model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Normalized IPW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About +$225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Propensity model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AIPW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About +$887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F4F1EA"/>
                          </a:solidFill>
                          <a:latin typeface="Arial"/>
                          <a:ea typeface="Arial"/>
                          <a:cs typeface="Arial"/>
                        </a:rPr>
                        <a:t>Either model for consistency</a:t>
                      </a:r>
                    </a:p>
                  </a:txBody>
                  <a:tcPr>
                    <a:solidFill>
                      <a:srgbClr val="252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B8B89C44-2F68-D451-FFCF-2631B765D3F5}"/>
              </a:ext>
            </a:extLst>
          </p:cNvPr>
          <p:cNvSpPr>
            <a:spLocks noGrp="1"/>
          </p:cNvSpPr>
          <p:nvPr/>
        </p:nvSpPr>
        <p:spPr>
          <a:xfrm>
            <a:off x="313194" y="4400548"/>
            <a:ext cx="8517612" cy="52321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AIPW’s position between these estimates does not prove it is closest to the truth.</a:t>
            </a:r>
          </a:p>
        </p:txBody>
      </p:sp>
    </p:spTree>
    <p:extLst>
      <p:ext uri="{BB962C8B-B14F-4D97-AF65-F5344CB8AC3E}">
        <p14:creationId xmlns:p14="http://schemas.microsoft.com/office/powerpoint/2010/main" val="320367104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CEB3-8F14-C071-616F-7B05337B7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242331-32C4-E58A-9BC3-F5F4EB17AAD5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What changed relative to g-computation?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CDE127-90B6-37C9-ABC6-55C893C1665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Average predicted training earnings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≈ $7,875</m:t>
                    </m:r>
                  </m:oMath>
                </a14:m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CDE127-90B6-37C9-ABC6-55C893C166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190625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139DBCB-92E3-B9EC-5D54-2B9964F5A5A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Training residual correction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≈ −$557, </m:t>
                    </m:r>
                  </m:oMath>
                </a14:m>
                <a:r>
                  <a:rPr lang="en-US" sz="1950" b="0" i="0" dirty="0">
                    <a:solidFill>
                      <a:srgbClr val="F4F1EA"/>
                    </a:solidFill>
                    <a:latin typeface="+mj-lt"/>
                    <a:ea typeface="Arial"/>
                    <a:cs typeface="Arial"/>
                  </a:rPr>
                  <a:t>giving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$7,318</m:t>
                    </m:r>
                  </m:oMath>
                </a14:m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139DBCB-92E3-B9EC-5D54-2B9964F5A5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DCCE1ED-064E-697F-B219-9D6CE751E91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Average predicted control earnings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≈ $6,326.</m:t>
                    </m:r>
                  </m:oMath>
                </a14:m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DCCE1ED-064E-697F-B219-9D6CE751E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blipFill>
                <a:blip r:embed="rId4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AC02BA7-7765-368D-86E3-AB22D89E191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Control residual correction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≈ +$104</m:t>
                    </m:r>
                  </m:oMath>
                </a14:m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, giving </a:t>
                </a: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$6,431</m:t>
                    </m:r>
                  </m:oMath>
                </a14:m>
                <a:r>
                  <a:rPr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AC02BA7-7765-368D-86E3-AB22D89E1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3390900"/>
                <a:ext cx="8001000" cy="628650"/>
              </a:xfrm>
              <a:prstGeom prst="rect">
                <a:avLst/>
              </a:prstGeom>
              <a:blipFill>
                <a:blip r:embed="rId5"/>
                <a:stretch>
                  <a:fillRect t="-106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F1C94C-9C00-CD19-3818-F78529242B9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725" b="1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AIPW difference: </a:t>
                </a:r>
                <a14:m>
                  <m:oMath xmlns:m="http://schemas.openxmlformats.org/officeDocument/2006/math"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𝟕𝟑𝟏𝟖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− 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𝟔𝟒𝟑𝟏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≈ $</m:t>
                    </m:r>
                    <m:r>
                      <a:rPr lang="en-US" sz="1725" b="1" i="1" dirty="0" smtClean="0">
                        <a:solidFill>
                          <a:srgbClr val="F5B62D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𝟖𝟖𝟕</m:t>
                    </m:r>
                  </m:oMath>
                </a14:m>
                <a:r>
                  <a:rPr sz="1725" b="1" dirty="0">
                    <a:solidFill>
                      <a:srgbClr val="F5B62D"/>
                    </a:solidFill>
                    <a:latin typeface="Arial"/>
                    <a:ea typeface="Arial"/>
                    <a:cs typeface="Arial"/>
                  </a:rPr>
                  <a:t>.</a:t>
                </a: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F1C94C-9C00-CD19-3818-F78529242B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00550"/>
                <a:ext cx="8229600" cy="495300"/>
              </a:xfrm>
              <a:prstGeom prst="rect">
                <a:avLst/>
              </a:prstGeom>
              <a:blipFill>
                <a:blip r:embed="rId6"/>
                <a:stretch>
                  <a:fillRect t="-135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150015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487DE-38B2-1773-0599-354139510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BC0CC6-CABC-FF48-B2E3-DC100860FD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Uncertainty: what the simple score SE requires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098AC3-2E1B-7F8A-BD14-1041FF15953A}"/>
              </a:ext>
            </a:extLst>
          </p:cNvPr>
          <p:cNvSpPr>
            <a:spLocks noGrp="1"/>
          </p:cNvSpPr>
          <p:nvPr/>
        </p:nvSpPr>
        <p:spPr>
          <a:xfrm>
            <a:off x="571500" y="1190625"/>
            <a:ext cx="8001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When both nuisance functions are consistently estimated and suitable regularity holds: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25375AE-E150-27C6-760D-A542A6B3AE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𝜙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= 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𝜓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−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950" b="0" i="1" dirty="0" smtClean="0">
                                <a:solidFill>
                                  <a:srgbClr val="F4F1EA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</a:rPr>
                              <m:t>𝜏</m:t>
                            </m:r>
                          </m:e>
                        </m:acc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𝐴𝐼𝑃𝑊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 </m:t>
                    </m:r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approximates an influence contribution.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25375AE-E150-27C6-760D-A542A6B3A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924050"/>
                <a:ext cx="8001000" cy="628650"/>
              </a:xfrm>
              <a:prstGeom prst="rect">
                <a:avLst/>
              </a:prstGeom>
              <a:blipFill>
                <a:blip r:embed="rId2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1322C8FD-EC2F-75A1-D1BC-647D47E4453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>
                <a:def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defPPr>
              </a:lstStyle>
              <a:p>
                <a:pPr algn="ctr">
                  <a:defRPr sz="1950" b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 xmlns:m="http://schemas.openxmlformats.org/officeDocument/2006/math"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𝑆𝐸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 ≈ 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𝑠𝑑</m:t>
                    </m:r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(</m:t>
                    </m:r>
                    <m:sSub>
                      <m:sSubPr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sSubPr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𝜓</m:t>
                        </m:r>
                      </m:e>
                      <m:sub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𝑖</m:t>
                        </m:r>
                      </m:sub>
                    </m:sSub>
                    <m:r>
                      <a:rPr lang="en-US" sz="1950" b="0" i="1" dirty="0" smtClean="0">
                        <a:solidFill>
                          <a:srgbClr val="F4F1EA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</a:rPr>
                      <m:t>)/</m:t>
                    </m:r>
                    <m:rad>
                      <m:radPr>
                        <m:degHide m:val="on"/>
                        <m:ctrlP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</m:ctrlPr>
                      </m:radPr>
                      <m:deg/>
                      <m:e>
                        <m:r>
                          <a:rPr lang="en-US" sz="1950" b="0" i="1" dirty="0" smtClean="0">
                            <a:solidFill>
                              <a:srgbClr val="F4F1EA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sz="1950" b="0" dirty="0">
                    <a:solidFill>
                      <a:srgbClr val="F4F1EA"/>
                    </a:solidFill>
                    <a:latin typeface="Arial"/>
                    <a:ea typeface="Arial"/>
                    <a:cs typeface="Arial"/>
                  </a:rPr>
                  <a:t>, with a normal confidence interval.</a:t>
                </a:r>
                <a:endParaRPr sz="1950" b="0" dirty="0">
                  <a:solidFill>
                    <a:srgbClr val="F4F1EA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1322C8FD-EC2F-75A1-D1BC-647D47E445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2657475"/>
                <a:ext cx="8001000" cy="628650"/>
              </a:xfrm>
              <a:prstGeom prst="rect">
                <a:avLst/>
              </a:prstGeom>
              <a:blipFill>
                <a:blip r:embed="rId3"/>
                <a:stretch>
                  <a:fillRect t="-116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05909F80-6F9B-6FAA-8E07-5AD6507846B0}"/>
              </a:ext>
            </a:extLst>
          </p:cNvPr>
          <p:cNvSpPr>
            <a:spLocks noGrp="1"/>
          </p:cNvSpPr>
          <p:nvPr/>
        </p:nvSpPr>
        <p:spPr>
          <a:xfrm>
            <a:off x="342900" y="3524250"/>
            <a:ext cx="8520985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Consistency with one correct model alone does not justify this SE universally.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B2A4F1-B268-8AC7-35B2-36CD81ABE733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Use a variance procedure justified for the fitted models and target.</a:t>
            </a:r>
          </a:p>
        </p:txBody>
      </p:sp>
    </p:spTree>
    <p:extLst>
      <p:ext uri="{BB962C8B-B14F-4D97-AF65-F5344CB8AC3E}">
        <p14:creationId xmlns:p14="http://schemas.microsoft.com/office/powerpoint/2010/main" val="1507299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EBDC2-43E6-FAEE-E391-D6DAC537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770372-A874-FE94-4EA6-C61A6408C69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a refitting bootstrap function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0AB80E-B023-8F7B-285A-F969B5FF112E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DE30D8-A589-85C0-C141-7C66589DE72D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estimate_aipw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function(z) {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fy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lm(re78 ~ treat + age + educ + race + married +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nodegree + re74 + re75, data = z)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fe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glm(treat ~ age + educ + race + married +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          nodegree + re74 + re75, binomial(), data = z)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p &lt;- predict(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fe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, type = "response")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y1 &lt;- predict(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fy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, transform(z, treat = 1))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y0 &lt;- predict(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fy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, transform(z, treat = 0))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A &lt;-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z$treat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; Y &lt;- z$re78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mean(y1 - y0 + A*(Y-y1)/p - (1-A)*(Y-y0)/(1-p))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EA57CF-0EB5-5F39-5F2D-6C72C07BBD5F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Each resample refits both models before calculating AIPW.</a:t>
            </a:r>
          </a:p>
        </p:txBody>
      </p:sp>
    </p:spTree>
    <p:extLst>
      <p:ext uri="{BB962C8B-B14F-4D97-AF65-F5344CB8AC3E}">
        <p14:creationId xmlns:p14="http://schemas.microsoft.com/office/powerpoint/2010/main" val="272918779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6741-7FA7-64A4-CA66-FFF3363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A10706-240B-A9ED-F31B-5DEE67C86345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R: bootstrap uncertainty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B044E0-1AB0-C232-12A1-59DB44071813}"/>
              </a:ext>
            </a:extLst>
          </p:cNvPr>
          <p:cNvSpPr>
            <a:spLocks noGrp="1"/>
          </p:cNvSpPr>
          <p:nvPr/>
        </p:nvSpPr>
        <p:spPr>
          <a:xfrm>
            <a:off x="381000" y="1028700"/>
            <a:ext cx="8382000" cy="3133725"/>
          </a:xfrm>
          <a:prstGeom prst="roundRect">
            <a:avLst>
              <a:gd name="adj" fmla="val 5471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04B349-2C2B-6E53-6655-4DF4B33E97C8}"/>
              </a:ext>
            </a:extLst>
          </p:cNvPr>
          <p:cNvSpPr>
            <a:spLocks noGrp="1"/>
          </p:cNvSpPr>
          <p:nvPr/>
        </p:nvSpPr>
        <p:spPr>
          <a:xfrm>
            <a:off x="600075" y="1219200"/>
            <a:ext cx="7943850" cy="2790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set.seed(7900)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 &lt;- 500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boot_est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replicate(B, {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idx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sample.int(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nrow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(d), replace = TRUE)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estimate_aipw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(d[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idx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, ])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})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stopifnot(all(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is.finite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boot_est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)))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boot_se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 &lt;- sd(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boot_est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ci &lt;- ate_aipw + c(-1, 1) *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qnorm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(.975) *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boot_se</a:t>
            </a:r>
            <a:endParaRPr sz="1575" b="0" dirty="0">
              <a:solidFill>
                <a:srgbClr val="F4F1E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575" b="0">
                <a:solidFill>
                  <a:srgbClr val="F4F1EA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c(ATE = ate_aipw, SE = </a:t>
            </a:r>
            <a:r>
              <a:rPr sz="1575" b="0" dirty="0" err="1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boot_se</a:t>
            </a:r>
            <a:r>
              <a:rPr sz="1575" b="0" dirty="0">
                <a:solidFill>
                  <a:srgbClr val="F4F1EA"/>
                </a:solidFill>
                <a:latin typeface="Consolas"/>
                <a:ea typeface="Consolas"/>
                <a:cs typeface="Consolas"/>
              </a:rPr>
              <a:t>, lower = ci[1], upper = ci[2])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44CFCC-EC14-E6C2-14F5-E79D06F06CA7}"/>
              </a:ext>
            </a:extLst>
          </p:cNvPr>
          <p:cNvSpPr>
            <a:spLocks noGrp="1"/>
          </p:cNvSpPr>
          <p:nvPr/>
        </p:nvSpPr>
        <p:spPr>
          <a:xfrm>
            <a:off x="160986" y="4476749"/>
            <a:ext cx="8983014" cy="5232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F5B62D"/>
                </a:solidFill>
                <a:latin typeface="Arial"/>
                <a:ea typeface="Arial"/>
                <a:cs typeface="Arial"/>
              </a:rPr>
              <a:t>Inspect resampling stability and convergence warnings before reporting the interval.</a:t>
            </a:r>
          </a:p>
        </p:txBody>
      </p:sp>
    </p:spTree>
    <p:extLst>
      <p:ext uri="{BB962C8B-B14F-4D97-AF65-F5344CB8AC3E}">
        <p14:creationId xmlns:p14="http://schemas.microsoft.com/office/powerpoint/2010/main" val="11987884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E2CB3-23D7-09E1-D1F1-CD482190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E3AECB-3A61-00CD-FB9A-73FDAA7165F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Flexible models and cross-fitting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B8D334-8106-A5AF-C383-0AA6E8ADDD4B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0C10F-A319-A1DA-5831-4572D61561AC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F4F1EA"/>
                </a:solidFill>
                <a:latin typeface="Arial"/>
                <a:ea typeface="Arial"/>
                <a:cs typeface="Arial"/>
              </a:rPr>
              <a:t>Flexible models can estimate nonlinear outcome and assignment functions.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67F0B2F-431E-9CE7-9214-6B94DAFEE3BF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3AB084-2A45-B6A6-5288-06D23F37C15F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Fit nuisance models outside each held-out fold.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BB5D683-D2A7-16D0-5C65-3E235A5C0D07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00100E-A866-E518-0CA5-82EF4F7FF126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Compute each held-out participant’s score using those excluded-data fits.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2F36446-52C5-99CB-C598-24CBC031081C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CB31EF7-E927-A834-3762-7130E3F6D016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Average all held-out scores and assess the required convergence conditions.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BB1D44-AC0F-149B-A8F1-0A7E07074E30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Cross-fitting limits overfitting effects. It does not fix confounding or support.</a:t>
            </a:r>
          </a:p>
        </p:txBody>
      </p:sp>
    </p:spTree>
    <p:extLst>
      <p:ext uri="{BB962C8B-B14F-4D97-AF65-F5344CB8AC3E}">
        <p14:creationId xmlns:p14="http://schemas.microsoft.com/office/powerpoint/2010/main" val="165304687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19D86-97AD-4263-849E-12E7B1950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0A1253-09CA-AA37-90D7-0A7CFE3FC51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7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lang="en-US" sz="2800" dirty="0">
                <a:solidFill>
                  <a:srgbClr val="F4F1EA"/>
                </a:solidFill>
              </a:rPr>
              <a:t>AIPW: the main lesson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3D260-F749-2516-B68E-C1DDFEFA694B}"/>
              </a:ext>
            </a:extLst>
          </p:cNvPr>
          <p:cNvSpPr>
            <a:spLocks noGrp="1"/>
          </p:cNvSpPr>
          <p:nvPr/>
        </p:nvSpPr>
        <p:spPr>
          <a:xfrm>
            <a:off x="8610600" y="4867275"/>
            <a:ext cx="285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C4C4C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975" b="0">
                <a:solidFill>
                  <a:srgbClr val="C4C4C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C4C4C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53128EB-1B92-9125-F512-692F11EA3555}"/>
              </a:ext>
            </a:extLst>
          </p:cNvPr>
          <p:cNvSpPr>
            <a:spLocks noGrp="1"/>
          </p:cNvSpPr>
          <p:nvPr/>
        </p:nvSpPr>
        <p:spPr>
          <a:xfrm>
            <a:off x="285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E8B96D-93EF-3E47-71B1-5E173679098D}"/>
              </a:ext>
            </a:extLst>
          </p:cNvPr>
          <p:cNvSpPr>
            <a:spLocks noGrp="1"/>
          </p:cNvSpPr>
          <p:nvPr/>
        </p:nvSpPr>
        <p:spPr>
          <a:xfrm>
            <a:off x="485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Outcome predictions supply the treatment and control means.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62B80A6-04C7-EBC9-0467-617AC037CB67}"/>
              </a:ext>
            </a:extLst>
          </p:cNvPr>
          <p:cNvSpPr>
            <a:spLocks noGrp="1"/>
          </p:cNvSpPr>
          <p:nvPr/>
        </p:nvSpPr>
        <p:spPr>
          <a:xfrm>
            <a:off x="4857750" y="1095375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5AE671-41E9-AE00-317E-588FF00F76BB}"/>
              </a:ext>
            </a:extLst>
          </p:cNvPr>
          <p:cNvSpPr>
            <a:spLocks noGrp="1"/>
          </p:cNvSpPr>
          <p:nvPr/>
        </p:nvSpPr>
        <p:spPr>
          <a:xfrm>
            <a:off x="5057775" y="1295400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Weighted factual residuals correct systematic prediction errors.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32A14EC-DE80-33E3-3901-D8F7B83B12D9}"/>
              </a:ext>
            </a:extLst>
          </p:cNvPr>
          <p:cNvSpPr>
            <a:spLocks noGrp="1"/>
          </p:cNvSpPr>
          <p:nvPr/>
        </p:nvSpPr>
        <p:spPr>
          <a:xfrm>
            <a:off x="285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1AF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F53C19F-6EFF-11DF-D0ED-1A0499280CED}"/>
              </a:ext>
            </a:extLst>
          </p:cNvPr>
          <p:cNvSpPr>
            <a:spLocks noGrp="1"/>
          </p:cNvSpPr>
          <p:nvPr/>
        </p:nvSpPr>
        <p:spPr>
          <a:xfrm>
            <a:off x="485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Either correctly specified nuisance side can protect consistency.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B0A3342F-6147-6BEF-0E28-A9F835E6A79C}"/>
              </a:ext>
            </a:extLst>
          </p:cNvPr>
          <p:cNvSpPr>
            <a:spLocks noGrp="1"/>
          </p:cNvSpPr>
          <p:nvPr/>
        </p:nvSpPr>
        <p:spPr>
          <a:xfrm>
            <a:off x="4857750" y="2590800"/>
            <a:ext cx="4000500" cy="1304925"/>
          </a:xfrm>
          <a:prstGeom prst="roundRect">
            <a:avLst>
              <a:gd name="adj" fmla="val 13139"/>
            </a:avLst>
          </a:prstGeom>
          <a:solidFill>
            <a:srgbClr val="2B2B2B"/>
          </a:solidFill>
          <a:ln w="11430">
            <a:solidFill>
              <a:srgbClr val="7CCB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2687F03-3B67-0AB7-FFBC-0B0C1497A372}"/>
              </a:ext>
            </a:extLst>
          </p:cNvPr>
          <p:cNvSpPr>
            <a:spLocks noGrp="1"/>
          </p:cNvSpPr>
          <p:nvPr/>
        </p:nvSpPr>
        <p:spPr>
          <a:xfrm>
            <a:off x="5057775" y="2790825"/>
            <a:ext cx="360045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F4F1E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Causal assumptions, overlap, and suitable uncertainty quantification remain essential.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57258C9-1F9E-66B8-B3A5-1BFC2759AC63}"/>
              </a:ext>
            </a:extLst>
          </p:cNvPr>
          <p:cNvSpPr>
            <a:spLocks noGrp="1"/>
          </p:cNvSpPr>
          <p:nvPr/>
        </p:nvSpPr>
        <p:spPr>
          <a:xfrm>
            <a:off x="457200" y="4400550"/>
            <a:ext cx="8229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F5B6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B62D"/>
                </a:solidFill>
                <a:latin typeface="Arial"/>
                <a:ea typeface="Arial"/>
                <a:cs typeface="Arial"/>
              </a:rPr>
              <a:t>The final report should state the target, models, diagnostics, estimate, and limitations.</a:t>
            </a:r>
          </a:p>
        </p:txBody>
      </p:sp>
    </p:spTree>
    <p:extLst>
      <p:ext uri="{BB962C8B-B14F-4D97-AF65-F5344CB8AC3E}">
        <p14:creationId xmlns:p14="http://schemas.microsoft.com/office/powerpoint/2010/main" val="856242803"/>
      </p:ext>
    </p:extLst>
  </p:cSld>
  <p:clrMapOvr>
    <a:masterClrMapping/>
  </p:clrMapOvr>
</p:sld>
</file>

<file path=ppt/theme/theme1.xml><?xml version="1.0" encoding="utf-8"?>
<a:theme xmlns:a="http://schemas.openxmlformats.org/drawingml/2006/main" name="Ursula template">
  <a:themeElements>
    <a:clrScheme name="Custom 347">
      <a:dk1>
        <a:srgbClr val="000000"/>
      </a:dk1>
      <a:lt1>
        <a:srgbClr val="FFFFFF"/>
      </a:lt1>
      <a:dk2>
        <a:srgbClr val="D1D8DF"/>
      </a:dk2>
      <a:lt2>
        <a:srgbClr val="4F565C"/>
      </a:lt2>
      <a:accent1>
        <a:srgbClr val="71AEF0"/>
      </a:accent1>
      <a:accent2>
        <a:srgbClr val="88E6DC"/>
      </a:accent2>
      <a:accent3>
        <a:srgbClr val="A6D145"/>
      </a:accent3>
      <a:accent4>
        <a:srgbClr val="FFE000"/>
      </a:accent4>
      <a:accent5>
        <a:srgbClr val="FC765C"/>
      </a:accent5>
      <a:accent6>
        <a:srgbClr val="A693C9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6647</TotalTime>
  <Words>7249</Words>
  <Application>Microsoft Office PowerPoint</Application>
  <PresentationFormat>On-screen Show (16:9)</PresentationFormat>
  <Paragraphs>950</Paragraphs>
  <Slides>108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4" baseType="lpstr">
      <vt:lpstr>Consolas</vt:lpstr>
      <vt:lpstr>Walter Turncoat</vt:lpstr>
      <vt:lpstr>Arial</vt:lpstr>
      <vt:lpstr>Sniglet</vt:lpstr>
      <vt:lpstr>Cambria Math</vt:lpstr>
      <vt:lpstr>Ursula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Samhita Pal</dc:creator>
  <cp:lastModifiedBy>Dhrubajyoti Ghosh</cp:lastModifiedBy>
  <cp:revision>175</cp:revision>
  <dcterms:modified xsi:type="dcterms:W3CDTF">2026-10-12T15:14:28Z</dcterms:modified>
</cp:coreProperties>
</file>